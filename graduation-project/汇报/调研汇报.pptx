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B4C7E7"/>
    <a:srgbClr val="1F4E79"/>
    <a:srgbClr val="FFC00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1" autoAdjust="0"/>
    <p:restoredTop sz="94280" autoAdjust="0"/>
  </p:normalViewPr>
  <p:slideViewPr>
    <p:cSldViewPr snapToGrid="0" showGuides="1">
      <p:cViewPr varScale="1">
        <p:scale>
          <a:sx n="86" d="100"/>
          <a:sy n="86" d="100"/>
        </p:scale>
        <p:origin x="355" y="58"/>
      </p:cViewPr>
      <p:guideLst>
        <p:guide orient="horz" pos="2160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670685" y="2934970"/>
            <a:ext cx="8693150" cy="610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矩阵求解</a:t>
            </a:r>
            <a:r>
              <a:rPr lang="en-US" altLang="zh-CN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求逆调研</a:t>
            </a:r>
            <a:endParaRPr lang="zh-CN" altLang="en-US" sz="4400" kern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753"/>
            <a:ext cx="12192000" cy="265540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0" y="6477345"/>
            <a:ext cx="12192000" cy="415497"/>
            <a:chOff x="0" y="6477345"/>
            <a:chExt cx="12192000" cy="415497"/>
          </a:xfrm>
        </p:grpSpPr>
        <p:sp>
          <p:nvSpPr>
            <p:cNvPr id="2" name="文本框 1"/>
            <p:cNvSpPr txBox="1"/>
            <p:nvPr/>
          </p:nvSpPr>
          <p:spPr>
            <a:xfrm>
              <a:off x="0" y="6477345"/>
              <a:ext cx="12192000" cy="40010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5284670" y="6492733"/>
              <a:ext cx="1843236" cy="400109"/>
              <a:chOff x="76140" y="6477345"/>
              <a:chExt cx="1947504" cy="400109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40" y="6477345"/>
                <a:ext cx="400109" cy="400109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3">
                <a:biLevel thresh="25000"/>
              </a:blip>
              <a:srcRect l="1" t="6582" r="-25334" b="26979"/>
              <a:stretch>
                <a:fillRect/>
              </a:stretch>
            </p:blipFill>
            <p:spPr>
              <a:xfrm rot="200163">
                <a:off x="414610" y="6477345"/>
                <a:ext cx="724874" cy="380655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 rotWithShape="1"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814" t="12432" r="55484" b="78542"/>
              <a:stretch>
                <a:fillRect/>
              </a:stretch>
            </p:blipFill>
            <p:spPr>
              <a:xfrm rot="1259126">
                <a:off x="895509" y="6508504"/>
                <a:ext cx="402920" cy="310802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4"/>
              <a:srcRect t="-1" b="16526"/>
              <a:stretch>
                <a:fillRect/>
              </a:stretch>
            </p:blipFill>
            <p:spPr>
              <a:xfrm rot="436491">
                <a:off x="1256498" y="6481317"/>
                <a:ext cx="388026" cy="326437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 rotWithShape="1">
              <a:blip r:embed="rId5"/>
              <a:srcRect t="18211" b="8984"/>
              <a:stretch>
                <a:fillRect/>
              </a:stretch>
            </p:blipFill>
            <p:spPr>
              <a:xfrm>
                <a:off x="1554468" y="6496881"/>
                <a:ext cx="469176" cy="34158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9"/>
    </mc:Choice>
    <mc:Fallback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38962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Large Scale Distributed Linear Algebra With Tensor Processing Units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20370" y="1466215"/>
                <a:ext cx="11490325" cy="2601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zh-CN" altLang="en-US"/>
                  <a:t>利用了谷歌张量处理单元，主要研究如何高效利用多核张量处理单元。文章介绍了</a:t>
                </a:r>
                <a:r>
                  <a:rPr lang="en-US" altLang="zh-CN"/>
                  <a:t>QR</a:t>
                </a:r>
                <a:r>
                  <a:rPr lang="zh-CN" altLang="en-US"/>
                  <a:t>分解和基于</a:t>
                </a:r>
                <a:r>
                  <a:rPr lang="en-US" altLang="zh-CN"/>
                  <a:t>QR</a:t>
                </a:r>
                <a:r>
                  <a:rPr lang="zh-CN" altLang="en-US"/>
                  <a:t>分解的矩阵求解</a:t>
                </a:r>
                <a:r>
                  <a:rPr lang="zh-CN" altLang="en-US"/>
                  <a:t>器。</a:t>
                </a:r>
                <a:endParaRPr lang="zh-CN" altLang="en-US"/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/>
                  <a:t>在一个</a:t>
                </a:r>
                <a:r>
                  <a:rPr lang="en-US" altLang="zh-CN"/>
                  <a:t>2048</a:t>
                </a:r>
                <a:r>
                  <a:rPr lang="zh-CN" altLang="en-US"/>
                  <a:t>核</a:t>
                </a:r>
                <a:r>
                  <a:rPr lang="en-US" altLang="zh-CN"/>
                  <a:t>TPU</a:t>
                </a:r>
                <a:r>
                  <a:rPr lang="zh-CN" altLang="en-US"/>
                  <a:t>上，分解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20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20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的矩阵</a:t>
                </a:r>
                <a:r>
                  <a:rPr lang="zh-CN" altLang="en-US"/>
                  <a:t>约需要</a:t>
                </a:r>
                <a:r>
                  <a:rPr lang="en-US" altLang="zh-CN"/>
                  <a:t>20</a:t>
                </a:r>
                <a:r>
                  <a:rPr lang="zh-CN" altLang="en-US"/>
                  <a:t>分钟。在完成</a:t>
                </a:r>
                <a:r>
                  <a:rPr lang="en-US" altLang="zh-CN"/>
                  <a:t>QR</a:t>
                </a:r>
                <a:r>
                  <a:rPr lang="zh-CN" altLang="en-US"/>
                  <a:t>分解以后，对分解完成的矩阵进行求解需要约</a:t>
                </a:r>
                <a:r>
                  <a:rPr lang="en-US" altLang="zh-CN"/>
                  <a:t>20</a:t>
                </a:r>
                <a:r>
                  <a:rPr lang="zh-CN" altLang="en-US"/>
                  <a:t>分钟。</a:t>
                </a:r>
                <a:endParaRPr lang="zh-CN" altLang="en-US"/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/>
                  <a:t>在</a:t>
                </a:r>
                <a:r>
                  <a:rPr lang="en-US" altLang="zh-CN"/>
                  <a:t>QR</a:t>
                </a:r>
                <a:r>
                  <a:rPr lang="zh-CN" altLang="en-US"/>
                  <a:t>分解上，他们对</a:t>
                </a:r>
                <a:r>
                  <a:rPr lang="en-US" altLang="zh-CN"/>
                  <a:t>QR</a:t>
                </a:r>
                <a:r>
                  <a:rPr lang="zh-CN" altLang="en-US"/>
                  <a:t>分解的算法进行了一定的改进，使其更适合多核</a:t>
                </a:r>
                <a:r>
                  <a:rPr lang="en-US" altLang="zh-CN"/>
                  <a:t>TPU</a:t>
                </a:r>
                <a:r>
                  <a:rPr lang="zh-CN" altLang="en-US"/>
                  <a:t>。在矩阵求解上，运用的还是较为传统的</a:t>
                </a:r>
                <a:r>
                  <a:rPr lang="zh-CN" altLang="en-US"/>
                  <a:t>方法。</a:t>
                </a:r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0" y="1466215"/>
                <a:ext cx="11490325" cy="260159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38962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Large Scale Distributed Linear Algebra With Tensor Processing Units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5745" y="648335"/>
            <a:ext cx="15170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QR </a:t>
            </a:r>
            <a:r>
              <a:rPr lang="zh-CN" altLang="en-US"/>
              <a:t>分解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0" y="1155065"/>
            <a:ext cx="5181600" cy="26517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45745" y="1216660"/>
                <a:ext cx="6078220" cy="1817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en-US" altLang="zh-CN"/>
                  <a:t>right-looking block QR</a:t>
                </a:r>
                <a:endParaRPr lang="en-US" altLang="zh-CN"/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/>
                  <a:t>1. </a:t>
                </a:r>
                <a:r>
                  <a:rPr lang="zh-CN" altLang="en-US"/>
                  <a:t>选中</a:t>
                </a:r>
                <a:r>
                  <a:rPr lang="en-US" altLang="zh-CN"/>
                  <a:t>A</a:t>
                </a:r>
                <a:r>
                  <a:rPr lang="zh-CN" altLang="en-US"/>
                  <a:t>矩阵的前</a:t>
                </a:r>
                <a:r>
                  <a:rPr lang="en-US" altLang="zh-CN"/>
                  <a:t>b</a:t>
                </a:r>
                <a:r>
                  <a:rPr lang="zh-CN" altLang="en-US"/>
                  <a:t>列，记为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/>
                  <a:t>2. </a:t>
                </a:r>
                <a:r>
                  <a:rPr lang="zh-CN" altLang="en-US"/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进行完整的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QR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,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同时将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替换为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3.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进行更新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" y="1216660"/>
                <a:ext cx="6078220" cy="18173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32715" y="3888105"/>
            <a:ext cx="11524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在第二步中，传统的算法会涉及很多标量的算法，并不能发挥出</a:t>
            </a:r>
            <a:r>
              <a:rPr lang="en-US" altLang="zh-CN"/>
              <a:t>TPU</a:t>
            </a:r>
            <a:r>
              <a:rPr lang="zh-CN" altLang="en-US"/>
              <a:t>的优势，所以他们改进了</a:t>
            </a:r>
            <a:r>
              <a:rPr lang="zh-CN" altLang="en-US"/>
              <a:t>算法。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38962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Large Scale Distributed Linear Algebra With Tensor Processing Units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255" y="492125"/>
            <a:ext cx="5234940" cy="2788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6315" y="1102995"/>
            <a:ext cx="4739640" cy="4343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281045"/>
            <a:ext cx="5196840" cy="3055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38962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Large Scale Distributed Linear Algebra With Tensor Processing Units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5745" y="648335"/>
            <a:ext cx="15170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矩阵</a:t>
            </a:r>
            <a:r>
              <a:rPr lang="zh-CN" altLang="en-US"/>
              <a:t>求解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4805" y="1617980"/>
            <a:ext cx="6434455" cy="3270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1145" y="1558290"/>
            <a:ext cx="43840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分布式三角求解器，将系数矩阵</a:t>
            </a:r>
            <a:r>
              <a:rPr lang="en-US" altLang="zh-CN"/>
              <a:t>R</a:t>
            </a:r>
            <a:r>
              <a:rPr lang="zh-CN" altLang="en-US"/>
              <a:t>分割为若干方块，每个方块对应一个处理器（但单个处理器可能包含多个方块）。这些方块的主对角线上的子矩阵均为上三角矩阵。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99287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Programming the LU Factorization for a Multicore System with Accelerators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765" y="956945"/>
            <a:ext cx="1134808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部分主元</a:t>
            </a:r>
            <a:r>
              <a:rPr lang="en-US" altLang="zh-CN"/>
              <a:t>LU</a:t>
            </a:r>
            <a:r>
              <a:rPr lang="zh-CN" altLang="en-US"/>
              <a:t>分解是一种典型的数值计算方法，是高性能</a:t>
            </a:r>
            <a:r>
              <a:rPr lang="en-US" altLang="zh-CN"/>
              <a:t>LINPACK</a:t>
            </a:r>
            <a:r>
              <a:rPr lang="zh-CN" altLang="en-US"/>
              <a:t>基准测试的主要组成部分。本文给出了一种混合共享内存系统的算法实现，该系统采用标准</a:t>
            </a:r>
            <a:r>
              <a:rPr lang="en-US" altLang="zh-CN"/>
              <a:t>CPU</a:t>
            </a:r>
            <a:r>
              <a:rPr lang="zh-CN" altLang="en-US"/>
              <a:t>核和</a:t>
            </a:r>
            <a:r>
              <a:rPr lang="en-US" altLang="zh-CN"/>
              <a:t>GPU</a:t>
            </a:r>
            <a:r>
              <a:rPr lang="zh-CN" altLang="en-US"/>
              <a:t>加速卡。使用四个</a:t>
            </a:r>
            <a:r>
              <a:rPr lang="en-US" altLang="zh-CN"/>
              <a:t> CPU</a:t>
            </a:r>
            <a:r>
              <a:rPr lang="zh-CN" altLang="en-US"/>
              <a:t>和四个</a:t>
            </a:r>
            <a:r>
              <a:rPr lang="en-US" altLang="zh-CN"/>
              <a:t> GPU</a:t>
            </a:r>
            <a:r>
              <a:rPr lang="zh-CN" altLang="en-US"/>
              <a:t>可实现超过</a:t>
            </a:r>
            <a:r>
              <a:rPr lang="en-US" altLang="zh-CN"/>
              <a:t>1</a:t>
            </a:r>
            <a:r>
              <a:rPr lang="zh-CN" altLang="en-US"/>
              <a:t>万亿次浮点的性能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970" y="2356485"/>
            <a:ext cx="6658610" cy="27489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78460" y="2642235"/>
            <a:ext cx="48120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预先生成一个任务图来做动态调度。</a:t>
            </a:r>
            <a:r>
              <a:rPr lang="en-US" altLang="zh-CN"/>
              <a:t>CPU</a:t>
            </a:r>
            <a:r>
              <a:rPr lang="zh-CN" altLang="en-US"/>
              <a:t>负责处理关键路径上复杂细粒度的操作。</a:t>
            </a:r>
            <a:r>
              <a:rPr lang="en-US" altLang="zh-CN"/>
              <a:t>GPU</a:t>
            </a:r>
            <a:r>
              <a:rPr lang="zh-CN" altLang="en-US"/>
              <a:t>则负责处理非关键路径上的数据并行性较好的粗粒度</a:t>
            </a:r>
            <a:r>
              <a:rPr lang="zh-CN" altLang="en-US"/>
              <a:t>操作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99287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 fontScale="90000"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Programming the LU Factorization for a Multicore System with Accelerators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2740" y="1090295"/>
            <a:ext cx="1124204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从</a:t>
            </a:r>
            <a:r>
              <a:rPr lang="en-US" altLang="zh-CN"/>
              <a:t>LU</a:t>
            </a:r>
            <a:r>
              <a:rPr lang="zh-CN" altLang="en-US"/>
              <a:t>分解的算法层面，本文并没有创新，使用的仍然是</a:t>
            </a:r>
            <a:r>
              <a:rPr lang="en-US" altLang="zh-CN"/>
              <a:t>Block LU </a:t>
            </a:r>
            <a:r>
              <a:rPr lang="zh-CN" altLang="en-US"/>
              <a:t>分解。但在数据结构的设计上有一定</a:t>
            </a:r>
            <a:r>
              <a:rPr lang="zh-CN" altLang="en-US"/>
              <a:t>创新，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Tile Data Layout</a:t>
            </a:r>
            <a:r>
              <a:rPr lang="zh-CN" altLang="en-US"/>
              <a:t>，将大矩阵划分为更小的、连续的数据块，且以列优先</a:t>
            </a:r>
            <a:r>
              <a:rPr lang="en-US" altLang="zh-CN"/>
              <a:t>-</a:t>
            </a:r>
            <a:r>
              <a:rPr lang="zh-CN" altLang="en-US"/>
              <a:t>列优先的方式存储到</a:t>
            </a:r>
            <a:r>
              <a:rPr lang="en-US" altLang="zh-CN"/>
              <a:t>CPU</a:t>
            </a:r>
            <a:r>
              <a:rPr lang="zh-CN" altLang="en-US"/>
              <a:t>的内存区，同时也会将剩余部分以列优先</a:t>
            </a:r>
            <a:r>
              <a:rPr lang="en-US" altLang="zh-CN"/>
              <a:t>-</a:t>
            </a:r>
            <a:r>
              <a:rPr lang="zh-CN" altLang="en-US"/>
              <a:t>行优先的方式存储到</a:t>
            </a:r>
            <a:r>
              <a:rPr lang="en-US" altLang="zh-CN"/>
              <a:t>GPU</a:t>
            </a:r>
            <a:r>
              <a:rPr lang="zh-CN" altLang="en-US"/>
              <a:t>的内存中。更好的适应两者负责的</a:t>
            </a:r>
            <a:r>
              <a:rPr lang="zh-CN" altLang="en-US"/>
              <a:t>任务。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8460" y="2655570"/>
            <a:ext cx="111963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CPU</a:t>
            </a:r>
            <a:r>
              <a:rPr lang="zh-CN" altLang="en-US"/>
              <a:t>主要负责面板分解，以及一部分对剩余矩阵的更新，主要的操作有行交换、三角求解核</a:t>
            </a:r>
            <a:r>
              <a:rPr lang="zh-CN" altLang="en-US"/>
              <a:t>矩阵乘。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GPU</a:t>
            </a:r>
            <a:r>
              <a:rPr lang="zh-CN" altLang="en-US"/>
              <a:t>负责更新剩余矩阵。同时</a:t>
            </a:r>
            <a:r>
              <a:rPr lang="en-US" altLang="zh-CN"/>
              <a:t>GPU</a:t>
            </a:r>
            <a:r>
              <a:rPr lang="zh-CN" altLang="en-US"/>
              <a:t>中负责矩阵乘法的内核是由</a:t>
            </a:r>
            <a:r>
              <a:rPr lang="en-US" altLang="zh-CN"/>
              <a:t>Automatic Stencil TuneR for Accelerators system</a:t>
            </a:r>
            <a:r>
              <a:rPr lang="zh-CN" altLang="en-US"/>
              <a:t>生成。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99287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Accelerating LU-Decomposition of Arbitrarily Sized Matrices on FPGAs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09930" y="1694180"/>
                <a:ext cx="10826115" cy="2584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r>
                  <a:rPr lang="zh-CN" altLang="en-US"/>
                  <a:t>使用分块</a:t>
                </a:r>
                <a:r>
                  <a:rPr lang="en-US" altLang="zh-CN"/>
                  <a:t>LU</a:t>
                </a:r>
                <a:r>
                  <a:rPr lang="zh-CN" altLang="en-US"/>
                  <a:t>分解算法（</a:t>
                </a:r>
                <a:r>
                  <a:rPr lang="en-US" altLang="zh-CN"/>
                  <a:t>Block LU decomposition</a:t>
                </a:r>
                <a:r>
                  <a:rPr lang="zh-CN" altLang="en-US"/>
                  <a:t>）来提高运算强度并利用数据并行性，从而缓解内存带宽瓶颈</a:t>
                </a:r>
                <a:endParaRPr lang="zh-CN" altLang="en-US"/>
              </a:p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r>
                  <a:rPr lang="zh-CN" altLang="en-US"/>
                  <a:t>加速器由两个简单的线性处理引擎（</a:t>
                </a:r>
                <a:r>
                  <a:rPr lang="en-US" altLang="zh-CN"/>
                  <a:t>PE</a:t>
                </a:r>
                <a:r>
                  <a:rPr lang="zh-CN" altLang="en-US"/>
                  <a:t>）阵列组成，分别位于</a:t>
                </a:r>
                <a:r>
                  <a:rPr lang="en-US" altLang="zh-CN"/>
                  <a:t>FPGA</a:t>
                </a:r>
                <a:r>
                  <a:rPr lang="zh-CN" altLang="en-US"/>
                  <a:t>的两个</a:t>
                </a:r>
                <a:r>
                  <a:rPr lang="en-US" altLang="zh-CN"/>
                  <a:t>Super Logic Regions (SLR) </a:t>
                </a:r>
                <a:r>
                  <a:rPr lang="zh-CN" altLang="en-US"/>
                  <a:t>上，以提供任务级并行性。</a:t>
                </a:r>
                <a:endParaRPr lang="zh-CN" altLang="en-US"/>
              </a:p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r>
                  <a:rPr lang="zh-CN" altLang="en-US"/>
                  <a:t>通过使用分布式内存单元（</a:t>
                </a:r>
                <a:r>
                  <a:rPr lang="en-US" altLang="zh-CN"/>
                  <a:t>UMEM, LMEM, RMEM</a:t>
                </a:r>
                <a:r>
                  <a:rPr lang="zh-CN" altLang="en-US"/>
                  <a:t>）来支持</a:t>
                </a:r>
                <a:r>
                  <a:rPr lang="en-US" altLang="zh-CN"/>
                  <a:t>PE</a:t>
                </a:r>
                <a:r>
                  <a:rPr lang="zh-CN" altLang="en-US"/>
                  <a:t>阵列并行执行核心向量计算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𝐶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endParaRPr lang="en-US" altLang="zh-CN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" y="1694180"/>
                <a:ext cx="10826115" cy="2584450"/>
              </a:xfrm>
              <a:prstGeom prst="rect">
                <a:avLst/>
              </a:prstGeom>
              <a:blipFill rotWithShape="1">
                <a:blip r:embed="rId7"/>
                <a:stretch>
                  <a:fillRect r="-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899287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0" indent="0">
              <a:buFont typeface="Wingdings" panose="05000000000000000000" charset="0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Accelerating LU-Decomposition of Arbitrarily Sized Matrices on FPGAs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25" y="1285240"/>
            <a:ext cx="5097780" cy="4145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46445" y="1323975"/>
            <a:ext cx="604012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加速器组成：一个</a:t>
            </a:r>
            <a:r>
              <a:rPr lang="en-US" altLang="zh-CN"/>
              <a:t>PE</a:t>
            </a:r>
            <a:r>
              <a:rPr lang="zh-CN" altLang="en-US"/>
              <a:t>阵列和分布式内存块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PE</a:t>
            </a:r>
            <a:r>
              <a:rPr lang="zh-CN" altLang="en-US"/>
              <a:t>：每个</a:t>
            </a:r>
            <a:r>
              <a:rPr lang="en-US" altLang="zh-CN"/>
              <a:t>PE</a:t>
            </a:r>
            <a:r>
              <a:rPr lang="zh-CN" altLang="en-US"/>
              <a:t>包含一个双精度乘法和加</a:t>
            </a:r>
            <a:r>
              <a:rPr lang="en-US" altLang="zh-CN"/>
              <a:t>/</a:t>
            </a:r>
            <a:r>
              <a:rPr lang="zh-CN" altLang="en-US"/>
              <a:t>减计算单元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分布式内存块：</a:t>
            </a:r>
            <a:r>
              <a:rPr lang="en-US" altLang="zh-CN"/>
              <a:t>UMEM</a:t>
            </a:r>
            <a:r>
              <a:rPr lang="zh-CN" altLang="en-US"/>
              <a:t>和</a:t>
            </a:r>
            <a:r>
              <a:rPr lang="en-US" altLang="zh-CN"/>
              <a:t>RMEM</a:t>
            </a:r>
            <a:r>
              <a:rPr lang="zh-CN" altLang="en-US"/>
              <a:t>，每小块存储一个数据块的一列。</a:t>
            </a:r>
            <a:r>
              <a:rPr lang="en-US" altLang="zh-CN"/>
              <a:t>UMEM</a:t>
            </a:r>
            <a:r>
              <a:rPr lang="zh-CN" altLang="en-US"/>
              <a:t>和</a:t>
            </a:r>
            <a:r>
              <a:rPr lang="en-US" altLang="zh-CN"/>
              <a:t>RMEM</a:t>
            </a:r>
            <a:r>
              <a:rPr lang="zh-CN" altLang="en-US"/>
              <a:t>是双缓冲的。</a:t>
            </a:r>
            <a:r>
              <a:rPr lang="en-US" altLang="zh-CN"/>
              <a:t>LMEM</a:t>
            </a:r>
            <a:r>
              <a:rPr lang="zh-CN" altLang="en-US"/>
              <a:t>（存储</a:t>
            </a:r>
            <a:r>
              <a:rPr lang="en-US" altLang="zh-CN"/>
              <a:t>L</a:t>
            </a:r>
            <a:r>
              <a:rPr lang="zh-CN" altLang="en-US"/>
              <a:t>因子矩阵）映射到</a:t>
            </a:r>
            <a:r>
              <a:rPr lang="en-US" altLang="zh-CN"/>
              <a:t>BRAM</a:t>
            </a:r>
            <a:r>
              <a:rPr lang="zh-CN" altLang="en-US"/>
              <a:t>块。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tags/tag1.xml><?xml version="1.0" encoding="utf-8"?>
<p:tagLst xmlns:p="http://schemas.openxmlformats.org/presentationml/2006/main">
  <p:tag name="commondata" val="eyJoZGlkIjoiNDc0Zjg0ZDQ0ZTEzYjRjMjA2MTExNGFhZWE1NjM1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WPS 演示</Application>
  <PresentationFormat>宽屏</PresentationFormat>
  <Paragraphs>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黑体</vt:lpstr>
      <vt:lpstr>Wingdings</vt:lpstr>
      <vt:lpstr>等线</vt:lpstr>
      <vt:lpstr>微软雅黑</vt:lpstr>
      <vt:lpstr>Arial Unicode MS</vt:lpstr>
      <vt:lpstr>等线 Light</vt:lpstr>
      <vt:lpstr>Calibri</vt:lpstr>
      <vt:lpstr>Cambria Math</vt:lpstr>
      <vt:lpstr>Office 主题​​</vt:lpstr>
      <vt:lpstr>PowerPoint 演示文稿</vt:lpstr>
      <vt:lpstr>Large Scale Distributed Linear Algebra With Tensor Processing Units</vt:lpstr>
      <vt:lpstr>Large Scale Distributed Linear Algebra With Tensor Processing Units</vt:lpstr>
      <vt:lpstr>Large Scale Distributed Linear Algebra With Tensor Processing Units</vt:lpstr>
      <vt:lpstr>Large Scale Distributed Linear Algebra With Tensor Processing Units</vt:lpstr>
      <vt:lpstr>Large Scale Distributed Linear Algebra With Tensor Processing Units</vt:lpstr>
      <vt:lpstr>Programming the LU Factorization for a Multicore System with Accelerators</vt:lpstr>
      <vt:lpstr>Programming the LU Factorization for a Multicore System with Accelerators</vt:lpstr>
      <vt:lpstr>Accelerating LU-Decomposition of Arbitrarily Sized Matrices on FPGAs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陈仇恨</dc:creator>
  <cp:lastModifiedBy>hy1729</cp:lastModifiedBy>
  <cp:revision>87</cp:revision>
  <dcterms:created xsi:type="dcterms:W3CDTF">2019-03-01T00:58:00Z</dcterms:created>
  <dcterms:modified xsi:type="dcterms:W3CDTF">2025-11-04T02:32:10Z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6B57294F8A6841BBB62A98297265B269_13</vt:lpwstr>
  </property>
  <property fmtid="{D5CDD505-2E9C-101B-9397-08002B2CF9AE}" pid="3" name="KSOProductBuildVer">
    <vt:lpwstr>2052-12.1.0.23125</vt:lpwstr>
  </property>
</Properties>
</file>