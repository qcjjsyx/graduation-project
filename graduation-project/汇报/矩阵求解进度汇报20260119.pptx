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83" r:id="rId4"/>
    <p:sldId id="281" r:id="rId5"/>
    <p:sldId id="282" r:id="rId6"/>
    <p:sldId id="275" r:id="rId7"/>
    <p:sldId id="278" r:id="rId8"/>
    <p:sldId id="280" r:id="rId9"/>
    <p:sldId id="284" r:id="rId10"/>
    <p:sldId id="285" r:id="rId11"/>
    <p:sldId id="286" r:id="rId12"/>
    <p:sldId id="287"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5B6"/>
    <a:srgbClr val="B4C7E7"/>
    <a:srgbClr val="1F4E79"/>
    <a:srgbClr val="FFC000"/>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71" autoAdjust="0"/>
    <p:restoredTop sz="94280" autoAdjust="0"/>
  </p:normalViewPr>
  <p:slideViewPr>
    <p:cSldViewPr snapToGrid="0" showGuides="1">
      <p:cViewPr varScale="1">
        <p:scale>
          <a:sx n="86" d="100"/>
          <a:sy n="86" d="100"/>
        </p:scale>
        <p:origin x="355" y="58"/>
      </p:cViewPr>
      <p:guideLst>
        <p:guide orient="horz" pos="2160"/>
        <p:guide pos="3909"/>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33DA310-47E1-49A4-B032-28C3254EC44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CC421-4391-48F1-A112-9BD0381E515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3DA310-47E1-49A4-B032-28C3254EC44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CC421-4391-48F1-A112-9BD0381E515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2.xml"/><Relationship Id="rId10" Type="http://schemas.openxmlformats.org/officeDocument/2006/relationships/image" Target="../media/image16.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9.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0.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1.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670685" y="3220720"/>
            <a:ext cx="8693150" cy="610870"/>
          </a:xfrm>
          <a:prstGeom prst="rect">
            <a:avLst/>
          </a:prstGeom>
          <a:noFill/>
        </p:spPr>
        <p:txBody>
          <a:bodyPr wrap="square" rtlCol="0">
            <a:noAutofit/>
          </a:bodyPr>
          <a:lstStyle/>
          <a:p>
            <a:pPr algn="ctr"/>
            <a:r>
              <a:rPr lang="zh-CN" altLang="en-US" sz="4400" kern="2200" dirty="0">
                <a:solidFill>
                  <a:schemeClr val="tx2"/>
                </a:solidFill>
                <a:latin typeface="黑体" panose="02010609060101010101" pitchFamily="49" charset="-122"/>
                <a:ea typeface="黑体" panose="02010609060101010101" pitchFamily="49" charset="-122"/>
                <a:sym typeface="+mn-ea"/>
              </a:rPr>
              <a:t>稀疏矩阵</a:t>
            </a:r>
            <a:r>
              <a:rPr lang="zh-CN" altLang="en-US" sz="4400" kern="2200" dirty="0">
                <a:solidFill>
                  <a:schemeClr val="tx2"/>
                </a:solidFill>
                <a:latin typeface="黑体" panose="02010609060101010101" pitchFamily="49" charset="-122"/>
                <a:ea typeface="黑体" panose="02010609060101010101" pitchFamily="49" charset="-122"/>
                <a:sym typeface="+mn-ea"/>
              </a:rPr>
              <a:t>求解</a:t>
            </a:r>
            <a:endParaRPr lang="zh-CN" altLang="en-US" sz="4400" kern="2200" dirty="0">
              <a:solidFill>
                <a:schemeClr val="tx2"/>
              </a:solidFill>
              <a:latin typeface="黑体" panose="02010609060101010101" pitchFamily="49" charset="-122"/>
              <a:ea typeface="黑体" panose="02010609060101010101" pitchFamily="49" charset="-122"/>
              <a:sym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67753"/>
            <a:ext cx="12192000" cy="2655405"/>
          </a:xfrm>
          <a:prstGeom prst="rect">
            <a:avLst/>
          </a:prstGeom>
        </p:spPr>
      </p:pic>
      <p:grpSp>
        <p:nvGrpSpPr>
          <p:cNvPr id="25" name="组合 24"/>
          <p:cNvGrpSpPr/>
          <p:nvPr/>
        </p:nvGrpSpPr>
        <p:grpSpPr>
          <a:xfrm>
            <a:off x="0" y="6477345"/>
            <a:ext cx="12192000" cy="415497"/>
            <a:chOff x="0" y="6477345"/>
            <a:chExt cx="12192000" cy="415497"/>
          </a:xfrm>
        </p:grpSpPr>
        <p:sp>
          <p:nvSpPr>
            <p:cNvPr id="2" name="文本框 1"/>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24" name="组合 23"/>
            <p:cNvGrpSpPr/>
            <p:nvPr/>
          </p:nvGrpSpPr>
          <p:grpSpPr>
            <a:xfrm>
              <a:off x="5284670" y="6492733"/>
              <a:ext cx="1843236" cy="400109"/>
              <a:chOff x="76140" y="6477345"/>
              <a:chExt cx="1947504" cy="400109"/>
            </a:xfrm>
          </p:grpSpPr>
          <p:pic>
            <p:nvPicPr>
              <p:cNvPr id="12" name="图片 11"/>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14" name="图片 13"/>
              <p:cNvPicPr>
                <a:picLocks noChangeAspect="1"/>
              </p:cNvPicPr>
              <p:nvPr/>
            </p:nvPicPr>
            <p:blipFill rotWithShape="1">
              <a:blip r:embed="rId3">
                <a:biLevel thresh="25000"/>
              </a:blip>
              <a:srcRect l="1" t="6582" r="-25334" b="26979"/>
              <a:stretch>
                <a:fillRect/>
              </a:stretch>
            </p:blipFill>
            <p:spPr>
              <a:xfrm rot="200163">
                <a:off x="414610" y="6477345"/>
                <a:ext cx="724874" cy="380655"/>
              </a:xfrm>
              <a:prstGeom prst="rect">
                <a:avLst/>
              </a:prstGeom>
            </p:spPr>
          </p:pic>
          <p:pic>
            <p:nvPicPr>
              <p:cNvPr id="16" name="图片 15"/>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20" name="图片 19"/>
              <p:cNvPicPr>
                <a:picLocks noChangeAspect="1"/>
              </p:cNvPicPr>
              <p:nvPr/>
            </p:nvPicPr>
            <p:blipFill rotWithShape="1">
              <a:blip r:embed="rId4"/>
              <a:srcRect t="-1" b="16526"/>
              <a:stretch>
                <a:fillRect/>
              </a:stretch>
            </p:blipFill>
            <p:spPr>
              <a:xfrm rot="436491">
                <a:off x="1256498" y="6481317"/>
                <a:ext cx="388026" cy="326437"/>
              </a:xfrm>
              <a:prstGeom prst="rect">
                <a:avLst/>
              </a:prstGeom>
            </p:spPr>
          </p:pic>
          <p:pic>
            <p:nvPicPr>
              <p:cNvPr id="23" name="图片 22"/>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2000" advTm="2519"/>
    </mc:Choice>
    <mc:Fallback>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en-US" altLang="zh-CN" sz="2000" b="1" dirty="0">
                <a:latin typeface="宋体" panose="02010600030101010101" pitchFamily="2" charset="-122"/>
                <a:ea typeface="宋体" panose="02010600030101010101" pitchFamily="2" charset="-122"/>
              </a:rPr>
              <a:t>GCU </a:t>
            </a:r>
            <a:r>
              <a:rPr lang="zh-CN" altLang="en-US" sz="2000" b="1" dirty="0">
                <a:latin typeface="宋体" panose="02010600030101010101" pitchFamily="2" charset="-122"/>
                <a:ea typeface="宋体" panose="02010600030101010101" pitchFamily="2" charset="-122"/>
              </a:rPr>
              <a:t>全局</a:t>
            </a:r>
            <a:r>
              <a:rPr lang="zh-CN" altLang="en-US" sz="2000" b="1" dirty="0">
                <a:latin typeface="宋体" panose="02010600030101010101" pitchFamily="2" charset="-122"/>
                <a:ea typeface="宋体" panose="02010600030101010101" pitchFamily="2" charset="-122"/>
              </a:rPr>
              <a:t>控制器</a:t>
            </a:r>
            <a:endParaRPr lang="zh-CN" altLang="en-US" sz="2000" b="1" dirty="0">
              <a:latin typeface="宋体" panose="02010600030101010101" pitchFamily="2" charset="-122"/>
              <a:ea typeface="宋体" panose="02010600030101010101" pitchFamily="2" charset="-122"/>
            </a:endParaRPr>
          </a:p>
        </p:txBody>
      </p:sp>
      <p:pic>
        <p:nvPicPr>
          <p:cNvPr id="2" name="图片 1" descr="GCU"/>
          <p:cNvPicPr>
            <a:picLocks noChangeAspect="1"/>
          </p:cNvPicPr>
          <p:nvPr/>
        </p:nvPicPr>
        <p:blipFill>
          <a:blip r:embed="rId7"/>
          <a:stretch>
            <a:fillRect/>
          </a:stretch>
        </p:blipFill>
        <p:spPr>
          <a:xfrm>
            <a:off x="1360170" y="648335"/>
            <a:ext cx="8862060" cy="54076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数据结构</a:t>
            </a:r>
            <a:r>
              <a:rPr lang="zh-CN" altLang="en-US" sz="2000" b="1" dirty="0">
                <a:latin typeface="宋体" panose="02010600030101010101" pitchFamily="2" charset="-122"/>
                <a:ea typeface="宋体" panose="02010600030101010101" pitchFamily="2" charset="-122"/>
              </a:rPr>
              <a:t>定义</a:t>
            </a:r>
            <a:endParaRPr lang="zh-CN" altLang="en-US" sz="2000" b="1" dirty="0">
              <a:latin typeface="宋体" panose="02010600030101010101" pitchFamily="2" charset="-122"/>
              <a:ea typeface="宋体" panose="02010600030101010101" pitchFamily="2" charset="-122"/>
            </a:endParaRPr>
          </a:p>
        </p:txBody>
      </p:sp>
      <p:sp>
        <p:nvSpPr>
          <p:cNvPr id="5" name="文本框 4"/>
          <p:cNvSpPr txBox="1"/>
          <p:nvPr/>
        </p:nvSpPr>
        <p:spPr>
          <a:xfrm>
            <a:off x="280035" y="648335"/>
            <a:ext cx="11784965" cy="609600"/>
          </a:xfrm>
          <a:prstGeom prst="rect">
            <a:avLst/>
          </a:prstGeom>
          <a:noFill/>
        </p:spPr>
        <p:txBody>
          <a:bodyPr wrap="square" rtlCol="0">
            <a:noAutofit/>
          </a:bodyPr>
          <a:p>
            <a:endParaRPr lang="zh-CN" altLang="en-US" b="1">
              <a:latin typeface="Cambria Math" panose="02040503050406030204" charset="0"/>
              <a:cs typeface="Cambria Math" panose="02040503050406030204" charset="0"/>
            </a:endParaRPr>
          </a:p>
        </p:txBody>
      </p:sp>
      <p:pic>
        <p:nvPicPr>
          <p:cNvPr id="13" name="图片 12"/>
          <p:cNvPicPr>
            <a:picLocks noChangeAspect="1"/>
          </p:cNvPicPr>
          <p:nvPr/>
        </p:nvPicPr>
        <p:blipFill>
          <a:blip r:embed="rId7"/>
          <a:stretch>
            <a:fillRect/>
          </a:stretch>
        </p:blipFill>
        <p:spPr>
          <a:xfrm>
            <a:off x="2329815" y="729615"/>
            <a:ext cx="6852920" cy="55346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误差</a:t>
            </a:r>
            <a:r>
              <a:rPr lang="zh-CN" altLang="en-US" sz="2000" b="1" dirty="0">
                <a:latin typeface="宋体" panose="02010600030101010101" pitchFamily="2" charset="-122"/>
                <a:ea typeface="宋体" panose="02010600030101010101" pitchFamily="2" charset="-122"/>
              </a:rPr>
              <a:t>分析</a:t>
            </a:r>
            <a:endParaRPr lang="zh-CN" altLang="en-US" sz="2000" b="1" dirty="0">
              <a:latin typeface="宋体" panose="02010600030101010101" pitchFamily="2" charset="-122"/>
              <a:ea typeface="宋体" panose="02010600030101010101" pitchFamily="2" charset="-122"/>
            </a:endParaRPr>
          </a:p>
        </p:txBody>
      </p:sp>
      <p:sp>
        <p:nvSpPr>
          <p:cNvPr id="5" name="文本框 4"/>
          <p:cNvSpPr txBox="1"/>
          <p:nvPr/>
        </p:nvSpPr>
        <p:spPr>
          <a:xfrm>
            <a:off x="280035" y="648335"/>
            <a:ext cx="11784965" cy="609600"/>
          </a:xfrm>
          <a:prstGeom prst="rect">
            <a:avLst/>
          </a:prstGeom>
          <a:noFill/>
        </p:spPr>
        <p:txBody>
          <a:bodyPr wrap="square" rtlCol="0">
            <a:noAutofit/>
          </a:bodyPr>
          <a:p>
            <a:r>
              <a:rPr lang="zh-CN" altLang="en-US" b="1">
                <a:latin typeface="Cambria Math" panose="02040503050406030204" charset="0"/>
                <a:cs typeface="Cambria Math" panose="02040503050406030204" charset="0"/>
              </a:rPr>
              <a:t>稀疏向后误差分析</a:t>
            </a:r>
            <a:endParaRPr lang="zh-CN" altLang="en-US" b="1">
              <a:latin typeface="Cambria Math" panose="02040503050406030204" charset="0"/>
              <a:cs typeface="Cambria Math" panose="02040503050406030204" charset="0"/>
            </a:endParaRPr>
          </a:p>
        </p:txBody>
      </p:sp>
      <mc:AlternateContent xmlns:mc="http://schemas.openxmlformats.org/markup-compatibility/2006">
        <mc:Choice xmlns:a14="http://schemas.microsoft.com/office/drawing/2010/main" Requires="a14">
          <p:sp>
            <p:nvSpPr>
              <p:cNvPr id="6" name="文本框 5"/>
              <p:cNvSpPr txBox="1"/>
              <p:nvPr/>
            </p:nvSpPr>
            <p:spPr>
              <a:xfrm>
                <a:off x="310515" y="1167765"/>
                <a:ext cx="11612880" cy="389890"/>
              </a:xfrm>
              <a:prstGeom prst="rect">
                <a:avLst/>
              </a:prstGeom>
              <a:noFill/>
            </p:spPr>
            <p:txBody>
              <a:bodyPr wrap="square" rtlCol="0">
                <a:spAutoFit/>
              </a:bodyPr>
              <a:p>
                <a:r>
                  <a:rPr lang="zh-CN" altLang="en-US" b="1"/>
                  <a:t>核心思想</a:t>
                </a:r>
                <a:r>
                  <a:rPr lang="zh-CN" altLang="en-US"/>
                  <a:t>：寻找微小的扰动</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𝛿</m:t>
                    </m:r>
                    <m:r>
                      <a:rPr lang="en-US" altLang="zh-CN" i="1">
                        <a:latin typeface="Cambria Math" panose="02040503050406030204" charset="0"/>
                        <a:ea typeface="MS Mincho" charset="0"/>
                        <a:cs typeface="Cambria Math" panose="02040503050406030204" charset="0"/>
                      </a:rPr>
                      <m:t>𝐴</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𝛿</m:t>
                    </m:r>
                    <m:r>
                      <a:rPr lang="en-US" altLang="zh-CN" i="1">
                        <a:latin typeface="Cambria Math" panose="02040503050406030204" charset="0"/>
                        <a:ea typeface="MS Mincho" charset="0"/>
                        <a:cs typeface="Cambria Math" panose="02040503050406030204" charset="0"/>
                      </a:rPr>
                      <m:t>𝑏</m:t>
                    </m:r>
                    <m:r>
                      <a:rPr lang="en-US" altLang="zh-CN" i="1">
                        <a:latin typeface="Cambria Math" panose="02040503050406030204" charset="0"/>
                        <a:cs typeface="Cambria Math" panose="02040503050406030204" charset="0"/>
                      </a:rPr>
                      <m:t>）</m:t>
                    </m:r>
                  </m:oMath>
                </a14:m>
                <a:r>
                  <a:rPr lang="zh-CN" altLang="en-US"/>
                  <a:t>使得</a:t>
                </a:r>
                <a14:m>
                  <m:oMath xmlns:m="http://schemas.openxmlformats.org/officeDocument/2006/math">
                    <m:acc>
                      <m:accPr>
                        <m:chr m:val="̅"/>
                        <m:ctrlPr>
                          <a:rPr lang="en-US" altLang="zh-CN" i="1">
                            <a:latin typeface="Cambria Math" panose="02040503050406030204" charset="0"/>
                            <a:cs typeface="Cambria Math" panose="02040503050406030204" charset="0"/>
                          </a:rPr>
                        </m:ctrlPr>
                      </m:accPr>
                      <m:e>
                        <m:r>
                          <a:rPr lang="en-US" altLang="zh-CN" i="1">
                            <a:latin typeface="Cambria Math" panose="02040503050406030204" charset="0"/>
                            <a:cs typeface="Cambria Math" panose="02040503050406030204" charset="0"/>
                          </a:rPr>
                          <m:t>𝑥</m:t>
                        </m:r>
                      </m:e>
                    </m:acc>
                  </m:oMath>
                </a14:m>
                <a:r>
                  <a:rPr lang="zh-CN" altLang="en-US"/>
                  <a:t>是扰动系统</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𝛿</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acc>
                      <m:accPr>
                        <m:chr m:val="̅"/>
                        <m:ctrlPr>
                          <a:rPr lang="en-US" altLang="zh-CN" i="1">
                            <a:latin typeface="Cambria Math" panose="02040503050406030204" charset="0"/>
                            <a:cs typeface="Cambria Math" panose="02040503050406030204" charset="0"/>
                          </a:rPr>
                        </m:ctrlPr>
                      </m:accPr>
                      <m:e>
                        <m:r>
                          <a:rPr lang="en-US" altLang="zh-CN" i="1">
                            <a:latin typeface="Cambria Math" panose="02040503050406030204" charset="0"/>
                            <a:cs typeface="Cambria Math" panose="02040503050406030204" charset="0"/>
                          </a:rPr>
                          <m:t>𝑥</m:t>
                        </m:r>
                      </m:e>
                    </m:acc>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𝛿</m:t>
                    </m:r>
                    <m:r>
                      <a:rPr lang="en-US" altLang="zh-CN" i="1">
                        <a:latin typeface="Cambria Math" panose="02040503050406030204" charset="0"/>
                        <a:cs typeface="Cambria Math" panose="02040503050406030204" charset="0"/>
                      </a:rPr>
                      <m:t>𝑏</m:t>
                    </m:r>
                  </m:oMath>
                </a14:m>
                <a:r>
                  <a:rPr lang="en-US" altLang="zh-CN"/>
                  <a:t> </a:t>
                </a:r>
                <a:r>
                  <a:rPr lang="zh-CN" altLang="en-US"/>
                  <a:t>的精确解。</a:t>
                </a:r>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310515" y="1167765"/>
                <a:ext cx="11612880" cy="389890"/>
              </a:xfrm>
              <a:prstGeom prst="rect">
                <a:avLst/>
              </a:prstGeom>
              <a:blipFill rotWithShape="1">
                <a:blip r:embed="rId7"/>
                <a:stretch>
                  <a:fillRect/>
                </a:stretch>
              </a:blipFill>
            </p:spPr>
            <p:txBody>
              <a:bodyPr/>
              <a:lstStyle/>
              <a:p>
                <a:r>
                  <a:rPr lang="zh-CN" altLang="en-US">
                    <a:noFill/>
                  </a:rPr>
                  <a:t> </a:t>
                </a:r>
              </a:p>
            </p:txBody>
          </p:sp>
        </mc:Fallback>
      </mc:AlternateContent>
      <p:pic>
        <p:nvPicPr>
          <p:cNvPr id="14" name="图片 13" descr="QianJianTec1768187418771"/>
          <p:cNvPicPr>
            <a:picLocks noChangeAspect="1"/>
          </p:cNvPicPr>
          <p:nvPr/>
        </p:nvPicPr>
        <p:blipFill>
          <a:blip r:embed="rId8"/>
          <a:stretch>
            <a:fillRect/>
          </a:stretch>
        </p:blipFill>
        <p:spPr>
          <a:xfrm>
            <a:off x="3636645" y="1974215"/>
            <a:ext cx="4220210" cy="1304925"/>
          </a:xfrm>
          <a:prstGeom prst="rect">
            <a:avLst/>
          </a:prstGeom>
        </p:spPr>
      </p:pic>
      <p:pic>
        <p:nvPicPr>
          <p:cNvPr id="15" name="图片 14" descr="QianJianTec1768187743679"/>
          <p:cNvPicPr>
            <a:picLocks noChangeAspect="1"/>
          </p:cNvPicPr>
          <p:nvPr/>
        </p:nvPicPr>
        <p:blipFill>
          <a:blip r:embed="rId9"/>
          <a:stretch>
            <a:fillRect/>
          </a:stretch>
        </p:blipFill>
        <p:spPr>
          <a:xfrm>
            <a:off x="3484245" y="3596640"/>
            <a:ext cx="6339840" cy="1390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误差</a:t>
            </a:r>
            <a:r>
              <a:rPr lang="zh-CN" altLang="en-US" sz="2000" b="1" dirty="0">
                <a:latin typeface="宋体" panose="02010600030101010101" pitchFamily="2" charset="-122"/>
                <a:ea typeface="宋体" panose="02010600030101010101" pitchFamily="2" charset="-122"/>
              </a:rPr>
              <a:t>分析</a:t>
            </a:r>
            <a:endParaRPr lang="zh-CN" altLang="en-US" sz="2000" b="1" dirty="0">
              <a:latin typeface="宋体" panose="02010600030101010101" pitchFamily="2" charset="-122"/>
              <a:ea typeface="宋体" panose="02010600030101010101" pitchFamily="2" charset="-122"/>
            </a:endParaRPr>
          </a:p>
        </p:txBody>
      </p:sp>
      <p:pic>
        <p:nvPicPr>
          <p:cNvPr id="2" name="图片 1" descr="QianJianTec1768188136297"/>
          <p:cNvPicPr>
            <a:picLocks noChangeAspect="1"/>
          </p:cNvPicPr>
          <p:nvPr/>
        </p:nvPicPr>
        <p:blipFill>
          <a:blip r:embed="rId7"/>
          <a:stretch>
            <a:fillRect/>
          </a:stretch>
        </p:blipFill>
        <p:spPr>
          <a:xfrm>
            <a:off x="3329940" y="3983990"/>
            <a:ext cx="5235575" cy="645160"/>
          </a:xfrm>
          <a:prstGeom prst="rect">
            <a:avLst/>
          </a:prstGeom>
        </p:spPr>
      </p:pic>
      <p:pic>
        <p:nvPicPr>
          <p:cNvPr id="3" name="图片 2" descr="QianJianTec1768188319638"/>
          <p:cNvPicPr>
            <a:picLocks noChangeAspect="1"/>
          </p:cNvPicPr>
          <p:nvPr/>
        </p:nvPicPr>
        <p:blipFill>
          <a:blip r:embed="rId8"/>
          <a:stretch>
            <a:fillRect/>
          </a:stretch>
        </p:blipFill>
        <p:spPr>
          <a:xfrm>
            <a:off x="2250440" y="5081270"/>
            <a:ext cx="8001000" cy="772795"/>
          </a:xfrm>
          <a:prstGeom prst="rect">
            <a:avLst/>
          </a:prstGeom>
        </p:spPr>
      </p:pic>
      <mc:AlternateContent xmlns:mc="http://schemas.openxmlformats.org/markup-compatibility/2006">
        <mc:Choice xmlns:a14="http://schemas.microsoft.com/office/drawing/2010/main" Requires="a14">
          <p:sp>
            <p:nvSpPr>
              <p:cNvPr id="16" name="文本框 15"/>
              <p:cNvSpPr txBox="1"/>
              <p:nvPr/>
            </p:nvSpPr>
            <p:spPr>
              <a:xfrm>
                <a:off x="653415" y="824865"/>
                <a:ext cx="11391900" cy="922020"/>
              </a:xfrm>
              <a:prstGeom prst="rect">
                <a:avLst/>
              </a:prstGeom>
              <a:noFill/>
            </p:spPr>
            <p:txBody>
              <a:bodyPr wrap="square" rtlCol="0">
                <a:spAutoFit/>
              </a:bodyPr>
              <a:p>
                <a:pPr indent="0" fontAlgn="auto">
                  <a:lnSpc>
                    <a:spcPct val="150000"/>
                  </a:lnSpc>
                </a:pP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𝜔</m:t>
                        </m:r>
                      </m:e>
                      <m:sub>
                        <m:r>
                          <a:rPr lang="en-US" altLang="zh-CN" i="1">
                            <a:latin typeface="Cambria Math" panose="02040503050406030204" charset="0"/>
                            <a:cs typeface="Cambria Math" panose="02040503050406030204" charset="0"/>
                          </a:rPr>
                          <m:t>1</m:t>
                        </m:r>
                      </m:sub>
                    </m:sSub>
                  </m:oMath>
                </a14:m>
                <a:r>
                  <a:rPr lang="zh-CN" altLang="en-US">
                    <a:latin typeface="Cambria Math" panose="02040503050406030204" charset="0"/>
                    <a:cs typeface="Cambria Math" panose="02040503050406030204" charset="0"/>
                  </a:rPr>
                  <a:t>是针对大多数方程的标准放缩残差，</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𝜔</m:t>
                        </m:r>
                      </m:e>
                      <m:sub>
                        <m:r>
                          <a:rPr lang="en-US" altLang="zh-CN" i="1">
                            <a:latin typeface="Cambria Math" panose="02040503050406030204" charset="0"/>
                            <a:cs typeface="Cambria Math" panose="02040503050406030204" charset="0"/>
                          </a:rPr>
                          <m:t>2</m:t>
                        </m:r>
                      </m:sub>
                    </m:sSub>
                  </m:oMath>
                </a14:m>
                <a:r>
                  <a:rPr lang="zh-CN" altLang="en-US">
                    <a:latin typeface="Cambria Math" panose="02040503050406030204" charset="0"/>
                    <a:cs typeface="Cambria Math" panose="02040503050406030204" charset="0"/>
                  </a:rPr>
                  <a:t>是对于分母过于小的方程的一个修正。那么求解出来的</a:t>
                </a:r>
                <a:r>
                  <a:rPr lang="en-US" altLang="zh-CN">
                    <a:latin typeface="Cambria Math" panose="02040503050406030204" charset="0"/>
                    <a:cs typeface="Cambria Math" panose="02040503050406030204" charset="0"/>
                  </a:rPr>
                  <a:t>x</a:t>
                </a:r>
                <a:r>
                  <a:rPr lang="zh-CN" altLang="en-US">
                    <a:latin typeface="Cambria Math" panose="02040503050406030204" charset="0"/>
                    <a:cs typeface="Cambria Math" panose="02040503050406030204" charset="0"/>
                  </a:rPr>
                  <a:t>就是如下公式的</a:t>
                </a:r>
                <a:r>
                  <a:rPr lang="zh-CN" altLang="en-US">
                    <a:latin typeface="Cambria Math" panose="02040503050406030204" charset="0"/>
                    <a:cs typeface="Cambria Math" panose="02040503050406030204" charset="0"/>
                  </a:rPr>
                  <a:t>精确解</a:t>
                </a:r>
                <a:endParaRPr lang="zh-CN" altLang="en-US">
                  <a:latin typeface="Cambria Math" panose="02040503050406030204" charset="0"/>
                  <a:cs typeface="Cambria Math" panose="02040503050406030204"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653415" y="824865"/>
                <a:ext cx="11391900" cy="922020"/>
              </a:xfrm>
              <a:prstGeom prst="rect">
                <a:avLst/>
              </a:prstGeom>
              <a:blipFill rotWithShape="1">
                <a:blip r:embed="rId9"/>
                <a:stretch>
                  <a:fillRect/>
                </a:stretch>
              </a:blipFill>
            </p:spPr>
            <p:txBody>
              <a:bodyPr/>
              <a:lstStyle/>
              <a:p>
                <a:r>
                  <a:rPr lang="zh-CN" altLang="en-US">
                    <a:noFill/>
                  </a:rPr>
                  <a:t> </a:t>
                </a:r>
              </a:p>
            </p:txBody>
          </p:sp>
        </mc:Fallback>
      </mc:AlternateContent>
      <p:pic>
        <p:nvPicPr>
          <p:cNvPr id="17" name="图片 16" descr="QianJianTec1768189132228"/>
          <p:cNvPicPr>
            <a:picLocks noChangeAspect="1"/>
          </p:cNvPicPr>
          <p:nvPr/>
        </p:nvPicPr>
        <p:blipFill>
          <a:blip r:embed="rId10"/>
          <a:stretch>
            <a:fillRect/>
          </a:stretch>
        </p:blipFill>
        <p:spPr>
          <a:xfrm>
            <a:off x="3442335" y="1811020"/>
            <a:ext cx="4809490" cy="646430"/>
          </a:xfrm>
          <a:prstGeom prst="rect">
            <a:avLst/>
          </a:prstGeom>
        </p:spPr>
      </p:pic>
      <p:sp>
        <p:nvSpPr>
          <p:cNvPr id="20" name="文本框 19"/>
          <p:cNvSpPr txBox="1"/>
          <p:nvPr/>
        </p:nvSpPr>
        <p:spPr>
          <a:xfrm>
            <a:off x="561975" y="3036570"/>
            <a:ext cx="3558540" cy="368300"/>
          </a:xfrm>
          <a:prstGeom prst="rect">
            <a:avLst/>
          </a:prstGeom>
          <a:noFill/>
        </p:spPr>
        <p:txBody>
          <a:bodyPr wrap="square" rtlCol="0">
            <a:spAutoFit/>
          </a:bodyPr>
          <a:p>
            <a:r>
              <a:rPr lang="zh-CN" altLang="en-US"/>
              <a:t>其中</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误差</a:t>
            </a:r>
            <a:r>
              <a:rPr lang="zh-CN" altLang="en-US" sz="2000" b="1" dirty="0">
                <a:latin typeface="宋体" panose="02010600030101010101" pitchFamily="2" charset="-122"/>
                <a:ea typeface="宋体" panose="02010600030101010101" pitchFamily="2" charset="-122"/>
              </a:rPr>
              <a:t>分析</a:t>
            </a:r>
            <a:endParaRPr lang="zh-CN" altLang="en-US" sz="2000" b="1" dirty="0">
              <a:latin typeface="宋体" panose="02010600030101010101" pitchFamily="2" charset="-122"/>
              <a:ea typeface="宋体" panose="02010600030101010101" pitchFamily="2" charset="-122"/>
            </a:endParaRPr>
          </a:p>
        </p:txBody>
      </p:sp>
      <p:sp>
        <p:nvSpPr>
          <p:cNvPr id="5" name="文本框 4"/>
          <p:cNvSpPr txBox="1"/>
          <p:nvPr/>
        </p:nvSpPr>
        <p:spPr>
          <a:xfrm>
            <a:off x="280035" y="648335"/>
            <a:ext cx="11784965" cy="609600"/>
          </a:xfrm>
          <a:prstGeom prst="rect">
            <a:avLst/>
          </a:prstGeom>
          <a:noFill/>
        </p:spPr>
        <p:txBody>
          <a:bodyPr wrap="square" rtlCol="0">
            <a:noAutofit/>
          </a:bodyPr>
          <a:p>
            <a:r>
              <a:rPr lang="zh-CN" altLang="en-US" b="1">
                <a:latin typeface="Cambria Math" panose="02040503050406030204" charset="0"/>
                <a:cs typeface="Cambria Math" panose="02040503050406030204" charset="0"/>
              </a:rPr>
              <a:t>稀疏</a:t>
            </a:r>
            <a:r>
              <a:rPr lang="zh-CN" altLang="en-US" b="1">
                <a:latin typeface="Cambria Math" panose="02040503050406030204" charset="0"/>
                <a:cs typeface="Cambria Math" panose="02040503050406030204" charset="0"/>
              </a:rPr>
              <a:t>前向误差分析</a:t>
            </a:r>
            <a:endParaRPr lang="zh-CN" altLang="en-US" b="1">
              <a:latin typeface="Cambria Math" panose="02040503050406030204" charset="0"/>
              <a:cs typeface="Cambria Math" panose="02040503050406030204" charset="0"/>
            </a:endParaRPr>
          </a:p>
        </p:txBody>
      </p:sp>
      <p:sp>
        <p:nvSpPr>
          <p:cNvPr id="2" name="文本框 1"/>
          <p:cNvSpPr txBox="1"/>
          <p:nvPr/>
        </p:nvSpPr>
        <p:spPr>
          <a:xfrm>
            <a:off x="356235" y="1228725"/>
            <a:ext cx="11391900" cy="368300"/>
          </a:xfrm>
          <a:prstGeom prst="rect">
            <a:avLst/>
          </a:prstGeom>
          <a:noFill/>
        </p:spPr>
        <p:txBody>
          <a:bodyPr wrap="square" rtlCol="0">
            <a:spAutoFit/>
          </a:bodyPr>
          <a:p>
            <a:r>
              <a:rPr lang="zh-CN" altLang="en-US"/>
              <a:t>若要获得前向误差，</a:t>
            </a:r>
            <a:r>
              <a:rPr lang="en-US" altLang="zh-CN"/>
              <a:t>MUMPS</a:t>
            </a:r>
            <a:r>
              <a:rPr lang="zh-CN" altLang="en-US"/>
              <a:t>可以计算前向误差的一个上界，但需要很高的计算成本</a:t>
            </a:r>
            <a:r>
              <a:rPr lang="en-US" altLang="zh-CN"/>
              <a:t> </a:t>
            </a:r>
            <a:r>
              <a:rPr lang="zh-CN" altLang="en-US"/>
              <a:t>。计算公式</a:t>
            </a:r>
            <a:r>
              <a:rPr lang="zh-CN" altLang="en-US"/>
              <a:t>如下：</a:t>
            </a:r>
            <a:endParaRPr lang="zh-CN" altLang="en-US"/>
          </a:p>
        </p:txBody>
      </p:sp>
      <p:pic>
        <p:nvPicPr>
          <p:cNvPr id="3" name="图片 2" descr="QianJianTec1768198239933"/>
          <p:cNvPicPr>
            <a:picLocks noChangeAspect="1"/>
          </p:cNvPicPr>
          <p:nvPr/>
        </p:nvPicPr>
        <p:blipFill>
          <a:blip r:embed="rId7"/>
          <a:stretch>
            <a:fillRect/>
          </a:stretch>
        </p:blipFill>
        <p:spPr>
          <a:xfrm>
            <a:off x="2560320" y="2094230"/>
            <a:ext cx="7202805" cy="1444625"/>
          </a:xfrm>
          <a:prstGeom prst="rect">
            <a:avLst/>
          </a:prstGeom>
        </p:spPr>
      </p:pic>
      <mc:AlternateContent xmlns:mc="http://schemas.openxmlformats.org/markup-compatibility/2006">
        <mc:Choice xmlns:a14="http://schemas.microsoft.com/office/drawing/2010/main" Requires="a14">
          <p:sp>
            <p:nvSpPr>
              <p:cNvPr id="13" name="文本框 12"/>
              <p:cNvSpPr txBox="1"/>
              <p:nvPr/>
            </p:nvSpPr>
            <p:spPr>
              <a:xfrm>
                <a:off x="379095" y="3910965"/>
                <a:ext cx="11155680" cy="368300"/>
              </a:xfrm>
              <a:prstGeom prst="rect">
                <a:avLst/>
              </a:prstGeom>
              <a:noFill/>
            </p:spPr>
            <p:txBody>
              <a:bodyPr wrap="square" rtlCol="0">
                <a:spAutoFit/>
              </a:bodyPr>
              <a:p>
                <a:r>
                  <a:rPr lang="zh-CN" altLang="en-US"/>
                  <a:t>其中</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𝑐𝑜𝑛𝑑</m:t>
                        </m:r>
                      </m:e>
                      <m:sub>
                        <m:r>
                          <a:rPr lang="en-US" altLang="zh-CN" i="1">
                            <a:latin typeface="Cambria Math" panose="02040503050406030204" charset="0"/>
                            <a:cs typeface="Cambria Math" panose="02040503050406030204" charset="0"/>
                          </a:rPr>
                          <m:t>1</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𝑐𝑜𝑛𝑑</m:t>
                        </m:r>
                      </m:e>
                      <m:sub>
                        <m:r>
                          <a:rPr lang="en-US" altLang="zh-CN" i="1">
                            <a:latin typeface="Cambria Math" panose="02040503050406030204" charset="0"/>
                            <a:cs typeface="Cambria Math" panose="02040503050406030204" charset="0"/>
                          </a:rPr>
                          <m:t>2</m:t>
                        </m:r>
                      </m:sub>
                    </m:sSub>
                  </m:oMath>
                </a14:m>
                <a:r>
                  <a:rPr lang="zh-CN" altLang="en-US"/>
                  <a:t>为与系统相关的条件数</a:t>
                </a:r>
                <a:r>
                  <a:rPr lang="en-US" altLang="zh-CN"/>
                  <a:t>,</a:t>
                </a:r>
                <a:r>
                  <a:rPr lang="zh-CN" altLang="en-US"/>
                  <a:t>计算成本</a:t>
                </a:r>
                <a:r>
                  <a:rPr lang="zh-CN" altLang="en-US"/>
                  <a:t>较大</a:t>
                </a:r>
                <a:endParaRPr lang="zh-CN" altLang="en-US"/>
              </a:p>
            </p:txBody>
          </p:sp>
        </mc:Choice>
        <mc:Fallback>
          <p:sp>
            <p:nvSpPr>
              <p:cNvPr id="13" name="文本框 12"/>
              <p:cNvSpPr txBox="1">
                <a:spLocks noRot="1" noChangeAspect="1" noMove="1" noResize="1" noEditPoints="1" noAdjustHandles="1" noChangeArrowheads="1" noChangeShapeType="1" noTextEdit="1"/>
              </p:cNvSpPr>
              <p:nvPr/>
            </p:nvSpPr>
            <p:spPr>
              <a:xfrm>
                <a:off x="379095" y="3910965"/>
                <a:ext cx="11155680" cy="368300"/>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误差</a:t>
            </a:r>
            <a:r>
              <a:rPr lang="zh-CN" altLang="en-US" sz="2000" b="1" dirty="0">
                <a:latin typeface="宋体" panose="02010600030101010101" pitchFamily="2" charset="-122"/>
                <a:ea typeface="宋体" panose="02010600030101010101" pitchFamily="2" charset="-122"/>
              </a:rPr>
              <a:t>分析</a:t>
            </a:r>
            <a:endParaRPr lang="zh-CN" altLang="en-US" sz="2000" b="1" dirty="0">
              <a:latin typeface="宋体" panose="02010600030101010101" pitchFamily="2" charset="-122"/>
              <a:ea typeface="宋体" panose="02010600030101010101" pitchFamily="2" charset="-122"/>
            </a:endParaRPr>
          </a:p>
        </p:txBody>
      </p:sp>
      <p:sp>
        <p:nvSpPr>
          <p:cNvPr id="5" name="文本框 4"/>
          <p:cNvSpPr txBox="1"/>
          <p:nvPr/>
        </p:nvSpPr>
        <p:spPr>
          <a:xfrm>
            <a:off x="280035" y="648335"/>
            <a:ext cx="11784965" cy="609600"/>
          </a:xfrm>
          <a:prstGeom prst="rect">
            <a:avLst/>
          </a:prstGeom>
          <a:noFill/>
        </p:spPr>
        <p:txBody>
          <a:bodyPr wrap="square" rtlCol="0">
            <a:noAutofit/>
          </a:bodyPr>
          <a:p>
            <a:endParaRPr lang="zh-CN" altLang="en-US" b="1">
              <a:latin typeface="Cambria Math" panose="02040503050406030204" charset="0"/>
              <a:cs typeface="Cambria Math" panose="02040503050406030204" charset="0"/>
            </a:endParaRPr>
          </a:p>
        </p:txBody>
      </p:sp>
      <mc:AlternateContent xmlns:mc="http://schemas.openxmlformats.org/markup-compatibility/2006">
        <mc:Choice xmlns:a14="http://schemas.microsoft.com/office/drawing/2010/main" Requires="a14">
          <p:sp>
            <p:nvSpPr>
              <p:cNvPr id="6" name="文本框 5"/>
              <p:cNvSpPr txBox="1"/>
              <p:nvPr/>
            </p:nvSpPr>
            <p:spPr>
              <a:xfrm>
                <a:off x="280035" y="931545"/>
                <a:ext cx="11490960" cy="2241550"/>
              </a:xfrm>
              <a:prstGeom prst="rect">
                <a:avLst/>
              </a:prstGeom>
              <a:noFill/>
            </p:spPr>
            <p:txBody>
              <a:bodyPr wrap="square" rtlCol="0">
                <a:spAutoFit/>
              </a:bodyPr>
              <a:p>
                <a:pPr marL="342900" indent="-342900" fontAlgn="auto">
                  <a:lnSpc>
                    <a:spcPct val="150000"/>
                  </a:lnSpc>
                  <a:buFont typeface="+mj-lt"/>
                  <a:buAutoNum type="arabicPeriod"/>
                </a:pPr>
                <a:r>
                  <a:rPr lang="zh-CN" altLang="en-US"/>
                  <a:t>硬件求解：</a:t>
                </a:r>
                <a:r>
                  <a:rPr lang="en-US" altLang="zh-CN"/>
                  <a:t>LU</a:t>
                </a:r>
                <a:r>
                  <a:rPr lang="zh-CN" altLang="en-US"/>
                  <a:t>分解</a:t>
                </a:r>
                <a:r>
                  <a:rPr lang="en-US" altLang="zh-CN"/>
                  <a:t>+</a:t>
                </a:r>
                <a:r>
                  <a:rPr lang="zh-CN" altLang="en-US"/>
                  <a:t>三角求解</a:t>
                </a:r>
                <a:r>
                  <a:rPr lang="en-US" altLang="zh-CN"/>
                  <a:t> → </a:t>
                </a:r>
                <a14:m>
                  <m:oMath xmlns:m="http://schemas.openxmlformats.org/officeDocument/2006/math">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x</m:t>
                        </m:r>
                      </m:e>
                      <m:sub>
                        <m:r>
                          <a:rPr lang="en-US" altLang="zh-CN">
                            <a:latin typeface="Cambria Math" panose="02040503050406030204" charset="0"/>
                            <a:cs typeface="Cambria Math" panose="02040503050406030204" charset="0"/>
                          </a:rPr>
                          <m:t>0</m:t>
                        </m:r>
                      </m:sub>
                    </m:sSub>
                  </m:oMath>
                </a14:m>
                <a:endParaRPr lang="en-US" altLang="zh-CN">
                  <a:latin typeface="Cambria Math" panose="02040503050406030204" charset="0"/>
                  <a:cs typeface="Cambria Math" panose="02040503050406030204" charset="0"/>
                </a:endParaRPr>
              </a:p>
              <a:p>
                <a:pPr marL="342900" indent="-342900" fontAlgn="auto">
                  <a:lnSpc>
                    <a:spcPct val="150000"/>
                  </a:lnSpc>
                  <a:buFont typeface="+mj-lt"/>
                  <a:buAutoNum type="arabicPeriod"/>
                </a:pPr>
                <a:r>
                  <a:rPr lang="zh-CN" altLang="en-US">
                    <a:latin typeface="Cambria Math" panose="02040503050406030204" charset="0"/>
                    <a:cs typeface="Cambria Math" panose="02040503050406030204" charset="0"/>
                  </a:rPr>
                  <a:t>软件侧误差分析，使用双精度</a:t>
                </a:r>
                <a:r>
                  <a:rPr lang="en-US" altLang="zh-CN">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更高的精度</a:t>
                </a:r>
                <a:r>
                  <a:rPr lang="en-US" altLang="zh-CN">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计算</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𝜔</m:t>
                        </m:r>
                      </m:e>
                      <m:sub>
                        <m:r>
                          <a:rPr lang="en-US" altLang="zh-CN" i="1">
                            <a:latin typeface="Cambria Math" panose="02040503050406030204" charset="0"/>
                            <a:cs typeface="Cambria Math" panose="02040503050406030204" charset="0"/>
                          </a:rPr>
                          <m:t>1</m:t>
                        </m:r>
                      </m:sub>
                    </m:sSub>
                  </m:oMath>
                </a14:m>
                <a:r>
                  <a:rPr lang="zh-CN" altLang="en-US">
                    <a:latin typeface="Cambria Math" panose="02040503050406030204" charset="0"/>
                    <a:cs typeface="Cambria Math" panose="02040503050406030204" charset="0"/>
                  </a:rPr>
                  <a:t>，若</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𝜔</m:t>
                        </m:r>
                      </m:e>
                      <m:sub>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𝑇ℎ𝑟𝑒𝑠ℎ𝑜𝑙𝑑</m:t>
                    </m:r>
                  </m:oMath>
                </a14:m>
                <a:r>
                  <a:rPr lang="zh-CN" altLang="en-US">
                    <a:latin typeface="Cambria Math" panose="02040503050406030204" charset="0"/>
                    <a:cs typeface="Cambria Math" panose="02040503050406030204" charset="0"/>
                  </a:rPr>
                  <a:t>则直接输出解，否则进入迭代求精</a:t>
                </a:r>
                <a:r>
                  <a:rPr lang="zh-CN" altLang="en-US">
                    <a:latin typeface="Cambria Math" panose="02040503050406030204" charset="0"/>
                    <a:cs typeface="Cambria Math" panose="02040503050406030204" charset="0"/>
                  </a:rPr>
                  <a:t>阶段。</a:t>
                </a:r>
                <a:endParaRPr lang="zh-CN" altLang="en-US">
                  <a:latin typeface="Cambria Math" panose="02040503050406030204" charset="0"/>
                  <a:cs typeface="Cambria Math" panose="02040503050406030204" charset="0"/>
                </a:endParaRPr>
              </a:p>
              <a:p>
                <a:pPr marL="342900" indent="-342900" fontAlgn="auto">
                  <a:lnSpc>
                    <a:spcPct val="150000"/>
                  </a:lnSpc>
                  <a:buFont typeface="+mj-lt"/>
                  <a:buAutoNum type="arabicPeriod"/>
                </a:pPr>
                <a:r>
                  <a:rPr lang="zh-CN" altLang="en-US">
                    <a:latin typeface="Cambria Math" panose="02040503050406030204" charset="0"/>
                    <a:cs typeface="Cambria Math" panose="02040503050406030204" charset="0"/>
                  </a:rPr>
                  <a:t>软件侧计算残差</a:t>
                </a:r>
                <a14:m>
                  <m:oMath xmlns:m="http://schemas.openxmlformats.org/officeDocument/2006/math">
                    <m:r>
                      <a:rPr lang="en-US" altLang="zh-CN" i="1">
                        <a:latin typeface="Cambria Math" panose="02040503050406030204" charset="0"/>
                        <a:cs typeface="Cambria Math" panose="02040503050406030204" charset="0"/>
                      </a:rPr>
                      <m:t>𝑟</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𝑏−𝐴</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oMath>
                </a14:m>
                <a:r>
                  <a:rPr lang="zh-CN" altLang="en-US">
                    <a:latin typeface="Cambria Math" panose="02040503050406030204" charset="0"/>
                    <a:cs typeface="Cambria Math" panose="02040503050406030204" charset="0"/>
                  </a:rPr>
                  <a:t>，计算动态放缩因子</a:t>
                </a:r>
                <a14:m>
                  <m:oMath xmlns:m="http://schemas.openxmlformats.org/officeDocument/2006/math">
                    <m:r>
                      <a:rPr lang="en-US" altLang="zh-CN" i="1">
                        <a:latin typeface="Cambria Math" panose="02040503050406030204" charset="0"/>
                        <a:cs typeface="Cambria Math" panose="02040503050406030204" charset="0"/>
                      </a:rPr>
                      <m:t>𝛼</m:t>
                    </m:r>
                  </m:oMath>
                </a14:m>
                <a:r>
                  <a:rPr lang="zh-CN" altLang="en-US">
                    <a:latin typeface="Cambria Math" panose="02040503050406030204" charset="0"/>
                    <a:cs typeface="Cambria Math" panose="02040503050406030204" charset="0"/>
                  </a:rPr>
                  <a:t>，使得</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r</m:t>
                        </m:r>
                      </m:e>
                      <m:sup>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𝛼</m:t>
                    </m:r>
                    <m:r>
                      <a:rPr lang="en-US" altLang="zh-CN" i="1">
                        <a:latin typeface="Cambria Math" panose="02040503050406030204" charset="0"/>
                        <a:cs typeface="Cambria Math" panose="02040503050406030204" charset="0"/>
                      </a:rPr>
                      <m:t>𝑟</m:t>
                    </m:r>
                  </m:oMath>
                </a14:m>
                <a:r>
                  <a:rPr lang="en-US" altLang="zh-CN">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将</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r</m:t>
                        </m:r>
                      </m:e>
                      <m:sup>
                        <m:r>
                          <a:rPr lang="en-US" altLang="zh-CN" i="1">
                            <a:latin typeface="Cambria Math" panose="02040503050406030204" charset="0"/>
                            <a:cs typeface="Cambria Math" panose="02040503050406030204" charset="0"/>
                          </a:rPr>
                          <m:t>’</m:t>
                        </m:r>
                      </m:sup>
                    </m:sSup>
                  </m:oMath>
                </a14:m>
                <a:r>
                  <a:rPr lang="zh-CN" altLang="en-US">
                    <a:latin typeface="Cambria Math" panose="02040503050406030204" charset="0"/>
                    <a:cs typeface="Cambria Math" panose="02040503050406030204" charset="0"/>
                  </a:rPr>
                  <a:t>发送到硬件侧，复用之前分解得到的</a:t>
                </a:r>
                <a:r>
                  <a:rPr lang="en-US" altLang="zh-CN">
                    <a:latin typeface="Cambria Math" panose="02040503050406030204" charset="0"/>
                    <a:cs typeface="Cambria Math" panose="02040503050406030204" charset="0"/>
                  </a:rPr>
                  <a:t>LU</a:t>
                </a:r>
                <a:r>
                  <a:rPr lang="zh-CN" altLang="en-US">
                    <a:latin typeface="Cambria Math" panose="02040503050406030204" charset="0"/>
                    <a:cs typeface="Cambria Math" panose="02040503050406030204" charset="0"/>
                  </a:rPr>
                  <a:t>，求解得到修正向量</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d</m:t>
                        </m:r>
                      </m:e>
                      <m:sup>
                        <m:r>
                          <a:rPr lang="en-US" altLang="zh-CN" i="1">
                            <a:latin typeface="Cambria Math" panose="02040503050406030204" charset="0"/>
                            <a:cs typeface="Cambria Math" panose="02040503050406030204" charset="0"/>
                          </a:rPr>
                          <m:t>’</m:t>
                        </m:r>
                      </m:sup>
                    </m:sSup>
                  </m:oMath>
                </a14:m>
                <a:r>
                  <a:rPr lang="en-US" altLang="zh-CN">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软件侧计算</a:t>
                </a:r>
                <a14:m>
                  <m:oMath xmlns:m="http://schemas.openxmlformats.org/officeDocument/2006/math">
                    <m:r>
                      <a:rPr lang="en-US" altLang="zh-CN" i="1">
                        <a:latin typeface="Cambria Math" panose="02040503050406030204" charset="0"/>
                        <a:cs typeface="Cambria Math" panose="02040503050406030204" charset="0"/>
                      </a:rPr>
                      <m:t>d</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𝑑</m:t>
                        </m:r>
                      </m:e>
                      <m:sup>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𝛼</m:t>
                    </m:r>
                  </m:oMath>
                </a14:m>
                <a:r>
                  <a:rPr lang="en-US" altLang="zh-CN" i="1">
                    <a:latin typeface="Cambria Math" panose="02040503050406030204" charset="0"/>
                    <a:cs typeface="Cambria Math" panose="02040503050406030204" charset="0"/>
                  </a:rPr>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𝑑</m:t>
                    </m:r>
                  </m:oMath>
                </a14:m>
                <a:r>
                  <a:rPr lang="zh-CN" altLang="en-US">
                    <a:latin typeface="Cambria Math" panose="02040503050406030204" charset="0"/>
                    <a:cs typeface="Cambria Math" panose="02040503050406030204" charset="0"/>
                  </a:rPr>
                  <a:t>。然后回到第二步</a:t>
                </a:r>
                <a:r>
                  <a:rPr lang="zh-CN" altLang="en-US">
                    <a:latin typeface="Cambria Math" panose="02040503050406030204" charset="0"/>
                    <a:cs typeface="Cambria Math" panose="02040503050406030204" charset="0"/>
                  </a:rPr>
                  <a:t>循环。</a:t>
                </a:r>
                <a:endParaRPr lang="zh-CN" altLang="en-US">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80035" y="931545"/>
                <a:ext cx="11490960" cy="2241550"/>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系统</a:t>
            </a:r>
            <a:r>
              <a:rPr lang="zh-CN" altLang="en-US" sz="2000" b="1" dirty="0">
                <a:latin typeface="宋体" panose="02010600030101010101" pitchFamily="2" charset="-122"/>
                <a:ea typeface="宋体" panose="02010600030101010101" pitchFamily="2" charset="-122"/>
              </a:rPr>
              <a:t>数据流</a:t>
            </a:r>
            <a:endParaRPr lang="zh-CN" altLang="en-US" sz="2000" b="1" dirty="0">
              <a:latin typeface="宋体" panose="02010600030101010101" pitchFamily="2" charset="-122"/>
              <a:ea typeface="宋体" panose="02010600030101010101" pitchFamily="2" charset="-122"/>
            </a:endParaRPr>
          </a:p>
        </p:txBody>
      </p:sp>
      <p:sp>
        <p:nvSpPr>
          <p:cNvPr id="2" name="文本框 1"/>
          <p:cNvSpPr txBox="1"/>
          <p:nvPr/>
        </p:nvSpPr>
        <p:spPr>
          <a:xfrm>
            <a:off x="222250" y="920750"/>
            <a:ext cx="11748135" cy="3046095"/>
          </a:xfrm>
          <a:prstGeom prst="rect">
            <a:avLst/>
          </a:prstGeom>
        </p:spPr>
        <p:txBody>
          <a:bodyPr wrap="square">
            <a:spAutoFit/>
          </a:bodyPr>
          <a:p>
            <a:pPr indent="0" fontAlgn="auto">
              <a:lnSpc>
                <a:spcPct val="150000"/>
              </a:lnSpc>
              <a:spcBef>
                <a:spcPct val="0"/>
              </a:spcBef>
            </a:pPr>
            <a:r>
              <a:rPr lang="zh-CN" altLang="en-US" sz="1600" b="1">
                <a:latin typeface="+mn-ea"/>
                <a:cs typeface="+mn-ea"/>
              </a:rPr>
              <a:t>第一阶段</a:t>
            </a:r>
            <a:endParaRPr lang="zh-CN" altLang="en-US" sz="1600" b="1">
              <a:latin typeface="+mn-ea"/>
              <a:cs typeface="+mn-ea"/>
            </a:endParaRPr>
          </a:p>
          <a:p>
            <a:pPr indent="0" fontAlgn="auto">
              <a:lnSpc>
                <a:spcPct val="150000"/>
              </a:lnSpc>
              <a:spcBef>
                <a:spcPct val="0"/>
              </a:spcBef>
            </a:pPr>
            <a:r>
              <a:rPr lang="zh-CN" altLang="en-US" sz="1600">
                <a:latin typeface="+mn-ea"/>
                <a:cs typeface="+mn-ea"/>
              </a:rPr>
              <a:t>由</a:t>
            </a:r>
            <a:r>
              <a:rPr lang="en-US" altLang="zh-CN" sz="1600">
                <a:latin typeface="+mn-ea"/>
                <a:cs typeface="+mn-ea"/>
              </a:rPr>
              <a:t> CPU </a:t>
            </a:r>
            <a:r>
              <a:rPr lang="zh-CN" altLang="en-US" sz="1600">
                <a:latin typeface="+mn-ea"/>
                <a:cs typeface="+mn-ea"/>
              </a:rPr>
              <a:t>负责，核心目标是将不规则的稀疏结构转化为硬件可执行的规则任务。</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输入解析</a:t>
            </a:r>
            <a:r>
              <a:rPr lang="en-US" altLang="zh-CN" sz="1600">
                <a:latin typeface="+mn-ea"/>
                <a:cs typeface="+mn-ea"/>
              </a:rPr>
              <a:t> :</a:t>
            </a:r>
            <a:r>
              <a:rPr lang="zh-CN" altLang="en-US" sz="1600">
                <a:latin typeface="+mn-ea"/>
                <a:cs typeface="+mn-ea"/>
              </a:rPr>
              <a:t>读取原始稀疏矩阵</a:t>
            </a:r>
            <a:r>
              <a:rPr lang="en-US" altLang="zh-CN" sz="1600">
                <a:latin typeface="+mn-ea"/>
                <a:cs typeface="+mn-ea"/>
              </a:rPr>
              <a:t>A</a:t>
            </a:r>
            <a:r>
              <a:rPr lang="zh-CN" altLang="en-US" sz="1600">
                <a:latin typeface="+mn-ea"/>
                <a:cs typeface="+mn-ea"/>
              </a:rPr>
              <a:t>和向量</a:t>
            </a:r>
            <a:r>
              <a:rPr lang="en-US" altLang="zh-CN" sz="1600">
                <a:latin typeface="+mn-ea"/>
                <a:cs typeface="+mn-ea"/>
              </a:rPr>
              <a:t>b</a:t>
            </a:r>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符号分析</a:t>
            </a:r>
            <a:r>
              <a:rPr lang="en-US" altLang="zh-CN" sz="1600">
                <a:latin typeface="+mn-ea"/>
                <a:cs typeface="+mn-ea"/>
              </a:rPr>
              <a:t> :</a:t>
            </a:r>
            <a:r>
              <a:rPr lang="zh-CN" altLang="en-US" sz="1600">
                <a:latin typeface="+mn-ea"/>
                <a:cs typeface="+mn-ea"/>
              </a:rPr>
              <a:t>执行</a:t>
            </a:r>
            <a:r>
              <a:rPr lang="en-US" altLang="zh-CN" sz="1600">
                <a:latin typeface="+mn-ea"/>
                <a:cs typeface="+mn-ea"/>
              </a:rPr>
              <a:t> AMD </a:t>
            </a:r>
            <a:r>
              <a:rPr lang="zh-CN" altLang="en-US" sz="1600">
                <a:latin typeface="+mn-ea"/>
                <a:cs typeface="+mn-ea"/>
              </a:rPr>
              <a:t>重排减少填充元。构建</a:t>
            </a:r>
            <a:r>
              <a:rPr lang="en-US" altLang="zh-CN" sz="1600">
                <a:latin typeface="+mn-ea"/>
                <a:cs typeface="+mn-ea"/>
              </a:rPr>
              <a:t> </a:t>
            </a:r>
            <a:r>
              <a:rPr lang="zh-CN" altLang="en-US" sz="1600">
                <a:latin typeface="+mn-ea"/>
                <a:cs typeface="+mn-ea"/>
              </a:rPr>
              <a:t>消解树</a:t>
            </a:r>
            <a:r>
              <a:rPr lang="en-US" altLang="zh-CN" sz="1600">
                <a:latin typeface="+mn-ea"/>
                <a:cs typeface="+mn-ea"/>
              </a:rPr>
              <a:t> (Elimination Tree) </a:t>
            </a:r>
            <a:r>
              <a:rPr lang="zh-CN" altLang="en-US" sz="1600">
                <a:latin typeface="+mn-ea"/>
                <a:cs typeface="+mn-ea"/>
              </a:rPr>
              <a:t>并识别超节点</a:t>
            </a:r>
            <a:r>
              <a:rPr lang="en-US" altLang="zh-CN" sz="1600">
                <a:latin typeface="+mn-ea"/>
                <a:cs typeface="+mn-ea"/>
              </a:rPr>
              <a:t> (Supernodes)</a:t>
            </a:r>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静态预测：提前计算所有非零元的最终位置，生成映射表</a:t>
            </a:r>
            <a:r>
              <a:rPr lang="en-US" altLang="zh-CN" sz="1600">
                <a:latin typeface="+mn-ea"/>
                <a:cs typeface="+mn-ea"/>
              </a:rPr>
              <a:t> (Map Table)</a:t>
            </a:r>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内存布局</a:t>
            </a:r>
            <a:r>
              <a:rPr lang="en-US" altLang="zh-CN" sz="1600">
                <a:latin typeface="+mn-ea"/>
                <a:cs typeface="+mn-ea"/>
              </a:rPr>
              <a:t>:</a:t>
            </a:r>
            <a:r>
              <a:rPr lang="zh-CN" altLang="en-US" sz="1600">
                <a:latin typeface="+mn-ea"/>
                <a:cs typeface="+mn-ea"/>
              </a:rPr>
              <a:t>在</a:t>
            </a:r>
            <a:r>
              <a:rPr lang="en-US" altLang="zh-CN" sz="1600">
                <a:latin typeface="+mn-ea"/>
                <a:cs typeface="+mn-ea"/>
              </a:rPr>
              <a:t> DDR </a:t>
            </a:r>
            <a:r>
              <a:rPr lang="zh-CN" altLang="en-US" sz="1600">
                <a:latin typeface="+mn-ea"/>
                <a:cs typeface="+mn-ea"/>
              </a:rPr>
              <a:t>中预分配每个节点的内存空间。将原始矩阵</a:t>
            </a:r>
            <a:r>
              <a:rPr lang="en-US" altLang="zh-CN" sz="1600">
                <a:latin typeface="+mn-ea"/>
                <a:cs typeface="+mn-ea"/>
              </a:rPr>
              <a:t> A</a:t>
            </a:r>
            <a:r>
              <a:rPr lang="zh-CN" altLang="en-US" sz="1600">
                <a:latin typeface="+mn-ea"/>
                <a:cs typeface="+mn-ea"/>
              </a:rPr>
              <a:t>的数值直接填入对应节点的存储区（作为</a:t>
            </a:r>
            <a:r>
              <a:rPr lang="en-US" altLang="zh-CN" sz="1600">
                <a:latin typeface="+mn-ea"/>
                <a:cs typeface="+mn-ea"/>
              </a:rPr>
              <a:t> Scatter-Add </a:t>
            </a:r>
            <a:r>
              <a:rPr lang="zh-CN" altLang="en-US" sz="1600">
                <a:latin typeface="+mn-ea"/>
                <a:cs typeface="+mn-ea"/>
              </a:rPr>
              <a:t>的底板）。</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任务生成</a:t>
            </a:r>
            <a:r>
              <a:rPr lang="en-US" altLang="zh-CN" sz="1600">
                <a:latin typeface="+mn-ea"/>
                <a:cs typeface="+mn-ea"/>
              </a:rPr>
              <a:t> :</a:t>
            </a:r>
            <a:r>
              <a:rPr lang="zh-CN" altLang="en-US" sz="1600">
                <a:latin typeface="+mn-ea"/>
                <a:cs typeface="+mn-ea"/>
              </a:rPr>
              <a:t>生成包含地址、维度、依赖关系的</a:t>
            </a:r>
            <a:r>
              <a:rPr lang="en-US" altLang="zh-CN" sz="1600">
                <a:latin typeface="+mn-ea"/>
                <a:cs typeface="+mn-ea"/>
              </a:rPr>
              <a:t> Node_Task </a:t>
            </a:r>
            <a:r>
              <a:rPr lang="zh-CN" altLang="en-US" sz="1600">
                <a:latin typeface="+mn-ea"/>
                <a:cs typeface="+mn-ea"/>
              </a:rPr>
              <a:t>描述符。采用</a:t>
            </a:r>
            <a:r>
              <a:rPr lang="en-US" altLang="zh-CN" sz="1600">
                <a:latin typeface="+mn-ea"/>
                <a:cs typeface="+mn-ea"/>
              </a:rPr>
              <a:t> Sibling Scheduling </a:t>
            </a:r>
            <a:r>
              <a:rPr lang="zh-CN" altLang="en-US" sz="1600">
                <a:latin typeface="+mn-ea"/>
                <a:cs typeface="+mn-ea"/>
              </a:rPr>
              <a:t>策略对任务排序，写入</a:t>
            </a:r>
            <a:r>
              <a:rPr lang="en-US" altLang="zh-CN" sz="1600">
                <a:latin typeface="+mn-ea"/>
                <a:cs typeface="+mn-ea"/>
              </a:rPr>
              <a:t> DDR </a:t>
            </a:r>
            <a:r>
              <a:rPr lang="zh-CN" altLang="en-US" sz="1600">
                <a:latin typeface="+mn-ea"/>
                <a:cs typeface="+mn-ea"/>
              </a:rPr>
              <a:t>任务队列。</a:t>
            </a:r>
            <a:endParaRPr lang="zh-CN" altLang="en-US" sz="160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系统</a:t>
            </a:r>
            <a:r>
              <a:rPr lang="zh-CN" altLang="en-US" sz="2000" b="1" dirty="0">
                <a:latin typeface="宋体" panose="02010600030101010101" pitchFamily="2" charset="-122"/>
                <a:ea typeface="宋体" panose="02010600030101010101" pitchFamily="2" charset="-122"/>
              </a:rPr>
              <a:t>数据流</a:t>
            </a:r>
            <a:endParaRPr lang="zh-CN" altLang="en-US" sz="2000" b="1" dirty="0">
              <a:latin typeface="宋体" panose="02010600030101010101" pitchFamily="2"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222250" y="859790"/>
                <a:ext cx="11748135" cy="4526280"/>
              </a:xfrm>
              <a:prstGeom prst="rect">
                <a:avLst/>
              </a:prstGeom>
            </p:spPr>
            <p:txBody>
              <a:bodyPr wrap="square">
                <a:spAutoFit/>
              </a:bodyPr>
              <a:p>
                <a:pPr indent="0" fontAlgn="auto">
                  <a:lnSpc>
                    <a:spcPct val="150000"/>
                  </a:lnSpc>
                  <a:spcBef>
                    <a:spcPct val="0"/>
                  </a:spcBef>
                </a:pPr>
                <a:r>
                  <a:rPr lang="zh-CN" altLang="en-US" sz="1600" b="1">
                    <a:latin typeface="+mn-ea"/>
                    <a:cs typeface="+mn-ea"/>
                  </a:rPr>
                  <a:t>第二阶段</a:t>
                </a:r>
                <a:endParaRPr lang="zh-CN" altLang="en-US" sz="1600" b="1">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任务获取</a:t>
                </a:r>
                <a:r>
                  <a:rPr lang="en-US" altLang="zh-CN" sz="1600">
                    <a:latin typeface="+mn-ea"/>
                    <a:cs typeface="+mn-ea"/>
                  </a:rPr>
                  <a:t> (Task Fetch):GCU </a:t>
                </a:r>
                <a:r>
                  <a:rPr lang="zh-CN" altLang="en-US" sz="1600">
                    <a:latin typeface="+mn-ea"/>
                    <a:cs typeface="+mn-ea"/>
                  </a:rPr>
                  <a:t>从</a:t>
                </a:r>
                <a:r>
                  <a:rPr lang="en-US" altLang="zh-CN" sz="1600">
                    <a:latin typeface="+mn-ea"/>
                    <a:cs typeface="+mn-ea"/>
                  </a:rPr>
                  <a:t> DDR </a:t>
                </a:r>
                <a:r>
                  <a:rPr lang="zh-CN" altLang="en-US" sz="1600">
                    <a:latin typeface="+mn-ea"/>
                    <a:cs typeface="+mn-ea"/>
                  </a:rPr>
                  <a:t>读取</a:t>
                </a:r>
                <a:r>
                  <a:rPr lang="en-US" altLang="zh-CN" sz="1600">
                    <a:latin typeface="+mn-ea"/>
                    <a:cs typeface="+mn-ea"/>
                  </a:rPr>
                  <a:t> Node_Task</a:t>
                </a:r>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依赖检查：确保当前任务的父节点数据安全，分配片上</a:t>
                </a:r>
                <a:r>
                  <a:rPr lang="en-US" altLang="zh-CN" sz="1600">
                    <a:latin typeface="+mn-ea"/>
                    <a:cs typeface="+mn-ea"/>
                  </a:rPr>
                  <a:t> Ping-Pong Buffer</a:t>
                </a:r>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数据加载</a:t>
                </a:r>
                <a:r>
                  <a:rPr lang="en-US" altLang="zh-CN" sz="1600">
                    <a:latin typeface="+mn-ea"/>
                    <a:cs typeface="+mn-ea"/>
                  </a:rPr>
                  <a:t> (Burst Load):DMA </a:t>
                </a:r>
                <a:r>
                  <a:rPr lang="zh-CN" altLang="en-US" sz="1600">
                    <a:latin typeface="+mn-ea"/>
                    <a:cs typeface="+mn-ea"/>
                  </a:rPr>
                  <a:t>将当前节点的波前矩阵（</a:t>
                </a:r>
                <a:r>
                  <a:rPr lang="en-US" altLang="zh-CN" sz="1600">
                    <a:latin typeface="+mn-ea"/>
                    <a:cs typeface="+mn-ea"/>
                  </a:rPr>
                  <a:t>Frontal Matrix</a:t>
                </a:r>
                <a:r>
                  <a:rPr lang="zh-CN" altLang="en-US" sz="1600">
                    <a:latin typeface="+mn-ea"/>
                    <a:cs typeface="+mn-ea"/>
                  </a:rPr>
                  <a:t>）从</a:t>
                </a:r>
                <a:r>
                  <a:rPr lang="en-US" altLang="zh-CN" sz="1600">
                    <a:latin typeface="+mn-ea"/>
                    <a:cs typeface="+mn-ea"/>
                  </a:rPr>
                  <a:t> DDR </a:t>
                </a:r>
                <a:r>
                  <a:rPr lang="zh-CN" altLang="en-US" sz="1600">
                    <a:latin typeface="+mn-ea"/>
                    <a:cs typeface="+mn-ea"/>
                  </a:rPr>
                  <a:t>搬运至片上</a:t>
                </a:r>
                <a:r>
                  <a:rPr lang="en-US" altLang="zh-CN" sz="1600">
                    <a:latin typeface="+mn-ea"/>
                    <a:cs typeface="+mn-ea"/>
                  </a:rPr>
                  <a:t> SRAM</a:t>
                </a:r>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微流水线计算</a:t>
                </a:r>
                <a:r>
                  <a:rPr lang="en-US" altLang="zh-CN" sz="1600">
                    <a:latin typeface="+mn-ea"/>
                    <a:cs typeface="+mn-ea"/>
                  </a:rPr>
                  <a:t> (Micro-Pipeline Compute):</a:t>
                </a:r>
                <a:endParaRPr lang="en-US" altLang="zh-CN" sz="1600">
                  <a:latin typeface="+mn-ea"/>
                  <a:cs typeface="+mn-ea"/>
                </a:endParaRPr>
              </a:p>
              <a:p>
                <a:pPr indent="457200" fontAlgn="auto">
                  <a:lnSpc>
                    <a:spcPct val="150000"/>
                  </a:lnSpc>
                  <a:spcBef>
                    <a:spcPct val="0"/>
                  </a:spcBef>
                  <a:buFont typeface="Wingdings" panose="05000000000000000000" charset="0"/>
                  <a:buNone/>
                </a:pPr>
                <a:r>
                  <a:rPr lang="en-US" altLang="zh-CN" sz="1600">
                    <a:latin typeface="+mn-ea"/>
                    <a:cs typeface="+mn-ea"/>
                  </a:rPr>
                  <a:t>HPU</a:t>
                </a:r>
                <a:r>
                  <a:rPr lang="zh-CN" altLang="en-US" sz="1600">
                    <a:latin typeface="+mn-ea"/>
                    <a:cs typeface="+mn-ea"/>
                  </a:rPr>
                  <a:t>：并行搜索主元（</a:t>
                </a:r>
                <a:r>
                  <a:rPr lang="en-US" altLang="zh-CN" sz="1600">
                    <a:latin typeface="+mn-ea"/>
                    <a:cs typeface="+mn-ea"/>
                  </a:rPr>
                  <a:t>Lookahead</a:t>
                </a:r>
                <a:r>
                  <a:rPr lang="zh-CN" altLang="en-US" sz="1600">
                    <a:latin typeface="+mn-ea"/>
                    <a:cs typeface="+mn-ea"/>
                  </a:rPr>
                  <a:t>），确定交换行</a:t>
                </a:r>
                <a:r>
                  <a:rPr lang="en-US" altLang="zh-CN" sz="1600">
                    <a:latin typeface="+mn-ea"/>
                    <a:cs typeface="+mn-ea"/>
                  </a:rPr>
                  <a:t>k</a:t>
                </a:r>
                <a:r>
                  <a:rPr lang="zh-CN" altLang="en-US" sz="1600">
                    <a:latin typeface="+mn-ea"/>
                    <a:cs typeface="+mn-ea"/>
                  </a:rPr>
                  <a:t>。</a:t>
                </a:r>
                <a:endParaRPr lang="zh-CN" altLang="en-US" sz="1600">
                  <a:latin typeface="+mn-ea"/>
                  <a:cs typeface="+mn-ea"/>
                </a:endParaRPr>
              </a:p>
              <a:p>
                <a:pPr indent="457200" fontAlgn="auto">
                  <a:lnSpc>
                    <a:spcPct val="150000"/>
                  </a:lnSpc>
                  <a:spcBef>
                    <a:spcPct val="0"/>
                  </a:spcBef>
                  <a:buFont typeface="Wingdings" panose="05000000000000000000" charset="0"/>
                  <a:buNone/>
                </a:pPr>
                <a:r>
                  <a:rPr lang="en-US" altLang="zh-CN" sz="1600">
                    <a:latin typeface="+mn-ea"/>
                    <a:cs typeface="+mn-ea"/>
                  </a:rPr>
                  <a:t>ATU</a:t>
                </a:r>
                <a:r>
                  <a:rPr lang="zh-CN" altLang="en-US" sz="1600">
                    <a:latin typeface="+mn-ea"/>
                    <a:cs typeface="+mn-ea"/>
                  </a:rPr>
                  <a:t>：执行逻辑行到物理行的</a:t>
                </a:r>
                <a:r>
                  <a:rPr lang="en-US" altLang="zh-CN" sz="1600">
                    <a:latin typeface="+mn-ea"/>
                    <a:cs typeface="+mn-ea"/>
                  </a:rPr>
                  <a:t> </a:t>
                </a:r>
                <a:r>
                  <a:rPr lang="zh-CN" altLang="en-US" sz="1600">
                    <a:latin typeface="+mn-ea"/>
                    <a:cs typeface="+mn-ea"/>
                  </a:rPr>
                  <a:t>零拷贝映射</a:t>
                </a:r>
                <a:r>
                  <a:rPr lang="en-US" altLang="zh-CN" sz="1600">
                    <a:latin typeface="+mn-ea"/>
                    <a:cs typeface="+mn-ea"/>
                  </a:rPr>
                  <a:t> (Zero-Copy Swap)</a:t>
                </a:r>
                <a:r>
                  <a:rPr lang="zh-CN" altLang="en-US" sz="1600">
                    <a:latin typeface="+mn-ea"/>
                    <a:cs typeface="+mn-ea"/>
                  </a:rPr>
                  <a:t>。</a:t>
                </a:r>
                <a:endParaRPr lang="zh-CN" altLang="en-US" sz="1600">
                  <a:latin typeface="+mn-ea"/>
                  <a:cs typeface="+mn-ea"/>
                </a:endParaRPr>
              </a:p>
              <a:p>
                <a:pPr indent="457200" fontAlgn="auto">
                  <a:lnSpc>
                    <a:spcPct val="150000"/>
                  </a:lnSpc>
                  <a:spcBef>
                    <a:spcPct val="0"/>
                  </a:spcBef>
                  <a:buFont typeface="Wingdings" panose="05000000000000000000" charset="0"/>
                  <a:buNone/>
                </a:pPr>
                <a:r>
                  <a:rPr lang="en-US" altLang="zh-CN" sz="1600">
                    <a:latin typeface="+mn-ea"/>
                    <a:cs typeface="+mn-ea"/>
                  </a:rPr>
                  <a:t>SFU</a:t>
                </a:r>
                <a:r>
                  <a:rPr lang="zh-CN" altLang="en-US" sz="1600">
                    <a:latin typeface="+mn-ea"/>
                    <a:cs typeface="+mn-ea"/>
                  </a:rPr>
                  <a:t>：计算</a:t>
                </a:r>
                <a14:m>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𝐴</m:t>
                        </m:r>
                      </m:e>
                      <m:sub>
                        <m:r>
                          <a:rPr lang="en-US" altLang="zh-CN" sz="1600" i="1">
                            <a:latin typeface="Cambria Math" panose="02040503050406030204" charset="0"/>
                            <a:cs typeface="Cambria Math" panose="02040503050406030204" charset="0"/>
                          </a:rPr>
                          <m:t>𝑝𝑖𝑣𝑜𝑡</m:t>
                        </m:r>
                      </m:sub>
                    </m:sSub>
                  </m:oMath>
                </a14:m>
                <a:r>
                  <a:rPr lang="zh-CN" altLang="en-US" sz="1600">
                    <a:latin typeface="+mn-ea"/>
                    <a:cs typeface="+mn-ea"/>
                  </a:rPr>
                  <a:t>的</a:t>
                </a:r>
                <a:r>
                  <a:rPr lang="en-US" altLang="zh-CN" sz="1600">
                    <a:latin typeface="+mn-ea"/>
                    <a:cs typeface="+mn-ea"/>
                  </a:rPr>
                  <a:t> L/U </a:t>
                </a:r>
                <a:r>
                  <a:rPr lang="zh-CN" altLang="en-US" sz="1600">
                    <a:latin typeface="+mn-ea"/>
                    <a:cs typeface="+mn-ea"/>
                  </a:rPr>
                  <a:t>因子及</a:t>
                </a:r>
                <a:r>
                  <a:rPr lang="en-US" altLang="zh-CN" sz="1600">
                    <a:latin typeface="+mn-ea"/>
                    <a:cs typeface="+mn-ea"/>
                  </a:rPr>
                  <a:t> TRSM</a:t>
                </a:r>
                <a:r>
                  <a:rPr lang="zh-CN" altLang="en-US" sz="1600">
                    <a:latin typeface="+mn-ea"/>
                    <a:cs typeface="+mn-ea"/>
                  </a:rPr>
                  <a:t>。</a:t>
                </a:r>
                <a:endParaRPr lang="zh-CN" altLang="en-US" sz="1600">
                  <a:latin typeface="+mn-ea"/>
                  <a:cs typeface="+mn-ea"/>
                </a:endParaRPr>
              </a:p>
              <a:p>
                <a:pPr indent="457200" fontAlgn="auto">
                  <a:lnSpc>
                    <a:spcPct val="150000"/>
                  </a:lnSpc>
                  <a:spcBef>
                    <a:spcPct val="0"/>
                  </a:spcBef>
                  <a:buFont typeface="Wingdings" panose="05000000000000000000" charset="0"/>
                  <a:buNone/>
                </a:pPr>
                <a:r>
                  <a:rPr lang="en-US" altLang="zh-CN" sz="1600">
                    <a:latin typeface="+mn-ea"/>
                    <a:cs typeface="+mn-ea"/>
                  </a:rPr>
                  <a:t>Tensor Core</a:t>
                </a:r>
                <a:r>
                  <a:rPr lang="zh-CN" altLang="en-US" sz="1600">
                    <a:latin typeface="+mn-ea"/>
                    <a:cs typeface="+mn-ea"/>
                  </a:rPr>
                  <a:t>：执行大规模</a:t>
                </a:r>
                <a:r>
                  <a:rPr lang="en-US" altLang="zh-CN" sz="1600">
                    <a:latin typeface="+mn-ea"/>
                    <a:cs typeface="+mn-ea"/>
                  </a:rPr>
                  <a:t> GEMM</a:t>
                </a:r>
                <a:r>
                  <a:rPr lang="zh-CN" altLang="en-US" sz="1600">
                    <a:latin typeface="+mn-ea"/>
                    <a:cs typeface="+mn-ea"/>
                  </a:rPr>
                  <a:t>，更新</a:t>
                </a:r>
                <a:r>
                  <a:rPr lang="zh-CN" altLang="en-US" sz="1600">
                    <a:latin typeface="+mn-ea"/>
                    <a:cs typeface="+mn-ea"/>
                  </a:rPr>
                  <a:t>舒尔补。</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结果写回与装配</a:t>
                </a:r>
                <a:r>
                  <a:rPr lang="en-US" altLang="zh-CN" sz="1600">
                    <a:latin typeface="+mn-ea"/>
                    <a:cs typeface="+mn-ea"/>
                  </a:rPr>
                  <a:t> (Write-back &amp; Scatter):</a:t>
                </a:r>
                <a:endParaRPr lang="en-US" altLang="zh-CN" sz="1600">
                  <a:latin typeface="+mn-ea"/>
                  <a:cs typeface="+mn-ea"/>
                </a:endParaRPr>
              </a:p>
              <a:p>
                <a:pPr lvl="1" indent="0" fontAlgn="auto">
                  <a:lnSpc>
                    <a:spcPct val="150000"/>
                  </a:lnSpc>
                  <a:spcBef>
                    <a:spcPct val="0"/>
                  </a:spcBef>
                  <a:buFont typeface="Wingdings" panose="05000000000000000000" charset="0"/>
                  <a:buNone/>
                </a:pPr>
                <a:r>
                  <a:rPr lang="en-US" altLang="zh-CN" sz="1600">
                    <a:latin typeface="+mn-ea"/>
                    <a:cs typeface="+mn-ea"/>
                  </a:rPr>
                  <a:t>L/U Store</a:t>
                </a:r>
                <a:r>
                  <a:rPr lang="zh-CN" altLang="en-US" sz="1600">
                    <a:latin typeface="+mn-ea"/>
                    <a:cs typeface="+mn-ea"/>
                  </a:rPr>
                  <a:t>：</a:t>
                </a:r>
                <a:r>
                  <a:rPr lang="en-US" altLang="zh-CN" sz="1600">
                    <a:latin typeface="+mn-ea"/>
                    <a:cs typeface="+mn-ea"/>
                  </a:rPr>
                  <a:t>DMA </a:t>
                </a:r>
                <a:r>
                  <a:rPr lang="zh-CN" altLang="en-US" sz="1600">
                    <a:latin typeface="+mn-ea"/>
                    <a:cs typeface="+mn-ea"/>
                  </a:rPr>
                  <a:t>将计算好的</a:t>
                </a:r>
                <a:r>
                  <a:rPr lang="en-US" altLang="zh-CN" sz="1600">
                    <a:latin typeface="+mn-ea"/>
                    <a:cs typeface="+mn-ea"/>
                  </a:rPr>
                  <a:t> L/U </a:t>
                </a:r>
                <a:r>
                  <a:rPr lang="zh-CN" altLang="en-US" sz="1600">
                    <a:latin typeface="+mn-ea"/>
                    <a:cs typeface="+mn-ea"/>
                  </a:rPr>
                  <a:t>因子写回</a:t>
                </a:r>
                <a:r>
                  <a:rPr lang="en-US" altLang="zh-CN" sz="1600">
                    <a:latin typeface="+mn-ea"/>
                    <a:cs typeface="+mn-ea"/>
                  </a:rPr>
                  <a:t> DDR </a:t>
                </a:r>
                <a:r>
                  <a:rPr lang="zh-CN" altLang="en-US" sz="1600">
                    <a:latin typeface="+mn-ea"/>
                    <a:cs typeface="+mn-ea"/>
                  </a:rPr>
                  <a:t>永久存储区。</a:t>
                </a:r>
                <a:endParaRPr lang="zh-CN" altLang="en-US" sz="1600">
                  <a:latin typeface="+mn-ea"/>
                  <a:cs typeface="+mn-ea"/>
                </a:endParaRPr>
              </a:p>
              <a:p>
                <a:pPr lvl="1" indent="0" fontAlgn="auto">
                  <a:lnSpc>
                    <a:spcPct val="150000"/>
                  </a:lnSpc>
                  <a:spcBef>
                    <a:spcPct val="0"/>
                  </a:spcBef>
                  <a:buFont typeface="Wingdings" panose="05000000000000000000" charset="0"/>
                  <a:buNone/>
                </a:pPr>
                <a:r>
                  <a:rPr lang="zh-CN" altLang="en-US" sz="1600">
                    <a:latin typeface="+mn-ea"/>
                    <a:cs typeface="+mn-ea"/>
                  </a:rPr>
                  <a:t>隐式装配：</a:t>
                </a:r>
                <a:r>
                  <a:rPr lang="en-US" altLang="zh-CN" sz="1600">
                    <a:latin typeface="+mn-ea"/>
                    <a:cs typeface="+mn-ea"/>
                  </a:rPr>
                  <a:t>Scatter Engine </a:t>
                </a:r>
                <a:r>
                  <a:rPr lang="zh-CN" altLang="en-US" sz="1600">
                    <a:latin typeface="+mn-ea"/>
                    <a:cs typeface="+mn-ea"/>
                  </a:rPr>
                  <a:t>读取</a:t>
                </a:r>
                <a:r>
                  <a:rPr lang="zh-CN" altLang="en-US" sz="1600">
                    <a:latin typeface="+mn-ea"/>
                    <a:cs typeface="+mn-ea"/>
                  </a:rPr>
                  <a:t>引射表，将</a:t>
                </a:r>
                <a:r>
                  <a:rPr lang="en-US" altLang="zh-CN" sz="1600">
                    <a:latin typeface="+mn-ea"/>
                    <a:cs typeface="+mn-ea"/>
                  </a:rPr>
                  <a:t> Update Matrix </a:t>
                </a:r>
                <a:r>
                  <a:rPr lang="zh-CN" altLang="en-US" sz="1600">
                    <a:latin typeface="+mn-ea"/>
                    <a:cs typeface="+mn-ea"/>
                  </a:rPr>
                  <a:t>的数据累加</a:t>
                </a:r>
                <a:r>
                  <a:rPr lang="en-US" altLang="zh-CN" sz="1600">
                    <a:latin typeface="+mn-ea"/>
                    <a:cs typeface="+mn-ea"/>
                  </a:rPr>
                  <a:t> (Atomic Add) </a:t>
                </a:r>
                <a:r>
                  <a:rPr lang="zh-CN" altLang="en-US" sz="1600">
                    <a:latin typeface="+mn-ea"/>
                    <a:cs typeface="+mn-ea"/>
                  </a:rPr>
                  <a:t>到父节点在</a:t>
                </a:r>
                <a:r>
                  <a:rPr lang="en-US" altLang="zh-CN" sz="1600">
                    <a:latin typeface="+mn-ea"/>
                    <a:cs typeface="+mn-ea"/>
                  </a:rPr>
                  <a:t> DDR </a:t>
                </a:r>
                <a:r>
                  <a:rPr lang="zh-CN" altLang="en-US" sz="1600">
                    <a:latin typeface="+mn-ea"/>
                    <a:cs typeface="+mn-ea"/>
                  </a:rPr>
                  <a:t>中的地址空间。</a:t>
                </a:r>
                <a:endParaRPr lang="zh-CN" altLang="en-US" sz="1600">
                  <a:latin typeface="+mn-ea"/>
                  <a:cs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222250" y="859790"/>
                <a:ext cx="11748135" cy="4526280"/>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系统</a:t>
            </a:r>
            <a:r>
              <a:rPr lang="zh-CN" altLang="en-US" sz="2000" b="1" dirty="0">
                <a:latin typeface="宋体" panose="02010600030101010101" pitchFamily="2" charset="-122"/>
                <a:ea typeface="宋体" panose="02010600030101010101" pitchFamily="2" charset="-122"/>
              </a:rPr>
              <a:t>数据流</a:t>
            </a:r>
            <a:endParaRPr lang="zh-CN" altLang="en-US" sz="2000" b="1" dirty="0">
              <a:latin typeface="宋体" panose="02010600030101010101" pitchFamily="2"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222250" y="859790"/>
                <a:ext cx="11748135" cy="2676525"/>
              </a:xfrm>
              <a:prstGeom prst="rect">
                <a:avLst/>
              </a:prstGeom>
            </p:spPr>
            <p:txBody>
              <a:bodyPr wrap="square">
                <a:spAutoFit/>
              </a:bodyPr>
              <a:p>
                <a:pPr indent="0" fontAlgn="auto">
                  <a:lnSpc>
                    <a:spcPct val="150000"/>
                  </a:lnSpc>
                  <a:spcBef>
                    <a:spcPct val="0"/>
                  </a:spcBef>
                </a:pPr>
                <a:r>
                  <a:rPr lang="zh-CN" altLang="en-US" sz="1600" b="1">
                    <a:latin typeface="+mn-ea"/>
                    <a:cs typeface="+mn-ea"/>
                  </a:rPr>
                  <a:t>第</a:t>
                </a:r>
                <a:r>
                  <a:rPr lang="zh-CN" altLang="en-US" sz="1600" b="1">
                    <a:latin typeface="+mn-ea"/>
                    <a:cs typeface="+mn-ea"/>
                  </a:rPr>
                  <a:t>三阶段</a:t>
                </a:r>
                <a:endParaRPr lang="zh-CN" altLang="en-US" sz="1600" b="1">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初次求解与评估</a:t>
                </a:r>
                <a:r>
                  <a:rPr lang="en-US" altLang="zh-CN" sz="1600">
                    <a:latin typeface="+mn-ea"/>
                    <a:cs typeface="+mn-ea"/>
                  </a:rPr>
                  <a:t>:</a:t>
                </a:r>
                <a:r>
                  <a:rPr lang="zh-CN" altLang="en-US" sz="1600">
                    <a:latin typeface="+mn-ea"/>
                    <a:cs typeface="+mn-ea"/>
                  </a:rPr>
                  <a:t>基于硬件端算出的</a:t>
                </a:r>
                <a:r>
                  <a:rPr lang="en-US" altLang="zh-CN" sz="1600">
                    <a:latin typeface="+mn-ea"/>
                    <a:cs typeface="+mn-ea"/>
                  </a:rPr>
                  <a:t> L/U </a:t>
                </a:r>
                <a:r>
                  <a:rPr lang="zh-CN" altLang="en-US" sz="1600">
                    <a:latin typeface="+mn-ea"/>
                    <a:cs typeface="+mn-ea"/>
                  </a:rPr>
                  <a:t>因子求解</a:t>
                </a:r>
                <a14:m>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𝑥</m:t>
                        </m:r>
                      </m:e>
                      <m:sub>
                        <m:r>
                          <a:rPr lang="en-US" altLang="zh-CN" sz="1600" i="1">
                            <a:latin typeface="Cambria Math" panose="02040503050406030204" charset="0"/>
                            <a:cs typeface="Cambria Math" panose="02040503050406030204" charset="0"/>
                          </a:rPr>
                          <m:t>0</m:t>
                        </m:r>
                      </m:sub>
                    </m:sSub>
                  </m:oMath>
                </a14:m>
                <a:endParaRPr lang="en-US" altLang="zh-CN" sz="1600">
                  <a:latin typeface="+mn-ea"/>
                  <a:cs typeface="+mn-ea"/>
                </a:endParaRPr>
              </a:p>
              <a:p>
                <a:pPr marL="285750" indent="-285750" fontAlgn="auto">
                  <a:lnSpc>
                    <a:spcPct val="150000"/>
                  </a:lnSpc>
                  <a:spcBef>
                    <a:spcPct val="0"/>
                  </a:spcBef>
                  <a:buFont typeface="Wingdings" panose="05000000000000000000" charset="0"/>
                  <a:buChar char="l"/>
                </a:pPr>
                <a:r>
                  <a:rPr lang="en-US" altLang="zh-CN" sz="1600">
                    <a:latin typeface="+mn-ea"/>
                    <a:cs typeface="+mn-ea"/>
                  </a:rPr>
                  <a:t>Host </a:t>
                </a:r>
                <a:r>
                  <a:rPr lang="zh-CN" altLang="en-US" sz="1600">
                    <a:latin typeface="+mn-ea"/>
                    <a:cs typeface="+mn-ea"/>
                  </a:rPr>
                  <a:t>计算</a:t>
                </a:r>
                <a:r>
                  <a:rPr lang="en-US" altLang="zh-CN" sz="1600">
                    <a:latin typeface="+mn-ea"/>
                    <a:cs typeface="+mn-ea"/>
                  </a:rPr>
                  <a:t> MUMPS </a:t>
                </a:r>
                <a:r>
                  <a:rPr lang="zh-CN" altLang="en-US" sz="1600">
                    <a:latin typeface="+mn-ea"/>
                    <a:cs typeface="+mn-ea"/>
                  </a:rPr>
                  <a:t>后误差</a:t>
                </a:r>
                <a14:m>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𝜔</m:t>
                        </m:r>
                      </m:e>
                      <m:sub>
                        <m:r>
                          <a:rPr lang="en-US" altLang="zh-CN" sz="1600" i="1">
                            <a:latin typeface="Cambria Math" panose="02040503050406030204" charset="0"/>
                            <a:cs typeface="Cambria Math" panose="02040503050406030204" charset="0"/>
                          </a:rPr>
                          <m:t>1</m:t>
                        </m:r>
                      </m:sub>
                    </m:sSub>
                  </m:oMath>
                </a14:m>
                <a:r>
                  <a:rPr lang="zh-CN" altLang="en-US" sz="1600">
                    <a:latin typeface="+mn-ea"/>
                    <a:cs typeface="+mn-ea"/>
                  </a:rPr>
                  <a:t>。若</a:t>
                </a:r>
                <a:r>
                  <a:rPr lang="en-US" altLang="zh-CN" sz="1600">
                    <a:latin typeface="+mn-ea"/>
                    <a:cs typeface="+mn-ea"/>
                  </a:rPr>
                  <a:t> </a:t>
                </a:r>
                <a14:m>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𝜔</m:t>
                        </m:r>
                      </m:e>
                      <m:sub>
                        <m:r>
                          <a:rPr lang="en-US" altLang="zh-CN" sz="1600" i="1">
                            <a:latin typeface="Cambria Math" panose="02040503050406030204" charset="0"/>
                            <a:cs typeface="Cambria Math" panose="02040503050406030204" charset="0"/>
                          </a:rPr>
                          <m:t>1</m:t>
                        </m:r>
                      </m:sub>
                    </m:sSub>
                    <m:r>
                      <a:rPr lang="en-US" altLang="zh-CN" sz="1600" i="1">
                        <a:latin typeface="Cambria Math" panose="02040503050406030204" charset="0"/>
                        <a:cs typeface="Cambria Math" panose="02040503050406030204" charset="0"/>
                      </a:rPr>
                      <m:t>&lt; </m:t>
                    </m:r>
                    <m:r>
                      <a:rPr lang="en-US" altLang="zh-CN" sz="1600" i="1">
                        <a:latin typeface="Cambria Math" panose="02040503050406030204" charset="0"/>
                        <a:cs typeface="Cambria Math" panose="02040503050406030204" charset="0"/>
                      </a:rPr>
                      <m:t>𝑇ℎ𝑟𝑒𝑠ℎ𝑜𝑙𝑑</m:t>
                    </m:r>
                  </m:oMath>
                </a14:m>
                <a:r>
                  <a:rPr lang="zh-CN" altLang="en-US" sz="1600">
                    <a:latin typeface="+mn-ea"/>
                    <a:cs typeface="+mn-ea"/>
                  </a:rPr>
                  <a:t>流程结束。</a:t>
                </a:r>
                <a:endParaRPr lang="en-US" altLang="zh-CN"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残差计算与缩放</a:t>
                </a:r>
                <a:r>
                  <a:rPr lang="en-US" altLang="zh-CN" sz="1600">
                    <a:latin typeface="+mn-ea"/>
                    <a:cs typeface="+mn-ea"/>
                  </a:rPr>
                  <a:t>:Host </a:t>
                </a:r>
                <a:r>
                  <a:rPr lang="zh-CN" altLang="en-US" sz="1600">
                    <a:latin typeface="+mn-ea"/>
                    <a:cs typeface="+mn-ea"/>
                  </a:rPr>
                  <a:t>高精度计算残差</a:t>
                </a:r>
                <a:r>
                  <a:rPr lang="en-US" altLang="zh-CN" sz="1600">
                    <a:latin typeface="+mn-ea"/>
                    <a:cs typeface="+mn-ea"/>
                  </a:rPr>
                  <a:t> </a:t>
                </a:r>
                <a14:m>
                  <m:oMath xmlns:m="http://schemas.openxmlformats.org/officeDocument/2006/math">
                    <m:r>
                      <m:rPr>
                        <m:sty m:val="p"/>
                      </m:rPr>
                      <a:rPr lang="en-US" altLang="zh-CN" sz="1600">
                        <a:latin typeface="Cambria Math" panose="02040503050406030204" charset="0"/>
                        <a:cs typeface="Cambria Math" panose="02040503050406030204" charset="0"/>
                      </a:rPr>
                      <m:t>r</m:t>
                    </m:r>
                    <m:r>
                      <a:rPr lang="en-US" altLang="zh-CN" sz="1600">
                        <a:latin typeface="Cambria Math" panose="02040503050406030204" charset="0"/>
                        <a:cs typeface="Cambria Math" panose="02040503050406030204" charset="0"/>
                      </a:rPr>
                      <m:t>=</m:t>
                    </m:r>
                    <m:r>
                      <m:rPr>
                        <m:sty m:val="p"/>
                      </m:rPr>
                      <a:rPr lang="en-US" altLang="zh-CN" sz="1600">
                        <a:latin typeface="Cambria Math" panose="02040503050406030204" charset="0"/>
                        <a:cs typeface="Cambria Math" panose="02040503050406030204" charset="0"/>
                      </a:rPr>
                      <m:t>b</m:t>
                    </m:r>
                    <m:r>
                      <a:rPr lang="en-US" altLang="zh-CN" sz="1600">
                        <a:latin typeface="Cambria Math" panose="02040503050406030204" charset="0"/>
                        <a:cs typeface="Cambria Math" panose="02040503050406030204" charset="0"/>
                      </a:rPr>
                      <m:t>−</m:t>
                    </m:r>
                    <m:r>
                      <m:rPr>
                        <m:sty m:val="p"/>
                      </m:rPr>
                      <a:rPr lang="en-US" altLang="zh-CN" sz="1600">
                        <a:latin typeface="Cambria Math" panose="02040503050406030204" charset="0"/>
                        <a:cs typeface="Cambria Math" panose="02040503050406030204" charset="0"/>
                      </a:rPr>
                      <m:t>A</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𝑥</m:t>
                        </m:r>
                      </m:e>
                      <m:sub>
                        <m:r>
                          <a:rPr lang="en-US" altLang="zh-CN" sz="1600" i="1">
                            <a:latin typeface="Cambria Math" panose="02040503050406030204" charset="0"/>
                            <a:cs typeface="Cambria Math" panose="02040503050406030204" charset="0"/>
                          </a:rPr>
                          <m:t>0</m:t>
                        </m:r>
                      </m:sub>
                    </m:sSub>
                  </m:oMath>
                </a14:m>
                <a:r>
                  <a:rPr lang="zh-CN" altLang="en-US" sz="1600">
                    <a:latin typeface="+mn-ea"/>
                    <a:cs typeface="+mn-ea"/>
                  </a:rPr>
                  <a:t>。</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动态缩放：计算因子</a:t>
                </a:r>
                <a14:m>
                  <m:oMath xmlns:m="http://schemas.openxmlformats.org/officeDocument/2006/math">
                    <m:r>
                      <a:rPr lang="en-US" altLang="zh-CN" sz="1600">
                        <a:latin typeface="Cambria Math" panose="02040503050406030204" charset="0"/>
                        <a:cs typeface="Cambria Math" panose="02040503050406030204" charset="0"/>
                      </a:rPr>
                      <m:t> </m:t>
                    </m:r>
                    <m:r>
                      <m:rPr>
                        <m:sty m:val="p"/>
                      </m:rPr>
                      <a:rPr lang="en-US" altLang="zh-CN" sz="1600">
                        <a:latin typeface="Cambria Math" panose="02040503050406030204" charset="0"/>
                        <a:cs typeface="Cambria Math" panose="02040503050406030204" charset="0"/>
                      </a:rPr>
                      <m:t>α</m:t>
                    </m:r>
                  </m:oMath>
                </a14:m>
                <a:r>
                  <a:rPr lang="zh-CN" altLang="en-US" sz="1600">
                    <a:latin typeface="+mn-ea"/>
                    <a:cs typeface="+mn-ea"/>
                  </a:rPr>
                  <a:t>，将残差放大为</a:t>
                </a:r>
                <a:r>
                  <a:rPr lang="en-US" altLang="zh-CN" sz="1600">
                    <a:latin typeface="+mn-ea"/>
                    <a:cs typeface="+mn-ea"/>
                  </a:rPr>
                  <a:t> </a:t>
                </a:r>
                <a14:m>
                  <m:oMath xmlns:m="http://schemas.openxmlformats.org/officeDocument/2006/math">
                    <m:r>
                      <m:rPr>
                        <m:sty m:val="p"/>
                      </m:rPr>
                      <a:rPr lang="en-US" altLang="zh-CN" sz="1600">
                        <a:latin typeface="Cambria Math" panose="02040503050406030204" charset="0"/>
                        <a:cs typeface="Cambria Math" panose="02040503050406030204" charset="0"/>
                      </a:rPr>
                      <m:t>r</m:t>
                    </m:r>
                    <m:r>
                      <a:rPr lang="en-US" altLang="zh-CN" sz="1600">
                        <a:latin typeface="Cambria Math" panose="02040503050406030204" charset="0"/>
                        <a:cs typeface="Cambria Math" panose="02040503050406030204" charset="0"/>
                      </a:rPr>
                      <m:t> ′ =</m:t>
                    </m:r>
                    <m:r>
                      <m:rPr>
                        <m:sty m:val="p"/>
                      </m:rPr>
                      <a:rPr lang="en-US" altLang="zh-CN" sz="1600">
                        <a:latin typeface="Cambria Math" panose="02040503050406030204" charset="0"/>
                        <a:cs typeface="Cambria Math" panose="02040503050406030204" charset="0"/>
                      </a:rPr>
                      <m:t>r</m:t>
                    </m:r>
                    <m:r>
                      <a:rPr lang="en-US" altLang="zh-CN" sz="1600">
                        <a:latin typeface="Cambria Math" panose="02040503050406030204" charset="0"/>
                        <a:cs typeface="Cambria Math" panose="02040503050406030204" charset="0"/>
                      </a:rPr>
                      <m:t>⋅</m:t>
                    </m:r>
                    <m:r>
                      <m:rPr>
                        <m:sty m:val="p"/>
                      </m:rPr>
                      <a:rPr lang="en-US" altLang="zh-CN" sz="1600">
                        <a:latin typeface="Cambria Math" panose="02040503050406030204" charset="0"/>
                        <a:cs typeface="Cambria Math" panose="02040503050406030204" charset="0"/>
                      </a:rPr>
                      <m:t>α</m:t>
                    </m:r>
                  </m:oMath>
                </a14:m>
                <a:r>
                  <a:rPr lang="en-US" altLang="zh-CN" sz="1600">
                    <a:latin typeface="+mn-ea"/>
                    <a:cs typeface="+mn-ea"/>
                  </a:rPr>
                  <a:t> </a:t>
                </a:r>
                <a:r>
                  <a:rPr lang="zh-CN" altLang="en-US" sz="1600">
                    <a:latin typeface="+mn-ea"/>
                    <a:cs typeface="+mn-ea"/>
                  </a:rPr>
                  <a:t>以规避下溢。</a:t>
                </a:r>
                <a:endParaRPr lang="zh-CN" altLang="en-US"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修正量求解</a:t>
                </a:r>
                <a:r>
                  <a:rPr lang="en-US" altLang="zh-CN" sz="1600">
                    <a:latin typeface="+mn-ea"/>
                    <a:cs typeface="+mn-ea"/>
                  </a:rPr>
                  <a:t>:Host </a:t>
                </a:r>
                <a:r>
                  <a:rPr lang="zh-CN" altLang="en-US" sz="1600">
                    <a:latin typeface="+mn-ea"/>
                    <a:cs typeface="+mn-ea"/>
                  </a:rPr>
                  <a:t>将</a:t>
                </a:r>
                <a14:m>
                  <m:oMath xmlns:m="http://schemas.openxmlformats.org/officeDocument/2006/math">
                    <m:r>
                      <a:rPr lang="en-US" altLang="zh-CN" sz="1600">
                        <a:latin typeface="Cambria Math" panose="02040503050406030204" charset="0"/>
                        <a:cs typeface="Cambria Math" panose="02040503050406030204" charset="0"/>
                      </a:rPr>
                      <m:t> </m:t>
                    </m:r>
                    <m:r>
                      <m:rPr>
                        <m:sty m:val="p"/>
                      </m:rPr>
                      <a:rPr lang="en-US" altLang="zh-CN" sz="1600">
                        <a:latin typeface="Cambria Math" panose="02040503050406030204" charset="0"/>
                        <a:cs typeface="Cambria Math" panose="02040503050406030204" charset="0"/>
                      </a:rPr>
                      <m:t>r</m:t>
                    </m:r>
                    <m:r>
                      <a:rPr lang="en-US" altLang="zh-CN" sz="1600">
                        <a:latin typeface="Cambria Math" panose="02040503050406030204" charset="0"/>
                        <a:cs typeface="Cambria Math" panose="02040503050406030204" charset="0"/>
                      </a:rPr>
                      <m:t> ′</m:t>
                    </m:r>
                  </m:oMath>
                </a14:m>
                <a:r>
                  <a:rPr lang="zh-CN" altLang="en-US" sz="1600">
                    <a:latin typeface="+mn-ea"/>
                    <a:cs typeface="+mn-ea"/>
                  </a:rPr>
                  <a:t>发送给硬件端。</a:t>
                </a:r>
                <a:r>
                  <a:rPr lang="zh-CN" altLang="en-US" sz="1600">
                    <a:latin typeface="+mn-ea"/>
                    <a:cs typeface="+mn-ea"/>
                  </a:rPr>
                  <a:t>硬件端复用现有的</a:t>
                </a:r>
                <a:r>
                  <a:rPr lang="en-US" altLang="zh-CN" sz="1600">
                    <a:latin typeface="+mn-ea"/>
                    <a:cs typeface="+mn-ea"/>
                  </a:rPr>
                  <a:t> L/U </a:t>
                </a:r>
                <a:r>
                  <a:rPr lang="zh-CN" altLang="en-US" sz="1600">
                    <a:latin typeface="+mn-ea"/>
                    <a:cs typeface="+mn-ea"/>
                  </a:rPr>
                  <a:t>因子（不做分解），快速解出修正量</a:t>
                </a:r>
                <a14:m>
                  <m:oMath xmlns:m="http://schemas.openxmlformats.org/officeDocument/2006/math">
                    <m:r>
                      <a:rPr lang="en-US" altLang="zh-CN" sz="1600">
                        <a:latin typeface="Cambria Math" panose="02040503050406030204" charset="0"/>
                        <a:cs typeface="Cambria Math" panose="02040503050406030204" charset="0"/>
                      </a:rPr>
                      <m:t> </m:t>
                    </m:r>
                    <m:r>
                      <m:rPr>
                        <m:sty m:val="p"/>
                      </m:rPr>
                      <a:rPr lang="en-US" altLang="zh-CN" sz="1600">
                        <a:latin typeface="Cambria Math" panose="02040503050406030204" charset="0"/>
                        <a:cs typeface="Cambria Math" panose="02040503050406030204" charset="0"/>
                      </a:rPr>
                      <m:t>d</m:t>
                    </m:r>
                    <m:r>
                      <a:rPr lang="en-US" altLang="zh-CN" sz="1600">
                        <a:latin typeface="Cambria Math" panose="02040503050406030204" charset="0"/>
                        <a:cs typeface="Cambria Math" panose="02040503050406030204" charset="0"/>
                      </a:rPr>
                      <m:t> ′</m:t>
                    </m:r>
                  </m:oMath>
                </a14:m>
                <a:r>
                  <a:rPr lang="zh-CN" altLang="en-US" sz="1600">
                    <a:latin typeface="+mn-ea"/>
                    <a:cs typeface="+mn-ea"/>
                  </a:rPr>
                  <a:t>。</a:t>
                </a:r>
                <a:endParaRPr lang="en-US" altLang="zh-CN" sz="1600">
                  <a:latin typeface="+mn-ea"/>
                  <a:cs typeface="+mn-ea"/>
                </a:endParaRPr>
              </a:p>
              <a:p>
                <a:pPr marL="285750" indent="-285750" fontAlgn="auto">
                  <a:lnSpc>
                    <a:spcPct val="150000"/>
                  </a:lnSpc>
                  <a:spcBef>
                    <a:spcPct val="0"/>
                  </a:spcBef>
                  <a:buFont typeface="Wingdings" panose="05000000000000000000" charset="0"/>
                  <a:buChar char="l"/>
                </a:pPr>
                <a:r>
                  <a:rPr lang="zh-CN" altLang="en-US" sz="1600">
                    <a:latin typeface="+mn-ea"/>
                    <a:cs typeface="+mn-ea"/>
                  </a:rPr>
                  <a:t>解更新</a:t>
                </a:r>
                <a:r>
                  <a:rPr lang="en-US" altLang="zh-CN" sz="1600">
                    <a:latin typeface="+mn-ea"/>
                    <a:cs typeface="+mn-ea"/>
                  </a:rPr>
                  <a:t> (Update):Host </a:t>
                </a:r>
                <a:r>
                  <a:rPr lang="zh-CN" altLang="en-US" sz="1600">
                    <a:latin typeface="+mn-ea"/>
                    <a:cs typeface="+mn-ea"/>
                  </a:rPr>
                  <a:t>还原修正量</a:t>
                </a:r>
                <a:r>
                  <a:rPr lang="en-US" altLang="zh-CN" sz="1600">
                    <a:latin typeface="+mn-ea"/>
                    <a:cs typeface="+mn-ea"/>
                  </a:rPr>
                  <a:t> </a:t>
                </a:r>
                <a14:m>
                  <m:oMath xmlns:m="http://schemas.openxmlformats.org/officeDocument/2006/math">
                    <m:r>
                      <m:rPr>
                        <m:sty m:val="p"/>
                      </m:rPr>
                      <a:rPr lang="en-US" altLang="zh-CN" sz="1600">
                        <a:latin typeface="Cambria Math" panose="02040503050406030204" charset="0"/>
                        <a:cs typeface="Cambria Math" panose="02040503050406030204" charset="0"/>
                      </a:rPr>
                      <m:t>d</m:t>
                    </m:r>
                    <m:r>
                      <a:rPr lang="en-US" altLang="zh-CN" sz="1600">
                        <a:latin typeface="Cambria Math" panose="02040503050406030204" charset="0"/>
                        <a:cs typeface="Cambria Math" panose="02040503050406030204" charset="0"/>
                      </a:rPr>
                      <m:t>=</m:t>
                    </m:r>
                    <m:r>
                      <m:rPr>
                        <m:sty m:val="p"/>
                      </m:rPr>
                      <a:rPr lang="en-US" altLang="zh-CN" sz="1600">
                        <a:latin typeface="Cambria Math" panose="02040503050406030204" charset="0"/>
                        <a:cs typeface="Cambria Math" panose="02040503050406030204" charset="0"/>
                      </a:rPr>
                      <m:t>d</m:t>
                    </m:r>
                    <m:r>
                      <a:rPr lang="en-US" altLang="zh-CN" sz="1600">
                        <a:latin typeface="Cambria Math" panose="02040503050406030204" charset="0"/>
                        <a:cs typeface="Cambria Math" panose="02040503050406030204" charset="0"/>
                      </a:rPr>
                      <m:t> ′/</m:t>
                    </m:r>
                    <m:r>
                      <m:rPr>
                        <m:sty m:val="p"/>
                      </m:rPr>
                      <a:rPr lang="en-US" altLang="zh-CN" sz="1600">
                        <a:latin typeface="Cambria Math" panose="02040503050406030204" charset="0"/>
                        <a:cs typeface="Cambria Math" panose="02040503050406030204" charset="0"/>
                      </a:rPr>
                      <m:t>α</m:t>
                    </m:r>
                  </m:oMath>
                </a14:m>
                <a:r>
                  <a:rPr lang="zh-CN" altLang="en-US" sz="1600">
                    <a:latin typeface="+mn-ea"/>
                    <a:cs typeface="+mn-ea"/>
                  </a:rPr>
                  <a:t>。更新解</a:t>
                </a:r>
                <a:r>
                  <a:rPr lang="en-US" altLang="zh-CN" sz="1600">
                    <a:latin typeface="+mn-ea"/>
                    <a:cs typeface="+mn-ea"/>
                  </a:rPr>
                  <a:t> </a:t>
                </a:r>
                <a14:m>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𝑥</m:t>
                        </m:r>
                      </m:e>
                      <m:sub>
                        <m:r>
                          <a:rPr lang="en-US" altLang="zh-CN" sz="1600" i="1">
                            <a:latin typeface="Cambria Math" panose="02040503050406030204" charset="0"/>
                            <a:cs typeface="Cambria Math" panose="02040503050406030204" charset="0"/>
                          </a:rPr>
                          <m:t>𝑛𝑒𝑤</m:t>
                        </m:r>
                      </m:sub>
                    </m:sSub>
                    <m:r>
                      <a:rPr lang="en-US" altLang="zh-CN" sz="1600">
                        <a:latin typeface="Cambria Math" panose="02040503050406030204" charset="0"/>
                        <a:cs typeface="Cambria Math" panose="02040503050406030204" charset="0"/>
                      </a:rPr>
                      <m:t>=</m:t>
                    </m:r>
                    <m:r>
                      <m:rPr>
                        <m:sty m:val="p"/>
                      </m:rPr>
                      <a:rPr lang="en-US" altLang="zh-CN" sz="1600">
                        <a:latin typeface="Cambria Math" panose="02040503050406030204" charset="0"/>
                        <a:cs typeface="Cambria Math" panose="02040503050406030204" charset="0"/>
                      </a:rPr>
                      <m:t>x</m:t>
                    </m:r>
                    <m:r>
                      <a:rPr lang="en-US" altLang="zh-CN" sz="1600">
                        <a:latin typeface="Cambria Math" panose="02040503050406030204" charset="0"/>
                        <a:cs typeface="Cambria Math" panose="02040503050406030204" charset="0"/>
                      </a:rPr>
                      <m:t>+</m:t>
                    </m:r>
                    <m:r>
                      <m:rPr>
                        <m:sty m:val="p"/>
                      </m:rPr>
                      <a:rPr lang="en-US" altLang="zh-CN" sz="1600">
                        <a:latin typeface="Cambria Math" panose="02040503050406030204" charset="0"/>
                        <a:cs typeface="Cambria Math" panose="02040503050406030204" charset="0"/>
                      </a:rPr>
                      <m:t>d</m:t>
                    </m:r>
                  </m:oMath>
                </a14:m>
                <a:r>
                  <a:rPr lang="zh-CN" altLang="en-US" sz="1600">
                    <a:latin typeface="+mn-ea"/>
                    <a:cs typeface="+mn-ea"/>
                  </a:rPr>
                  <a:t>，重复评估直到收敛。</a:t>
                </a:r>
                <a:endParaRPr lang="zh-CN" altLang="en-US" sz="1600">
                  <a:latin typeface="+mn-ea"/>
                  <a:cs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222250" y="859790"/>
                <a:ext cx="11748135" cy="2676525"/>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0" y="6477345"/>
            <a:ext cx="12192000" cy="400109"/>
          </a:xfrm>
          <a:prstGeom prst="rect">
            <a:avLst/>
          </a:prstGeom>
          <a:solidFill>
            <a:schemeClr val="accent5">
              <a:lumMod val="50000"/>
            </a:schemeClr>
          </a:solidFill>
          <a:ln>
            <a:noFill/>
          </a:ln>
        </p:spPr>
        <p:txBody>
          <a:bodyPr wrap="square" rtlCol="0">
            <a:spAutoFit/>
          </a:bodyPr>
          <a:lstStyle/>
          <a:p>
            <a:endParaRPr lang="zh-CN" altLang="en-US" dirty="0"/>
          </a:p>
        </p:txBody>
      </p:sp>
      <p:grpSp>
        <p:nvGrpSpPr>
          <p:cNvPr id="7" name="组合 6"/>
          <p:cNvGrpSpPr/>
          <p:nvPr/>
        </p:nvGrpSpPr>
        <p:grpSpPr>
          <a:xfrm>
            <a:off x="5284670" y="6492733"/>
            <a:ext cx="1843236" cy="400109"/>
            <a:chOff x="76140" y="6477345"/>
            <a:chExt cx="1947504" cy="400109"/>
          </a:xfrm>
        </p:grpSpPr>
        <p:pic>
          <p:nvPicPr>
            <p:cNvPr id="8" name="图片 7"/>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76140" y="6477345"/>
              <a:ext cx="400109" cy="400109"/>
            </a:xfrm>
            <a:prstGeom prst="rect">
              <a:avLst/>
            </a:prstGeom>
          </p:spPr>
        </p:pic>
        <p:pic>
          <p:nvPicPr>
            <p:cNvPr id="9" name="图片 8"/>
            <p:cNvPicPr>
              <a:picLocks noChangeAspect="1"/>
            </p:cNvPicPr>
            <p:nvPr/>
          </p:nvPicPr>
          <p:blipFill rotWithShape="1">
            <a:blip r:embed="rId3">
              <a:biLevel thresh="25000"/>
            </a:blip>
            <a:srcRect l="1" t="6582" r="-25334" b="26979"/>
            <a:stretch>
              <a:fillRect/>
            </a:stretch>
          </p:blipFill>
          <p:spPr>
            <a:xfrm>
              <a:off x="414611" y="6477345"/>
              <a:ext cx="724874" cy="380655"/>
            </a:xfrm>
            <a:prstGeom prst="rect">
              <a:avLst/>
            </a:prstGeom>
          </p:spPr>
        </p:pic>
        <p:pic>
          <p:nvPicPr>
            <p:cNvPr id="10" name="图片 9"/>
            <p:cNvPicPr>
              <a:picLocks noChangeAspect="1"/>
            </p:cNvPicPr>
            <p:nvPr/>
          </p:nvPicPr>
          <p:blipFill rotWithShape="1">
            <a:blip r:embed="rId2">
              <a:biLevel thresh="25000"/>
              <a:extLst>
                <a:ext uri="{28A0092B-C50C-407E-A947-70E740481C1C}">
                  <a14:useLocalDpi xmlns:a14="http://schemas.microsoft.com/office/drawing/2010/main" val="0"/>
                </a:ext>
              </a:extLst>
            </a:blip>
            <a:srcRect l="32814" t="12432" r="55484" b="78542"/>
            <a:stretch>
              <a:fillRect/>
            </a:stretch>
          </p:blipFill>
          <p:spPr>
            <a:xfrm rot="1259126">
              <a:off x="895509" y="6508504"/>
              <a:ext cx="402920" cy="310802"/>
            </a:xfrm>
            <a:prstGeom prst="rect">
              <a:avLst/>
            </a:prstGeom>
          </p:spPr>
        </p:pic>
        <p:pic>
          <p:nvPicPr>
            <p:cNvPr id="11" name="图片 10"/>
            <p:cNvPicPr>
              <a:picLocks noChangeAspect="1"/>
            </p:cNvPicPr>
            <p:nvPr/>
          </p:nvPicPr>
          <p:blipFill rotWithShape="1">
            <a:blip r:embed="rId4"/>
            <a:srcRect t="-1" b="16526"/>
            <a:stretch>
              <a:fillRect/>
            </a:stretch>
          </p:blipFill>
          <p:spPr>
            <a:xfrm rot="589386">
              <a:off x="1256498" y="6481317"/>
              <a:ext cx="388026" cy="326437"/>
            </a:xfrm>
            <a:prstGeom prst="rect">
              <a:avLst/>
            </a:prstGeom>
          </p:spPr>
        </p:pic>
        <p:pic>
          <p:nvPicPr>
            <p:cNvPr id="12" name="图片 11"/>
            <p:cNvPicPr>
              <a:picLocks noChangeAspect="1"/>
            </p:cNvPicPr>
            <p:nvPr/>
          </p:nvPicPr>
          <p:blipFill rotWithShape="1">
            <a:blip r:embed="rId5"/>
            <a:srcRect t="18211" b="8984"/>
            <a:stretch>
              <a:fillRect/>
            </a:stretch>
          </p:blipFill>
          <p:spPr>
            <a:xfrm>
              <a:off x="1554468" y="6496881"/>
              <a:ext cx="469176" cy="341581"/>
            </a:xfrm>
            <a:prstGeom prst="rect">
              <a:avLst/>
            </a:prstGeom>
          </p:spPr>
        </p:pic>
      </p:grpSp>
      <p:cxnSp>
        <p:nvCxnSpPr>
          <p:cNvPr id="48" name="直接连接符 47"/>
          <p:cNvCxnSpPr/>
          <p:nvPr/>
        </p:nvCxnSpPr>
        <p:spPr>
          <a:xfrm>
            <a:off x="9678572" y="560438"/>
            <a:ext cx="2180493" cy="0"/>
          </a:xfrm>
          <a:prstGeom prst="line">
            <a:avLst/>
          </a:prstGeom>
          <a:ln w="15875">
            <a:solidFill>
              <a:srgbClr val="1F4E79"/>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6"/>
          <a:stretch>
            <a:fillRect/>
          </a:stretch>
        </p:blipFill>
        <p:spPr>
          <a:xfrm>
            <a:off x="10166517" y="67522"/>
            <a:ext cx="1291381" cy="580723"/>
          </a:xfrm>
          <a:prstGeom prst="rect">
            <a:avLst/>
          </a:prstGeom>
        </p:spPr>
      </p:pic>
      <p:sp>
        <p:nvSpPr>
          <p:cNvPr id="18" name="标题 17"/>
          <p:cNvSpPr>
            <a:spLocks noGrp="1"/>
          </p:cNvSpPr>
          <p:nvPr>
            <p:ph type="title"/>
          </p:nvPr>
        </p:nvSpPr>
        <p:spPr>
          <a:xfrm>
            <a:off x="95250" y="67310"/>
            <a:ext cx="3437255" cy="581025"/>
          </a:xfrm>
          <a:noFill/>
          <a:ln>
            <a:noFill/>
          </a:ln>
          <a:extLst>
            <a:ext uri="{909E8E84-426E-40DD-AFC4-6F175D3DCCD1}">
              <a14:hiddenFill xmlns:a14="http://schemas.microsoft.com/office/drawing/2010/main">
                <a:solidFill>
                  <a:schemeClr val="bg1"/>
                </a:solidFill>
              </a14:hiddenFill>
            </a:ext>
          </a:extLst>
        </p:spPr>
        <p:txBody>
          <a:bodyPr>
            <a:normAutofit/>
          </a:bodyPr>
          <a:p>
            <a:pPr marL="342900" indent="-342900">
              <a:buFont typeface="Wingdings" panose="05000000000000000000" charset="0"/>
              <a:buChar char="Ø"/>
            </a:pPr>
            <a:r>
              <a:rPr lang="zh-CN" altLang="en-US" sz="2000" b="1" dirty="0">
                <a:latin typeface="宋体" panose="02010600030101010101" pitchFamily="2" charset="-122"/>
                <a:ea typeface="宋体" panose="02010600030101010101" pitchFamily="2" charset="-122"/>
              </a:rPr>
              <a:t>目前想到的一些</a:t>
            </a:r>
            <a:r>
              <a:rPr lang="zh-CN" altLang="en-US" sz="2000" b="1" dirty="0">
                <a:latin typeface="宋体" panose="02010600030101010101" pitchFamily="2" charset="-122"/>
                <a:ea typeface="宋体" panose="02010600030101010101" pitchFamily="2" charset="-122"/>
              </a:rPr>
              <a:t>问题</a:t>
            </a:r>
            <a:endParaRPr lang="zh-CN" altLang="en-US" sz="2000" b="1" dirty="0">
              <a:latin typeface="宋体" panose="02010600030101010101" pitchFamily="2" charset="-122"/>
              <a:ea typeface="宋体" panose="02010600030101010101" pitchFamily="2" charset="-122"/>
            </a:endParaRPr>
          </a:p>
        </p:txBody>
      </p:sp>
      <p:sp>
        <p:nvSpPr>
          <p:cNvPr id="3" name="文本框 2"/>
          <p:cNvSpPr txBox="1"/>
          <p:nvPr/>
        </p:nvSpPr>
        <p:spPr>
          <a:xfrm>
            <a:off x="525145" y="832485"/>
            <a:ext cx="9641840" cy="1938020"/>
          </a:xfrm>
          <a:prstGeom prst="rect">
            <a:avLst/>
          </a:prstGeom>
        </p:spPr>
        <p:txBody>
          <a:bodyPr wrap="square">
            <a:spAutoFit/>
          </a:bodyPr>
          <a:p>
            <a:pPr indent="0" fontAlgn="auto">
              <a:lnSpc>
                <a:spcPct val="150000"/>
              </a:lnSpc>
              <a:buAutoNum type="arabicPeriod"/>
            </a:pPr>
            <a:r>
              <a:rPr lang="zh-CN" altLang="en-US" sz="1600"/>
              <a:t>精度如何解决，目前</a:t>
            </a:r>
            <a:r>
              <a:rPr lang="en-US" altLang="zh-CN" sz="1600"/>
              <a:t>TPU</a:t>
            </a:r>
            <a:r>
              <a:rPr lang="zh-CN" altLang="en-US" sz="1600"/>
              <a:t>只能计算无符号</a:t>
            </a:r>
            <a:r>
              <a:rPr lang="en-US" altLang="zh-CN" sz="1600"/>
              <a:t>32</a:t>
            </a:r>
            <a:r>
              <a:rPr lang="zh-CN" altLang="en-US" sz="1600"/>
              <a:t>位整数类型。若为了达到一个较好效果，至少需要达到</a:t>
            </a:r>
            <a:r>
              <a:rPr lang="en-US" altLang="zh-CN" sz="1600"/>
              <a:t>FP16.</a:t>
            </a:r>
            <a:endParaRPr lang="en-US" altLang="zh-CN" sz="1600"/>
          </a:p>
          <a:p>
            <a:pPr indent="0" fontAlgn="auto">
              <a:lnSpc>
                <a:spcPct val="150000"/>
              </a:lnSpc>
              <a:buAutoNum type="arabicPeriod"/>
            </a:pPr>
            <a:r>
              <a:rPr lang="en-US" altLang="zh-CN" sz="1600"/>
              <a:t>SFU</a:t>
            </a:r>
            <a:r>
              <a:rPr lang="zh-CN" altLang="en-US" sz="1600"/>
              <a:t>的功能是自己设计还是交给异步</a:t>
            </a:r>
            <a:r>
              <a:rPr lang="en-US" altLang="zh-CN" sz="1600"/>
              <a:t>CPU</a:t>
            </a:r>
            <a:r>
              <a:rPr lang="zh-CN" altLang="en-US" sz="1600"/>
              <a:t>。</a:t>
            </a:r>
            <a:endParaRPr lang="en-US" altLang="zh-CN" sz="1600"/>
          </a:p>
          <a:p>
            <a:pPr indent="0" fontAlgn="auto">
              <a:lnSpc>
                <a:spcPct val="150000"/>
              </a:lnSpc>
              <a:buAutoNum type="arabicPeriod"/>
            </a:pPr>
            <a:r>
              <a:rPr lang="zh-CN" altLang="en-US" sz="1600"/>
              <a:t>如何把压缩融入进去，因为求解需要经过软件预处理。所以一个可能的融入方向是在软件预处理时使用未压缩过的数据来进行预处理，然后将数据数据发送到硬件端时，通过压缩模块后存入</a:t>
            </a:r>
            <a:r>
              <a:rPr lang="en-US" altLang="zh-CN" sz="1600"/>
              <a:t>DDR</a:t>
            </a:r>
            <a:r>
              <a:rPr lang="zh-CN" altLang="en-US" sz="1600"/>
              <a:t>内部。</a:t>
            </a:r>
            <a:endParaRPr lang="zh-CN" altLang="en-US" sz="1600"/>
          </a:p>
          <a:p>
            <a:pPr indent="0" fontAlgn="auto">
              <a:lnSpc>
                <a:spcPct val="150000"/>
              </a:lnSpc>
              <a:buAutoNum type="arabicPeriod"/>
            </a:pPr>
            <a:r>
              <a:rPr lang="zh-CN" altLang="en-US" sz="1600"/>
              <a:t>例子。</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2000" advTm="35111"/>
    </mc:Choice>
    <mc:Fallback>
      <p:transition spd="slow" advTm="35111"/>
    </mc:Fallback>
  </mc:AlternateContent>
</p:sld>
</file>

<file path=ppt/tags/tag1.xml><?xml version="1.0" encoding="utf-8"?>
<p:tagLst xmlns:p="http://schemas.openxmlformats.org/presentationml/2006/main">
  <p:tag name="commondata" val="eyJoZGlkIjoiNDc0Zjg0ZDQ0ZTEzYjRjMjA2MTExNGFhZWE1NjM1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1736</Words>
  <Application>WPS 演示</Application>
  <PresentationFormat>宽屏</PresentationFormat>
  <Paragraphs>74</Paragraphs>
  <Slides>11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vt:i4>
      </vt:variant>
    </vt:vector>
  </HeadingPairs>
  <TitlesOfParts>
    <vt:vector size="29" baseType="lpstr">
      <vt:lpstr>Arial</vt:lpstr>
      <vt:lpstr>宋体</vt:lpstr>
      <vt:lpstr>Wingdings</vt:lpstr>
      <vt:lpstr>黑体</vt:lpstr>
      <vt:lpstr>Wingdings</vt:lpstr>
      <vt:lpstr>Cambria Math</vt:lpstr>
      <vt:lpstr>等线</vt:lpstr>
      <vt:lpstr>微软雅黑</vt:lpstr>
      <vt:lpstr>Arial Unicode MS</vt:lpstr>
      <vt:lpstr>等线 Light</vt:lpstr>
      <vt:lpstr>Calibri</vt:lpstr>
      <vt:lpstr>MS Mincho</vt:lpstr>
      <vt:lpstr>Segoe Print</vt:lpstr>
      <vt:lpstr>Consolas</vt:lpstr>
      <vt:lpstr>Google Sans Text</vt:lpstr>
      <vt:lpstr>Arial</vt:lpstr>
      <vt:lpstr>仿宋</vt:lpstr>
      <vt:lpstr>Office 主题​​</vt:lpstr>
      <vt:lpstr>PowerPoint 演示文稿</vt:lpstr>
      <vt:lpstr>超节点技术</vt:lpstr>
      <vt:lpstr>误差分析</vt:lpstr>
      <vt:lpstr>误差分析</vt:lpstr>
      <vt:lpstr>误差分析</vt:lpstr>
      <vt:lpstr>误差分析</vt:lpstr>
      <vt:lpstr>误差分析</vt:lpstr>
      <vt:lpstr>误差分析</vt:lpstr>
      <vt:lpstr>系统数据流</vt:lpstr>
      <vt:lpstr>系统数据流</vt:lpstr>
      <vt:lpstr>系统数据流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陈仇恨</dc:creator>
  <cp:lastModifiedBy>hy1729</cp:lastModifiedBy>
  <cp:revision>101</cp:revision>
  <dcterms:created xsi:type="dcterms:W3CDTF">2019-03-01T00:58:00Z</dcterms:created>
  <dcterms:modified xsi:type="dcterms:W3CDTF">2026-01-19T06:08:12Z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047E0EDF38104834AF473A3C81E5666D_13</vt:lpwstr>
  </property>
  <property fmtid="{D5CDD505-2E9C-101B-9397-08002B2CF9AE}" pid="3" name="KSOProductBuildVer">
    <vt:lpwstr>2052-12.1.0.24034</vt:lpwstr>
  </property>
</Properties>
</file>