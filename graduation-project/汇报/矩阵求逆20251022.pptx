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73" r:id="rId4"/>
    <p:sldId id="375" r:id="rId5"/>
    <p:sldId id="376" r:id="rId6"/>
    <p:sldId id="377" r:id="rId7"/>
    <p:sldId id="378" r:id="rId8"/>
    <p:sldId id="379" r:id="rId9"/>
    <p:sldId id="380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B4C7E7"/>
    <a:srgbClr val="1F4E79"/>
    <a:srgbClr val="FFC000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71" autoAdjust="0"/>
    <p:restoredTop sz="94280" autoAdjust="0"/>
  </p:normalViewPr>
  <p:slideViewPr>
    <p:cSldViewPr snapToGrid="0" showGuides="1">
      <p:cViewPr varScale="1">
        <p:scale>
          <a:sx n="86" d="100"/>
          <a:sy n="86" d="100"/>
        </p:scale>
        <p:origin x="35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670685" y="3220720"/>
            <a:ext cx="8693150" cy="610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矩阵</a:t>
            </a:r>
            <a:r>
              <a:rPr lang="zh-CN" altLang="en-US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求逆</a:t>
            </a:r>
            <a:endParaRPr lang="zh-CN" altLang="en-US" sz="4400" kern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753"/>
            <a:ext cx="12192000" cy="265540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0" y="6477345"/>
            <a:ext cx="12192000" cy="415497"/>
            <a:chOff x="0" y="6477345"/>
            <a:chExt cx="12192000" cy="415497"/>
          </a:xfrm>
        </p:grpSpPr>
        <p:sp>
          <p:nvSpPr>
            <p:cNvPr id="2" name="文本框 1"/>
            <p:cNvSpPr txBox="1"/>
            <p:nvPr/>
          </p:nvSpPr>
          <p:spPr>
            <a:xfrm>
              <a:off x="0" y="6477345"/>
              <a:ext cx="12192000" cy="40010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5284670" y="6492733"/>
              <a:ext cx="1843236" cy="400109"/>
              <a:chOff x="76140" y="6477345"/>
              <a:chExt cx="1947504" cy="400109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40" y="6477345"/>
                <a:ext cx="400109" cy="400109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3">
                <a:biLevel thresh="25000"/>
              </a:blip>
              <a:srcRect l="1" t="6582" r="-25334" b="26979"/>
              <a:stretch>
                <a:fillRect/>
              </a:stretch>
            </p:blipFill>
            <p:spPr>
              <a:xfrm rot="200163">
                <a:off x="414610" y="6477345"/>
                <a:ext cx="724874" cy="380655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 rotWithShape="1"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814" t="12432" r="55484" b="78542"/>
              <a:stretch>
                <a:fillRect/>
              </a:stretch>
            </p:blipFill>
            <p:spPr>
              <a:xfrm rot="1259126">
                <a:off x="895509" y="6508504"/>
                <a:ext cx="402920" cy="310802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/>
            </p:nvPicPr>
            <p:blipFill rotWithShape="1">
              <a:blip r:embed="rId4"/>
              <a:srcRect t="-1" b="16526"/>
              <a:stretch>
                <a:fillRect/>
              </a:stretch>
            </p:blipFill>
            <p:spPr>
              <a:xfrm rot="436491">
                <a:off x="1256498" y="6481317"/>
                <a:ext cx="388026" cy="326437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 rotWithShape="1">
              <a:blip r:embed="rId5"/>
              <a:srcRect t="18211" b="8984"/>
              <a:stretch>
                <a:fillRect/>
              </a:stretch>
            </p:blipFill>
            <p:spPr>
              <a:xfrm>
                <a:off x="1554468" y="6496881"/>
                <a:ext cx="469176" cy="34158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9"/>
    </mc:Choice>
    <mc:Fallback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波前矩阵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71145" y="896620"/>
                <a:ext cx="11588115" cy="2602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  <a:buNone/>
                </a:pPr>
                <a:r>
                  <a:rPr lang="zh-CN" altLang="en-US">
                    <a:sym typeface="+mn-ea"/>
                  </a:rPr>
                  <a:t>波前矩阵主要经过三个阶段：装配、消元和生成贡献块。这是稀疏矩阵</a:t>
                </a:r>
                <a:r>
                  <a:rPr lang="en-US" altLang="zh-CN">
                    <a:sym typeface="+mn-ea"/>
                  </a:rPr>
                  <a:t>(A)</a:t>
                </a:r>
                <a:r>
                  <a:rPr lang="zh-CN" altLang="en-US">
                    <a:sym typeface="+mn-ea"/>
                  </a:rPr>
                  <a:t>分解需要多次进行的一个</a:t>
                </a:r>
                <a:r>
                  <a:rPr lang="zh-CN" altLang="en-US">
                    <a:sym typeface="+mn-ea"/>
                  </a:rPr>
                  <a:t>步骤。</a:t>
                </a:r>
                <a:endParaRPr lang="zh-CN" altLang="en-US"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None/>
                </a:pPr>
                <a:r>
                  <a:rPr lang="en-US" altLang="zh-CN">
                    <a:sym typeface="+mn-ea"/>
                  </a:rPr>
                  <a:t>1. </a:t>
                </a:r>
                <a:r>
                  <a:rPr lang="zh-CN" altLang="en-US">
                    <a:sym typeface="+mn-ea"/>
                  </a:rPr>
                  <a:t>装配：我们记当前树节点上需要消除的索引集合为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P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在这个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树节点上不会被消去、但与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P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有耦合的索引集合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Q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。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然后就组装成初步的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front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矩阵：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𝑃𝑄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None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然后根据子节点传上来的贡献块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，根据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extend-add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，加到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F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中就构成了完整的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front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矩阵。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45" y="896620"/>
                <a:ext cx="11588115" cy="26022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8145" y="3498850"/>
            <a:ext cx="3949700" cy="2801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波前矩阵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消元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921000" y="1134745"/>
                <a:ext cx="5241290" cy="10528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indent="0" fontAlgn="auto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𝑃𝑄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 = 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𝑃𝑃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𝑃𝑄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𝑄𝑄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1134745"/>
                <a:ext cx="5241290" cy="10528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96265" y="2298065"/>
                <a:ext cx="11565890" cy="2216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en-US" altLang="zh-CN"/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𝑃𝑃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𝑃𝑃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，这里的分解就是使用</a:t>
                </a:r>
                <a:r>
                  <a:rPr lang="zh-CN" altLang="en-US" b="1">
                    <a:latin typeface="Cambria Math" panose="02040503050406030204" charset="0"/>
                    <a:cs typeface="Cambria Math" panose="02040503050406030204" charset="0"/>
                  </a:rPr>
                  <a:t>传统的高斯消元法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𝑃𝑃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的维度较大，则会使用</a:t>
                </a:r>
                <a:r>
                  <a:rPr lang="zh-CN" altLang="en-US" b="1">
                    <a:latin typeface="Cambria Math" panose="02040503050406030204" charset="0"/>
                    <a:cs typeface="Cambria Math" panose="02040503050406030204" charset="0"/>
                  </a:rPr>
                  <a:t>块分解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。分解出来的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L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𝑝𝑝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PP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是作为全局解的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一部分。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2. </a:t>
                </a:r>
                <a:r>
                  <a:rPr lang="zh-CN" altLang="en-US" b="1">
                    <a:latin typeface="Cambria Math" panose="02040503050406030204" charset="0"/>
                    <a:cs typeface="Cambria Math" panose="02040503050406030204" charset="0"/>
                  </a:rPr>
                  <a:t>求解器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求解两个线性方程：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𝑃𝑄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𝑄𝑃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。得到的结果就是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U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𝑃𝑄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L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𝑄𝑃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。它们也会作为全局解的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一部分。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3.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生成贡献块：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S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𝑄𝑄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𝑄𝑃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𝑃𝑄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，传给父节点使用。</a:t>
                </a:r>
                <a:r>
                  <a:rPr lang="zh-CN" altLang="en-US" b="1">
                    <a:latin typeface="Cambria Math" panose="02040503050406030204" charset="0"/>
                    <a:cs typeface="Cambria Math" panose="02040503050406030204" charset="0"/>
                  </a:rPr>
                  <a:t>矩阵乘法</a:t>
                </a:r>
                <a:endParaRPr lang="zh-CN" altLang="en-US" b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65" y="2298065"/>
                <a:ext cx="11565890" cy="22161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硬件电路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3690" y="1155700"/>
            <a:ext cx="111442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/>
              <a:t>LU</a:t>
            </a:r>
            <a:r>
              <a:rPr lang="zh-CN" altLang="en-US" b="1"/>
              <a:t>分解模块</a:t>
            </a:r>
            <a:endParaRPr lang="zh-CN" altLang="en-US" b="1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功能：对主元矩阵进行传统的高斯消元分解。计算得到</a:t>
            </a:r>
            <a:r>
              <a:rPr lang="en-US" altLang="zh-CN"/>
              <a:t>L U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主要操作：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行列变化：行交换和列交换（若涉及到列置换）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主元选择：部分主元选择（</a:t>
            </a:r>
            <a:r>
              <a:rPr lang="en-US" altLang="zh-CN"/>
              <a:t>Pivoting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分解计算：进行</a:t>
            </a:r>
            <a:r>
              <a:rPr lang="en-US" altLang="zh-CN"/>
              <a:t> LU </a:t>
            </a:r>
            <a:r>
              <a:rPr lang="zh-CN" altLang="en-US"/>
              <a:t>分解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可以进行的优化点：流水线</a:t>
            </a:r>
            <a:r>
              <a:rPr lang="zh-CN" altLang="en-US"/>
              <a:t>设计，将计算过程分为多个阶段，充分利用硬件的并行性。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硬件电路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3690" y="1155700"/>
                <a:ext cx="11144250" cy="2999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zh-CN" altLang="en-US" b="1"/>
                  <a:t>线性求解</a:t>
                </a:r>
                <a:r>
                  <a:rPr lang="zh-CN" altLang="en-US" b="1"/>
                  <a:t>模块</a:t>
                </a:r>
                <a:endParaRPr lang="zh-CN" altLang="en-US" b="1"/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/>
                  <a:t>功能：解线性方程组，主要求解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Lx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x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两种类型。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L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U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都是三角矩阵</a:t>
                </a:r>
                <a:endParaRPr lang="zh-CN" altLang="en-US"/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/>
                  <a:t>主要</a:t>
                </a:r>
                <a:r>
                  <a:rPr lang="zh-CN" altLang="en-US"/>
                  <a:t>算法：</a:t>
                </a:r>
                <a:endParaRPr lang="zh-CN" altLang="en-US"/>
              </a:p>
              <a:p>
                <a:pPr marL="285750" indent="-285750" fontAlgn="auto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r>
                  <a:rPr lang="zh-CN" altLang="en-US"/>
                  <a:t>前向替换，主要求解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L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x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𝑈</m:t>
                    </m:r>
                  </m:oMath>
                </a14:m>
                <a:endParaRPr lang="zh-CN" altLang="en-US"/>
              </a:p>
              <a:p>
                <a:pPr marL="285750" indent="-285750" fontAlgn="auto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r>
                  <a:rPr lang="zh-CN" altLang="en-US"/>
                  <a:t>后向替换，主要求解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Ux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x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</m:oMath>
                </a14:m>
                <a:endParaRPr lang="zh-CN" altLang="en-US"/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zh-CN" altLang="en-US"/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zh-CN" altLang="en-US"/>
                  <a:t>可以进行的优化点：对于多列的右端，我们可以进行并行</a:t>
                </a:r>
                <a:r>
                  <a:rPr lang="zh-CN" altLang="en-US"/>
                  <a:t>处理</a:t>
                </a:r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0" y="1155700"/>
                <a:ext cx="11144250" cy="29997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硬件电路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3690" y="1876425"/>
            <a:ext cx="1114425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/>
              <a:t>矩阵乘法</a:t>
            </a:r>
            <a:r>
              <a:rPr lang="zh-CN" altLang="en-US" b="1"/>
              <a:t>模块</a:t>
            </a:r>
            <a:endParaRPr lang="zh-CN" altLang="en-US" b="1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功能：用于进行矩阵</a:t>
            </a:r>
            <a:r>
              <a:rPr lang="en-US" altLang="zh-CN"/>
              <a:t>-</a:t>
            </a:r>
            <a:r>
              <a:rPr lang="zh-CN" altLang="en-US"/>
              <a:t>矩阵乘法，尤其是在</a:t>
            </a:r>
            <a:r>
              <a:rPr lang="zh-CN" altLang="en-US"/>
              <a:t>贡献块更新阶段，进行</a:t>
            </a:r>
            <a:r>
              <a:rPr lang="en-US" altLang="zh-CN"/>
              <a:t> </a:t>
            </a:r>
            <a:r>
              <a:rPr lang="zh-CN" altLang="en-US"/>
              <a:t>秩</a:t>
            </a:r>
            <a:r>
              <a:rPr lang="en-US" altLang="zh-CN"/>
              <a:t>-1 </a:t>
            </a:r>
            <a:r>
              <a:rPr lang="zh-CN" altLang="en-US"/>
              <a:t>更新</a:t>
            </a:r>
            <a:r>
              <a:rPr lang="en-US" altLang="zh-CN"/>
              <a:t> </a:t>
            </a:r>
            <a:r>
              <a:rPr lang="zh-CN" altLang="en-US"/>
              <a:t>或矩阵</a:t>
            </a:r>
            <a:r>
              <a:rPr lang="en-US" altLang="zh-CN"/>
              <a:t>-</a:t>
            </a:r>
            <a:r>
              <a:rPr lang="zh-CN" altLang="en-US"/>
              <a:t>矩阵乘法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主要</a:t>
            </a:r>
            <a:r>
              <a:rPr lang="zh-CN" altLang="en-US"/>
              <a:t>操作：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矩阵</a:t>
            </a:r>
            <a:r>
              <a:rPr lang="zh-CN" altLang="en-US"/>
              <a:t>乘法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矩阵减</a:t>
            </a:r>
            <a:r>
              <a:rPr lang="zh-CN" altLang="en-US"/>
              <a:t>法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目前的问题：</a:t>
            </a:r>
            <a:r>
              <a:rPr lang="en-US" altLang="zh-CN"/>
              <a:t>TPU</a:t>
            </a:r>
            <a:r>
              <a:rPr lang="zh-CN" altLang="en-US"/>
              <a:t>的最小粒度是</a:t>
            </a:r>
            <a:r>
              <a:rPr lang="en-US" altLang="zh-CN"/>
              <a:t>256*256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固件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部分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0245" y="889000"/>
            <a:ext cx="109169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目前对于固件部分，目前的想法是分为两部分：消解树的管理和调度以及内存</a:t>
            </a:r>
            <a:r>
              <a:rPr lang="zh-CN" altLang="en-US"/>
              <a:t>管理。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9930" y="1960880"/>
            <a:ext cx="97866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消解树</a:t>
            </a:r>
            <a:r>
              <a:rPr lang="zh-CN" altLang="en-US"/>
              <a:t>管理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功能：根据消解树的后序遍历顺序，管理前沿分解的每个节点及其依赖关系。确保每个节点在计算完成时，将贡献块传递给父节点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 b="1"/>
              <a:t>模块</a:t>
            </a:r>
            <a:r>
              <a:rPr lang="zh-CN" altLang="en-US"/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动态任务调度：实现一个动态调度模块，处理任务优先级和依赖关系，确保硬件资源的充分利用。例如，可以通过任务队列的方式安排各个</a:t>
            </a:r>
            <a:r>
              <a:rPr lang="en-US" altLang="zh-CN"/>
              <a:t> front </a:t>
            </a:r>
            <a:r>
              <a:rPr lang="zh-CN" altLang="en-US"/>
              <a:t>的计算，减少等待和数据传输的时间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栈管理：对于每个</a:t>
            </a:r>
            <a:r>
              <a:rPr lang="en-US" altLang="zh-CN"/>
              <a:t> front </a:t>
            </a:r>
            <a:r>
              <a:rPr lang="zh-CN" altLang="en-US"/>
              <a:t>以及它们之间的父子关系，可以使用一个堆栈数据结构来处理递归式的消解树遍历，确保正确的顺序。栈的管理在硬件中要足够高效，以避免过多的内存访问延迟。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固件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部分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0245" y="889000"/>
            <a:ext cx="109169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目前对于固件部分，目前的想法是分为两部分：消解树的管理和调度以及内存</a:t>
            </a:r>
            <a:r>
              <a:rPr lang="zh-CN" altLang="en-US"/>
              <a:t>管理。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9930" y="1623695"/>
            <a:ext cx="97866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内存管理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功能：内存管理部分负责将前沿矩阵的数据从主内存加载到计算单元，确保计算单元能够访问到需要的数据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 b="1"/>
              <a:t>模块</a:t>
            </a:r>
            <a:endParaRPr lang="zh-CN" altLang="en-US" b="1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缓存机制：为了减少内存带宽瓶颈，硬件中可以设计一个高速缓存（例如局部缓存）来存储频繁访问的矩阵块。对于稀疏矩阵部分，可以通过压缩存储进一步优化内存使用</a:t>
            </a:r>
            <a:r>
              <a:rPr lang="zh-CN" altLang="en-US" b="1"/>
              <a:t>。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tags/tag1.xml><?xml version="1.0" encoding="utf-8"?>
<p:tagLst xmlns:p="http://schemas.openxmlformats.org/presentationml/2006/main">
  <p:tag name="commondata" val="eyJoZGlkIjoiNDc0Zjg0ZDQ0ZTEzYjRjMjA2MTExNGFhZWE1NjM1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</Words>
  <Application>WPS 演示</Application>
  <PresentationFormat>宽屏</PresentationFormat>
  <Paragraphs>69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黑体</vt:lpstr>
      <vt:lpstr>Wingdings</vt:lpstr>
      <vt:lpstr>Aharoni</vt:lpstr>
      <vt:lpstr>Yu Gothic UI Semibold</vt:lpstr>
      <vt:lpstr>等线</vt:lpstr>
      <vt:lpstr>微软雅黑</vt:lpstr>
      <vt:lpstr>Arial Unicode MS</vt:lpstr>
      <vt:lpstr>等线 Light</vt:lpstr>
      <vt:lpstr>Calibri</vt:lpstr>
      <vt:lpstr>Garamond</vt:lpstr>
      <vt:lpstr>Cambria Math</vt:lpstr>
      <vt:lpstr>Office 主题​​</vt:lpstr>
      <vt:lpstr>PowerPoint 演示文稿</vt:lpstr>
      <vt:lpstr>项目</vt:lpstr>
      <vt:lpstr>波前矩阵</vt:lpstr>
      <vt:lpstr>波前矩阵--消元</vt:lpstr>
      <vt:lpstr>硬件电路</vt:lpstr>
      <vt:lpstr>硬件电路</vt:lpstr>
      <vt:lpstr>硬件电路</vt:lpstr>
      <vt:lpstr>固件部分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陈仇恨</dc:creator>
  <cp:lastModifiedBy>hy1729</cp:lastModifiedBy>
  <cp:revision>88</cp:revision>
  <dcterms:created xsi:type="dcterms:W3CDTF">2019-03-01T00:58:00Z</dcterms:created>
  <dcterms:modified xsi:type="dcterms:W3CDTF">2025-10-22T01:37:36Z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7615C88A8659480D818BD2B1D9124823_13</vt:lpwstr>
  </property>
  <property fmtid="{D5CDD505-2E9C-101B-9397-08002B2CF9AE}" pid="3" name="KSOProductBuildVer">
    <vt:lpwstr>2052-12.1.0.23125</vt:lpwstr>
  </property>
</Properties>
</file>