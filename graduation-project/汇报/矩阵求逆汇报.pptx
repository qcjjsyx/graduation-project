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3"/>
    <p:sldId id="273" r:id="rId4"/>
    <p:sldId id="275" r:id="rId5"/>
    <p:sldId id="278" r:id="rId6"/>
    <p:sldId id="280" r:id="rId7"/>
    <p:sldId id="281" r:id="rId8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75B6"/>
    <a:srgbClr val="B4C7E7"/>
    <a:srgbClr val="1F4E79"/>
    <a:srgbClr val="FFC000"/>
    <a:srgbClr val="2F55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71" autoAdjust="0"/>
    <p:restoredTop sz="94280" autoAdjust="0"/>
  </p:normalViewPr>
  <p:slideViewPr>
    <p:cSldViewPr snapToGrid="0" showGuides="1">
      <p:cViewPr varScale="1">
        <p:scale>
          <a:sx n="86" d="100"/>
          <a:sy n="86" d="100"/>
        </p:scale>
        <p:origin x="355" y="58"/>
      </p:cViewPr>
      <p:guideLst>
        <p:guide orient="horz" pos="2160"/>
        <p:guide pos="38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gs" Target="tags/tag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DA310-47E1-49A4-B032-28C3254EC4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C421-4391-48F1-A112-9BD0381E515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DA310-47E1-49A4-B032-28C3254EC4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C421-4391-48F1-A112-9BD0381E515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DA310-47E1-49A4-B032-28C3254EC4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C421-4391-48F1-A112-9BD0381E515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DA310-47E1-49A4-B032-28C3254EC4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C421-4391-48F1-A112-9BD0381E515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DA310-47E1-49A4-B032-28C3254EC4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C421-4391-48F1-A112-9BD0381E515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DA310-47E1-49A4-B032-28C3254EC4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C421-4391-48F1-A112-9BD0381E515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DA310-47E1-49A4-B032-28C3254EC4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C421-4391-48F1-A112-9BD0381E515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DA310-47E1-49A4-B032-28C3254EC4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C421-4391-48F1-A112-9BD0381E515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DA310-47E1-49A4-B032-28C3254EC4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C421-4391-48F1-A112-9BD0381E515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DA310-47E1-49A4-B032-28C3254EC4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C421-4391-48F1-A112-9BD0381E515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DA310-47E1-49A4-B032-28C3254EC4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C421-4391-48F1-A112-9BD0381E515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3DA310-47E1-49A4-B032-28C3254EC4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FCC421-4391-48F1-A112-9BD0381E515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png"/><Relationship Id="rId8" Type="http://schemas.openxmlformats.org/officeDocument/2006/relationships/image" Target="../media/image9.png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.png"/><Relationship Id="rId8" Type="http://schemas.openxmlformats.org/officeDocument/2006/relationships/image" Target="../media/image12.png"/><Relationship Id="rId7" Type="http://schemas.openxmlformats.org/officeDocument/2006/relationships/image" Target="../media/image11.png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14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7.png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8.png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1670685" y="3220720"/>
            <a:ext cx="8693150" cy="6108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4400" kern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稀疏矩阵</a:t>
            </a:r>
            <a:r>
              <a:rPr lang="zh-CN" altLang="en-US" sz="4400" kern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求解</a:t>
            </a:r>
            <a:endParaRPr lang="zh-CN" altLang="en-US" sz="4400" kern="2200" dirty="0">
              <a:solidFill>
                <a:schemeClr val="tx2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7753"/>
            <a:ext cx="12192000" cy="2655405"/>
          </a:xfrm>
          <a:prstGeom prst="rect">
            <a:avLst/>
          </a:prstGeom>
        </p:spPr>
      </p:pic>
      <p:grpSp>
        <p:nvGrpSpPr>
          <p:cNvPr id="25" name="组合 24"/>
          <p:cNvGrpSpPr/>
          <p:nvPr/>
        </p:nvGrpSpPr>
        <p:grpSpPr>
          <a:xfrm>
            <a:off x="0" y="6477345"/>
            <a:ext cx="12192000" cy="415497"/>
            <a:chOff x="0" y="6477345"/>
            <a:chExt cx="12192000" cy="415497"/>
          </a:xfrm>
        </p:grpSpPr>
        <p:sp>
          <p:nvSpPr>
            <p:cNvPr id="2" name="文本框 1"/>
            <p:cNvSpPr txBox="1"/>
            <p:nvPr/>
          </p:nvSpPr>
          <p:spPr>
            <a:xfrm>
              <a:off x="0" y="6477345"/>
              <a:ext cx="12192000" cy="40010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endParaRPr lang="zh-CN" altLang="en-US" dirty="0"/>
            </a:p>
          </p:txBody>
        </p:sp>
        <p:grpSp>
          <p:nvGrpSpPr>
            <p:cNvPr id="24" name="组合 23"/>
            <p:cNvGrpSpPr/>
            <p:nvPr/>
          </p:nvGrpSpPr>
          <p:grpSpPr>
            <a:xfrm>
              <a:off x="5284670" y="6492733"/>
              <a:ext cx="1843236" cy="400109"/>
              <a:chOff x="76140" y="6477345"/>
              <a:chExt cx="1947504" cy="400109"/>
            </a:xfrm>
          </p:grpSpPr>
          <p:pic>
            <p:nvPicPr>
              <p:cNvPr id="12" name="图片 11"/>
              <p:cNvPicPr>
                <a:picLocks noChangeAspect="1"/>
              </p:cNvPicPr>
              <p:nvPr/>
            </p:nvPicPr>
            <p:blipFill>
              <a:blip r:embed="rId2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140" y="6477345"/>
                <a:ext cx="400109" cy="400109"/>
              </a:xfrm>
              <a:prstGeom prst="rect">
                <a:avLst/>
              </a:prstGeom>
            </p:spPr>
          </p:pic>
          <p:pic>
            <p:nvPicPr>
              <p:cNvPr id="14" name="图片 13"/>
              <p:cNvPicPr>
                <a:picLocks noChangeAspect="1"/>
              </p:cNvPicPr>
              <p:nvPr/>
            </p:nvPicPr>
            <p:blipFill rotWithShape="1">
              <a:blip r:embed="rId3">
                <a:biLevel thresh="25000"/>
              </a:blip>
              <a:srcRect l="1" t="6582" r="-25334" b="26979"/>
              <a:stretch>
                <a:fillRect/>
              </a:stretch>
            </p:blipFill>
            <p:spPr>
              <a:xfrm rot="200163">
                <a:off x="414610" y="6477345"/>
                <a:ext cx="724874" cy="380655"/>
              </a:xfrm>
              <a:prstGeom prst="rect">
                <a:avLst/>
              </a:prstGeom>
            </p:spPr>
          </p:pic>
          <p:pic>
            <p:nvPicPr>
              <p:cNvPr id="16" name="图片 15"/>
              <p:cNvPicPr>
                <a:picLocks noChangeAspect="1"/>
              </p:cNvPicPr>
              <p:nvPr/>
            </p:nvPicPr>
            <p:blipFill rotWithShape="1">
              <a:blip r:embed="rId2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814" t="12432" r="55484" b="78542"/>
              <a:stretch>
                <a:fillRect/>
              </a:stretch>
            </p:blipFill>
            <p:spPr>
              <a:xfrm rot="1259126">
                <a:off x="895509" y="6508504"/>
                <a:ext cx="402920" cy="310802"/>
              </a:xfrm>
              <a:prstGeom prst="rect">
                <a:avLst/>
              </a:prstGeom>
            </p:spPr>
          </p:pic>
          <p:pic>
            <p:nvPicPr>
              <p:cNvPr id="20" name="图片 19"/>
              <p:cNvPicPr>
                <a:picLocks noChangeAspect="1"/>
              </p:cNvPicPr>
              <p:nvPr/>
            </p:nvPicPr>
            <p:blipFill rotWithShape="1">
              <a:blip r:embed="rId4"/>
              <a:srcRect t="-1" b="16526"/>
              <a:stretch>
                <a:fillRect/>
              </a:stretch>
            </p:blipFill>
            <p:spPr>
              <a:xfrm rot="436491">
                <a:off x="1256498" y="6481317"/>
                <a:ext cx="388026" cy="326437"/>
              </a:xfrm>
              <a:prstGeom prst="rect">
                <a:avLst/>
              </a:prstGeom>
            </p:spPr>
          </p:pic>
          <p:pic>
            <p:nvPicPr>
              <p:cNvPr id="23" name="图片 22"/>
              <p:cNvPicPr>
                <a:picLocks noChangeAspect="1"/>
              </p:cNvPicPr>
              <p:nvPr/>
            </p:nvPicPr>
            <p:blipFill rotWithShape="1">
              <a:blip r:embed="rId5"/>
              <a:srcRect t="18211" b="8984"/>
              <a:stretch>
                <a:fillRect/>
              </a:stretch>
            </p:blipFill>
            <p:spPr>
              <a:xfrm>
                <a:off x="1554468" y="6496881"/>
                <a:ext cx="469176" cy="341581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519"/>
    </mc:Choice>
    <mc:Fallback>
      <p:transition spd="slow" advTm="251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0" y="6477345"/>
            <a:ext cx="12192000" cy="40010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grpSp>
        <p:nvGrpSpPr>
          <p:cNvPr id="7" name="组合 6"/>
          <p:cNvGrpSpPr/>
          <p:nvPr/>
        </p:nvGrpSpPr>
        <p:grpSpPr>
          <a:xfrm>
            <a:off x="5284670" y="6492733"/>
            <a:ext cx="1843236" cy="400109"/>
            <a:chOff x="76140" y="6477345"/>
            <a:chExt cx="1947504" cy="400109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140" y="6477345"/>
              <a:ext cx="400109" cy="400109"/>
            </a:xfrm>
            <a:prstGeom prst="rect">
              <a:avLst/>
            </a:prstGeom>
          </p:spPr>
        </p:pic>
        <p:pic>
          <p:nvPicPr>
            <p:cNvPr id="9" name="图片 8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1" t="6582" r="-25334" b="26979"/>
            <a:stretch>
              <a:fillRect/>
            </a:stretch>
          </p:blipFill>
          <p:spPr>
            <a:xfrm>
              <a:off x="414611" y="6477345"/>
              <a:ext cx="724874" cy="380655"/>
            </a:xfrm>
            <a:prstGeom prst="rect">
              <a:avLst/>
            </a:prstGeom>
          </p:spPr>
        </p:pic>
        <p:pic>
          <p:nvPicPr>
            <p:cNvPr id="10" name="图片 9"/>
            <p:cNvPicPr>
              <a:picLocks noChangeAspect="1"/>
            </p:cNvPicPr>
            <p:nvPr/>
          </p:nvPicPr>
          <p:blipFill rotWithShape="1"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814" t="12432" r="55484" b="78542"/>
            <a:stretch>
              <a:fillRect/>
            </a:stretch>
          </p:blipFill>
          <p:spPr>
            <a:xfrm rot="1259126">
              <a:off x="895509" y="6508504"/>
              <a:ext cx="402920" cy="310802"/>
            </a:xfrm>
            <a:prstGeom prst="rect">
              <a:avLst/>
            </a:prstGeom>
          </p:spPr>
        </p:pic>
        <p:pic>
          <p:nvPicPr>
            <p:cNvPr id="11" name="图片 10"/>
            <p:cNvPicPr>
              <a:picLocks noChangeAspect="1"/>
            </p:cNvPicPr>
            <p:nvPr/>
          </p:nvPicPr>
          <p:blipFill rotWithShape="1">
            <a:blip r:embed="rId4"/>
            <a:srcRect t="-1" b="16526"/>
            <a:stretch>
              <a:fillRect/>
            </a:stretch>
          </p:blipFill>
          <p:spPr>
            <a:xfrm rot="589386">
              <a:off x="1256498" y="6481317"/>
              <a:ext cx="388026" cy="326437"/>
            </a:xfrm>
            <a:prstGeom prst="rect">
              <a:avLst/>
            </a:prstGeom>
          </p:spPr>
        </p:pic>
        <p:pic>
          <p:nvPicPr>
            <p:cNvPr id="12" name="图片 11"/>
            <p:cNvPicPr>
              <a:picLocks noChangeAspect="1"/>
            </p:cNvPicPr>
            <p:nvPr/>
          </p:nvPicPr>
          <p:blipFill rotWithShape="1">
            <a:blip r:embed="rId5"/>
            <a:srcRect t="18211" b="8984"/>
            <a:stretch>
              <a:fillRect/>
            </a:stretch>
          </p:blipFill>
          <p:spPr>
            <a:xfrm>
              <a:off x="1554468" y="6496881"/>
              <a:ext cx="469176" cy="341581"/>
            </a:xfrm>
            <a:prstGeom prst="rect">
              <a:avLst/>
            </a:prstGeom>
          </p:spPr>
        </p:pic>
      </p:grpSp>
      <p:cxnSp>
        <p:nvCxnSpPr>
          <p:cNvPr id="48" name="直接连接符 47"/>
          <p:cNvCxnSpPr/>
          <p:nvPr/>
        </p:nvCxnSpPr>
        <p:spPr>
          <a:xfrm>
            <a:off x="9678572" y="560438"/>
            <a:ext cx="2180493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图片 4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6517" y="67522"/>
            <a:ext cx="1291381" cy="580723"/>
          </a:xfrm>
          <a:prstGeom prst="rect">
            <a:avLst/>
          </a:prstGeom>
        </p:spPr>
      </p:pic>
      <p:sp>
        <p:nvSpPr>
          <p:cNvPr id="18" name="标题 17"/>
          <p:cNvSpPr>
            <a:spLocks noGrp="1"/>
          </p:cNvSpPr>
          <p:nvPr>
            <p:ph type="title"/>
          </p:nvPr>
        </p:nvSpPr>
        <p:spPr>
          <a:xfrm>
            <a:off x="95250" y="67310"/>
            <a:ext cx="3437255" cy="58102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>
            <a:norm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误差</a:t>
            </a:r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分析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80035" y="648335"/>
            <a:ext cx="11784965" cy="609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b="1">
                <a:latin typeface="Cambria Math" panose="02040503050406030204" charset="0"/>
                <a:cs typeface="Cambria Math" panose="02040503050406030204" charset="0"/>
              </a:rPr>
              <a:t>稀疏向后误差分析</a:t>
            </a:r>
            <a:endParaRPr lang="zh-CN" altLang="en-US" b="1">
              <a:latin typeface="Cambria Math" panose="02040503050406030204" charset="0"/>
              <a:cs typeface="Cambria Math" panose="0204050305040603020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310515" y="1167765"/>
                <a:ext cx="11612880" cy="3898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b="1"/>
                  <a:t>核心思想</a:t>
                </a:r>
                <a:r>
                  <a:rPr lang="zh-CN" altLang="en-US"/>
                  <a:t>：寻找微小的扰动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（</m:t>
                    </m:r>
                    <m:r>
                      <a:rPr lang="en-US" altLang="zh-CN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𝛿A</m:t>
                    </m:r>
                    <m:r>
                      <a:rPr lang="en-US" altLang="zh-CN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,</m:t>
                    </m:r>
                    <m:r>
                      <a:rPr lang="en-US" altLang="zh-CN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𝛿</m:t>
                    </m:r>
                    <m:r>
                      <a:rPr lang="en-US" altLang="zh-CN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𝑏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）</m:t>
                    </m:r>
                  </m:oMath>
                </a14:m>
                <a:r>
                  <a:rPr lang="zh-CN" altLang="en-US"/>
                  <a:t>使得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acc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zh-CN" altLang="en-US"/>
                  <a:t>是扰动系统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A+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𝛿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  <m:acc>
                      <m:accPr>
                        <m:chr m:val="̅"/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acc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</m:acc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𝑏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𝛿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𝑏</m:t>
                    </m:r>
                  </m:oMath>
                </a14:m>
                <a:r>
                  <a:rPr lang="en-US" altLang="zh-CN"/>
                  <a:t> </a:t>
                </a:r>
                <a:r>
                  <a:rPr lang="zh-CN" altLang="en-US"/>
                  <a:t>的精确解。</a:t>
                </a:r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15" y="1167765"/>
                <a:ext cx="11612880" cy="389890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图片 13" descr="QianJianTec176818741877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36645" y="1974215"/>
            <a:ext cx="4220210" cy="1304925"/>
          </a:xfrm>
          <a:prstGeom prst="rect">
            <a:avLst/>
          </a:prstGeom>
        </p:spPr>
      </p:pic>
      <p:pic>
        <p:nvPicPr>
          <p:cNvPr id="15" name="图片 14" descr="QianJianTec176818774367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4245" y="3596640"/>
            <a:ext cx="6339840" cy="13906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5111"/>
    </mc:Choice>
    <mc:Fallback>
      <p:transition spd="slow" advTm="3511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0" y="6477345"/>
            <a:ext cx="12192000" cy="40010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grpSp>
        <p:nvGrpSpPr>
          <p:cNvPr id="7" name="组合 6"/>
          <p:cNvGrpSpPr/>
          <p:nvPr/>
        </p:nvGrpSpPr>
        <p:grpSpPr>
          <a:xfrm>
            <a:off x="5284670" y="6492733"/>
            <a:ext cx="1843236" cy="400109"/>
            <a:chOff x="76140" y="6477345"/>
            <a:chExt cx="1947504" cy="400109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140" y="6477345"/>
              <a:ext cx="400109" cy="400109"/>
            </a:xfrm>
            <a:prstGeom prst="rect">
              <a:avLst/>
            </a:prstGeom>
          </p:spPr>
        </p:pic>
        <p:pic>
          <p:nvPicPr>
            <p:cNvPr id="9" name="图片 8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1" t="6582" r="-25334" b="26979"/>
            <a:stretch>
              <a:fillRect/>
            </a:stretch>
          </p:blipFill>
          <p:spPr>
            <a:xfrm>
              <a:off x="414611" y="6477345"/>
              <a:ext cx="724874" cy="380655"/>
            </a:xfrm>
            <a:prstGeom prst="rect">
              <a:avLst/>
            </a:prstGeom>
          </p:spPr>
        </p:pic>
        <p:pic>
          <p:nvPicPr>
            <p:cNvPr id="10" name="图片 9"/>
            <p:cNvPicPr>
              <a:picLocks noChangeAspect="1"/>
            </p:cNvPicPr>
            <p:nvPr/>
          </p:nvPicPr>
          <p:blipFill rotWithShape="1"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814" t="12432" r="55484" b="78542"/>
            <a:stretch>
              <a:fillRect/>
            </a:stretch>
          </p:blipFill>
          <p:spPr>
            <a:xfrm rot="1259126">
              <a:off x="895509" y="6508504"/>
              <a:ext cx="402920" cy="310802"/>
            </a:xfrm>
            <a:prstGeom prst="rect">
              <a:avLst/>
            </a:prstGeom>
          </p:spPr>
        </p:pic>
        <p:pic>
          <p:nvPicPr>
            <p:cNvPr id="11" name="图片 10"/>
            <p:cNvPicPr>
              <a:picLocks noChangeAspect="1"/>
            </p:cNvPicPr>
            <p:nvPr/>
          </p:nvPicPr>
          <p:blipFill rotWithShape="1">
            <a:blip r:embed="rId4"/>
            <a:srcRect t="-1" b="16526"/>
            <a:stretch>
              <a:fillRect/>
            </a:stretch>
          </p:blipFill>
          <p:spPr>
            <a:xfrm rot="589386">
              <a:off x="1256498" y="6481317"/>
              <a:ext cx="388026" cy="326437"/>
            </a:xfrm>
            <a:prstGeom prst="rect">
              <a:avLst/>
            </a:prstGeom>
          </p:spPr>
        </p:pic>
        <p:pic>
          <p:nvPicPr>
            <p:cNvPr id="12" name="图片 11"/>
            <p:cNvPicPr>
              <a:picLocks noChangeAspect="1"/>
            </p:cNvPicPr>
            <p:nvPr/>
          </p:nvPicPr>
          <p:blipFill rotWithShape="1">
            <a:blip r:embed="rId5"/>
            <a:srcRect t="18211" b="8984"/>
            <a:stretch>
              <a:fillRect/>
            </a:stretch>
          </p:blipFill>
          <p:spPr>
            <a:xfrm>
              <a:off x="1554468" y="6496881"/>
              <a:ext cx="469176" cy="341581"/>
            </a:xfrm>
            <a:prstGeom prst="rect">
              <a:avLst/>
            </a:prstGeom>
          </p:spPr>
        </p:pic>
      </p:grpSp>
      <p:cxnSp>
        <p:nvCxnSpPr>
          <p:cNvPr id="48" name="直接连接符 47"/>
          <p:cNvCxnSpPr/>
          <p:nvPr/>
        </p:nvCxnSpPr>
        <p:spPr>
          <a:xfrm>
            <a:off x="9678572" y="560438"/>
            <a:ext cx="2180493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图片 4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6517" y="67522"/>
            <a:ext cx="1291381" cy="580723"/>
          </a:xfrm>
          <a:prstGeom prst="rect">
            <a:avLst/>
          </a:prstGeom>
        </p:spPr>
      </p:pic>
      <p:sp>
        <p:nvSpPr>
          <p:cNvPr id="18" name="标题 17"/>
          <p:cNvSpPr>
            <a:spLocks noGrp="1"/>
          </p:cNvSpPr>
          <p:nvPr>
            <p:ph type="title"/>
          </p:nvPr>
        </p:nvSpPr>
        <p:spPr>
          <a:xfrm>
            <a:off x="95250" y="67310"/>
            <a:ext cx="3437255" cy="58102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>
            <a:norm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误差</a:t>
            </a:r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分析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2" name="图片 1" descr="QianJianTec176818813629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9940" y="3983990"/>
            <a:ext cx="5235575" cy="645160"/>
          </a:xfrm>
          <a:prstGeom prst="rect">
            <a:avLst/>
          </a:prstGeom>
        </p:spPr>
      </p:pic>
      <p:pic>
        <p:nvPicPr>
          <p:cNvPr id="3" name="图片 2" descr="QianJianTec176818831963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0440" y="5081270"/>
            <a:ext cx="8001000" cy="7727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本框 15"/>
              <p:cNvSpPr txBox="1"/>
              <p:nvPr/>
            </p:nvSpPr>
            <p:spPr>
              <a:xfrm>
                <a:off x="653415" y="824865"/>
                <a:ext cx="1139190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indent="0" fontAlgn="auto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𝜔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是针对大多数方程的标准放缩残差，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𝜔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是对于分母过于小的方程的一个修正。那么求解出来的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x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就是如下公式的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精确解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6" name="文本框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415" y="824865"/>
                <a:ext cx="11391900" cy="922020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图片 16" descr="QianJianTec176818913222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42335" y="1811020"/>
            <a:ext cx="4809490" cy="646430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561975" y="3036570"/>
            <a:ext cx="35585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其中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5111"/>
    </mc:Choice>
    <mc:Fallback>
      <p:transition spd="slow" advTm="3511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0" y="6477345"/>
            <a:ext cx="12192000" cy="40010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grpSp>
        <p:nvGrpSpPr>
          <p:cNvPr id="7" name="组合 6"/>
          <p:cNvGrpSpPr/>
          <p:nvPr/>
        </p:nvGrpSpPr>
        <p:grpSpPr>
          <a:xfrm>
            <a:off x="5284670" y="6492733"/>
            <a:ext cx="1843236" cy="400109"/>
            <a:chOff x="76140" y="6477345"/>
            <a:chExt cx="1947504" cy="400109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140" y="6477345"/>
              <a:ext cx="400109" cy="400109"/>
            </a:xfrm>
            <a:prstGeom prst="rect">
              <a:avLst/>
            </a:prstGeom>
          </p:spPr>
        </p:pic>
        <p:pic>
          <p:nvPicPr>
            <p:cNvPr id="9" name="图片 8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1" t="6582" r="-25334" b="26979"/>
            <a:stretch>
              <a:fillRect/>
            </a:stretch>
          </p:blipFill>
          <p:spPr>
            <a:xfrm>
              <a:off x="414611" y="6477345"/>
              <a:ext cx="724874" cy="380655"/>
            </a:xfrm>
            <a:prstGeom prst="rect">
              <a:avLst/>
            </a:prstGeom>
          </p:spPr>
        </p:pic>
        <p:pic>
          <p:nvPicPr>
            <p:cNvPr id="10" name="图片 9"/>
            <p:cNvPicPr>
              <a:picLocks noChangeAspect="1"/>
            </p:cNvPicPr>
            <p:nvPr/>
          </p:nvPicPr>
          <p:blipFill rotWithShape="1"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814" t="12432" r="55484" b="78542"/>
            <a:stretch>
              <a:fillRect/>
            </a:stretch>
          </p:blipFill>
          <p:spPr>
            <a:xfrm rot="1259126">
              <a:off x="895509" y="6508504"/>
              <a:ext cx="402920" cy="310802"/>
            </a:xfrm>
            <a:prstGeom prst="rect">
              <a:avLst/>
            </a:prstGeom>
          </p:spPr>
        </p:pic>
        <p:pic>
          <p:nvPicPr>
            <p:cNvPr id="11" name="图片 10"/>
            <p:cNvPicPr>
              <a:picLocks noChangeAspect="1"/>
            </p:cNvPicPr>
            <p:nvPr/>
          </p:nvPicPr>
          <p:blipFill rotWithShape="1">
            <a:blip r:embed="rId4"/>
            <a:srcRect t="-1" b="16526"/>
            <a:stretch>
              <a:fillRect/>
            </a:stretch>
          </p:blipFill>
          <p:spPr>
            <a:xfrm rot="589386">
              <a:off x="1256498" y="6481317"/>
              <a:ext cx="388026" cy="326437"/>
            </a:xfrm>
            <a:prstGeom prst="rect">
              <a:avLst/>
            </a:prstGeom>
          </p:spPr>
        </p:pic>
        <p:pic>
          <p:nvPicPr>
            <p:cNvPr id="12" name="图片 11"/>
            <p:cNvPicPr>
              <a:picLocks noChangeAspect="1"/>
            </p:cNvPicPr>
            <p:nvPr/>
          </p:nvPicPr>
          <p:blipFill rotWithShape="1">
            <a:blip r:embed="rId5"/>
            <a:srcRect t="18211" b="8984"/>
            <a:stretch>
              <a:fillRect/>
            </a:stretch>
          </p:blipFill>
          <p:spPr>
            <a:xfrm>
              <a:off x="1554468" y="6496881"/>
              <a:ext cx="469176" cy="341581"/>
            </a:xfrm>
            <a:prstGeom prst="rect">
              <a:avLst/>
            </a:prstGeom>
          </p:spPr>
        </p:pic>
      </p:grpSp>
      <p:cxnSp>
        <p:nvCxnSpPr>
          <p:cNvPr id="48" name="直接连接符 47"/>
          <p:cNvCxnSpPr/>
          <p:nvPr/>
        </p:nvCxnSpPr>
        <p:spPr>
          <a:xfrm>
            <a:off x="9678572" y="560438"/>
            <a:ext cx="2180493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图片 4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6517" y="67522"/>
            <a:ext cx="1291381" cy="580723"/>
          </a:xfrm>
          <a:prstGeom prst="rect">
            <a:avLst/>
          </a:prstGeom>
        </p:spPr>
      </p:pic>
      <p:sp>
        <p:nvSpPr>
          <p:cNvPr id="18" name="标题 17"/>
          <p:cNvSpPr>
            <a:spLocks noGrp="1"/>
          </p:cNvSpPr>
          <p:nvPr>
            <p:ph type="title"/>
          </p:nvPr>
        </p:nvSpPr>
        <p:spPr>
          <a:xfrm>
            <a:off x="95250" y="67310"/>
            <a:ext cx="3437255" cy="58102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>
            <a:norm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误差</a:t>
            </a:r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分析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80035" y="648335"/>
            <a:ext cx="11784965" cy="609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b="1">
                <a:latin typeface="Cambria Math" panose="02040503050406030204" charset="0"/>
                <a:cs typeface="Cambria Math" panose="02040503050406030204" charset="0"/>
              </a:rPr>
              <a:t>稀疏</a:t>
            </a:r>
            <a:r>
              <a:rPr lang="zh-CN" altLang="en-US" b="1">
                <a:latin typeface="Cambria Math" panose="02040503050406030204" charset="0"/>
                <a:cs typeface="Cambria Math" panose="02040503050406030204" charset="0"/>
              </a:rPr>
              <a:t>前向误差分析</a:t>
            </a:r>
            <a:endParaRPr lang="zh-CN" altLang="en-US" b="1">
              <a:latin typeface="Cambria Math" panose="02040503050406030204" charset="0"/>
              <a:cs typeface="Cambria Math" panose="020405030504060302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56235" y="1228725"/>
            <a:ext cx="113919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若要获得前向误差，</a:t>
            </a:r>
            <a:r>
              <a:rPr lang="en-US" altLang="zh-CN"/>
              <a:t>MUMPS</a:t>
            </a:r>
            <a:r>
              <a:rPr lang="zh-CN" altLang="en-US"/>
              <a:t>可以计算前向误差的一个上界，但需要很高的计算成本</a:t>
            </a:r>
            <a:r>
              <a:rPr lang="en-US" altLang="zh-CN"/>
              <a:t> </a:t>
            </a:r>
            <a:r>
              <a:rPr lang="zh-CN" altLang="en-US"/>
              <a:t>。计算公式</a:t>
            </a:r>
            <a:r>
              <a:rPr lang="zh-CN" altLang="en-US"/>
              <a:t>如下：</a:t>
            </a:r>
            <a:endParaRPr lang="zh-CN" altLang="en-US"/>
          </a:p>
        </p:txBody>
      </p:sp>
      <p:pic>
        <p:nvPicPr>
          <p:cNvPr id="3" name="图片 2" descr="QianJianTec17681982399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2094230"/>
            <a:ext cx="7202805" cy="144462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379095" y="3910965"/>
                <a:ext cx="1115568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其中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𝑐𝑜𝑛𝑑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/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𝑐𝑜𝑛𝑑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zh-CN" altLang="en-US"/>
                  <a:t>为与系统相关的条件数</a:t>
                </a:r>
                <a:r>
                  <a:rPr lang="en-US" altLang="zh-CN"/>
                  <a:t>,</a:t>
                </a:r>
                <a:r>
                  <a:rPr lang="zh-CN" altLang="en-US"/>
                  <a:t>计算成本</a:t>
                </a:r>
                <a:r>
                  <a:rPr lang="zh-CN" altLang="en-US"/>
                  <a:t>较大</a:t>
                </a:r>
                <a:endParaRPr lang="zh-CN" altLang="en-US"/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095" y="3910965"/>
                <a:ext cx="11155680" cy="368300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5111"/>
    </mc:Choice>
    <mc:Fallback>
      <p:transition spd="slow" advTm="3511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0" y="6477345"/>
            <a:ext cx="12192000" cy="40010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grpSp>
        <p:nvGrpSpPr>
          <p:cNvPr id="7" name="组合 6"/>
          <p:cNvGrpSpPr/>
          <p:nvPr/>
        </p:nvGrpSpPr>
        <p:grpSpPr>
          <a:xfrm>
            <a:off x="5284670" y="6492733"/>
            <a:ext cx="1843236" cy="400109"/>
            <a:chOff x="76140" y="6477345"/>
            <a:chExt cx="1947504" cy="400109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140" y="6477345"/>
              <a:ext cx="400109" cy="400109"/>
            </a:xfrm>
            <a:prstGeom prst="rect">
              <a:avLst/>
            </a:prstGeom>
          </p:spPr>
        </p:pic>
        <p:pic>
          <p:nvPicPr>
            <p:cNvPr id="9" name="图片 8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1" t="6582" r="-25334" b="26979"/>
            <a:stretch>
              <a:fillRect/>
            </a:stretch>
          </p:blipFill>
          <p:spPr>
            <a:xfrm>
              <a:off x="414611" y="6477345"/>
              <a:ext cx="724874" cy="380655"/>
            </a:xfrm>
            <a:prstGeom prst="rect">
              <a:avLst/>
            </a:prstGeom>
          </p:spPr>
        </p:pic>
        <p:pic>
          <p:nvPicPr>
            <p:cNvPr id="10" name="图片 9"/>
            <p:cNvPicPr>
              <a:picLocks noChangeAspect="1"/>
            </p:cNvPicPr>
            <p:nvPr/>
          </p:nvPicPr>
          <p:blipFill rotWithShape="1"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814" t="12432" r="55484" b="78542"/>
            <a:stretch>
              <a:fillRect/>
            </a:stretch>
          </p:blipFill>
          <p:spPr>
            <a:xfrm rot="1259126">
              <a:off x="895509" y="6508504"/>
              <a:ext cx="402920" cy="310802"/>
            </a:xfrm>
            <a:prstGeom prst="rect">
              <a:avLst/>
            </a:prstGeom>
          </p:spPr>
        </p:pic>
        <p:pic>
          <p:nvPicPr>
            <p:cNvPr id="11" name="图片 10"/>
            <p:cNvPicPr>
              <a:picLocks noChangeAspect="1"/>
            </p:cNvPicPr>
            <p:nvPr/>
          </p:nvPicPr>
          <p:blipFill rotWithShape="1">
            <a:blip r:embed="rId4"/>
            <a:srcRect t="-1" b="16526"/>
            <a:stretch>
              <a:fillRect/>
            </a:stretch>
          </p:blipFill>
          <p:spPr>
            <a:xfrm rot="589386">
              <a:off x="1256498" y="6481317"/>
              <a:ext cx="388026" cy="326437"/>
            </a:xfrm>
            <a:prstGeom prst="rect">
              <a:avLst/>
            </a:prstGeom>
          </p:spPr>
        </p:pic>
        <p:pic>
          <p:nvPicPr>
            <p:cNvPr id="12" name="图片 11"/>
            <p:cNvPicPr>
              <a:picLocks noChangeAspect="1"/>
            </p:cNvPicPr>
            <p:nvPr/>
          </p:nvPicPr>
          <p:blipFill rotWithShape="1">
            <a:blip r:embed="rId5"/>
            <a:srcRect t="18211" b="8984"/>
            <a:stretch>
              <a:fillRect/>
            </a:stretch>
          </p:blipFill>
          <p:spPr>
            <a:xfrm>
              <a:off x="1554468" y="6496881"/>
              <a:ext cx="469176" cy="341581"/>
            </a:xfrm>
            <a:prstGeom prst="rect">
              <a:avLst/>
            </a:prstGeom>
          </p:spPr>
        </p:pic>
      </p:grpSp>
      <p:cxnSp>
        <p:nvCxnSpPr>
          <p:cNvPr id="48" name="直接连接符 47"/>
          <p:cNvCxnSpPr/>
          <p:nvPr/>
        </p:nvCxnSpPr>
        <p:spPr>
          <a:xfrm>
            <a:off x="9678572" y="560438"/>
            <a:ext cx="2180493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图片 4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6517" y="67522"/>
            <a:ext cx="1291381" cy="580723"/>
          </a:xfrm>
          <a:prstGeom prst="rect">
            <a:avLst/>
          </a:prstGeom>
        </p:spPr>
      </p:pic>
      <p:sp>
        <p:nvSpPr>
          <p:cNvPr id="18" name="标题 17"/>
          <p:cNvSpPr>
            <a:spLocks noGrp="1"/>
          </p:cNvSpPr>
          <p:nvPr>
            <p:ph type="title"/>
          </p:nvPr>
        </p:nvSpPr>
        <p:spPr>
          <a:xfrm>
            <a:off x="95250" y="67310"/>
            <a:ext cx="3437255" cy="58102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>
            <a:norm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误差</a:t>
            </a:r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分析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80035" y="648335"/>
            <a:ext cx="11784965" cy="609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 b="1">
              <a:latin typeface="Cambria Math" panose="02040503050406030204" charset="0"/>
              <a:cs typeface="Cambria Math" panose="0204050305040603020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280035" y="931545"/>
                <a:ext cx="11490960" cy="2241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marL="342900" indent="-342900" fontAlgn="auto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CN" altLang="en-US"/>
                  <a:t>硬件求解：</a:t>
                </a:r>
                <a:r>
                  <a:rPr lang="en-US" altLang="zh-CN"/>
                  <a:t>LU</a:t>
                </a:r>
                <a:r>
                  <a:rPr lang="zh-CN" altLang="en-US"/>
                  <a:t>分解</a:t>
                </a:r>
                <a:r>
                  <a:rPr lang="en-US" altLang="zh-CN"/>
                  <a:t>+</a:t>
                </a:r>
                <a:r>
                  <a:rPr lang="zh-CN" altLang="en-US"/>
                  <a:t>三角求解</a:t>
                </a:r>
                <a:r>
                  <a:rPr lang="en-US" altLang="zh-CN"/>
                  <a:t>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charset="0"/>
                            <a:cs typeface="Cambria Math" panose="02040503050406030204" charset="0"/>
                          </a:rPr>
                          <m:t>x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</m:sub>
                    </m:sSub>
                  </m:oMath>
                </a14:m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marL="342900" indent="-342900" fontAlgn="auto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软件侧误差分析，使用双精度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(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更高的精度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)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计算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𝜔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，若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𝜔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𝑇ℎ𝑟𝑒𝑠ℎ𝑜𝑙𝑑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则直接输出解，否则进入迭代求精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阶段。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marL="342900" indent="-342900" fontAlgn="auto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软件侧计算残差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𝑏−𝐴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，计算动态放缩因子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，使得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r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’</m:t>
                        </m:r>
                      </m:sup>
                    </m:s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</m:oMath>
                </a14:m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.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将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r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’</m:t>
                        </m:r>
                      </m:sup>
                    </m:s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发送到硬件侧，复用之前分解得到的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LU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，求解得到修正向量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d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’</m:t>
                        </m:r>
                      </m:sup>
                    </m:sSup>
                  </m:oMath>
                </a14:m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.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软件侧计算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d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𝑑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’</m:t>
                        </m:r>
                      </m:sup>
                    </m:s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/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lang="en-US" altLang="zh-CN" i="1">
                    <a:latin typeface="Cambria Math" panose="02040503050406030204" charset="0"/>
                    <a:cs typeface="Cambria Math" panose="02040503050406030204" charset="0"/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𝑑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。然后回到第二步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循环。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035" y="931545"/>
                <a:ext cx="11490960" cy="2241550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5111"/>
    </mc:Choice>
    <mc:Fallback>
      <p:transition spd="slow" advTm="3511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0" y="6477345"/>
            <a:ext cx="12192000" cy="40010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grpSp>
        <p:nvGrpSpPr>
          <p:cNvPr id="7" name="组合 6"/>
          <p:cNvGrpSpPr/>
          <p:nvPr/>
        </p:nvGrpSpPr>
        <p:grpSpPr>
          <a:xfrm>
            <a:off x="5284670" y="6492733"/>
            <a:ext cx="1843236" cy="400109"/>
            <a:chOff x="76140" y="6477345"/>
            <a:chExt cx="1947504" cy="400109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140" y="6477345"/>
              <a:ext cx="400109" cy="400109"/>
            </a:xfrm>
            <a:prstGeom prst="rect">
              <a:avLst/>
            </a:prstGeom>
          </p:spPr>
        </p:pic>
        <p:pic>
          <p:nvPicPr>
            <p:cNvPr id="9" name="图片 8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1" t="6582" r="-25334" b="26979"/>
            <a:stretch>
              <a:fillRect/>
            </a:stretch>
          </p:blipFill>
          <p:spPr>
            <a:xfrm>
              <a:off x="414611" y="6477345"/>
              <a:ext cx="724874" cy="380655"/>
            </a:xfrm>
            <a:prstGeom prst="rect">
              <a:avLst/>
            </a:prstGeom>
          </p:spPr>
        </p:pic>
        <p:pic>
          <p:nvPicPr>
            <p:cNvPr id="10" name="图片 9"/>
            <p:cNvPicPr>
              <a:picLocks noChangeAspect="1"/>
            </p:cNvPicPr>
            <p:nvPr/>
          </p:nvPicPr>
          <p:blipFill rotWithShape="1"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814" t="12432" r="55484" b="78542"/>
            <a:stretch>
              <a:fillRect/>
            </a:stretch>
          </p:blipFill>
          <p:spPr>
            <a:xfrm rot="1259126">
              <a:off x="895509" y="6508504"/>
              <a:ext cx="402920" cy="310802"/>
            </a:xfrm>
            <a:prstGeom prst="rect">
              <a:avLst/>
            </a:prstGeom>
          </p:spPr>
        </p:pic>
        <p:pic>
          <p:nvPicPr>
            <p:cNvPr id="11" name="图片 10"/>
            <p:cNvPicPr>
              <a:picLocks noChangeAspect="1"/>
            </p:cNvPicPr>
            <p:nvPr/>
          </p:nvPicPr>
          <p:blipFill rotWithShape="1">
            <a:blip r:embed="rId4"/>
            <a:srcRect t="-1" b="16526"/>
            <a:stretch>
              <a:fillRect/>
            </a:stretch>
          </p:blipFill>
          <p:spPr>
            <a:xfrm rot="589386">
              <a:off x="1256498" y="6481317"/>
              <a:ext cx="388026" cy="326437"/>
            </a:xfrm>
            <a:prstGeom prst="rect">
              <a:avLst/>
            </a:prstGeom>
          </p:spPr>
        </p:pic>
        <p:pic>
          <p:nvPicPr>
            <p:cNvPr id="12" name="图片 11"/>
            <p:cNvPicPr>
              <a:picLocks noChangeAspect="1"/>
            </p:cNvPicPr>
            <p:nvPr/>
          </p:nvPicPr>
          <p:blipFill rotWithShape="1">
            <a:blip r:embed="rId5"/>
            <a:srcRect t="18211" b="8984"/>
            <a:stretch>
              <a:fillRect/>
            </a:stretch>
          </p:blipFill>
          <p:spPr>
            <a:xfrm>
              <a:off x="1554468" y="6496881"/>
              <a:ext cx="469176" cy="341581"/>
            </a:xfrm>
            <a:prstGeom prst="rect">
              <a:avLst/>
            </a:prstGeom>
          </p:spPr>
        </p:pic>
      </p:grpSp>
      <p:cxnSp>
        <p:nvCxnSpPr>
          <p:cNvPr id="48" name="直接连接符 47"/>
          <p:cNvCxnSpPr/>
          <p:nvPr/>
        </p:nvCxnSpPr>
        <p:spPr>
          <a:xfrm>
            <a:off x="9678572" y="560438"/>
            <a:ext cx="2180493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图片 4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6517" y="67522"/>
            <a:ext cx="1291381" cy="580723"/>
          </a:xfrm>
          <a:prstGeom prst="rect">
            <a:avLst/>
          </a:prstGeom>
        </p:spPr>
      </p:pic>
      <p:sp>
        <p:nvSpPr>
          <p:cNvPr id="18" name="标题 17"/>
          <p:cNvSpPr>
            <a:spLocks noGrp="1"/>
          </p:cNvSpPr>
          <p:nvPr>
            <p:ph type="title"/>
          </p:nvPr>
        </p:nvSpPr>
        <p:spPr>
          <a:xfrm>
            <a:off x="95250" y="67310"/>
            <a:ext cx="3437255" cy="58102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>
            <a:norm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数据结构</a:t>
            </a:r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定义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80035" y="648335"/>
            <a:ext cx="11784965" cy="609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 b="1">
              <a:latin typeface="Cambria Math" panose="02040503050406030204" charset="0"/>
              <a:cs typeface="Cambria Math" panose="0204050305040603020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0780" y="721360"/>
            <a:ext cx="7308215" cy="53079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5111"/>
    </mc:Choice>
    <mc:Fallback>
      <p:transition spd="slow" advTm="35111"/>
    </mc:Fallback>
  </mc:AlternateContent>
</p:sld>
</file>

<file path=ppt/tags/tag1.xml><?xml version="1.0" encoding="utf-8"?>
<p:tagLst xmlns:p="http://schemas.openxmlformats.org/presentationml/2006/main">
  <p:tag name="commondata" val="eyJoZGlkIjoiNDc0Zjg0ZDQ0ZTEzYjRjMjA2MTExNGFhZWE1NjM1NTM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487</Words>
  <Application>WPS 演示</Application>
  <PresentationFormat>宽屏</PresentationFormat>
  <Paragraphs>30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1" baseType="lpstr">
      <vt:lpstr>Arial</vt:lpstr>
      <vt:lpstr>宋体</vt:lpstr>
      <vt:lpstr>Wingdings</vt:lpstr>
      <vt:lpstr>黑体</vt:lpstr>
      <vt:lpstr>Wingdings</vt:lpstr>
      <vt:lpstr>Cambria Math</vt:lpstr>
      <vt:lpstr>等线</vt:lpstr>
      <vt:lpstr>微软雅黑</vt:lpstr>
      <vt:lpstr>Arial Unicode MS</vt:lpstr>
      <vt:lpstr>等线 Light</vt:lpstr>
      <vt:lpstr>Calibri</vt:lpstr>
      <vt:lpstr>MS Mincho</vt:lpstr>
      <vt:lpstr>Segoe Print</vt:lpstr>
      <vt:lpstr>Consolas</vt:lpstr>
      <vt:lpstr>Office 主题​​</vt:lpstr>
      <vt:lpstr>PowerPoint 演示文稿</vt:lpstr>
      <vt:lpstr>误差分析</vt:lpstr>
      <vt:lpstr>误差分析</vt:lpstr>
      <vt:lpstr>误差分析</vt:lpstr>
      <vt:lpstr>误差分析</vt:lpstr>
      <vt:lpstr>误差分析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陈仇恨</dc:creator>
  <cp:lastModifiedBy>hy1729</cp:lastModifiedBy>
  <cp:revision>95</cp:revision>
  <dcterms:created xsi:type="dcterms:W3CDTF">2019-03-01T00:58:00Z</dcterms:created>
  <dcterms:modified xsi:type="dcterms:W3CDTF">2026-01-12T09:13:29Z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0CCB02BE52D04D42A75728970E453E70_13</vt:lpwstr>
  </property>
  <property fmtid="{D5CDD505-2E9C-101B-9397-08002B2CF9AE}" pid="3" name="KSOProductBuildVer">
    <vt:lpwstr>2052-12.1.0.24034</vt:lpwstr>
  </property>
</Properties>
</file>