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83" r:id="rId4"/>
    <p:sldId id="281" r:id="rId5"/>
    <p:sldId id="282" r:id="rId6"/>
    <p:sldId id="275" r:id="rId7"/>
    <p:sldId id="278" r:id="rId8"/>
    <p:sldId id="280" r:id="rId9"/>
    <p:sldId id="284" r:id="rId10"/>
    <p:sldId id="285" r:id="rId11"/>
    <p:sldId id="286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B4C7E7"/>
    <a:srgbClr val="1F4E79"/>
    <a:srgbClr val="FFC000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71" autoAdjust="0"/>
    <p:restoredTop sz="94280" autoAdjust="0"/>
  </p:normalViewPr>
  <p:slideViewPr>
    <p:cSldViewPr snapToGrid="0" showGuides="1">
      <p:cViewPr varScale="1">
        <p:scale>
          <a:sx n="86" d="100"/>
          <a:sy n="86" d="100"/>
        </p:scale>
        <p:origin x="355" y="58"/>
      </p:cViewPr>
      <p:guideLst>
        <p:guide orient="horz" pos="2160"/>
        <p:guide pos="390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DA310-47E1-49A4-B032-28C3254EC44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CC421-4391-48F1-A112-9BD0381E515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670685" y="3220720"/>
            <a:ext cx="8693150" cy="610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kern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稀疏矩阵</a:t>
            </a:r>
            <a:r>
              <a:rPr lang="zh-CN" altLang="en-US" sz="4400" kern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求解</a:t>
            </a:r>
            <a:endParaRPr lang="zh-CN" altLang="en-US" sz="4400" kern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7753"/>
            <a:ext cx="12192000" cy="2655405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0" y="6477345"/>
            <a:ext cx="12192000" cy="415497"/>
            <a:chOff x="0" y="6477345"/>
            <a:chExt cx="12192000" cy="415497"/>
          </a:xfrm>
        </p:grpSpPr>
        <p:sp>
          <p:nvSpPr>
            <p:cNvPr id="2" name="文本框 1"/>
            <p:cNvSpPr txBox="1"/>
            <p:nvPr/>
          </p:nvSpPr>
          <p:spPr>
            <a:xfrm>
              <a:off x="0" y="6477345"/>
              <a:ext cx="12192000" cy="400109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zh-CN" altLang="en-US" dirty="0"/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5284670" y="6492733"/>
              <a:ext cx="1843236" cy="400109"/>
              <a:chOff x="76140" y="6477345"/>
              <a:chExt cx="1947504" cy="400109"/>
            </a:xfrm>
          </p:grpSpPr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2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140" y="6477345"/>
                <a:ext cx="400109" cy="400109"/>
              </a:xfrm>
              <a:prstGeom prst="rect">
                <a:avLst/>
              </a:prstGeom>
            </p:spPr>
          </p:pic>
          <p:pic>
            <p:nvPicPr>
              <p:cNvPr id="14" name="图片 13"/>
              <p:cNvPicPr>
                <a:picLocks noChangeAspect="1"/>
              </p:cNvPicPr>
              <p:nvPr/>
            </p:nvPicPr>
            <p:blipFill rotWithShape="1">
              <a:blip r:embed="rId3">
                <a:biLevel thresh="25000"/>
              </a:blip>
              <a:srcRect l="1" t="6582" r="-25334" b="26979"/>
              <a:stretch>
                <a:fillRect/>
              </a:stretch>
            </p:blipFill>
            <p:spPr>
              <a:xfrm rot="200163">
                <a:off x="414610" y="6477345"/>
                <a:ext cx="724874" cy="380655"/>
              </a:xfrm>
              <a:prstGeom prst="rect">
                <a:avLst/>
              </a:prstGeom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 rotWithShape="1">
              <a:blip r:embed="rId2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814" t="12432" r="55484" b="78542"/>
              <a:stretch>
                <a:fillRect/>
              </a:stretch>
            </p:blipFill>
            <p:spPr>
              <a:xfrm rot="1259126">
                <a:off x="895509" y="6508504"/>
                <a:ext cx="402920" cy="310802"/>
              </a:xfrm>
              <a:prstGeom prst="rect">
                <a:avLst/>
              </a:prstGeom>
            </p:spPr>
          </p:pic>
          <p:pic>
            <p:nvPicPr>
              <p:cNvPr id="20" name="图片 19"/>
              <p:cNvPicPr>
                <a:picLocks noChangeAspect="1"/>
              </p:cNvPicPr>
              <p:nvPr/>
            </p:nvPicPr>
            <p:blipFill rotWithShape="1">
              <a:blip r:embed="rId4"/>
              <a:srcRect t="-1" b="16526"/>
              <a:stretch>
                <a:fillRect/>
              </a:stretch>
            </p:blipFill>
            <p:spPr>
              <a:xfrm rot="436491">
                <a:off x="1256498" y="6481317"/>
                <a:ext cx="388026" cy="326437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 rotWithShape="1">
              <a:blip r:embed="rId5"/>
              <a:srcRect t="18211" b="8984"/>
              <a:stretch>
                <a:fillRect/>
              </a:stretch>
            </p:blipFill>
            <p:spPr>
              <a:xfrm>
                <a:off x="1554468" y="6496881"/>
                <a:ext cx="469176" cy="34158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19"/>
    </mc:Choice>
    <mc:Fallback>
      <p:transition spd="slow" advTm="25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GCU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全局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控制器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 descr="GCU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0170" y="648335"/>
            <a:ext cx="8862060" cy="5407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数据结构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0035" y="648335"/>
            <a:ext cx="1178496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>
              <a:latin typeface="Cambria Math" panose="02040503050406030204" charset="0"/>
              <a:cs typeface="Cambria Math" panose="0204050305040603020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9815" y="729615"/>
            <a:ext cx="6852920" cy="5534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误差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0035" y="648335"/>
            <a:ext cx="1178496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Cambria Math" panose="02040503050406030204" charset="0"/>
                <a:cs typeface="Cambria Math" panose="02040503050406030204" charset="0"/>
              </a:rPr>
              <a:t>稀疏向后误差分析</a:t>
            </a:r>
            <a:endParaRPr lang="zh-CN" altLang="en-US" b="1">
              <a:latin typeface="Cambria Math" panose="02040503050406030204" charset="0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10515" y="1167765"/>
                <a:ext cx="11612880" cy="389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b="1"/>
                  <a:t>核心思想</a:t>
                </a:r>
                <a:r>
                  <a:rPr lang="zh-CN" altLang="en-US"/>
                  <a:t>：寻找微小的扰动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（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）</m:t>
                    </m:r>
                  </m:oMath>
                </a14:m>
                <a:r>
                  <a:rPr lang="zh-CN" altLang="en-US"/>
                  <a:t>使得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/>
                  <a:t>是扰动系统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acc>
                      <m:accPr>
                        <m:chr m:val="̅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</m:acc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𝛿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</m:t>
                    </m:r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的精确解。</a:t>
                </a:r>
                <a:endParaRPr lang="zh-CN" altLang="en-US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15" y="1167765"/>
                <a:ext cx="11612880" cy="38989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 descr="QianJianTec176818741877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6645" y="1974215"/>
            <a:ext cx="4220210" cy="1304925"/>
          </a:xfrm>
          <a:prstGeom prst="rect">
            <a:avLst/>
          </a:prstGeom>
        </p:spPr>
      </p:pic>
      <p:pic>
        <p:nvPicPr>
          <p:cNvPr id="15" name="图片 14" descr="QianJianTec176818774367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4245" y="3596640"/>
            <a:ext cx="6339840" cy="1390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误差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 descr="QianJianTec176818813629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9940" y="3983990"/>
            <a:ext cx="5235575" cy="645160"/>
          </a:xfrm>
          <a:prstGeom prst="rect">
            <a:avLst/>
          </a:prstGeom>
        </p:spPr>
      </p:pic>
      <p:pic>
        <p:nvPicPr>
          <p:cNvPr id="3" name="图片 2" descr="QianJianTec17681883196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0440" y="5081270"/>
            <a:ext cx="8001000" cy="7727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653415" y="824865"/>
                <a:ext cx="1139190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是针对大多数方程的标准放缩残差，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是对于分母过于小的方程的一个修正。那么求解出来的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x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就是如下公式的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精确解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15" y="824865"/>
                <a:ext cx="11391900" cy="92202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 descr="QianJianTec17681891322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2335" y="1811020"/>
            <a:ext cx="4809490" cy="64643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61975" y="3036570"/>
            <a:ext cx="3558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其中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误差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0035" y="648335"/>
            <a:ext cx="1178496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Cambria Math" panose="02040503050406030204" charset="0"/>
                <a:cs typeface="Cambria Math" panose="02040503050406030204" charset="0"/>
              </a:rPr>
              <a:t>稀疏</a:t>
            </a:r>
            <a:r>
              <a:rPr lang="zh-CN" altLang="en-US" b="1">
                <a:latin typeface="Cambria Math" panose="02040503050406030204" charset="0"/>
                <a:cs typeface="Cambria Math" panose="02040503050406030204" charset="0"/>
              </a:rPr>
              <a:t>前向误差分析</a:t>
            </a:r>
            <a:endParaRPr lang="zh-CN" altLang="en-US" b="1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6235" y="1228725"/>
            <a:ext cx="1139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若要获得前向误差，</a:t>
            </a:r>
            <a:r>
              <a:rPr lang="en-US" altLang="zh-CN"/>
              <a:t>MUMPS</a:t>
            </a:r>
            <a:r>
              <a:rPr lang="zh-CN" altLang="en-US"/>
              <a:t>可以计算前向误差的一个上界，但需要很高的计算成本</a:t>
            </a:r>
            <a:r>
              <a:rPr lang="en-US" altLang="zh-CN"/>
              <a:t> </a:t>
            </a:r>
            <a:r>
              <a:rPr lang="zh-CN" altLang="en-US"/>
              <a:t>。计算公式</a:t>
            </a:r>
            <a:r>
              <a:rPr lang="zh-CN" altLang="en-US"/>
              <a:t>如下：</a:t>
            </a:r>
            <a:endParaRPr lang="zh-CN" altLang="en-US"/>
          </a:p>
        </p:txBody>
      </p:sp>
      <p:pic>
        <p:nvPicPr>
          <p:cNvPr id="3" name="图片 2" descr="QianJianTec17681982399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2094230"/>
            <a:ext cx="7202805" cy="14446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379095" y="3910965"/>
                <a:ext cx="111556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其中</a:t>
                </a:r>
                <a:r>
                  <a:rPr lang="en-US" altLang="zh-CN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𝑐𝑜𝑛𝑑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𝑐𝑜𝑛𝑑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/>
                  <a:t>为与系统相关的条件数</a:t>
                </a:r>
                <a:r>
                  <a:rPr lang="en-US" altLang="zh-CN"/>
                  <a:t>,</a:t>
                </a:r>
                <a:r>
                  <a:rPr lang="zh-CN" altLang="en-US"/>
                  <a:t>计算成本</a:t>
                </a:r>
                <a:r>
                  <a:rPr lang="zh-CN" altLang="en-US"/>
                  <a:t>较大</a:t>
                </a:r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95" y="3910965"/>
                <a:ext cx="11155680" cy="36830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误差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0035" y="648335"/>
            <a:ext cx="1178496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>
              <a:latin typeface="Cambria Math" panose="02040503050406030204" charset="0"/>
              <a:cs typeface="Cambria Math" panose="02040503050406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80035" y="931545"/>
                <a:ext cx="11490960" cy="2241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 fontAlgn="auto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/>
                  <a:t>硬件求解：</a:t>
                </a:r>
                <a:r>
                  <a:rPr lang="en-US" altLang="zh-CN"/>
                  <a:t>LU</a:t>
                </a:r>
                <a:r>
                  <a:rPr lang="zh-CN" altLang="en-US"/>
                  <a:t>分解</a:t>
                </a:r>
                <a:r>
                  <a:rPr lang="en-US" altLang="zh-CN"/>
                  <a:t>+</a:t>
                </a:r>
                <a:r>
                  <a:rPr lang="zh-CN" altLang="en-US"/>
                  <a:t>三角求解</a:t>
                </a:r>
                <a:r>
                  <a:rPr lang="en-US" altLang="zh-CN"/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  <m:t>x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 fontAlgn="auto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软件侧误差分析，使用双精度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(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更高的精度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)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𝑇ℎ𝑟𝑒𝑠ℎ𝑜𝑙𝑑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则直接输出解，否则进入迭代求精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阶段。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 fontAlgn="auto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软件侧计算残差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𝑏−𝐴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，计算动态放缩因子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，使得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.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r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发送到硬件侧，复用之前分解得到的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LU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，求解得到修正向量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d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.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软件侧计算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d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/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𝑑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。然后回到第二步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循环。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35" y="931545"/>
                <a:ext cx="11490960" cy="224155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数据流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2250" y="920750"/>
            <a:ext cx="11748135" cy="304609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>
                <a:latin typeface="+mn-ea"/>
                <a:cs typeface="+mn-ea"/>
              </a:rPr>
              <a:t>第一阶段</a:t>
            </a:r>
            <a:endParaRPr lang="zh-CN" altLang="en-US" sz="1600" b="1">
              <a:latin typeface="+mn-ea"/>
              <a:cs typeface="+mn-ea"/>
            </a:endParaRPr>
          </a:p>
          <a:p>
            <a:pPr indent="0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1600">
                <a:latin typeface="+mn-ea"/>
                <a:cs typeface="+mn-ea"/>
              </a:rPr>
              <a:t>由</a:t>
            </a:r>
            <a:r>
              <a:rPr lang="en-US" altLang="zh-CN" sz="1600">
                <a:latin typeface="+mn-ea"/>
                <a:cs typeface="+mn-ea"/>
              </a:rPr>
              <a:t> CPU </a:t>
            </a:r>
            <a:r>
              <a:rPr lang="zh-CN" altLang="en-US" sz="1600">
                <a:latin typeface="+mn-ea"/>
                <a:cs typeface="+mn-ea"/>
              </a:rPr>
              <a:t>负责，核心目标是将不规则的稀疏结构转化为硬件可执行的规则任务。</a:t>
            </a:r>
            <a:endParaRPr lang="zh-CN" altLang="en-US" sz="1600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1600">
                <a:latin typeface="+mn-ea"/>
                <a:cs typeface="+mn-ea"/>
              </a:rPr>
              <a:t>输入解析</a:t>
            </a:r>
            <a:r>
              <a:rPr lang="en-US" altLang="zh-CN" sz="1600">
                <a:latin typeface="+mn-ea"/>
                <a:cs typeface="+mn-ea"/>
              </a:rPr>
              <a:t> :</a:t>
            </a:r>
            <a:r>
              <a:rPr lang="zh-CN" altLang="en-US" sz="1600">
                <a:latin typeface="+mn-ea"/>
                <a:cs typeface="+mn-ea"/>
              </a:rPr>
              <a:t>读取原始稀疏矩阵</a:t>
            </a:r>
            <a:r>
              <a:rPr lang="en-US" altLang="zh-CN" sz="1600">
                <a:latin typeface="+mn-ea"/>
                <a:cs typeface="+mn-ea"/>
              </a:rPr>
              <a:t>A</a:t>
            </a:r>
            <a:r>
              <a:rPr lang="zh-CN" altLang="en-US" sz="1600">
                <a:latin typeface="+mn-ea"/>
                <a:cs typeface="+mn-ea"/>
              </a:rPr>
              <a:t>和向量</a:t>
            </a:r>
            <a:r>
              <a:rPr lang="en-US" altLang="zh-CN" sz="1600">
                <a:latin typeface="+mn-ea"/>
                <a:cs typeface="+mn-ea"/>
              </a:rPr>
              <a:t>b</a:t>
            </a:r>
            <a:r>
              <a:rPr lang="zh-CN" altLang="en-US" sz="1600">
                <a:latin typeface="+mn-ea"/>
                <a:cs typeface="+mn-ea"/>
              </a:rPr>
              <a:t>。</a:t>
            </a:r>
            <a:endParaRPr lang="zh-CN" altLang="en-US" sz="1600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1600">
                <a:latin typeface="+mn-ea"/>
                <a:cs typeface="+mn-ea"/>
              </a:rPr>
              <a:t>符号分析</a:t>
            </a:r>
            <a:r>
              <a:rPr lang="en-US" altLang="zh-CN" sz="1600">
                <a:latin typeface="+mn-ea"/>
                <a:cs typeface="+mn-ea"/>
              </a:rPr>
              <a:t> :</a:t>
            </a:r>
            <a:r>
              <a:rPr lang="zh-CN" altLang="en-US" sz="1600">
                <a:latin typeface="+mn-ea"/>
                <a:cs typeface="+mn-ea"/>
              </a:rPr>
              <a:t>执行</a:t>
            </a:r>
            <a:r>
              <a:rPr lang="en-US" altLang="zh-CN" sz="1600">
                <a:latin typeface="+mn-ea"/>
                <a:cs typeface="+mn-ea"/>
              </a:rPr>
              <a:t> AMD </a:t>
            </a:r>
            <a:r>
              <a:rPr lang="zh-CN" altLang="en-US" sz="1600">
                <a:latin typeface="+mn-ea"/>
                <a:cs typeface="+mn-ea"/>
              </a:rPr>
              <a:t>重排减少填充元。构建</a:t>
            </a:r>
            <a:r>
              <a:rPr lang="en-US" altLang="zh-CN" sz="1600">
                <a:latin typeface="+mn-ea"/>
                <a:cs typeface="+mn-ea"/>
              </a:rPr>
              <a:t> </a:t>
            </a:r>
            <a:r>
              <a:rPr lang="zh-CN" altLang="en-US" sz="1600">
                <a:latin typeface="+mn-ea"/>
                <a:cs typeface="+mn-ea"/>
              </a:rPr>
              <a:t>消解树</a:t>
            </a:r>
            <a:r>
              <a:rPr lang="en-US" altLang="zh-CN" sz="1600">
                <a:latin typeface="+mn-ea"/>
                <a:cs typeface="+mn-ea"/>
              </a:rPr>
              <a:t> (Elimination Tree) </a:t>
            </a:r>
            <a:r>
              <a:rPr lang="zh-CN" altLang="en-US" sz="1600">
                <a:latin typeface="+mn-ea"/>
                <a:cs typeface="+mn-ea"/>
              </a:rPr>
              <a:t>并识别超节点</a:t>
            </a:r>
            <a:r>
              <a:rPr lang="en-US" altLang="zh-CN" sz="1600">
                <a:latin typeface="+mn-ea"/>
                <a:cs typeface="+mn-ea"/>
              </a:rPr>
              <a:t> (Supernodes)</a:t>
            </a:r>
            <a:r>
              <a:rPr lang="zh-CN" altLang="en-US" sz="1600">
                <a:latin typeface="+mn-ea"/>
                <a:cs typeface="+mn-ea"/>
              </a:rPr>
              <a:t>。</a:t>
            </a:r>
            <a:endParaRPr lang="zh-CN" altLang="en-US" sz="1600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1600">
                <a:latin typeface="+mn-ea"/>
                <a:cs typeface="+mn-ea"/>
              </a:rPr>
              <a:t>静态预测：提前计算所有非零元的最终位置，生成映射表</a:t>
            </a:r>
            <a:r>
              <a:rPr lang="en-US" altLang="zh-CN" sz="1600">
                <a:latin typeface="+mn-ea"/>
                <a:cs typeface="+mn-ea"/>
              </a:rPr>
              <a:t> (Map Table)</a:t>
            </a:r>
            <a:r>
              <a:rPr lang="zh-CN" altLang="en-US" sz="1600">
                <a:latin typeface="+mn-ea"/>
                <a:cs typeface="+mn-ea"/>
              </a:rPr>
              <a:t>。</a:t>
            </a:r>
            <a:endParaRPr lang="zh-CN" altLang="en-US" sz="1600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1600">
                <a:latin typeface="+mn-ea"/>
                <a:cs typeface="+mn-ea"/>
              </a:rPr>
              <a:t>内存布局</a:t>
            </a:r>
            <a:r>
              <a:rPr lang="en-US" altLang="zh-CN" sz="1600">
                <a:latin typeface="+mn-ea"/>
                <a:cs typeface="+mn-ea"/>
              </a:rPr>
              <a:t>:</a:t>
            </a:r>
            <a:r>
              <a:rPr lang="zh-CN" altLang="en-US" sz="1600">
                <a:latin typeface="+mn-ea"/>
                <a:cs typeface="+mn-ea"/>
              </a:rPr>
              <a:t>在</a:t>
            </a:r>
            <a:r>
              <a:rPr lang="en-US" altLang="zh-CN" sz="1600">
                <a:latin typeface="+mn-ea"/>
                <a:cs typeface="+mn-ea"/>
              </a:rPr>
              <a:t> DDR </a:t>
            </a:r>
            <a:r>
              <a:rPr lang="zh-CN" altLang="en-US" sz="1600">
                <a:latin typeface="+mn-ea"/>
                <a:cs typeface="+mn-ea"/>
              </a:rPr>
              <a:t>中预分配每个节点的内存空间。将原始矩阵</a:t>
            </a:r>
            <a:r>
              <a:rPr lang="en-US" altLang="zh-CN" sz="1600">
                <a:latin typeface="+mn-ea"/>
                <a:cs typeface="+mn-ea"/>
              </a:rPr>
              <a:t> A</a:t>
            </a:r>
            <a:r>
              <a:rPr lang="zh-CN" altLang="en-US" sz="1600">
                <a:latin typeface="+mn-ea"/>
                <a:cs typeface="+mn-ea"/>
              </a:rPr>
              <a:t>的数值直接填入对应节点的存储区（作为</a:t>
            </a:r>
            <a:r>
              <a:rPr lang="en-US" altLang="zh-CN" sz="1600">
                <a:latin typeface="+mn-ea"/>
                <a:cs typeface="+mn-ea"/>
              </a:rPr>
              <a:t> Scatter-Add </a:t>
            </a:r>
            <a:r>
              <a:rPr lang="zh-CN" altLang="en-US" sz="1600">
                <a:latin typeface="+mn-ea"/>
                <a:cs typeface="+mn-ea"/>
              </a:rPr>
              <a:t>的底板）。</a:t>
            </a:r>
            <a:endParaRPr lang="zh-CN" altLang="en-US" sz="1600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1600">
                <a:latin typeface="+mn-ea"/>
                <a:cs typeface="+mn-ea"/>
              </a:rPr>
              <a:t>任务生成</a:t>
            </a:r>
            <a:r>
              <a:rPr lang="en-US" altLang="zh-CN" sz="1600">
                <a:latin typeface="+mn-ea"/>
                <a:cs typeface="+mn-ea"/>
              </a:rPr>
              <a:t> :</a:t>
            </a:r>
            <a:r>
              <a:rPr lang="zh-CN" altLang="en-US" sz="1600">
                <a:latin typeface="+mn-ea"/>
                <a:cs typeface="+mn-ea"/>
              </a:rPr>
              <a:t>生成包含地址、维度、依赖关系的</a:t>
            </a:r>
            <a:r>
              <a:rPr lang="en-US" altLang="zh-CN" sz="1600">
                <a:latin typeface="+mn-ea"/>
                <a:cs typeface="+mn-ea"/>
              </a:rPr>
              <a:t> Node_Task </a:t>
            </a:r>
            <a:r>
              <a:rPr lang="zh-CN" altLang="en-US" sz="1600">
                <a:latin typeface="+mn-ea"/>
                <a:cs typeface="+mn-ea"/>
              </a:rPr>
              <a:t>描述符。采用</a:t>
            </a:r>
            <a:r>
              <a:rPr lang="en-US" altLang="zh-CN" sz="1600">
                <a:latin typeface="+mn-ea"/>
                <a:cs typeface="+mn-ea"/>
              </a:rPr>
              <a:t> Sibling Scheduling </a:t>
            </a:r>
            <a:r>
              <a:rPr lang="zh-CN" altLang="en-US" sz="1600">
                <a:latin typeface="+mn-ea"/>
                <a:cs typeface="+mn-ea"/>
              </a:rPr>
              <a:t>策略对任务排序，写入</a:t>
            </a:r>
            <a:r>
              <a:rPr lang="en-US" altLang="zh-CN" sz="1600">
                <a:latin typeface="+mn-ea"/>
                <a:cs typeface="+mn-ea"/>
              </a:rPr>
              <a:t> DDR </a:t>
            </a:r>
            <a:r>
              <a:rPr lang="zh-CN" altLang="en-US" sz="1600">
                <a:latin typeface="+mn-ea"/>
                <a:cs typeface="+mn-ea"/>
              </a:rPr>
              <a:t>任务队列。</a:t>
            </a:r>
            <a:endParaRPr lang="zh-CN" altLang="en-US" sz="1600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数据流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22250" y="859790"/>
                <a:ext cx="11748135" cy="4526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indent="0" fontAlgn="auto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1600" b="1">
                    <a:latin typeface="+mn-ea"/>
                    <a:cs typeface="+mn-ea"/>
                  </a:rPr>
                  <a:t>第二阶段</a:t>
                </a:r>
                <a:endParaRPr lang="zh-CN" altLang="en-US" sz="1600" b="1">
                  <a:latin typeface="+mn-ea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Char char="l"/>
                </a:pPr>
                <a:r>
                  <a:rPr lang="zh-CN" altLang="en-US" sz="1600">
                    <a:latin typeface="+mn-ea"/>
                    <a:cs typeface="+mn-ea"/>
                  </a:rPr>
                  <a:t>任务获取</a:t>
                </a:r>
                <a:r>
                  <a:rPr lang="en-US" altLang="zh-CN" sz="1600">
                    <a:latin typeface="+mn-ea"/>
                    <a:cs typeface="+mn-ea"/>
                  </a:rPr>
                  <a:t> (Task Fetch):GCU </a:t>
                </a:r>
                <a:r>
                  <a:rPr lang="zh-CN" altLang="en-US" sz="1600">
                    <a:latin typeface="+mn-ea"/>
                    <a:cs typeface="+mn-ea"/>
                  </a:rPr>
                  <a:t>从</a:t>
                </a:r>
                <a:r>
                  <a:rPr lang="en-US" altLang="zh-CN" sz="1600">
                    <a:latin typeface="+mn-ea"/>
                    <a:cs typeface="+mn-ea"/>
                  </a:rPr>
                  <a:t> DDR </a:t>
                </a:r>
                <a:r>
                  <a:rPr lang="zh-CN" altLang="en-US" sz="1600">
                    <a:latin typeface="+mn-ea"/>
                    <a:cs typeface="+mn-ea"/>
                  </a:rPr>
                  <a:t>读取</a:t>
                </a:r>
                <a:r>
                  <a:rPr lang="en-US" altLang="zh-CN" sz="1600">
                    <a:latin typeface="+mn-ea"/>
                    <a:cs typeface="+mn-ea"/>
                  </a:rPr>
                  <a:t> Node_Task</a:t>
                </a:r>
                <a:r>
                  <a:rPr lang="zh-CN" altLang="en-US" sz="1600">
                    <a:latin typeface="+mn-ea"/>
                    <a:cs typeface="+mn-ea"/>
                  </a:rPr>
                  <a:t>。</a:t>
                </a:r>
                <a:endParaRPr lang="zh-CN" altLang="en-US" sz="1600">
                  <a:latin typeface="+mn-ea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Char char="l"/>
                </a:pPr>
                <a:r>
                  <a:rPr lang="zh-CN" altLang="en-US" sz="1600">
                    <a:latin typeface="+mn-ea"/>
                    <a:cs typeface="+mn-ea"/>
                  </a:rPr>
                  <a:t>依赖检查：确保当前任务的父节点数据安全，分配片上</a:t>
                </a:r>
                <a:r>
                  <a:rPr lang="en-US" altLang="zh-CN" sz="1600">
                    <a:latin typeface="+mn-ea"/>
                    <a:cs typeface="+mn-ea"/>
                  </a:rPr>
                  <a:t> Ping-Pong Buffer</a:t>
                </a:r>
                <a:r>
                  <a:rPr lang="zh-CN" altLang="en-US" sz="1600">
                    <a:latin typeface="+mn-ea"/>
                    <a:cs typeface="+mn-ea"/>
                  </a:rPr>
                  <a:t>。</a:t>
                </a:r>
                <a:endParaRPr lang="zh-CN" altLang="en-US" sz="1600">
                  <a:latin typeface="+mn-ea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Char char="l"/>
                </a:pPr>
                <a:r>
                  <a:rPr lang="zh-CN" altLang="en-US" sz="1600">
                    <a:latin typeface="+mn-ea"/>
                    <a:cs typeface="+mn-ea"/>
                  </a:rPr>
                  <a:t>数据加载</a:t>
                </a:r>
                <a:r>
                  <a:rPr lang="en-US" altLang="zh-CN" sz="1600">
                    <a:latin typeface="+mn-ea"/>
                    <a:cs typeface="+mn-ea"/>
                  </a:rPr>
                  <a:t> (Burst Load):DMA </a:t>
                </a:r>
                <a:r>
                  <a:rPr lang="zh-CN" altLang="en-US" sz="1600">
                    <a:latin typeface="+mn-ea"/>
                    <a:cs typeface="+mn-ea"/>
                  </a:rPr>
                  <a:t>将当前节点的波前矩阵（</a:t>
                </a:r>
                <a:r>
                  <a:rPr lang="en-US" altLang="zh-CN" sz="1600">
                    <a:latin typeface="+mn-ea"/>
                    <a:cs typeface="+mn-ea"/>
                  </a:rPr>
                  <a:t>Frontal Matrix</a:t>
                </a:r>
                <a:r>
                  <a:rPr lang="zh-CN" altLang="en-US" sz="1600">
                    <a:latin typeface="+mn-ea"/>
                    <a:cs typeface="+mn-ea"/>
                  </a:rPr>
                  <a:t>）从</a:t>
                </a:r>
                <a:r>
                  <a:rPr lang="en-US" altLang="zh-CN" sz="1600">
                    <a:latin typeface="+mn-ea"/>
                    <a:cs typeface="+mn-ea"/>
                  </a:rPr>
                  <a:t> DDR </a:t>
                </a:r>
                <a:r>
                  <a:rPr lang="zh-CN" altLang="en-US" sz="1600">
                    <a:latin typeface="+mn-ea"/>
                    <a:cs typeface="+mn-ea"/>
                  </a:rPr>
                  <a:t>搬运至片上</a:t>
                </a:r>
                <a:r>
                  <a:rPr lang="en-US" altLang="zh-CN" sz="1600">
                    <a:latin typeface="+mn-ea"/>
                    <a:cs typeface="+mn-ea"/>
                  </a:rPr>
                  <a:t> SRAM</a:t>
                </a:r>
                <a:r>
                  <a:rPr lang="zh-CN" altLang="en-US" sz="1600">
                    <a:latin typeface="+mn-ea"/>
                    <a:cs typeface="+mn-ea"/>
                  </a:rPr>
                  <a:t>。</a:t>
                </a:r>
                <a:endParaRPr lang="zh-CN" altLang="en-US" sz="1600">
                  <a:latin typeface="+mn-ea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Char char="l"/>
                </a:pPr>
                <a:r>
                  <a:rPr lang="zh-CN" altLang="en-US" sz="1600">
                    <a:latin typeface="+mn-ea"/>
                    <a:cs typeface="+mn-ea"/>
                  </a:rPr>
                  <a:t>微流水线计算</a:t>
                </a:r>
                <a:r>
                  <a:rPr lang="en-US" altLang="zh-CN" sz="1600">
                    <a:latin typeface="+mn-ea"/>
                    <a:cs typeface="+mn-ea"/>
                  </a:rPr>
                  <a:t> (Micro-Pipeline Compute):</a:t>
                </a:r>
                <a:endParaRPr lang="en-US" altLang="zh-CN" sz="1600">
                  <a:latin typeface="+mn-ea"/>
                  <a:cs typeface="+mn-ea"/>
                </a:endParaRPr>
              </a:p>
              <a:p>
                <a:pPr indent="45720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None/>
                </a:pPr>
                <a:r>
                  <a:rPr lang="en-US" altLang="zh-CN" sz="1600">
                    <a:latin typeface="+mn-ea"/>
                    <a:cs typeface="+mn-ea"/>
                  </a:rPr>
                  <a:t>HPU</a:t>
                </a:r>
                <a:r>
                  <a:rPr lang="zh-CN" altLang="en-US" sz="1600">
                    <a:latin typeface="+mn-ea"/>
                    <a:cs typeface="+mn-ea"/>
                  </a:rPr>
                  <a:t>：并行搜索主元（</a:t>
                </a:r>
                <a:r>
                  <a:rPr lang="en-US" altLang="zh-CN" sz="1600">
                    <a:latin typeface="+mn-ea"/>
                    <a:cs typeface="+mn-ea"/>
                  </a:rPr>
                  <a:t>Lookahead</a:t>
                </a:r>
                <a:r>
                  <a:rPr lang="zh-CN" altLang="en-US" sz="1600">
                    <a:latin typeface="+mn-ea"/>
                    <a:cs typeface="+mn-ea"/>
                  </a:rPr>
                  <a:t>），确定交换行</a:t>
                </a:r>
                <a:r>
                  <a:rPr lang="en-US" altLang="zh-CN" sz="1600">
                    <a:latin typeface="+mn-ea"/>
                    <a:cs typeface="+mn-ea"/>
                  </a:rPr>
                  <a:t>k</a:t>
                </a:r>
                <a:r>
                  <a:rPr lang="zh-CN" altLang="en-US" sz="1600">
                    <a:latin typeface="+mn-ea"/>
                    <a:cs typeface="+mn-ea"/>
                  </a:rPr>
                  <a:t>。</a:t>
                </a:r>
                <a:endParaRPr lang="zh-CN" altLang="en-US" sz="1600">
                  <a:latin typeface="+mn-ea"/>
                  <a:cs typeface="+mn-ea"/>
                </a:endParaRPr>
              </a:p>
              <a:p>
                <a:pPr indent="45720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None/>
                </a:pPr>
                <a:r>
                  <a:rPr lang="en-US" altLang="zh-CN" sz="1600">
                    <a:latin typeface="+mn-ea"/>
                    <a:cs typeface="+mn-ea"/>
                  </a:rPr>
                  <a:t>ATU</a:t>
                </a:r>
                <a:r>
                  <a:rPr lang="zh-CN" altLang="en-US" sz="1600">
                    <a:latin typeface="+mn-ea"/>
                    <a:cs typeface="+mn-ea"/>
                  </a:rPr>
                  <a:t>：执行逻辑行到物理行的</a:t>
                </a:r>
                <a:r>
                  <a:rPr lang="en-US" altLang="zh-CN" sz="1600">
                    <a:latin typeface="+mn-ea"/>
                    <a:cs typeface="+mn-ea"/>
                  </a:rPr>
                  <a:t> </a:t>
                </a:r>
                <a:r>
                  <a:rPr lang="zh-CN" altLang="en-US" sz="1600">
                    <a:latin typeface="+mn-ea"/>
                    <a:cs typeface="+mn-ea"/>
                  </a:rPr>
                  <a:t>零拷贝映射</a:t>
                </a:r>
                <a:r>
                  <a:rPr lang="en-US" altLang="zh-CN" sz="1600">
                    <a:latin typeface="+mn-ea"/>
                    <a:cs typeface="+mn-ea"/>
                  </a:rPr>
                  <a:t> (Zero-Copy Swap)</a:t>
                </a:r>
                <a:r>
                  <a:rPr lang="zh-CN" altLang="en-US" sz="1600">
                    <a:latin typeface="+mn-ea"/>
                    <a:cs typeface="+mn-ea"/>
                  </a:rPr>
                  <a:t>。</a:t>
                </a:r>
                <a:endParaRPr lang="zh-CN" altLang="en-US" sz="1600">
                  <a:latin typeface="+mn-ea"/>
                  <a:cs typeface="+mn-ea"/>
                </a:endParaRPr>
              </a:p>
              <a:p>
                <a:pPr indent="45720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None/>
                </a:pPr>
                <a:r>
                  <a:rPr lang="en-US" altLang="zh-CN" sz="1600">
                    <a:latin typeface="+mn-ea"/>
                    <a:cs typeface="+mn-ea"/>
                  </a:rPr>
                  <a:t>SFU</a:t>
                </a:r>
                <a:r>
                  <a:rPr lang="zh-CN" altLang="en-US" sz="1600">
                    <a:latin typeface="+mn-ea"/>
                    <a:cs typeface="+mn-ea"/>
                  </a:rPr>
                  <a:t>：计算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𝑝𝑖𝑣𝑜𝑡</m:t>
                        </m:r>
                      </m:sub>
                    </m:sSub>
                  </m:oMath>
                </a14:m>
                <a:r>
                  <a:rPr lang="zh-CN" altLang="en-US" sz="1600">
                    <a:latin typeface="+mn-ea"/>
                    <a:cs typeface="+mn-ea"/>
                  </a:rPr>
                  <a:t>的</a:t>
                </a:r>
                <a:r>
                  <a:rPr lang="en-US" altLang="zh-CN" sz="1600">
                    <a:latin typeface="+mn-ea"/>
                    <a:cs typeface="+mn-ea"/>
                  </a:rPr>
                  <a:t> L/U </a:t>
                </a:r>
                <a:r>
                  <a:rPr lang="zh-CN" altLang="en-US" sz="1600">
                    <a:latin typeface="+mn-ea"/>
                    <a:cs typeface="+mn-ea"/>
                  </a:rPr>
                  <a:t>因子及</a:t>
                </a:r>
                <a:r>
                  <a:rPr lang="en-US" altLang="zh-CN" sz="1600">
                    <a:latin typeface="+mn-ea"/>
                    <a:cs typeface="+mn-ea"/>
                  </a:rPr>
                  <a:t> TRSM</a:t>
                </a:r>
                <a:r>
                  <a:rPr lang="zh-CN" altLang="en-US" sz="1600">
                    <a:latin typeface="+mn-ea"/>
                    <a:cs typeface="+mn-ea"/>
                  </a:rPr>
                  <a:t>。</a:t>
                </a:r>
                <a:endParaRPr lang="zh-CN" altLang="en-US" sz="1600">
                  <a:latin typeface="+mn-ea"/>
                  <a:cs typeface="+mn-ea"/>
                </a:endParaRPr>
              </a:p>
              <a:p>
                <a:pPr indent="45720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None/>
                </a:pPr>
                <a:r>
                  <a:rPr lang="en-US" altLang="zh-CN" sz="1600">
                    <a:latin typeface="+mn-ea"/>
                    <a:cs typeface="+mn-ea"/>
                  </a:rPr>
                  <a:t>Tensor Core</a:t>
                </a:r>
                <a:r>
                  <a:rPr lang="zh-CN" altLang="en-US" sz="1600">
                    <a:latin typeface="+mn-ea"/>
                    <a:cs typeface="+mn-ea"/>
                  </a:rPr>
                  <a:t>：执行大规模</a:t>
                </a:r>
                <a:r>
                  <a:rPr lang="en-US" altLang="zh-CN" sz="1600">
                    <a:latin typeface="+mn-ea"/>
                    <a:cs typeface="+mn-ea"/>
                  </a:rPr>
                  <a:t> GEMM</a:t>
                </a:r>
                <a:r>
                  <a:rPr lang="zh-CN" altLang="en-US" sz="1600">
                    <a:latin typeface="+mn-ea"/>
                    <a:cs typeface="+mn-ea"/>
                  </a:rPr>
                  <a:t>，更新</a:t>
                </a:r>
                <a:r>
                  <a:rPr lang="zh-CN" altLang="en-US" sz="1600">
                    <a:latin typeface="+mn-ea"/>
                    <a:cs typeface="+mn-ea"/>
                  </a:rPr>
                  <a:t>舒尔补。</a:t>
                </a:r>
                <a:endParaRPr lang="zh-CN" altLang="en-US" sz="1600">
                  <a:latin typeface="+mn-ea"/>
                  <a:cs typeface="+mn-ea"/>
                </a:endParaRPr>
              </a:p>
              <a:p>
                <a:pPr marL="285750" indent="-28575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Char char="l"/>
                </a:pPr>
                <a:r>
                  <a:rPr lang="zh-CN" altLang="en-US" sz="1600">
                    <a:latin typeface="+mn-ea"/>
                    <a:cs typeface="+mn-ea"/>
                  </a:rPr>
                  <a:t>结果写回与装配</a:t>
                </a:r>
                <a:r>
                  <a:rPr lang="en-US" altLang="zh-CN" sz="1600">
                    <a:latin typeface="+mn-ea"/>
                    <a:cs typeface="+mn-ea"/>
                  </a:rPr>
                  <a:t> (Write-back &amp; Scatter):</a:t>
                </a:r>
                <a:endParaRPr lang="en-US" altLang="zh-CN" sz="1600">
                  <a:latin typeface="+mn-ea"/>
                  <a:cs typeface="+mn-ea"/>
                </a:endParaRPr>
              </a:p>
              <a:p>
                <a:pPr lvl="1" indent="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None/>
                </a:pPr>
                <a:r>
                  <a:rPr lang="en-US" altLang="zh-CN" sz="1600">
                    <a:latin typeface="+mn-ea"/>
                    <a:cs typeface="+mn-ea"/>
                  </a:rPr>
                  <a:t>L/U Store</a:t>
                </a:r>
                <a:r>
                  <a:rPr lang="zh-CN" altLang="en-US" sz="1600">
                    <a:latin typeface="+mn-ea"/>
                    <a:cs typeface="+mn-ea"/>
                  </a:rPr>
                  <a:t>：</a:t>
                </a:r>
                <a:r>
                  <a:rPr lang="en-US" altLang="zh-CN" sz="1600">
                    <a:latin typeface="+mn-ea"/>
                    <a:cs typeface="+mn-ea"/>
                  </a:rPr>
                  <a:t>DMA </a:t>
                </a:r>
                <a:r>
                  <a:rPr lang="zh-CN" altLang="en-US" sz="1600">
                    <a:latin typeface="+mn-ea"/>
                    <a:cs typeface="+mn-ea"/>
                  </a:rPr>
                  <a:t>将计算好的</a:t>
                </a:r>
                <a:r>
                  <a:rPr lang="en-US" altLang="zh-CN" sz="1600">
                    <a:latin typeface="+mn-ea"/>
                    <a:cs typeface="+mn-ea"/>
                  </a:rPr>
                  <a:t> L/U </a:t>
                </a:r>
                <a:r>
                  <a:rPr lang="zh-CN" altLang="en-US" sz="1600">
                    <a:latin typeface="+mn-ea"/>
                    <a:cs typeface="+mn-ea"/>
                  </a:rPr>
                  <a:t>因子写回</a:t>
                </a:r>
                <a:r>
                  <a:rPr lang="en-US" altLang="zh-CN" sz="1600">
                    <a:latin typeface="+mn-ea"/>
                    <a:cs typeface="+mn-ea"/>
                  </a:rPr>
                  <a:t> DDR </a:t>
                </a:r>
                <a:r>
                  <a:rPr lang="zh-CN" altLang="en-US" sz="1600">
                    <a:latin typeface="+mn-ea"/>
                    <a:cs typeface="+mn-ea"/>
                  </a:rPr>
                  <a:t>永久存储区。</a:t>
                </a:r>
                <a:endParaRPr lang="zh-CN" altLang="en-US" sz="1600">
                  <a:latin typeface="+mn-ea"/>
                  <a:cs typeface="+mn-ea"/>
                </a:endParaRPr>
              </a:p>
              <a:p>
                <a:pPr lvl="1" indent="0" fontAlgn="auto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charset="0"/>
                  <a:buNone/>
                </a:pPr>
                <a:r>
                  <a:rPr lang="zh-CN" altLang="en-US" sz="1600">
                    <a:latin typeface="+mn-ea"/>
                    <a:cs typeface="+mn-ea"/>
                  </a:rPr>
                  <a:t>隐式装配：</a:t>
                </a:r>
                <a:r>
                  <a:rPr lang="en-US" altLang="zh-CN" sz="1600">
                    <a:latin typeface="+mn-ea"/>
                    <a:cs typeface="+mn-ea"/>
                  </a:rPr>
                  <a:t>Scatter Engine </a:t>
                </a:r>
                <a:r>
                  <a:rPr lang="zh-CN" altLang="en-US" sz="1600">
                    <a:latin typeface="+mn-ea"/>
                    <a:cs typeface="+mn-ea"/>
                  </a:rPr>
                  <a:t>读取</a:t>
                </a:r>
                <a:r>
                  <a:rPr lang="zh-CN" altLang="en-US" sz="1600">
                    <a:latin typeface="+mn-ea"/>
                    <a:cs typeface="+mn-ea"/>
                  </a:rPr>
                  <a:t>引射表，将</a:t>
                </a:r>
                <a:r>
                  <a:rPr lang="en-US" altLang="zh-CN" sz="1600">
                    <a:latin typeface="+mn-ea"/>
                    <a:cs typeface="+mn-ea"/>
                  </a:rPr>
                  <a:t> Update Matrix </a:t>
                </a:r>
                <a:r>
                  <a:rPr lang="zh-CN" altLang="en-US" sz="1600">
                    <a:latin typeface="+mn-ea"/>
                    <a:cs typeface="+mn-ea"/>
                  </a:rPr>
                  <a:t>的数据累加</a:t>
                </a:r>
                <a:r>
                  <a:rPr lang="en-US" altLang="zh-CN" sz="1600">
                    <a:latin typeface="+mn-ea"/>
                    <a:cs typeface="+mn-ea"/>
                  </a:rPr>
                  <a:t> (Atomic Add) </a:t>
                </a:r>
                <a:r>
                  <a:rPr lang="zh-CN" altLang="en-US" sz="1600">
                    <a:latin typeface="+mn-ea"/>
                    <a:cs typeface="+mn-ea"/>
                  </a:rPr>
                  <a:t>到父节点在</a:t>
                </a:r>
                <a:r>
                  <a:rPr lang="en-US" altLang="zh-CN" sz="1600">
                    <a:latin typeface="+mn-ea"/>
                    <a:cs typeface="+mn-ea"/>
                  </a:rPr>
                  <a:t> DDR </a:t>
                </a:r>
                <a:r>
                  <a:rPr lang="zh-CN" altLang="en-US" sz="1600">
                    <a:latin typeface="+mn-ea"/>
                    <a:cs typeface="+mn-ea"/>
                  </a:rPr>
                  <a:t>中的地址空间。</a:t>
                </a:r>
                <a:endParaRPr lang="zh-CN" altLang="en-US" sz="1600">
                  <a:latin typeface="+mn-ea"/>
                  <a:cs typeface="+mn-ea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50" y="859790"/>
                <a:ext cx="11748135" cy="45262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6477345"/>
            <a:ext cx="12192000" cy="40010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5284670" y="6492733"/>
            <a:ext cx="1843236" cy="400109"/>
            <a:chOff x="76140" y="6477345"/>
            <a:chExt cx="1947504" cy="40010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0" y="6477345"/>
              <a:ext cx="400109" cy="40010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biLevel thresh="25000"/>
            </a:blip>
            <a:srcRect l="1" t="6582" r="-25334" b="26979"/>
            <a:stretch>
              <a:fillRect/>
            </a:stretch>
          </p:blipFill>
          <p:spPr>
            <a:xfrm>
              <a:off x="414611" y="6477345"/>
              <a:ext cx="724874" cy="380655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814" t="12432" r="55484" b="78542"/>
            <a:stretch>
              <a:fillRect/>
            </a:stretch>
          </p:blipFill>
          <p:spPr>
            <a:xfrm rot="1259126">
              <a:off x="895509" y="6508504"/>
              <a:ext cx="402920" cy="310802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4"/>
            <a:srcRect t="-1" b="16526"/>
            <a:stretch>
              <a:fillRect/>
            </a:stretch>
          </p:blipFill>
          <p:spPr>
            <a:xfrm rot="589386">
              <a:off x="1256498" y="6481317"/>
              <a:ext cx="388026" cy="32643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5"/>
            <a:srcRect t="18211" b="8984"/>
            <a:stretch>
              <a:fillRect/>
            </a:stretch>
          </p:blipFill>
          <p:spPr>
            <a:xfrm>
              <a:off x="1554468" y="6496881"/>
              <a:ext cx="469176" cy="341581"/>
            </a:xfrm>
            <a:prstGeom prst="rect">
              <a:avLst/>
            </a:prstGeom>
          </p:spPr>
        </p:pic>
      </p:grpSp>
      <p:cxnSp>
        <p:nvCxnSpPr>
          <p:cNvPr id="48" name="直接连接符 47"/>
          <p:cNvCxnSpPr/>
          <p:nvPr/>
        </p:nvCxnSpPr>
        <p:spPr>
          <a:xfrm>
            <a:off x="9678572" y="560438"/>
            <a:ext cx="218049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6517" y="67522"/>
            <a:ext cx="1291381" cy="580723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95250" y="67310"/>
            <a:ext cx="3437255" cy="5810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数据流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2250" y="859790"/>
            <a:ext cx="11748135" cy="267652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>
                <a:latin typeface="+mn-ea"/>
                <a:cs typeface="+mn-ea"/>
              </a:rPr>
              <a:t>第</a:t>
            </a:r>
            <a:r>
              <a:rPr lang="zh-CN" altLang="en-US" sz="1600" b="1">
                <a:latin typeface="+mn-ea"/>
                <a:cs typeface="+mn-ea"/>
              </a:rPr>
              <a:t>三阶段</a:t>
            </a:r>
            <a:endParaRPr lang="zh-CN" altLang="en-US" sz="1600" b="1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1600">
                <a:latin typeface="+mn-ea"/>
                <a:cs typeface="+mn-ea"/>
              </a:rPr>
              <a:t>初次求解与评估</a:t>
            </a:r>
            <a:r>
              <a:rPr lang="en-US" altLang="zh-CN" sz="1600">
                <a:latin typeface="+mn-ea"/>
                <a:cs typeface="+mn-ea"/>
              </a:rPr>
              <a:t>:</a:t>
            </a:r>
            <a:r>
              <a:rPr lang="zh-CN" altLang="en-US" sz="1600">
                <a:latin typeface="+mn-ea"/>
                <a:cs typeface="+mn-ea"/>
              </a:rPr>
              <a:t>基于硬件端算出的</a:t>
            </a:r>
            <a:r>
              <a:rPr lang="en-US" altLang="zh-CN" sz="1600">
                <a:latin typeface="+mn-ea"/>
                <a:cs typeface="+mn-ea"/>
              </a:rPr>
              <a:t> L/U </a:t>
            </a:r>
            <a:r>
              <a:rPr lang="zh-CN" altLang="en-US" sz="1600">
                <a:latin typeface="+mn-ea"/>
                <a:cs typeface="+mn-ea"/>
              </a:rPr>
              <a:t>因子求解</a:t>
            </a:r>
            <a:r>
              <a:rPr lang="en-US" altLang="zh-CN" sz="1600">
                <a:latin typeface="+mn-ea"/>
                <a:cs typeface="+mn-ea"/>
              </a:rPr>
              <a:t> x0</a:t>
            </a:r>
            <a:endParaRPr lang="en-US" altLang="zh-CN" sz="1600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en-US" altLang="zh-CN" sz="1600">
                <a:latin typeface="+mn-ea"/>
                <a:cs typeface="+mn-ea"/>
              </a:rPr>
              <a:t>Host </a:t>
            </a:r>
            <a:r>
              <a:rPr lang="zh-CN" altLang="en-US" sz="1600">
                <a:latin typeface="+mn-ea"/>
                <a:cs typeface="+mn-ea"/>
              </a:rPr>
              <a:t>计算</a:t>
            </a:r>
            <a:r>
              <a:rPr lang="en-US" altLang="zh-CN" sz="1600">
                <a:latin typeface="+mn-ea"/>
                <a:cs typeface="+mn-ea"/>
              </a:rPr>
              <a:t> MUMPS </a:t>
            </a:r>
            <a:r>
              <a:rPr lang="zh-CN" altLang="en-US" sz="1600">
                <a:latin typeface="+mn-ea"/>
                <a:cs typeface="+mn-ea"/>
              </a:rPr>
              <a:t>后误差</a:t>
            </a:r>
            <a:r>
              <a:rPr lang="en-US" altLang="zh-CN" sz="1600">
                <a:latin typeface="+mn-ea"/>
                <a:cs typeface="+mn-ea"/>
              </a:rPr>
              <a:t> ω 1 </a:t>
            </a:r>
            <a:r>
              <a:rPr lang="zh-CN" altLang="en-US" sz="1600">
                <a:latin typeface="+mn-ea"/>
                <a:cs typeface="+mn-ea"/>
              </a:rPr>
              <a:t>。若</a:t>
            </a:r>
            <a:r>
              <a:rPr lang="en-US" altLang="zh-CN" sz="1600">
                <a:latin typeface="+mn-ea"/>
                <a:cs typeface="+mn-ea"/>
              </a:rPr>
              <a:t> ω 1&lt;Threshold</a:t>
            </a:r>
            <a:r>
              <a:rPr lang="zh-CN" altLang="en-US" sz="1600">
                <a:latin typeface="+mn-ea"/>
                <a:cs typeface="+mn-ea"/>
              </a:rPr>
              <a:t>，流程结束。</a:t>
            </a:r>
            <a:endParaRPr lang="en-US" altLang="zh-CN" sz="1600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1600">
                <a:latin typeface="+mn-ea"/>
                <a:cs typeface="+mn-ea"/>
              </a:rPr>
              <a:t>残差计算与缩放</a:t>
            </a:r>
            <a:r>
              <a:rPr lang="en-US" altLang="zh-CN" sz="1600">
                <a:latin typeface="+mn-ea"/>
                <a:cs typeface="+mn-ea"/>
              </a:rPr>
              <a:t> (Residual &amp; Scaling):Host </a:t>
            </a:r>
            <a:r>
              <a:rPr lang="zh-CN" altLang="en-US" sz="1600">
                <a:latin typeface="+mn-ea"/>
                <a:cs typeface="+mn-ea"/>
              </a:rPr>
              <a:t>高精度计算残差</a:t>
            </a:r>
            <a:r>
              <a:rPr lang="en-US" altLang="zh-CN" sz="1600">
                <a:latin typeface="+mn-ea"/>
                <a:cs typeface="+mn-ea"/>
              </a:rPr>
              <a:t> r=b−Ax</a:t>
            </a:r>
            <a:r>
              <a:rPr lang="zh-CN" altLang="en-US" sz="1600">
                <a:latin typeface="+mn-ea"/>
                <a:cs typeface="+mn-ea"/>
              </a:rPr>
              <a:t>。</a:t>
            </a:r>
            <a:endParaRPr lang="zh-CN" altLang="en-US" sz="1600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1600">
                <a:latin typeface="+mn-ea"/>
                <a:cs typeface="+mn-ea"/>
              </a:rPr>
              <a:t>动态缩放：计算因子</a:t>
            </a:r>
            <a:r>
              <a:rPr lang="en-US" altLang="zh-CN" sz="1600">
                <a:latin typeface="+mn-ea"/>
                <a:cs typeface="+mn-ea"/>
              </a:rPr>
              <a:t> α</a:t>
            </a:r>
            <a:r>
              <a:rPr lang="zh-CN" altLang="en-US" sz="1600">
                <a:latin typeface="+mn-ea"/>
                <a:cs typeface="+mn-ea"/>
              </a:rPr>
              <a:t>，将残差放大为</a:t>
            </a:r>
            <a:r>
              <a:rPr lang="en-US" altLang="zh-CN" sz="1600">
                <a:latin typeface="+mn-ea"/>
                <a:cs typeface="+mn-ea"/>
              </a:rPr>
              <a:t> r ′ =r⋅α </a:t>
            </a:r>
            <a:r>
              <a:rPr lang="zh-CN" altLang="en-US" sz="1600">
                <a:latin typeface="+mn-ea"/>
                <a:cs typeface="+mn-ea"/>
              </a:rPr>
              <a:t>以规避下溢。</a:t>
            </a:r>
            <a:endParaRPr lang="zh-CN" altLang="en-US" sz="1600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1600">
                <a:latin typeface="+mn-ea"/>
                <a:cs typeface="+mn-ea"/>
              </a:rPr>
              <a:t>修正量求解</a:t>
            </a:r>
            <a:r>
              <a:rPr lang="en-US" altLang="zh-CN" sz="1600">
                <a:latin typeface="+mn-ea"/>
                <a:cs typeface="+mn-ea"/>
              </a:rPr>
              <a:t> (Solve for Correction):Host </a:t>
            </a:r>
            <a:r>
              <a:rPr lang="zh-CN" altLang="en-US" sz="1600">
                <a:latin typeface="+mn-ea"/>
                <a:cs typeface="+mn-ea"/>
              </a:rPr>
              <a:t>将</a:t>
            </a:r>
            <a:r>
              <a:rPr lang="en-US" altLang="zh-CN" sz="1600">
                <a:latin typeface="+mn-ea"/>
                <a:cs typeface="+mn-ea"/>
              </a:rPr>
              <a:t> r ′</a:t>
            </a:r>
            <a:r>
              <a:rPr lang="zh-CN" altLang="en-US" sz="1600">
                <a:latin typeface="+mn-ea"/>
                <a:cs typeface="+mn-ea"/>
              </a:rPr>
              <a:t>发送给硬件端。</a:t>
            </a:r>
            <a:r>
              <a:rPr lang="zh-CN" altLang="en-US" sz="1600">
                <a:latin typeface="+mn-ea"/>
                <a:cs typeface="+mn-ea"/>
              </a:rPr>
              <a:t>硬件端复用现有的</a:t>
            </a:r>
            <a:r>
              <a:rPr lang="en-US" altLang="zh-CN" sz="1600">
                <a:latin typeface="+mn-ea"/>
                <a:cs typeface="+mn-ea"/>
              </a:rPr>
              <a:t> L/U </a:t>
            </a:r>
            <a:r>
              <a:rPr lang="zh-CN" altLang="en-US" sz="1600">
                <a:latin typeface="+mn-ea"/>
                <a:cs typeface="+mn-ea"/>
              </a:rPr>
              <a:t>因子（不做分解），快速解出修正量</a:t>
            </a:r>
            <a:r>
              <a:rPr lang="en-US" altLang="zh-CN" sz="1600">
                <a:latin typeface="+mn-ea"/>
                <a:cs typeface="+mn-ea"/>
              </a:rPr>
              <a:t> d ′</a:t>
            </a:r>
            <a:r>
              <a:rPr lang="zh-CN" altLang="en-US" sz="1600">
                <a:latin typeface="+mn-ea"/>
                <a:cs typeface="+mn-ea"/>
              </a:rPr>
              <a:t>。</a:t>
            </a:r>
            <a:endParaRPr lang="en-US" altLang="zh-CN" sz="1600"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1600">
                <a:latin typeface="+mn-ea"/>
                <a:cs typeface="+mn-ea"/>
              </a:rPr>
              <a:t>解更新</a:t>
            </a:r>
            <a:r>
              <a:rPr lang="en-US" altLang="zh-CN" sz="1600">
                <a:latin typeface="+mn-ea"/>
                <a:cs typeface="+mn-ea"/>
              </a:rPr>
              <a:t> (Update):Host </a:t>
            </a:r>
            <a:r>
              <a:rPr lang="zh-CN" altLang="en-US" sz="1600">
                <a:latin typeface="+mn-ea"/>
                <a:cs typeface="+mn-ea"/>
              </a:rPr>
              <a:t>还原修正量</a:t>
            </a:r>
            <a:r>
              <a:rPr lang="en-US" altLang="zh-CN" sz="1600">
                <a:latin typeface="+mn-ea"/>
                <a:cs typeface="+mn-ea"/>
              </a:rPr>
              <a:t> d=d ′/α</a:t>
            </a:r>
            <a:r>
              <a:rPr lang="zh-CN" altLang="en-US" sz="1600">
                <a:latin typeface="+mn-ea"/>
                <a:cs typeface="+mn-ea"/>
              </a:rPr>
              <a:t>。更新解</a:t>
            </a:r>
            <a:r>
              <a:rPr lang="en-US" altLang="zh-CN" sz="1600">
                <a:latin typeface="+mn-ea"/>
                <a:cs typeface="+mn-ea"/>
              </a:rPr>
              <a:t> x new=x+d</a:t>
            </a:r>
            <a:r>
              <a:rPr lang="zh-CN" altLang="en-US" sz="1600">
                <a:latin typeface="+mn-ea"/>
                <a:cs typeface="+mn-ea"/>
              </a:rPr>
              <a:t>，重复评估直到收敛。</a:t>
            </a:r>
            <a:endParaRPr lang="zh-CN" altLang="en-US" sz="1600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11"/>
    </mc:Choice>
    <mc:Fallback>
      <p:transition spd="slow" advTm="35111"/>
    </mc:Fallback>
  </mc:AlternateContent>
</p:sld>
</file>

<file path=ppt/tags/tag1.xml><?xml version="1.0" encoding="utf-8"?>
<p:tagLst xmlns:p="http://schemas.openxmlformats.org/presentationml/2006/main">
  <p:tag name="commondata" val="eyJoZGlkIjoiNDc0Zjg0ZDQ0ZTEzYjRjMjA2MTExNGFhZWE1NjM1N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</Words>
  <Application>WPS 演示</Application>
  <PresentationFormat>宽屏</PresentationFormat>
  <Paragraphs>67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黑体</vt:lpstr>
      <vt:lpstr>Wingdings</vt:lpstr>
      <vt:lpstr>Cambria Math</vt:lpstr>
      <vt:lpstr>等线</vt:lpstr>
      <vt:lpstr>微软雅黑</vt:lpstr>
      <vt:lpstr>Arial Unicode MS</vt:lpstr>
      <vt:lpstr>等线 Light</vt:lpstr>
      <vt:lpstr>Calibri</vt:lpstr>
      <vt:lpstr>MS Mincho</vt:lpstr>
      <vt:lpstr>Segoe Print</vt:lpstr>
      <vt:lpstr>Consolas</vt:lpstr>
      <vt:lpstr>Google Sans Text</vt:lpstr>
      <vt:lpstr>Arial</vt:lpstr>
      <vt:lpstr>仿宋</vt:lpstr>
      <vt:lpstr>Office 主题​​</vt:lpstr>
      <vt:lpstr>PowerPoint 演示文稿</vt:lpstr>
      <vt:lpstr>超节点技术</vt:lpstr>
      <vt:lpstr>误差分析</vt:lpstr>
      <vt:lpstr>误差分析</vt:lpstr>
      <vt:lpstr>误差分析</vt:lpstr>
      <vt:lpstr>误差分析</vt:lpstr>
      <vt:lpstr>误差分析</vt:lpstr>
      <vt:lpstr>误差分析</vt:lpstr>
      <vt:lpstr>系统数据流</vt:lpstr>
      <vt:lpstr>系统数据流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陈仇恨</dc:creator>
  <cp:lastModifiedBy>hy1729</cp:lastModifiedBy>
  <cp:revision>99</cp:revision>
  <dcterms:created xsi:type="dcterms:W3CDTF">2019-03-01T00:58:00Z</dcterms:created>
  <dcterms:modified xsi:type="dcterms:W3CDTF">2026-01-19T05:45:55Z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0CCB02BE52D04D42A75728970E453E70_13</vt:lpwstr>
  </property>
  <property fmtid="{D5CDD505-2E9C-101B-9397-08002B2CF9AE}" pid="3" name="KSOProductBuildVer">
    <vt:lpwstr>2052-12.1.0.24034</vt:lpwstr>
  </property>
</Properties>
</file>