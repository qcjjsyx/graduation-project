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media/image2.svg" ContentType="image/svg+xml"/>
  <ns0:Override PartName="/ppt/media/image4.svg" ContentType="image/svg+xml"/>
  <ns0:Override PartName="/ppt/media/image8.svg" ContentType="image/svg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ags/tag10.xml" ContentType="application/vnd.openxmlformats-officedocument.presentationml.tags+xml"/>
  <ns0:Override PartName="/ppt/tags/tag11.xml" ContentType="application/vnd.openxmlformats-officedocument.presentationml.tags+xml"/>
  <ns0:Override PartName="/ppt/tags/tag12.xml" ContentType="application/vnd.openxmlformats-officedocument.presentationml.tags+xml"/>
  <ns0:Override PartName="/ppt/tags/tag13.xml" ContentType="application/vnd.openxmlformats-officedocument.presentationml.tags+xml"/>
  <ns0:Override PartName="/ppt/tags/tag14.xml" ContentType="application/vnd.openxmlformats-officedocument.presentationml.tags+xml"/>
  <ns0:Override PartName="/ppt/tags/tag15.xml" ContentType="application/vnd.openxmlformats-officedocument.presentationml.tags+xml"/>
  <ns0:Override PartName="/ppt/tags/tag16.xml" ContentType="application/vnd.openxmlformats-officedocument.presentationml.tags+xml"/>
  <ns0:Override PartName="/ppt/tags/tag17.xml" ContentType="application/vnd.openxmlformats-officedocument.presentationml.tags+xml"/>
  <ns0:Override PartName="/ppt/tags/tag18.xml" ContentType="application/vnd.openxmlformats-officedocument.presentationml.tags+xml"/>
  <ns0:Override PartName="/ppt/tags/tag19.xml" ContentType="application/vnd.openxmlformats-officedocument.presentationml.tags+xml"/>
  <ns0:Override PartName="/ppt/tags/tag2.xml" ContentType="application/vnd.openxmlformats-officedocument.presentationml.tags+xml"/>
  <ns0:Override PartName="/ppt/tags/tag20.xml" ContentType="application/vnd.openxmlformats-officedocument.presentationml.tags+xml"/>
  <ns0:Override PartName="/ppt/tags/tag21.xml" ContentType="application/vnd.openxmlformats-officedocument.presentationml.tags+xml"/>
  <ns0:Override PartName="/ppt/tags/tag22.xml" ContentType="application/vnd.openxmlformats-officedocument.presentationml.tags+xml"/>
  <ns0:Override PartName="/ppt/tags/tag23.xml" ContentType="application/vnd.openxmlformats-officedocument.presentationml.tags+xml"/>
  <ns0:Override PartName="/ppt/tags/tag24.xml" ContentType="application/vnd.openxmlformats-officedocument.presentationml.tags+xml"/>
  <ns0:Override PartName="/ppt/tags/tag25.xml" ContentType="application/vnd.openxmlformats-officedocument.presentationml.tags+xml"/>
  <ns0:Override PartName="/ppt/tags/tag26.xml" ContentType="application/vnd.openxmlformats-officedocument.presentationml.tags+xml"/>
  <ns0:Override PartName="/ppt/tags/tag27.xml" ContentType="application/vnd.openxmlformats-officedocument.presentationml.tags+xml"/>
  <ns0:Override PartName="/ppt/tags/tag28.xml" ContentType="application/vnd.openxmlformats-officedocument.presentationml.tags+xml"/>
  <ns0:Override PartName="/ppt/tags/tag29.xml" ContentType="application/vnd.openxmlformats-officedocument.presentationml.tags+xml"/>
  <ns0:Override PartName="/ppt/tags/tag3.xml" ContentType="application/vnd.openxmlformats-officedocument.presentationml.tags+xml"/>
  <ns0:Override PartName="/ppt/tags/tag30.xml" ContentType="application/vnd.openxmlformats-officedocument.presentationml.tags+xml"/>
  <ns0:Override PartName="/ppt/tags/tag31.xml" ContentType="application/vnd.openxmlformats-officedocument.presentationml.tags+xml"/>
  <ns0:Override PartName="/ppt/tags/tag32.xml" ContentType="application/vnd.openxmlformats-officedocument.presentationml.tags+xml"/>
  <ns0:Override PartName="/ppt/tags/tag33.xml" ContentType="application/vnd.openxmlformats-officedocument.presentationml.tags+xml"/>
  <ns0:Override PartName="/ppt/tags/tag34.xml" ContentType="application/vnd.openxmlformats-officedocument.presentationml.tags+xml"/>
  <ns0:Override PartName="/ppt/tags/tag35.xml" ContentType="application/vnd.openxmlformats-officedocument.presentationml.tags+xml"/>
  <ns0:Override PartName="/ppt/tags/tag36.xml" ContentType="application/vnd.openxmlformats-officedocument.presentationml.tags+xml"/>
  <ns0:Override PartName="/ppt/tags/tag37.xml" ContentType="application/vnd.openxmlformats-officedocument.presentationml.tags+xml"/>
  <ns0:Override PartName="/ppt/tags/tag38.xml" ContentType="application/vnd.openxmlformats-officedocument.presentationml.tags+xml"/>
  <ns0:Override PartName="/ppt/tags/tag39.xml" ContentType="application/vnd.openxmlformats-officedocument.presentationml.tags+xml"/>
  <ns0:Override PartName="/ppt/tags/tag4.xml" ContentType="application/vnd.openxmlformats-officedocument.presentationml.tags+xml"/>
  <ns0:Override PartName="/ppt/tags/tag40.xml" ContentType="application/vnd.openxmlformats-officedocument.presentationml.tags+xml"/>
  <ns0:Override PartName="/ppt/tags/tag41.xml" ContentType="application/vnd.openxmlformats-officedocument.presentationml.tags+xml"/>
  <ns0:Override PartName="/ppt/tags/tag42.xml" ContentType="application/vnd.openxmlformats-officedocument.presentationml.tags+xml"/>
  <ns0:Override PartName="/ppt/tags/tag43.xml" ContentType="application/vnd.openxmlformats-officedocument.presentationml.tags+xml"/>
  <ns0:Override PartName="/ppt/tags/tag44.xml" ContentType="application/vnd.openxmlformats-officedocument.presentationml.tags+xml"/>
  <ns0:Override PartName="/ppt/tags/tag45.xml" ContentType="application/vnd.openxmlformats-officedocument.presentationml.tags+xml"/>
  <ns0:Override PartName="/ppt/tags/tag46.xml" ContentType="application/vnd.openxmlformats-officedocument.presentationml.tags+xml"/>
  <ns0:Override PartName="/ppt/tags/tag47.xml" ContentType="application/vnd.openxmlformats-officedocument.presentationml.tags+xml"/>
  <ns0:Override PartName="/ppt/tags/tag48.xml" ContentType="application/vnd.openxmlformats-officedocument.presentationml.tags+xml"/>
  <ns0:Override PartName="/ppt/tags/tag49.xml" ContentType="application/vnd.openxmlformats-officedocument.presentationml.tags+xml"/>
  <ns0:Override PartName="/ppt/tags/tag5.xml" ContentType="application/vnd.openxmlformats-officedocument.presentationml.tags+xml"/>
  <ns0:Override PartName="/ppt/tags/tag50.xml" ContentType="application/vnd.openxmlformats-officedocument.presentationml.tags+xml"/>
  <ns0:Override PartName="/ppt/tags/tag51.xml" ContentType="application/vnd.openxmlformats-officedocument.presentationml.tags+xml"/>
  <ns0:Override PartName="/ppt/tags/tag52.xml" ContentType="application/vnd.openxmlformats-officedocument.presentationml.tags+xml"/>
  <ns0:Override PartName="/ppt/tags/tag53.xml" ContentType="application/vnd.openxmlformats-officedocument.presentationml.tags+xml"/>
  <ns0:Override PartName="/ppt/tags/tag54.xml" ContentType="application/vnd.openxmlformats-officedocument.presentationml.tags+xml"/>
  <ns0:Override PartName="/ppt/tags/tag55.xml" ContentType="application/vnd.openxmlformats-officedocument.presentationml.tags+xml"/>
  <ns0:Override PartName="/ppt/tags/tag56.xml" ContentType="application/vnd.openxmlformats-officedocument.presentationml.tags+xml"/>
  <ns0:Override PartName="/ppt/tags/tag57.xml" ContentType="application/vnd.openxmlformats-officedocument.presentationml.tags+xml"/>
  <ns0:Override PartName="/ppt/tags/tag58.xml" ContentType="application/vnd.openxmlformats-officedocument.presentationml.tags+xml"/>
  <ns0:Override PartName="/ppt/tags/tag59.xml" ContentType="application/vnd.openxmlformats-officedocument.presentationml.tags+xml"/>
  <ns0:Override PartName="/ppt/tags/tag6.xml" ContentType="application/vnd.openxmlformats-officedocument.presentationml.tags+xml"/>
  <ns0:Override PartName="/ppt/tags/tag60.xml" ContentType="application/vnd.openxmlformats-officedocument.presentationml.tags+xml"/>
  <ns0:Override PartName="/ppt/tags/tag61.xml" ContentType="application/vnd.openxmlformats-officedocument.presentationml.tags+xml"/>
  <ns0:Override PartName="/ppt/tags/tag62.xml" ContentType="application/vnd.openxmlformats-officedocument.presentationml.tags+xml"/>
  <ns0:Override PartName="/ppt/tags/tag63.xml" ContentType="application/vnd.openxmlformats-officedocument.presentationml.tags+xml"/>
  <ns0:Override PartName="/ppt/tags/tag64.xml" ContentType="application/vnd.openxmlformats-officedocument.presentationml.tags+xml"/>
  <ns0:Override PartName="/ppt/tags/tag65.xml" ContentType="application/vnd.openxmlformats-officedocument.presentationml.tags+xml"/>
  <ns0:Override PartName="/ppt/tags/tag66.xml" ContentType="application/vnd.openxmlformats-officedocument.presentationml.tags+xml"/>
  <ns0:Override PartName="/ppt/tags/tag67.xml" ContentType="application/vnd.openxmlformats-officedocument.presentationml.tags+xml"/>
  <ns0:Override PartName="/ppt/tags/tag68.xml" ContentType="application/vnd.openxmlformats-officedocument.presentationml.tags+xml"/>
  <ns0:Override PartName="/ppt/tags/tag69.xml" ContentType="application/vnd.openxmlformats-officedocument.presentationml.tags+xml"/>
  <ns0:Override PartName="/ppt/tags/tag7.xml" ContentType="application/vnd.openxmlformats-officedocument.presentationml.tags+xml"/>
  <ns0:Override PartName="/ppt/tags/tag70.xml" ContentType="application/vnd.openxmlformats-officedocument.presentationml.tags+xml"/>
  <ns0:Override PartName="/ppt/tags/tag71.xml" ContentType="application/vnd.openxmlformats-officedocument.presentationml.tags+xml"/>
  <ns0:Override PartName="/ppt/tags/tag72.xml" ContentType="application/vnd.openxmlformats-officedocument.presentationml.tags+xml"/>
  <ns0:Override PartName="/ppt/tags/tag73.xml" ContentType="application/vnd.openxmlformats-officedocument.presentationml.tags+xml"/>
  <ns0:Override PartName="/ppt/tags/tag74.xml" ContentType="application/vnd.openxmlformats-officedocument.presentationml.tags+xml"/>
  <ns0:Override PartName="/ppt/tags/tag75.xml" ContentType="application/vnd.openxmlformats-officedocument.presentationml.tags+xml"/>
  <ns0:Override PartName="/ppt/tags/tag76.xml" ContentType="application/vnd.openxmlformats-officedocument.presentationml.tags+xml"/>
  <ns0:Override PartName="/ppt/tags/tag77.xml" ContentType="application/vnd.openxmlformats-officedocument.presentationml.tags+xml"/>
  <ns0:Override PartName="/ppt/tags/tag78.xml" ContentType="application/vnd.openxmlformats-officedocument.presentationml.tags+xml"/>
  <ns0:Override PartName="/ppt/tags/tag79.xml" ContentType="application/vnd.openxmlformats-officedocument.presentationml.tags+xml"/>
  <ns0:Override PartName="/ppt/tags/tag8.xml" ContentType="application/vnd.openxmlformats-officedocument.presentationml.tags+xml"/>
  <ns0:Override PartName="/ppt/tags/tag80.xml" ContentType="application/vnd.openxmlformats-officedocument.presentationml.tags+xml"/>
  <ns0:Override PartName="/ppt/tags/tag9.xml" ContentType="application/vnd.openxmlformats-officedocument.presentationml.tags+xml"/>
  <ns0:Override PartName="/ppt/theme/theme1.xml" ContentType="application/vnd.openxmlformats-officedocument.theme+xml"/>
  <ns0:Override PartName="/ppt/viewProps.xml" ContentType="application/vnd.openxmlformats-officedocument.presentationml.viewProps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ns2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3"/>
    <p:sldId id="257" r:id="rId4"/>
    <p:sldId id="260" r:id="rId5"/>
    <p:sldId id="258" r:id="rId6"/>
    <p:sldId id="259" r:id="rId7"/>
    <p:sldId id="261" r:id="rId12"/>
    <p:sldId id="262" r:id="rId13"/>
    <p:sldId id="263" r:id="rId14"/>
  </p:sldIdLst>
  <p:sldSz cx="12192000" cy="6858000"/>
  <p:notesSz cx="6858000" cy="9144000"/>
  <p:custDataLst>
    <p:tags r:id="rId11"/>
  </p:custDataLst>
  <p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  <p:extLst>
    <p:ext uri="{EFAFB233-063F-42B5-8137-9DF3F51BA10A}">
      <ns3:sldGuideLst>
        <ns3:guide id="1" orient="horz" pos="2160" userDrawn="1">
          <ns3:clr>
            <ns2:srgbClr val="A4A3A4"/>
          </ns3:clr>
        </ns3:guide>
        <ns3:guide id="2" pos="3838" userDrawn="1">
          <ns3:clr>
            <ns2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
<ns0:Relationships xmlns:ns0="http://schemas.openxmlformats.org/package/2006/relationships"><ns0:Relationship Id="rId9" Type="http://schemas.openxmlformats.org/officeDocument/2006/relationships/viewProps" Target="viewProps.xml" /><ns0:Relationship Id="rId8" Type="http://schemas.openxmlformats.org/officeDocument/2006/relationships/presProps" Target="presProps.xml" /><ns0:Relationship Id="rId7" Type="http://schemas.openxmlformats.org/officeDocument/2006/relationships/slide" Target="slides/slide5.xml" /><ns0:Relationship Id="rId6" Type="http://schemas.openxmlformats.org/officeDocument/2006/relationships/slide" Target="slides/slide4.xml" /><ns0:Relationship Id="rId5" Type="http://schemas.openxmlformats.org/officeDocument/2006/relationships/slide" Target="slides/slide3.xml" /><ns0:Relationship Id="rId4" Type="http://schemas.openxmlformats.org/officeDocument/2006/relationships/slide" Target="slides/slide2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1" Type="http://schemas.openxmlformats.org/officeDocument/2006/relationships/tags" Target="tags/tag80.xml" /><ns0:Relationship Id="rId10" Type="http://schemas.openxmlformats.org/officeDocument/2006/relationships/tableStyles" Target="tableStyles.xml" /><ns0:Relationship Id="rId1" Type="http://schemas.openxmlformats.org/officeDocument/2006/relationships/slideMaster" Target="slideMasters/slideMaster1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/ns0: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71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5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6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9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tags" Target="../tags/tag78.xml"/>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绘图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653540" y="918845"/>
          <a:ext cx="2879725" cy="28797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椭圆 6"/>
          <p:cNvSpPr/>
          <p:nvPr/>
        </p:nvSpPr>
        <p:spPr>
          <a:xfrm>
            <a:off x="1757680" y="103822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757680" y="158242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757680" y="212598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757680" y="266954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2844800" y="212598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301240" y="158242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3388360" y="266954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2301240" y="103822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844800" y="103822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3388360" y="103822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 descr="等于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1785" y="1613535"/>
            <a:ext cx="914400" cy="914400"/>
          </a:xfrm>
          <a:prstGeom prst="rect">
            <a:avLst/>
          </a:prstGeom>
        </p:spPr>
      </p:pic>
      <p:graphicFrame>
        <p:nvGraphicFramePr>
          <p:cNvPr id="19" name="表格 18"/>
          <p:cNvGraphicFramePr/>
          <p:nvPr>
            <p:custDataLst>
              <p:tags r:id="rId5"/>
            </p:custDataLst>
          </p:nvPr>
        </p:nvGraphicFramePr>
        <p:xfrm>
          <a:off x="5344160" y="990600"/>
          <a:ext cx="2879725" cy="28797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椭圆 19"/>
          <p:cNvSpPr/>
          <p:nvPr/>
        </p:nvSpPr>
        <p:spPr>
          <a:xfrm>
            <a:off x="5448300" y="110998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5448300" y="165417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5448300" y="219773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5448300" y="274129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6535420" y="219773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5991860" y="165417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7078980" y="274129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5991860" y="2198370"/>
            <a:ext cx="288000" cy="288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5991860" y="2742565"/>
            <a:ext cx="288000" cy="288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6535420" y="2741295"/>
            <a:ext cx="288000" cy="288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 descr="星号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2405" y="1870710"/>
            <a:ext cx="399415" cy="399415"/>
          </a:xfrm>
          <a:prstGeom prst="rect">
            <a:avLst/>
          </a:prstGeom>
        </p:spPr>
      </p:pic>
      <p:graphicFrame>
        <p:nvGraphicFramePr>
          <p:cNvPr id="32" name="表格 31"/>
          <p:cNvGraphicFramePr/>
          <p:nvPr>
            <p:custDataLst>
              <p:tags r:id="rId9"/>
            </p:custDataLst>
          </p:nvPr>
        </p:nvGraphicFramePr>
        <p:xfrm>
          <a:off x="8519795" y="918845"/>
          <a:ext cx="2879725" cy="28797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椭圆 32"/>
          <p:cNvSpPr/>
          <p:nvPr/>
        </p:nvSpPr>
        <p:spPr>
          <a:xfrm>
            <a:off x="8623935" y="103822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9171940" y="103822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9741535" y="103886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10311130" y="103886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9711055" y="212598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9167495" y="158242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10254615" y="266954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9744075" y="1582420"/>
            <a:ext cx="288000" cy="288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10259060" y="1582420"/>
            <a:ext cx="288000" cy="288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10287635" y="2125980"/>
            <a:ext cx="288000" cy="288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/>
              <p:nvPr>
                <p:custDataLst>
                  <p:tags r:id="rId1"/>
                </p:custDataLst>
              </p:nvPr>
            </p:nvGraphicFramePr>
            <p:xfrm>
              <a:off x="1828800" y="1085850"/>
              <a:ext cx="8530590" cy="3295650"/>
            </p:xfrm>
            <a:graphic>
              <a:graphicData uri="http://schemas.openxmlformats.org/drawingml/2006/table">
                <a:tbl>
                  <a:tblPr>
                    <a:tableStyleId>{D7AC3CCA-C797-4891-BE02-D94E43425B78}</a:tableStyleId>
                  </a:tblPr>
                  <a:tblGrid>
                    <a:gridCol w="8530590"/>
                  </a:tblGrid>
                  <a:tr h="396000"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Algorithm 1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：</a:t>
                          </a: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LU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分解</a:t>
                          </a:r>
                          <a:endParaRPr lang="zh-CN" altLang="en-US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2636520">
                    <a:tc>
                      <a:txBody>
                        <a:bodyPr/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Input: 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 n*n  matrix A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Output: 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L U  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1: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i = 1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2: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=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;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=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e>
                                <m:sub/>
                              </m:sSub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// </a:t>
                          </a:r>
                          <a:r>
                            <a:rPr lang="zh-CN" altLang="en-US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分解对角元素</a:t>
                          </a:r>
                          <a:endParaRPr lang="zh-CN" altLang="en-US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3: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j = i+1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4: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endPara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5: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6: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7:     for j = i+1 to n 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8:         for k = i+1 to n 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9:   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10:  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11: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12: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/>
              <p:nvPr>
                <p:custDataLst>
                  <p:tags r:id="rId2"/>
                </p:custDataLst>
              </p:nvPr>
            </p:nvGraphicFramePr>
            <p:xfrm>
              <a:off x="1828800" y="1085850"/>
              <a:ext cx="8530590" cy="3295650"/>
            </p:xfrm>
            <a:graphic>
              <a:graphicData uri="http://schemas.openxmlformats.org/drawingml/2006/table">
                <a:tbl>
                  <a:tblPr>
                    <a:tableStyleId>{D7AC3CCA-C797-4891-BE02-D94E43425B78}</a:tableStyleId>
                  </a:tblPr>
                  <a:tblGrid>
                    <a:gridCol w="8530590"/>
                  </a:tblGrid>
                  <a:tr h="396000"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Algorithm 1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：</a:t>
                          </a: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LU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分解</a:t>
                          </a:r>
                          <a:endParaRPr lang="zh-CN" altLang="en-US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34340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/>
              <p:nvPr>
                <p:custDataLst>
                  <p:tags r:id="rId1"/>
                </p:custDataLst>
              </p:nvPr>
            </p:nvGraphicFramePr>
            <p:xfrm>
              <a:off x="1828800" y="1085850"/>
              <a:ext cx="8530590" cy="3295650"/>
            </p:xfrm>
            <a:graphic>
              <a:graphicData uri="http://schemas.openxmlformats.org/drawingml/2006/table">
                <a:tbl>
                  <a:tblPr>
                    <a:tableStyleId>{D7AC3CCA-C797-4891-BE02-D94E43425B78}</a:tableStyleId>
                  </a:tblPr>
                  <a:tblGrid>
                    <a:gridCol w="8530590"/>
                  </a:tblGrid>
                  <a:tr h="396000"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Algorithm 2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：块</a:t>
                          </a: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LU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分解</a:t>
                          </a:r>
                          <a:endParaRPr lang="zh-CN" altLang="en-US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2636520">
                    <a:tc>
                      <a:txBody>
                        <a:bodyPr/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Input: 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 n*n block matrix A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Output: 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L U  //</a:t>
                          </a:r>
                          <a:r>
                            <a:rPr lang="zh-CN" altLang="en-US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使用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</a:t>
                          </a:r>
                          <a:r>
                            <a:rPr lang="zh-CN" altLang="en-US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矩阵的内存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1: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i = 1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2: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 // </a:t>
                          </a:r>
                          <a:r>
                            <a:rPr lang="zh-CN" altLang="en-US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分解对角</a:t>
                          </a:r>
                          <a:r>
                            <a:rPr lang="zh-CN" altLang="en-US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矩阵</a:t>
                          </a:r>
                          <a:endParaRPr lang="zh-CN" altLang="en-US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3: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j = i+1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4: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← </m:t>
                              </m:r>
                              <m:sSubSup>
                                <m:sSubSup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endPara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5: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← 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p>
                              </m:sSubSup>
                            </m:oMath>
                          </a14:m>
                          <a:endPara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6: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7:     for j = i+1 to n 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8:         for k = i+1 to n 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9:   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← 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10:  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11: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12: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/>
              <p:nvPr>
                <p:custDataLst>
                  <p:tags r:id="rId2"/>
                </p:custDataLst>
              </p:nvPr>
            </p:nvGraphicFramePr>
            <p:xfrm>
              <a:off x="1828800" y="1085850"/>
              <a:ext cx="8530590" cy="3295650"/>
            </p:xfrm>
            <a:graphic>
              <a:graphicData uri="http://schemas.openxmlformats.org/drawingml/2006/table">
                <a:tbl>
                  <a:tblPr>
                    <a:tableStyleId>{D7AC3CCA-C797-4891-BE02-D94E43425B78}</a:tableStyleId>
                  </a:tblPr>
                  <a:tblGrid>
                    <a:gridCol w="8530590"/>
                  </a:tblGrid>
                  <a:tr h="396000"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Algorithm 2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：块</a:t>
                          </a: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LU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分解</a:t>
                          </a:r>
                          <a:endParaRPr lang="zh-CN" altLang="en-US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34340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2106295" y="1905000"/>
          <a:ext cx="3247390" cy="3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/>
                <a:gridCol w="3672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45"/>
              </a:tblGrid>
              <a:tr h="36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b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f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g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h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i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sp>
        <p:nvSpPr>
          <p:cNvPr id="5" name="椭圆 4"/>
          <p:cNvSpPr/>
          <p:nvPr/>
        </p:nvSpPr>
        <p:spPr>
          <a:xfrm>
            <a:off x="4352290" y="198247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4719320" y="198247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5086350" y="198247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199640" y="419989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199640" y="45593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199640" y="491871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3279140" y="235585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3999230" y="34671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546985" y="310070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2546985" y="384619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639820" y="272859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4719320" y="272859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2900680" y="34671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2900680" y="45593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4719320" y="310070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5086350" y="310070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3279140" y="45593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3279140" y="491871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4719320" y="347281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3639820" y="384619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3645535" y="45593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5086350" y="384619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3999230" y="491871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5086350" y="421894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4719320" y="419354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4346575" y="45593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4358640" y="491871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双括号 33"/>
          <p:cNvSpPr/>
          <p:nvPr/>
        </p:nvSpPr>
        <p:spPr>
          <a:xfrm>
            <a:off x="1702435" y="1710055"/>
            <a:ext cx="4066540" cy="3783330"/>
          </a:xfrm>
          <a:prstGeom prst="bracketPai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 descr="箭头-直角-向右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2720" y="2971800"/>
            <a:ext cx="914400" cy="91440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670560" y="1905000"/>
            <a:ext cx="82105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ts val="2800"/>
              </a:lnSpc>
            </a:pPr>
            <a:r>
              <a:rPr lang="en-US" altLang="zh-CN"/>
              <a:t>1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2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3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4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5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6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7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8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37" name="流程图: 联系 36"/>
          <p:cNvSpPr/>
          <p:nvPr/>
        </p:nvSpPr>
        <p:spPr>
          <a:xfrm>
            <a:off x="8188325" y="3833495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8125460" y="3833495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流程图: 联系 43"/>
          <p:cNvSpPr/>
          <p:nvPr/>
        </p:nvSpPr>
        <p:spPr>
          <a:xfrm>
            <a:off x="8188325" y="2908300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8125460" y="2908300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g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6" name="直接连接符 45"/>
          <p:cNvCxnSpPr>
            <a:stCxn id="45" idx="2"/>
            <a:endCxn id="40" idx="0"/>
          </p:cNvCxnSpPr>
          <p:nvPr/>
        </p:nvCxnSpPr>
        <p:spPr>
          <a:xfrm>
            <a:off x="8368665" y="3276600"/>
            <a:ext cx="0" cy="5568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流程图: 联系 46"/>
          <p:cNvSpPr/>
          <p:nvPr/>
        </p:nvSpPr>
        <p:spPr>
          <a:xfrm>
            <a:off x="9615805" y="3825240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9552940" y="3825240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流程图: 联系 48"/>
          <p:cNvSpPr/>
          <p:nvPr/>
        </p:nvSpPr>
        <p:spPr>
          <a:xfrm>
            <a:off x="9615805" y="4739005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9552940" y="4739005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b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1" name="直接连接符 50"/>
          <p:cNvCxnSpPr/>
          <p:nvPr/>
        </p:nvCxnSpPr>
        <p:spPr>
          <a:xfrm>
            <a:off x="9795510" y="4182110"/>
            <a:ext cx="0" cy="5568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2" name="流程图: 联系 51"/>
          <p:cNvSpPr/>
          <p:nvPr/>
        </p:nvSpPr>
        <p:spPr>
          <a:xfrm>
            <a:off x="10816590" y="3813810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10753725" y="3813810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e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流程图: 联系 53"/>
          <p:cNvSpPr/>
          <p:nvPr/>
        </p:nvSpPr>
        <p:spPr>
          <a:xfrm>
            <a:off x="10816590" y="4727575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10753725" y="4727575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10996295" y="4170680"/>
            <a:ext cx="0" cy="5568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流程图: 联系 57"/>
          <p:cNvSpPr/>
          <p:nvPr/>
        </p:nvSpPr>
        <p:spPr>
          <a:xfrm>
            <a:off x="10217785" y="2908300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10154920" y="2908300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f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60" name="直接连接符 59"/>
          <p:cNvCxnSpPr>
            <a:stCxn id="48" idx="0"/>
          </p:cNvCxnSpPr>
          <p:nvPr/>
        </p:nvCxnSpPr>
        <p:spPr>
          <a:xfrm flipV="1">
            <a:off x="9796145" y="3203575"/>
            <a:ext cx="478790" cy="6216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53" idx="0"/>
          </p:cNvCxnSpPr>
          <p:nvPr/>
        </p:nvCxnSpPr>
        <p:spPr>
          <a:xfrm flipH="1" flipV="1">
            <a:off x="10548620" y="3196590"/>
            <a:ext cx="448310" cy="6172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流程图: 联系 62"/>
          <p:cNvSpPr/>
          <p:nvPr/>
        </p:nvSpPr>
        <p:spPr>
          <a:xfrm>
            <a:off x="9192895" y="2094865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9130030" y="2094865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h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5" name="流程图: 联系 64"/>
          <p:cNvSpPr/>
          <p:nvPr/>
        </p:nvSpPr>
        <p:spPr>
          <a:xfrm>
            <a:off x="9192895" y="1341755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9130030" y="1341755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i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67" name="直接连接符 66"/>
          <p:cNvCxnSpPr>
            <a:stCxn id="45" idx="0"/>
          </p:cNvCxnSpPr>
          <p:nvPr/>
        </p:nvCxnSpPr>
        <p:spPr>
          <a:xfrm flipV="1">
            <a:off x="8368665" y="2375535"/>
            <a:ext cx="853440" cy="5327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连接符 67"/>
          <p:cNvCxnSpPr>
            <a:stCxn id="59" idx="0"/>
          </p:cNvCxnSpPr>
          <p:nvPr/>
        </p:nvCxnSpPr>
        <p:spPr>
          <a:xfrm flipH="1" flipV="1">
            <a:off x="9538335" y="2361565"/>
            <a:ext cx="859790" cy="5467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stCxn id="66" idx="2"/>
            <a:endCxn id="64" idx="0"/>
          </p:cNvCxnSpPr>
          <p:nvPr/>
        </p:nvCxnSpPr>
        <p:spPr>
          <a:xfrm>
            <a:off x="9373235" y="1710055"/>
            <a:ext cx="0" cy="3848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2600" b="1">
                <a:solidFill>
                  <a:srgbClr val="111827"/>
                </a:solidFill>
                <a:latin typeface="Arial"/>
                <a:ea typeface="Microsoft YaHei"/>
              </a:rPr>
              <a:t>多前沿算法整体组织方式</a:t>
            </a:r>
            <a:endParaRPr lang="zh-CN"/>
          </a:p>
        </p:txBody>
      </p:sp>
      <p:sp>
        <p:nvSpPr>
          <p:cNvPr id="3" name="TextBox 3"/>
          <p:cNvSpPr txBox="1"/>
          <p:nvPr/>
        </p:nvSpPr>
        <p:spPr>
          <a:xfrm>
            <a:off x="685800" y="75895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700" b="1">
                <a:solidFill>
                  <a:srgbClr val="1F2937"/>
                </a:solidFill>
                <a:latin typeface="Arial"/>
                <a:ea typeface="Microsoft YaHei"/>
              </a:rPr>
              <a:t>原始稀疏矩阵 A</a:t>
            </a:r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4160520" y="75895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700" b="1">
                <a:solidFill>
                  <a:srgbClr val="1F2937"/>
                </a:solidFill>
                <a:latin typeface="Arial"/>
                <a:ea typeface="Microsoft YaHei"/>
              </a:rPr>
              <a:t>消去树 / Elimination Tree</a:t>
            </a:r>
            <a:endParaRPr lang="zh-CN"/>
          </a:p>
        </p:txBody>
      </p:sp>
      <p:sp>
        <p:nvSpPr>
          <p:cNvPr id="5" name="TextBox 5"/>
          <p:cNvSpPr txBox="1"/>
          <p:nvPr/>
        </p:nvSpPr>
        <p:spPr>
          <a:xfrm>
            <a:off x="8046720" y="758952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700" b="1">
                <a:solidFill>
                  <a:srgbClr val="1F2937"/>
                </a:solidFill>
                <a:latin typeface="Arial"/>
                <a:ea typeface="Microsoft YaHei"/>
              </a:rPr>
              <a:t>节点级 frontal matrix</a:t>
            </a:r>
            <a:endParaRPr lang="zh-CN"/>
          </a:p>
        </p:txBody>
      </p:sp>
      <p:sp>
        <p:nvSpPr>
          <p:cNvPr id="6" name="Rectangle 6"/>
          <p:cNvSpPr/>
          <p:nvPr/>
        </p:nvSpPr>
        <p:spPr>
          <a:xfrm>
            <a:off x="713232" y="1444752"/>
            <a:ext cx="22402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4B5563"/>
            </a:solidFill>
          </a:ln>
        </p:spPr>
      </p:sp>
      <p:cxnSp>
        <p:nvCxnSpPr>
          <p:cNvPr id="7" name="Connector 7"/>
          <p:cNvCxnSpPr/>
          <p:nvPr/>
        </p:nvCxnSpPr>
        <p:spPr>
          <a:xfrm>
            <a:off x="937260" y="1444752"/>
            <a:ext cx="1" cy="2240280"/>
          </a:xfrm>
          <a:prstGeom prst="line">
            <a:avLst/>
          </a:prstGeom>
          <a:ln w="5000">
            <a:solidFill>
              <a:srgbClr val="D6DEE8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713232" y="1668780"/>
            <a:ext cx="2240280" cy="1"/>
          </a:xfrm>
          <a:prstGeom prst="line">
            <a:avLst/>
          </a:prstGeom>
          <a:ln w="5000">
            <a:solidFill>
              <a:srgbClr val="D6DEE8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1161288" y="1444752"/>
            <a:ext cx="1" cy="2240280"/>
          </a:xfrm>
          <a:prstGeom prst="line">
            <a:avLst/>
          </a:prstGeom>
          <a:ln w="5000">
            <a:solidFill>
              <a:srgbClr val="D6DEE8"/>
            </a:solidFill>
          </a:ln>
        </p:spPr>
      </p:cxnSp>
      <p:cxnSp>
        <p:nvCxnSpPr>
          <p:cNvPr id="10" name="Connector 10"/>
          <p:cNvCxnSpPr/>
          <p:nvPr/>
        </p:nvCxnSpPr>
        <p:spPr>
          <a:xfrm>
            <a:off x="713232" y="1892808"/>
            <a:ext cx="2240280" cy="1"/>
          </a:xfrm>
          <a:prstGeom prst="line">
            <a:avLst/>
          </a:prstGeom>
          <a:ln w="5000">
            <a:solidFill>
              <a:srgbClr val="D6DEE8"/>
            </a:solidFill>
          </a:ln>
        </p:spPr>
      </p:cxnSp>
      <p:cxnSp>
        <p:nvCxnSpPr>
          <p:cNvPr id="11" name="Connector 11"/>
          <p:cNvCxnSpPr/>
          <p:nvPr/>
        </p:nvCxnSpPr>
        <p:spPr>
          <a:xfrm>
            <a:off x="1385316" y="1444752"/>
            <a:ext cx="1" cy="2240280"/>
          </a:xfrm>
          <a:prstGeom prst="line">
            <a:avLst/>
          </a:prstGeom>
          <a:ln w="5000">
            <a:solidFill>
              <a:srgbClr val="D6DEE8"/>
            </a:solidFill>
          </a:ln>
        </p:spPr>
      </p:cxnSp>
      <p:cxnSp>
        <p:nvCxnSpPr>
          <p:cNvPr id="12" name="Connector 12"/>
          <p:cNvCxnSpPr/>
          <p:nvPr/>
        </p:nvCxnSpPr>
        <p:spPr>
          <a:xfrm>
            <a:off x="713232" y="2116836"/>
            <a:ext cx="2240280" cy="1"/>
          </a:xfrm>
          <a:prstGeom prst="line">
            <a:avLst/>
          </a:prstGeom>
          <a:ln w="5000">
            <a:solidFill>
              <a:srgbClr val="D6DEE8"/>
            </a:solidFill>
          </a:ln>
        </p:spPr>
      </p:cxnSp>
      <p:cxnSp>
        <p:nvCxnSpPr>
          <p:cNvPr id="13" name="Connector 13"/>
          <p:cNvCxnSpPr/>
          <p:nvPr/>
        </p:nvCxnSpPr>
        <p:spPr>
          <a:xfrm>
            <a:off x="1609344" y="1444752"/>
            <a:ext cx="1" cy="2240280"/>
          </a:xfrm>
          <a:prstGeom prst="line">
            <a:avLst/>
          </a:prstGeom>
          <a:ln w="5000">
            <a:solidFill>
              <a:srgbClr val="D6DEE8"/>
            </a:solidFill>
          </a:ln>
        </p:spPr>
      </p:cxnSp>
      <p:cxnSp>
        <p:nvCxnSpPr>
          <p:cNvPr id="14" name="Connector 14"/>
          <p:cNvCxnSpPr/>
          <p:nvPr/>
        </p:nvCxnSpPr>
        <p:spPr>
          <a:xfrm>
            <a:off x="713232" y="2340864"/>
            <a:ext cx="2240280" cy="1"/>
          </a:xfrm>
          <a:prstGeom prst="line">
            <a:avLst/>
          </a:prstGeom>
          <a:ln w="5000">
            <a:solidFill>
              <a:srgbClr val="D6DEE8"/>
            </a:solidFill>
          </a:ln>
        </p:spPr>
      </p:cxnSp>
      <p:cxnSp>
        <p:nvCxnSpPr>
          <p:cNvPr id="15" name="Connector 15"/>
          <p:cNvCxnSpPr/>
          <p:nvPr/>
        </p:nvCxnSpPr>
        <p:spPr>
          <a:xfrm>
            <a:off x="1833372" y="1444752"/>
            <a:ext cx="1" cy="2240280"/>
          </a:xfrm>
          <a:prstGeom prst="line">
            <a:avLst/>
          </a:prstGeom>
          <a:ln w="5000">
            <a:solidFill>
              <a:srgbClr val="D6DEE8"/>
            </a:solidFill>
          </a:ln>
        </p:spPr>
      </p:cxnSp>
      <p:cxnSp>
        <p:nvCxnSpPr>
          <p:cNvPr id="16" name="Connector 16"/>
          <p:cNvCxnSpPr/>
          <p:nvPr/>
        </p:nvCxnSpPr>
        <p:spPr>
          <a:xfrm>
            <a:off x="713232" y="2564892"/>
            <a:ext cx="2240280" cy="1"/>
          </a:xfrm>
          <a:prstGeom prst="line">
            <a:avLst/>
          </a:prstGeom>
          <a:ln w="5000">
            <a:solidFill>
              <a:srgbClr val="D6DEE8"/>
            </a:solidFill>
          </a:ln>
        </p:spPr>
      </p:cxnSp>
      <p:cxnSp>
        <p:nvCxnSpPr>
          <p:cNvPr id="17" name="Connector 17"/>
          <p:cNvCxnSpPr/>
          <p:nvPr/>
        </p:nvCxnSpPr>
        <p:spPr>
          <a:xfrm>
            <a:off x="2057400" y="1444752"/>
            <a:ext cx="1" cy="2240280"/>
          </a:xfrm>
          <a:prstGeom prst="line">
            <a:avLst/>
          </a:prstGeom>
          <a:ln w="5000">
            <a:solidFill>
              <a:srgbClr val="D6DEE8"/>
            </a:solidFill>
          </a:ln>
        </p:spPr>
      </p:cxnSp>
      <p:cxnSp>
        <p:nvCxnSpPr>
          <p:cNvPr id="18" name="Connector 18"/>
          <p:cNvCxnSpPr/>
          <p:nvPr/>
        </p:nvCxnSpPr>
        <p:spPr>
          <a:xfrm>
            <a:off x="713232" y="2788920"/>
            <a:ext cx="2240280" cy="1"/>
          </a:xfrm>
          <a:prstGeom prst="line">
            <a:avLst/>
          </a:prstGeom>
          <a:ln w="5000">
            <a:solidFill>
              <a:srgbClr val="D6DEE8"/>
            </a:solidFill>
          </a:ln>
        </p:spPr>
      </p:cxnSp>
      <p:cxnSp>
        <p:nvCxnSpPr>
          <p:cNvPr id="19" name="Connector 19"/>
          <p:cNvCxnSpPr/>
          <p:nvPr/>
        </p:nvCxnSpPr>
        <p:spPr>
          <a:xfrm>
            <a:off x="2281428" y="1444752"/>
            <a:ext cx="1" cy="2240280"/>
          </a:xfrm>
          <a:prstGeom prst="line">
            <a:avLst/>
          </a:prstGeom>
          <a:ln w="5000">
            <a:solidFill>
              <a:srgbClr val="D6DEE8"/>
            </a:solidFill>
          </a:ln>
        </p:spPr>
      </p:cxnSp>
      <p:cxnSp>
        <p:nvCxnSpPr>
          <p:cNvPr id="20" name="Connector 20"/>
          <p:cNvCxnSpPr/>
          <p:nvPr/>
        </p:nvCxnSpPr>
        <p:spPr>
          <a:xfrm>
            <a:off x="713232" y="3012948"/>
            <a:ext cx="2240280" cy="1"/>
          </a:xfrm>
          <a:prstGeom prst="line">
            <a:avLst/>
          </a:prstGeom>
          <a:ln w="5000">
            <a:solidFill>
              <a:srgbClr val="D6DEE8"/>
            </a:solidFill>
          </a:ln>
        </p:spPr>
      </p:cxnSp>
      <p:cxnSp>
        <p:nvCxnSpPr>
          <p:cNvPr id="21" name="Connector 21"/>
          <p:cNvCxnSpPr/>
          <p:nvPr/>
        </p:nvCxnSpPr>
        <p:spPr>
          <a:xfrm>
            <a:off x="2505456" y="1444752"/>
            <a:ext cx="1" cy="2240280"/>
          </a:xfrm>
          <a:prstGeom prst="line">
            <a:avLst/>
          </a:prstGeom>
          <a:ln w="5000">
            <a:solidFill>
              <a:srgbClr val="D6DEE8"/>
            </a:solidFill>
          </a:ln>
        </p:spPr>
      </p:cxnSp>
      <p:cxnSp>
        <p:nvCxnSpPr>
          <p:cNvPr id="22" name="Connector 22"/>
          <p:cNvCxnSpPr/>
          <p:nvPr/>
        </p:nvCxnSpPr>
        <p:spPr>
          <a:xfrm>
            <a:off x="713232" y="3236976"/>
            <a:ext cx="2240280" cy="1"/>
          </a:xfrm>
          <a:prstGeom prst="line">
            <a:avLst/>
          </a:prstGeom>
          <a:ln w="5000">
            <a:solidFill>
              <a:srgbClr val="D6DEE8"/>
            </a:solidFill>
          </a:ln>
        </p:spPr>
      </p:cxnSp>
      <p:cxnSp>
        <p:nvCxnSpPr>
          <p:cNvPr id="23" name="Connector 23"/>
          <p:cNvCxnSpPr/>
          <p:nvPr/>
        </p:nvCxnSpPr>
        <p:spPr>
          <a:xfrm>
            <a:off x="2729484" y="1444752"/>
            <a:ext cx="1" cy="2240280"/>
          </a:xfrm>
          <a:prstGeom prst="line">
            <a:avLst/>
          </a:prstGeom>
          <a:ln w="5000">
            <a:solidFill>
              <a:srgbClr val="D6DEE8"/>
            </a:solidFill>
          </a:ln>
        </p:spPr>
      </p:cxnSp>
      <p:cxnSp>
        <p:nvCxnSpPr>
          <p:cNvPr id="24" name="Connector 24"/>
          <p:cNvCxnSpPr/>
          <p:nvPr/>
        </p:nvCxnSpPr>
        <p:spPr>
          <a:xfrm>
            <a:off x="713232" y="3461004"/>
            <a:ext cx="2240280" cy="1"/>
          </a:xfrm>
          <a:prstGeom prst="line">
            <a:avLst/>
          </a:prstGeom>
          <a:ln w="5000">
            <a:solidFill>
              <a:srgbClr val="D6DEE8"/>
            </a:solidFill>
          </a:ln>
        </p:spPr>
      </p:cxnSp>
      <p:sp>
        <p:nvSpPr>
          <p:cNvPr id="25" name="Ellipse 25"/>
          <p:cNvSpPr/>
          <p:nvPr/>
        </p:nvSpPr>
        <p:spPr>
          <a:xfrm>
            <a:off x="799483" y="1531003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26" name="Ellipse 26"/>
          <p:cNvSpPr/>
          <p:nvPr/>
        </p:nvSpPr>
        <p:spPr>
          <a:xfrm>
            <a:off x="1023511" y="1755031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1247539" y="1979059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1471567" y="2203087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29" name="Ellipse 29"/>
          <p:cNvSpPr/>
          <p:nvPr/>
        </p:nvSpPr>
        <p:spPr>
          <a:xfrm>
            <a:off x="1695595" y="2427115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30" name="Ellipse 30"/>
          <p:cNvSpPr/>
          <p:nvPr/>
        </p:nvSpPr>
        <p:spPr>
          <a:xfrm>
            <a:off x="1919623" y="2651143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2143651" y="2875171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32" name="Ellipse 32"/>
          <p:cNvSpPr/>
          <p:nvPr/>
        </p:nvSpPr>
        <p:spPr>
          <a:xfrm>
            <a:off x="2367679" y="3099199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33" name="Ellipse 33"/>
          <p:cNvSpPr/>
          <p:nvPr/>
        </p:nvSpPr>
        <p:spPr>
          <a:xfrm>
            <a:off x="2591707" y="3323227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34" name="Ellipse 34"/>
          <p:cNvSpPr/>
          <p:nvPr/>
        </p:nvSpPr>
        <p:spPr>
          <a:xfrm>
            <a:off x="2815735" y="3547255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35" name="Ellipse 35"/>
          <p:cNvSpPr/>
          <p:nvPr/>
        </p:nvSpPr>
        <p:spPr>
          <a:xfrm>
            <a:off x="1471567" y="1531003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36" name="Ellipse 36"/>
          <p:cNvSpPr/>
          <p:nvPr/>
        </p:nvSpPr>
        <p:spPr>
          <a:xfrm>
            <a:off x="1695595" y="1755031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37" name="Ellipse 37"/>
          <p:cNvSpPr/>
          <p:nvPr/>
        </p:nvSpPr>
        <p:spPr>
          <a:xfrm>
            <a:off x="1919623" y="1979059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38" name="Ellipse 38"/>
          <p:cNvSpPr/>
          <p:nvPr/>
        </p:nvSpPr>
        <p:spPr>
          <a:xfrm>
            <a:off x="799483" y="2203087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39" name="Ellipse 39"/>
          <p:cNvSpPr/>
          <p:nvPr/>
        </p:nvSpPr>
        <p:spPr>
          <a:xfrm>
            <a:off x="1023511" y="2427115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40" name="Ellipse 40"/>
          <p:cNvSpPr/>
          <p:nvPr/>
        </p:nvSpPr>
        <p:spPr>
          <a:xfrm>
            <a:off x="1247539" y="2651143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41" name="Ellipse 41"/>
          <p:cNvSpPr/>
          <p:nvPr/>
        </p:nvSpPr>
        <p:spPr>
          <a:xfrm>
            <a:off x="2591707" y="2875171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42" name="Ellipse 42"/>
          <p:cNvSpPr/>
          <p:nvPr/>
        </p:nvSpPr>
        <p:spPr>
          <a:xfrm>
            <a:off x="2815735" y="3099199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43" name="Ellipse 43"/>
          <p:cNvSpPr/>
          <p:nvPr/>
        </p:nvSpPr>
        <p:spPr>
          <a:xfrm>
            <a:off x="2143651" y="3323227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44" name="Ellipse 44"/>
          <p:cNvSpPr/>
          <p:nvPr/>
        </p:nvSpPr>
        <p:spPr>
          <a:xfrm>
            <a:off x="2367679" y="3547255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45" name="Ellipse 45"/>
          <p:cNvSpPr/>
          <p:nvPr/>
        </p:nvSpPr>
        <p:spPr>
          <a:xfrm>
            <a:off x="2591707" y="1979059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46" name="Ellipse 46"/>
          <p:cNvSpPr/>
          <p:nvPr/>
        </p:nvSpPr>
        <p:spPr>
          <a:xfrm>
            <a:off x="1247539" y="3323227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2143651" y="2203087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48" name="Ellipse 48"/>
          <p:cNvSpPr/>
          <p:nvPr/>
        </p:nvSpPr>
        <p:spPr>
          <a:xfrm>
            <a:off x="1471567" y="2875171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49" name="Ellipse 49"/>
          <p:cNvSpPr/>
          <p:nvPr/>
        </p:nvSpPr>
        <p:spPr>
          <a:xfrm>
            <a:off x="2367679" y="1755031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sp>
        <p:nvSpPr>
          <p:cNvPr id="50" name="Ellipse 50"/>
          <p:cNvSpPr/>
          <p:nvPr/>
        </p:nvSpPr>
        <p:spPr>
          <a:xfrm>
            <a:off x="1023511" y="3099199"/>
            <a:ext cx="51526" cy="51526"/>
          </a:xfrm>
          <a:prstGeom prst="ellipse">
            <a:avLst/>
          </a:prstGeom>
          <a:solidFill>
            <a:srgbClr val="111827"/>
          </a:solidFill>
          <a:ln w="3000">
            <a:solidFill>
              <a:srgbClr val="111827"/>
            </a:solidFill>
          </a:ln>
        </p:spPr>
      </p:sp>
      <p:cxnSp>
        <p:nvCxnSpPr>
          <p:cNvPr id="51" name="Connector 51"/>
          <p:cNvCxnSpPr/>
          <p:nvPr/>
        </p:nvCxnSpPr>
        <p:spPr>
          <a:xfrm>
            <a:off x="3063240" y="2560320"/>
            <a:ext cx="822960" cy="1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sp>
        <p:nvSpPr>
          <p:cNvPr id="52" name="TextBox 52"/>
          <p:cNvSpPr txBox="1"/>
          <p:nvPr/>
        </p:nvSpPr>
        <p:spPr>
          <a:xfrm>
            <a:off x="2944368" y="2157984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900">
                <a:solidFill>
                  <a:srgbClr val="1F2937"/>
                </a:solidFill>
                <a:latin typeface="Arial"/>
                <a:ea typeface="Microsoft YaHei"/>
              </a:rPr>
              <a:t>symbolic</a:t>
            </a:r>
            <a:endParaRPr lang="zh-CN"/>
          </a:p>
          <a:p>
            <a:pPr algn="ctr">
              <a:buNone/>
            </a:pPr>
            <a:r>
              <a:rPr lang="zh-CN" sz="900">
                <a:solidFill>
                  <a:srgbClr val="1F2937"/>
                </a:solidFill>
                <a:latin typeface="Arial"/>
                <a:ea typeface="Microsoft YaHei"/>
              </a:rPr>
              <a:t>analysis</a:t>
            </a:r>
            <a:endParaRPr lang="zh-CN"/>
          </a:p>
        </p:txBody>
      </p:sp>
      <p:cxnSp>
        <p:nvCxnSpPr>
          <p:cNvPr id="53" name="Connector 53"/>
          <p:cNvCxnSpPr/>
          <p:nvPr/>
        </p:nvCxnSpPr>
        <p:spPr>
          <a:xfrm flipH="1">
            <a:off x="4837176" y="1645920"/>
            <a:ext cx="685800" cy="777240"/>
          </a:xfrm>
          <a:prstGeom prst="line">
            <a:avLst/>
          </a:prstGeom>
          <a:ln w="12700">
            <a:solidFill>
              <a:srgbClr val="374151"/>
            </a:solidFill>
          </a:ln>
        </p:spPr>
      </p:cxnSp>
      <p:cxnSp>
        <p:nvCxnSpPr>
          <p:cNvPr id="54" name="Connector 54"/>
          <p:cNvCxnSpPr/>
          <p:nvPr/>
        </p:nvCxnSpPr>
        <p:spPr>
          <a:xfrm>
            <a:off x="5522976" y="1645920"/>
            <a:ext cx="685800" cy="777240"/>
          </a:xfrm>
          <a:prstGeom prst="line">
            <a:avLst/>
          </a:prstGeom>
          <a:ln w="12700">
            <a:solidFill>
              <a:srgbClr val="374151"/>
            </a:solidFill>
          </a:ln>
        </p:spPr>
      </p:cxnSp>
      <p:cxnSp>
        <p:nvCxnSpPr>
          <p:cNvPr id="55" name="Connector 55"/>
          <p:cNvCxnSpPr/>
          <p:nvPr/>
        </p:nvCxnSpPr>
        <p:spPr>
          <a:xfrm flipH="1">
            <a:off x="4334256" y="2770632"/>
            <a:ext cx="502920" cy="932688"/>
          </a:xfrm>
          <a:prstGeom prst="line">
            <a:avLst/>
          </a:prstGeom>
          <a:ln w="12700">
            <a:solidFill>
              <a:srgbClr val="374151"/>
            </a:solidFill>
          </a:ln>
        </p:spPr>
      </p:cxnSp>
      <p:cxnSp>
        <p:nvCxnSpPr>
          <p:cNvPr id="56" name="Connector 56"/>
          <p:cNvCxnSpPr/>
          <p:nvPr/>
        </p:nvCxnSpPr>
        <p:spPr>
          <a:xfrm>
            <a:off x="4837176" y="2770632"/>
            <a:ext cx="411480" cy="932688"/>
          </a:xfrm>
          <a:prstGeom prst="line">
            <a:avLst/>
          </a:prstGeom>
          <a:ln w="12700">
            <a:solidFill>
              <a:srgbClr val="374151"/>
            </a:solidFill>
          </a:ln>
        </p:spPr>
      </p:cxnSp>
      <p:cxnSp>
        <p:nvCxnSpPr>
          <p:cNvPr id="57" name="Connector 57"/>
          <p:cNvCxnSpPr/>
          <p:nvPr/>
        </p:nvCxnSpPr>
        <p:spPr>
          <a:xfrm flipH="1">
            <a:off x="5888736" y="2770632"/>
            <a:ext cx="320040" cy="932688"/>
          </a:xfrm>
          <a:prstGeom prst="line">
            <a:avLst/>
          </a:prstGeom>
          <a:ln w="12700">
            <a:solidFill>
              <a:srgbClr val="374151"/>
            </a:solidFill>
          </a:ln>
        </p:spPr>
      </p:cxnSp>
      <p:cxnSp>
        <p:nvCxnSpPr>
          <p:cNvPr id="58" name="Connector 58"/>
          <p:cNvCxnSpPr/>
          <p:nvPr/>
        </p:nvCxnSpPr>
        <p:spPr>
          <a:xfrm>
            <a:off x="6208776" y="2770632"/>
            <a:ext cx="594360" cy="932688"/>
          </a:xfrm>
          <a:prstGeom prst="line">
            <a:avLst/>
          </a:prstGeom>
          <a:ln w="12700">
            <a:solidFill>
              <a:srgbClr val="374151"/>
            </a:solidFill>
          </a:ln>
        </p:spPr>
      </p:cxnSp>
      <p:sp>
        <p:nvSpPr>
          <p:cNvPr id="59" name="Ellipse 59"/>
          <p:cNvSpPr/>
          <p:nvPr/>
        </p:nvSpPr>
        <p:spPr>
          <a:xfrm>
            <a:off x="5349240" y="1298448"/>
            <a:ext cx="347472" cy="347472"/>
          </a:xfrm>
          <a:prstGeom prst="ellipse">
            <a:avLst/>
          </a:prstGeom>
          <a:solidFill>
            <a:srgbClr val="CFE8FF"/>
          </a:solidFill>
          <a:ln w="12700">
            <a:solidFill>
              <a:srgbClr val="2E5E8C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000" b="1">
                <a:solidFill>
                  <a:srgbClr val="1F2937"/>
                </a:solidFill>
                <a:latin typeface="Arial"/>
                <a:ea typeface="Microsoft YaHei"/>
              </a:rPr>
              <a:t>root</a:t>
            </a:r>
            <a:endParaRPr lang="zh-CN"/>
          </a:p>
        </p:txBody>
      </p:sp>
      <p:sp>
        <p:nvSpPr>
          <p:cNvPr id="60" name="Ellipse 60"/>
          <p:cNvSpPr/>
          <p:nvPr/>
        </p:nvSpPr>
        <p:spPr>
          <a:xfrm>
            <a:off x="4663440" y="2423160"/>
            <a:ext cx="347472" cy="347472"/>
          </a:xfrm>
          <a:prstGeom prst="ellipse">
            <a:avLst/>
          </a:prstGeom>
          <a:solidFill>
            <a:srgbClr val="E8F3FF"/>
          </a:solidFill>
          <a:ln w="12700">
            <a:solidFill>
              <a:srgbClr val="2E5E8C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000" b="1">
                <a:solidFill>
                  <a:srgbClr val="1F2937"/>
                </a:solidFill>
                <a:latin typeface="Arial"/>
                <a:ea typeface="Microsoft YaHei"/>
              </a:rPr>
              <a:t>N2</a:t>
            </a:r>
            <a:endParaRPr lang="zh-CN"/>
          </a:p>
        </p:txBody>
      </p:sp>
      <p:sp>
        <p:nvSpPr>
          <p:cNvPr id="61" name="Ellipse 61"/>
          <p:cNvSpPr/>
          <p:nvPr/>
        </p:nvSpPr>
        <p:spPr>
          <a:xfrm>
            <a:off x="6035040" y="2423160"/>
            <a:ext cx="347472" cy="347472"/>
          </a:xfrm>
          <a:prstGeom prst="ellipse">
            <a:avLst/>
          </a:prstGeom>
          <a:solidFill>
            <a:srgbClr val="E8F3FF"/>
          </a:solidFill>
          <a:ln w="12700">
            <a:solidFill>
              <a:srgbClr val="2E5E8C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000" b="1">
                <a:solidFill>
                  <a:srgbClr val="1F2937"/>
                </a:solidFill>
                <a:latin typeface="Arial"/>
                <a:ea typeface="Microsoft YaHei"/>
              </a:rPr>
              <a:t>N3</a:t>
            </a:r>
            <a:endParaRPr lang="zh-CN"/>
          </a:p>
        </p:txBody>
      </p:sp>
      <p:sp>
        <p:nvSpPr>
          <p:cNvPr id="62" name="Ellipse 62"/>
          <p:cNvSpPr/>
          <p:nvPr/>
        </p:nvSpPr>
        <p:spPr>
          <a:xfrm>
            <a:off x="4160520" y="3703320"/>
            <a:ext cx="347472" cy="347472"/>
          </a:xfrm>
          <a:prstGeom prst="ellipse">
            <a:avLst/>
          </a:prstGeom>
          <a:solidFill>
            <a:srgbClr val="F4F7FA"/>
          </a:solidFill>
          <a:ln w="12700">
            <a:solidFill>
              <a:srgbClr val="2E5E8C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000" b="1">
                <a:solidFill>
                  <a:srgbClr val="1F2937"/>
                </a:solidFill>
                <a:latin typeface="Arial"/>
                <a:ea typeface="Microsoft YaHei"/>
              </a:rPr>
              <a:t>L1</a:t>
            </a:r>
            <a:endParaRPr lang="zh-CN"/>
          </a:p>
        </p:txBody>
      </p:sp>
      <p:sp>
        <p:nvSpPr>
          <p:cNvPr id="63" name="Ellipse 63"/>
          <p:cNvSpPr/>
          <p:nvPr/>
        </p:nvSpPr>
        <p:spPr>
          <a:xfrm>
            <a:off x="5074920" y="3703320"/>
            <a:ext cx="347472" cy="347472"/>
          </a:xfrm>
          <a:prstGeom prst="ellipse">
            <a:avLst/>
          </a:prstGeom>
          <a:solidFill>
            <a:srgbClr val="F4F7FA"/>
          </a:solidFill>
          <a:ln w="12700">
            <a:solidFill>
              <a:srgbClr val="2E5E8C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000" b="1">
                <a:solidFill>
                  <a:srgbClr val="1F2937"/>
                </a:solidFill>
                <a:latin typeface="Arial"/>
                <a:ea typeface="Microsoft YaHei"/>
              </a:rPr>
              <a:t>L2</a:t>
            </a:r>
            <a:endParaRPr lang="zh-CN"/>
          </a:p>
        </p:txBody>
      </p:sp>
      <p:sp>
        <p:nvSpPr>
          <p:cNvPr id="64" name="Ellipse 64"/>
          <p:cNvSpPr/>
          <p:nvPr/>
        </p:nvSpPr>
        <p:spPr>
          <a:xfrm>
            <a:off x="5715000" y="3703320"/>
            <a:ext cx="347472" cy="347472"/>
          </a:xfrm>
          <a:prstGeom prst="ellipse">
            <a:avLst/>
          </a:prstGeom>
          <a:solidFill>
            <a:srgbClr val="F4F7FA"/>
          </a:solidFill>
          <a:ln w="12700">
            <a:solidFill>
              <a:srgbClr val="2E5E8C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000" b="1">
                <a:solidFill>
                  <a:srgbClr val="1F2937"/>
                </a:solidFill>
                <a:latin typeface="Arial"/>
                <a:ea typeface="Microsoft YaHei"/>
              </a:rPr>
              <a:t>L3</a:t>
            </a:r>
            <a:endParaRPr lang="zh-CN"/>
          </a:p>
        </p:txBody>
      </p:sp>
      <p:sp>
        <p:nvSpPr>
          <p:cNvPr id="65" name="Ellipse 65"/>
          <p:cNvSpPr/>
          <p:nvPr/>
        </p:nvSpPr>
        <p:spPr>
          <a:xfrm>
            <a:off x="6629400" y="3703320"/>
            <a:ext cx="347472" cy="347472"/>
          </a:xfrm>
          <a:prstGeom prst="ellipse">
            <a:avLst/>
          </a:prstGeom>
          <a:solidFill>
            <a:srgbClr val="F4F7FA"/>
          </a:solidFill>
          <a:ln w="12700">
            <a:solidFill>
              <a:srgbClr val="2E5E8C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000" b="1">
                <a:solidFill>
                  <a:srgbClr val="1F2937"/>
                </a:solidFill>
                <a:latin typeface="Arial"/>
                <a:ea typeface="Microsoft YaHei"/>
              </a:rPr>
              <a:t>L4</a:t>
            </a:r>
            <a:endParaRPr lang="zh-CN"/>
          </a:p>
        </p:txBody>
      </p:sp>
      <p:sp>
        <p:nvSpPr>
          <p:cNvPr id="66" name="TextBox 66"/>
          <p:cNvSpPr txBox="1"/>
          <p:nvPr/>
        </p:nvSpPr>
        <p:spPr>
          <a:xfrm>
            <a:off x="3950208" y="4187952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000">
                <a:solidFill>
                  <a:srgbClr val="4B5563"/>
                </a:solidFill>
                <a:latin typeface="Arial"/>
                <a:ea typeface="Microsoft YaHei"/>
              </a:rPr>
              <a:t>叶节点 → 内部节点 → 根节点</a:t>
            </a:r>
            <a:endParaRPr lang="zh-CN"/>
          </a:p>
        </p:txBody>
      </p:sp>
      <p:sp>
        <p:nvSpPr>
          <p:cNvPr id="67" name="Rectangle 67"/>
          <p:cNvSpPr/>
          <p:nvPr/>
        </p:nvSpPr>
        <p:spPr>
          <a:xfrm>
            <a:off x="9189720" y="1024128"/>
            <a:ext cx="1874520" cy="868680"/>
          </a:xfrm>
          <a:prstGeom prst="rect">
            <a:avLst/>
          </a:prstGeom>
          <a:solidFill>
            <a:srgbClr val="F8FBFF"/>
          </a:solidFill>
          <a:ln w="12700">
            <a:solidFill>
              <a:srgbClr val="8FA7BF"/>
            </a:solidFill>
          </a:ln>
        </p:spPr>
      </p:sp>
      <p:sp>
        <p:nvSpPr>
          <p:cNvPr id="68" name="Rectangle 68"/>
          <p:cNvSpPr/>
          <p:nvPr/>
        </p:nvSpPr>
        <p:spPr>
          <a:xfrm>
            <a:off x="9262872" y="1115568"/>
            <a:ext cx="674827" cy="304038"/>
          </a:xfrm>
          <a:prstGeom prst="rect">
            <a:avLst/>
          </a:prstGeom>
          <a:solidFill>
            <a:srgbClr val="D9ECFF"/>
          </a:solidFill>
          <a:ln w="12700">
            <a:solidFill>
              <a:srgbClr val="A9BCD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F11</a:t>
            </a:r>
            <a:endParaRPr lang="zh-CN"/>
          </a:p>
        </p:txBody>
      </p:sp>
      <p:sp>
        <p:nvSpPr>
          <p:cNvPr id="69" name="Rectangle 69"/>
          <p:cNvSpPr/>
          <p:nvPr/>
        </p:nvSpPr>
        <p:spPr>
          <a:xfrm>
            <a:off x="9937699" y="1115568"/>
            <a:ext cx="899770" cy="304038"/>
          </a:xfrm>
          <a:prstGeom prst="rect">
            <a:avLst/>
          </a:prstGeom>
          <a:solidFill>
            <a:srgbClr val="EEF3F7"/>
          </a:solidFill>
          <a:ln w="12700">
            <a:solidFill>
              <a:srgbClr val="A9BCD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F12</a:t>
            </a:r>
            <a:endParaRPr lang="zh-CN"/>
          </a:p>
        </p:txBody>
      </p:sp>
      <p:sp>
        <p:nvSpPr>
          <p:cNvPr id="70" name="Rectangle 70"/>
          <p:cNvSpPr/>
          <p:nvPr/>
        </p:nvSpPr>
        <p:spPr>
          <a:xfrm>
            <a:off x="9262872" y="1419606"/>
            <a:ext cx="674827" cy="330098"/>
          </a:xfrm>
          <a:prstGeom prst="rect">
            <a:avLst/>
          </a:prstGeom>
          <a:solidFill>
            <a:srgbClr val="EEF3F7"/>
          </a:solidFill>
          <a:ln w="12700">
            <a:solidFill>
              <a:srgbClr val="A9BCD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F21</a:t>
            </a:r>
            <a:endParaRPr lang="zh-CN"/>
          </a:p>
        </p:txBody>
      </p:sp>
      <p:sp>
        <p:nvSpPr>
          <p:cNvPr id="71" name="Rectangle 71"/>
          <p:cNvSpPr/>
          <p:nvPr/>
        </p:nvSpPr>
        <p:spPr>
          <a:xfrm>
            <a:off x="9937699" y="1419606"/>
            <a:ext cx="899770" cy="330098"/>
          </a:xfrm>
          <a:prstGeom prst="rect">
            <a:avLst/>
          </a:prstGeom>
          <a:solidFill>
            <a:srgbClr val="F3F5F7"/>
          </a:solidFill>
          <a:ln w="12700">
            <a:solidFill>
              <a:srgbClr val="A9BCD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F22</a:t>
            </a:r>
            <a:endParaRPr lang="zh-CN"/>
          </a:p>
        </p:txBody>
      </p:sp>
      <p:sp>
        <p:nvSpPr>
          <p:cNvPr id="72" name="TextBox 72"/>
          <p:cNvSpPr txBox="1"/>
          <p:nvPr/>
        </p:nvSpPr>
        <p:spPr>
          <a:xfrm>
            <a:off x="9189720" y="1673352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2E5E8C"/>
                </a:solidFill>
                <a:latin typeface="Arial"/>
                <a:ea typeface="Microsoft YaHei"/>
              </a:rPr>
              <a:t>root front</a:t>
            </a:r>
            <a:endParaRPr lang="zh-CN"/>
          </a:p>
        </p:txBody>
      </p:sp>
      <p:sp>
        <p:nvSpPr>
          <p:cNvPr id="73" name="Rectangle 73"/>
          <p:cNvSpPr/>
          <p:nvPr/>
        </p:nvSpPr>
        <p:spPr>
          <a:xfrm>
            <a:off x="7818120" y="2496312"/>
            <a:ext cx="1691640" cy="804672"/>
          </a:xfrm>
          <a:prstGeom prst="rect">
            <a:avLst/>
          </a:prstGeom>
          <a:solidFill>
            <a:srgbClr val="F8FBFF"/>
          </a:solidFill>
          <a:ln w="12700">
            <a:solidFill>
              <a:srgbClr val="8FA7BF"/>
            </a:solidFill>
          </a:ln>
        </p:spPr>
      </p:sp>
      <p:sp>
        <p:nvSpPr>
          <p:cNvPr id="74" name="Rectangle 74"/>
          <p:cNvSpPr/>
          <p:nvPr/>
        </p:nvSpPr>
        <p:spPr>
          <a:xfrm>
            <a:off x="7891272" y="2587752"/>
            <a:ext cx="608990" cy="281635"/>
          </a:xfrm>
          <a:prstGeom prst="rect">
            <a:avLst/>
          </a:prstGeom>
          <a:solidFill>
            <a:srgbClr val="D9ECFF"/>
          </a:solidFill>
          <a:ln w="12700">
            <a:solidFill>
              <a:srgbClr val="A9BCD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F11</a:t>
            </a:r>
            <a:endParaRPr lang="zh-CN"/>
          </a:p>
        </p:txBody>
      </p:sp>
      <p:sp>
        <p:nvSpPr>
          <p:cNvPr id="75" name="Rectangle 75"/>
          <p:cNvSpPr/>
          <p:nvPr/>
        </p:nvSpPr>
        <p:spPr>
          <a:xfrm>
            <a:off x="8500262" y="2587752"/>
            <a:ext cx="811987" cy="281635"/>
          </a:xfrm>
          <a:prstGeom prst="rect">
            <a:avLst/>
          </a:prstGeom>
          <a:solidFill>
            <a:srgbClr val="EEF3F7"/>
          </a:solidFill>
          <a:ln w="12700">
            <a:solidFill>
              <a:srgbClr val="A9BCD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F12</a:t>
            </a:r>
            <a:endParaRPr lang="zh-CN"/>
          </a:p>
        </p:txBody>
      </p:sp>
      <p:sp>
        <p:nvSpPr>
          <p:cNvPr id="76" name="Rectangle 76"/>
          <p:cNvSpPr/>
          <p:nvPr/>
        </p:nvSpPr>
        <p:spPr>
          <a:xfrm>
            <a:off x="7891272" y="2869387"/>
            <a:ext cx="608990" cy="305775"/>
          </a:xfrm>
          <a:prstGeom prst="rect">
            <a:avLst/>
          </a:prstGeom>
          <a:solidFill>
            <a:srgbClr val="EEF3F7"/>
          </a:solidFill>
          <a:ln w="12700">
            <a:solidFill>
              <a:srgbClr val="A9BCD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F21</a:t>
            </a:r>
            <a:endParaRPr lang="zh-CN"/>
          </a:p>
        </p:txBody>
      </p:sp>
      <p:sp>
        <p:nvSpPr>
          <p:cNvPr id="77" name="Rectangle 77"/>
          <p:cNvSpPr/>
          <p:nvPr/>
        </p:nvSpPr>
        <p:spPr>
          <a:xfrm>
            <a:off x="8500262" y="2869387"/>
            <a:ext cx="811987" cy="305775"/>
          </a:xfrm>
          <a:prstGeom prst="rect">
            <a:avLst/>
          </a:prstGeom>
          <a:solidFill>
            <a:srgbClr val="F3F5F7"/>
          </a:solidFill>
          <a:ln w="12700">
            <a:solidFill>
              <a:srgbClr val="A9BCD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F22</a:t>
            </a:r>
            <a:endParaRPr lang="zh-CN"/>
          </a:p>
        </p:txBody>
      </p:sp>
      <p:sp>
        <p:nvSpPr>
          <p:cNvPr id="78" name="TextBox 78"/>
          <p:cNvSpPr txBox="1"/>
          <p:nvPr/>
        </p:nvSpPr>
        <p:spPr>
          <a:xfrm>
            <a:off x="7818120" y="3081528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2E5E8C"/>
                </a:solidFill>
                <a:latin typeface="Arial"/>
                <a:ea typeface="Microsoft YaHei"/>
              </a:rPr>
              <a:t>child front</a:t>
            </a:r>
            <a:endParaRPr lang="zh-CN"/>
          </a:p>
        </p:txBody>
      </p:sp>
      <p:sp>
        <p:nvSpPr>
          <p:cNvPr id="79" name="Rectangle 79"/>
          <p:cNvSpPr/>
          <p:nvPr/>
        </p:nvSpPr>
        <p:spPr>
          <a:xfrm>
            <a:off x="9829800" y="2496312"/>
            <a:ext cx="1691640" cy="804672"/>
          </a:xfrm>
          <a:prstGeom prst="rect">
            <a:avLst/>
          </a:prstGeom>
          <a:solidFill>
            <a:srgbClr val="F8FBFF"/>
          </a:solidFill>
          <a:ln w="12700">
            <a:solidFill>
              <a:srgbClr val="8FA7BF"/>
            </a:solidFill>
          </a:ln>
        </p:spPr>
      </p:sp>
      <p:sp>
        <p:nvSpPr>
          <p:cNvPr id="80" name="Rectangle 80"/>
          <p:cNvSpPr/>
          <p:nvPr/>
        </p:nvSpPr>
        <p:spPr>
          <a:xfrm>
            <a:off x="9902952" y="2587752"/>
            <a:ext cx="608990" cy="281635"/>
          </a:xfrm>
          <a:prstGeom prst="rect">
            <a:avLst/>
          </a:prstGeom>
          <a:solidFill>
            <a:srgbClr val="D9ECFF"/>
          </a:solidFill>
          <a:ln w="12700">
            <a:solidFill>
              <a:srgbClr val="A9BCD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F11</a:t>
            </a:r>
            <a:endParaRPr lang="zh-CN"/>
          </a:p>
        </p:txBody>
      </p:sp>
      <p:sp>
        <p:nvSpPr>
          <p:cNvPr id="81" name="Rectangle 81"/>
          <p:cNvSpPr/>
          <p:nvPr/>
        </p:nvSpPr>
        <p:spPr>
          <a:xfrm>
            <a:off x="10511942" y="2587752"/>
            <a:ext cx="811987" cy="281635"/>
          </a:xfrm>
          <a:prstGeom prst="rect">
            <a:avLst/>
          </a:prstGeom>
          <a:solidFill>
            <a:srgbClr val="EEF3F7"/>
          </a:solidFill>
          <a:ln w="12700">
            <a:solidFill>
              <a:srgbClr val="A9BCD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F12</a:t>
            </a:r>
            <a:endParaRPr lang="zh-CN"/>
          </a:p>
        </p:txBody>
      </p:sp>
      <p:sp>
        <p:nvSpPr>
          <p:cNvPr id="82" name="Rectangle 82"/>
          <p:cNvSpPr/>
          <p:nvPr/>
        </p:nvSpPr>
        <p:spPr>
          <a:xfrm>
            <a:off x="9902952" y="2869387"/>
            <a:ext cx="608990" cy="305775"/>
          </a:xfrm>
          <a:prstGeom prst="rect">
            <a:avLst/>
          </a:prstGeom>
          <a:solidFill>
            <a:srgbClr val="EEF3F7"/>
          </a:solidFill>
          <a:ln w="12700">
            <a:solidFill>
              <a:srgbClr val="A9BCD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F21</a:t>
            </a:r>
            <a:endParaRPr lang="zh-CN"/>
          </a:p>
        </p:txBody>
      </p:sp>
      <p:sp>
        <p:nvSpPr>
          <p:cNvPr id="83" name="Rectangle 83"/>
          <p:cNvSpPr/>
          <p:nvPr/>
        </p:nvSpPr>
        <p:spPr>
          <a:xfrm>
            <a:off x="10511942" y="2869387"/>
            <a:ext cx="811987" cy="305775"/>
          </a:xfrm>
          <a:prstGeom prst="rect">
            <a:avLst/>
          </a:prstGeom>
          <a:solidFill>
            <a:srgbClr val="F3F5F7"/>
          </a:solidFill>
          <a:ln w="12700">
            <a:solidFill>
              <a:srgbClr val="A9BCD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F22</a:t>
            </a:r>
            <a:endParaRPr lang="zh-CN"/>
          </a:p>
        </p:txBody>
      </p:sp>
      <p:sp>
        <p:nvSpPr>
          <p:cNvPr id="84" name="TextBox 84"/>
          <p:cNvSpPr txBox="1"/>
          <p:nvPr/>
        </p:nvSpPr>
        <p:spPr>
          <a:xfrm>
            <a:off x="9829800" y="3081528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2E5E8C"/>
                </a:solidFill>
                <a:latin typeface="Arial"/>
                <a:ea typeface="Microsoft YaHei"/>
              </a:rPr>
              <a:t>child front</a:t>
            </a:r>
            <a:endParaRPr lang="zh-CN"/>
          </a:p>
        </p:txBody>
      </p:sp>
      <p:sp>
        <p:nvSpPr>
          <p:cNvPr id="85" name="Rectangle 85"/>
          <p:cNvSpPr/>
          <p:nvPr/>
        </p:nvSpPr>
        <p:spPr>
          <a:xfrm>
            <a:off x="7635240" y="4069080"/>
            <a:ext cx="1600200" cy="749808"/>
          </a:xfrm>
          <a:prstGeom prst="rect">
            <a:avLst/>
          </a:prstGeom>
          <a:solidFill>
            <a:srgbClr val="F8FBFF"/>
          </a:solidFill>
          <a:ln w="12700">
            <a:solidFill>
              <a:srgbClr val="8FA7BF"/>
            </a:solidFill>
          </a:ln>
        </p:spPr>
      </p:sp>
      <p:sp>
        <p:nvSpPr>
          <p:cNvPr id="86" name="Rectangle 86"/>
          <p:cNvSpPr/>
          <p:nvPr/>
        </p:nvSpPr>
        <p:spPr>
          <a:xfrm>
            <a:off x="7708392" y="4160520"/>
            <a:ext cx="576072" cy="262433"/>
          </a:xfrm>
          <a:prstGeom prst="rect">
            <a:avLst/>
          </a:prstGeom>
          <a:solidFill>
            <a:srgbClr val="D9ECFF"/>
          </a:solidFill>
          <a:ln w="12700">
            <a:solidFill>
              <a:srgbClr val="A9BCD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F11</a:t>
            </a:r>
            <a:endParaRPr lang="zh-CN"/>
          </a:p>
        </p:txBody>
      </p:sp>
      <p:sp>
        <p:nvSpPr>
          <p:cNvPr id="87" name="Rectangle 87"/>
          <p:cNvSpPr/>
          <p:nvPr/>
        </p:nvSpPr>
        <p:spPr>
          <a:xfrm>
            <a:off x="8284464" y="4160520"/>
            <a:ext cx="768096" cy="262433"/>
          </a:xfrm>
          <a:prstGeom prst="rect">
            <a:avLst/>
          </a:prstGeom>
          <a:solidFill>
            <a:srgbClr val="EEF3F7"/>
          </a:solidFill>
          <a:ln w="12700">
            <a:solidFill>
              <a:srgbClr val="A9BCD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F12</a:t>
            </a:r>
            <a:endParaRPr lang="zh-CN"/>
          </a:p>
        </p:txBody>
      </p:sp>
      <p:sp>
        <p:nvSpPr>
          <p:cNvPr id="88" name="Rectangle 88"/>
          <p:cNvSpPr/>
          <p:nvPr/>
        </p:nvSpPr>
        <p:spPr>
          <a:xfrm>
            <a:off x="7708392" y="4422953"/>
            <a:ext cx="576072" cy="284927"/>
          </a:xfrm>
          <a:prstGeom prst="rect">
            <a:avLst/>
          </a:prstGeom>
          <a:solidFill>
            <a:srgbClr val="EEF3F7"/>
          </a:solidFill>
          <a:ln w="12700">
            <a:solidFill>
              <a:srgbClr val="A9BCD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F21</a:t>
            </a:r>
            <a:endParaRPr lang="zh-CN"/>
          </a:p>
        </p:txBody>
      </p:sp>
      <p:sp>
        <p:nvSpPr>
          <p:cNvPr id="89" name="Rectangle 89"/>
          <p:cNvSpPr/>
          <p:nvPr/>
        </p:nvSpPr>
        <p:spPr>
          <a:xfrm>
            <a:off x="8284464" y="4422953"/>
            <a:ext cx="768096" cy="284927"/>
          </a:xfrm>
          <a:prstGeom prst="rect">
            <a:avLst/>
          </a:prstGeom>
          <a:solidFill>
            <a:srgbClr val="F3F5F7"/>
          </a:solidFill>
          <a:ln w="12700">
            <a:solidFill>
              <a:srgbClr val="A9BCD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F22</a:t>
            </a:r>
            <a:endParaRPr lang="zh-CN"/>
          </a:p>
        </p:txBody>
      </p:sp>
      <p:sp>
        <p:nvSpPr>
          <p:cNvPr id="90" name="TextBox 90"/>
          <p:cNvSpPr txBox="1"/>
          <p:nvPr/>
        </p:nvSpPr>
        <p:spPr>
          <a:xfrm>
            <a:off x="7635240" y="4599432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2E5E8C"/>
                </a:solidFill>
                <a:latin typeface="Arial"/>
                <a:ea typeface="Microsoft YaHei"/>
              </a:rPr>
              <a:t>leaf front</a:t>
            </a:r>
            <a:endParaRPr lang="zh-CN"/>
          </a:p>
        </p:txBody>
      </p:sp>
      <p:sp>
        <p:nvSpPr>
          <p:cNvPr id="91" name="Rectangle 91"/>
          <p:cNvSpPr/>
          <p:nvPr/>
        </p:nvSpPr>
        <p:spPr>
          <a:xfrm>
            <a:off x="9646920" y="4069080"/>
            <a:ext cx="1600200" cy="749808"/>
          </a:xfrm>
          <a:prstGeom prst="rect">
            <a:avLst/>
          </a:prstGeom>
          <a:solidFill>
            <a:srgbClr val="F8FBFF"/>
          </a:solidFill>
          <a:ln w="12700">
            <a:solidFill>
              <a:srgbClr val="8FA7BF"/>
            </a:solidFill>
          </a:ln>
        </p:spPr>
      </p:sp>
      <p:sp>
        <p:nvSpPr>
          <p:cNvPr id="92" name="Rectangle 92"/>
          <p:cNvSpPr/>
          <p:nvPr/>
        </p:nvSpPr>
        <p:spPr>
          <a:xfrm>
            <a:off x="9720072" y="4160520"/>
            <a:ext cx="576072" cy="262433"/>
          </a:xfrm>
          <a:prstGeom prst="rect">
            <a:avLst/>
          </a:prstGeom>
          <a:solidFill>
            <a:srgbClr val="D9ECFF"/>
          </a:solidFill>
          <a:ln w="12700">
            <a:solidFill>
              <a:srgbClr val="A9BCD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F11</a:t>
            </a:r>
            <a:endParaRPr lang="zh-CN"/>
          </a:p>
        </p:txBody>
      </p:sp>
      <p:sp>
        <p:nvSpPr>
          <p:cNvPr id="93" name="Rectangle 93"/>
          <p:cNvSpPr/>
          <p:nvPr/>
        </p:nvSpPr>
        <p:spPr>
          <a:xfrm>
            <a:off x="10296144" y="4160520"/>
            <a:ext cx="768096" cy="262433"/>
          </a:xfrm>
          <a:prstGeom prst="rect">
            <a:avLst/>
          </a:prstGeom>
          <a:solidFill>
            <a:srgbClr val="EEF3F7"/>
          </a:solidFill>
          <a:ln w="12700">
            <a:solidFill>
              <a:srgbClr val="A9BCD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F12</a:t>
            </a:r>
            <a:endParaRPr lang="zh-CN"/>
          </a:p>
        </p:txBody>
      </p:sp>
      <p:sp>
        <p:nvSpPr>
          <p:cNvPr id="94" name="Rectangle 94"/>
          <p:cNvSpPr/>
          <p:nvPr/>
        </p:nvSpPr>
        <p:spPr>
          <a:xfrm>
            <a:off x="9720072" y="4422953"/>
            <a:ext cx="576072" cy="284927"/>
          </a:xfrm>
          <a:prstGeom prst="rect">
            <a:avLst/>
          </a:prstGeom>
          <a:solidFill>
            <a:srgbClr val="EEF3F7"/>
          </a:solidFill>
          <a:ln w="12700">
            <a:solidFill>
              <a:srgbClr val="A9BCD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F21</a:t>
            </a:r>
            <a:endParaRPr lang="zh-CN"/>
          </a:p>
        </p:txBody>
      </p:sp>
      <p:sp>
        <p:nvSpPr>
          <p:cNvPr id="95" name="Rectangle 95"/>
          <p:cNvSpPr/>
          <p:nvPr/>
        </p:nvSpPr>
        <p:spPr>
          <a:xfrm>
            <a:off x="10296144" y="4422953"/>
            <a:ext cx="768096" cy="284927"/>
          </a:xfrm>
          <a:prstGeom prst="rect">
            <a:avLst/>
          </a:prstGeom>
          <a:solidFill>
            <a:srgbClr val="F3F5F7"/>
          </a:solidFill>
          <a:ln w="12700">
            <a:solidFill>
              <a:srgbClr val="A9BCD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F22</a:t>
            </a:r>
            <a:endParaRPr lang="zh-CN"/>
          </a:p>
        </p:txBody>
      </p:sp>
      <p:sp>
        <p:nvSpPr>
          <p:cNvPr id="96" name="TextBox 96"/>
          <p:cNvSpPr txBox="1"/>
          <p:nvPr/>
        </p:nvSpPr>
        <p:spPr>
          <a:xfrm>
            <a:off x="9646920" y="4599432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2E5E8C"/>
                </a:solidFill>
                <a:latin typeface="Arial"/>
                <a:ea typeface="Microsoft YaHei"/>
              </a:rPr>
              <a:t>leaf front</a:t>
            </a:r>
            <a:endParaRPr lang="zh-CN"/>
          </a:p>
        </p:txBody>
      </p:sp>
      <p:cxnSp>
        <p:nvCxnSpPr>
          <p:cNvPr id="97" name="Connector 97"/>
          <p:cNvCxnSpPr/>
          <p:nvPr/>
        </p:nvCxnSpPr>
        <p:spPr>
          <a:xfrm flipV="1">
            <a:off x="5715000" y="1417320"/>
            <a:ext cx="3383280" cy="64008"/>
          </a:xfrm>
          <a:prstGeom prst="line">
            <a:avLst/>
          </a:prstGeom>
          <a:ln w="12700">
            <a:solidFill>
              <a:srgbClr val="111827"/>
            </a:solidFill>
            <a:prstDash val="dash"/>
            <a:tailEnd type="triangle"/>
          </a:ln>
        </p:spPr>
      </p:cxnSp>
      <p:cxnSp>
        <p:nvCxnSpPr>
          <p:cNvPr id="98" name="Connector 98"/>
          <p:cNvCxnSpPr/>
          <p:nvPr/>
        </p:nvCxnSpPr>
        <p:spPr>
          <a:xfrm>
            <a:off x="4892040" y="2606040"/>
            <a:ext cx="2834640" cy="182880"/>
          </a:xfrm>
          <a:prstGeom prst="line">
            <a:avLst/>
          </a:prstGeom>
          <a:ln w="12700">
            <a:solidFill>
              <a:srgbClr val="111827"/>
            </a:solidFill>
            <a:prstDash val="dash"/>
            <a:tailEnd type="triangle"/>
          </a:ln>
        </p:spPr>
      </p:cxnSp>
      <p:cxnSp>
        <p:nvCxnSpPr>
          <p:cNvPr id="99" name="Connector 99"/>
          <p:cNvCxnSpPr/>
          <p:nvPr/>
        </p:nvCxnSpPr>
        <p:spPr>
          <a:xfrm>
            <a:off x="6263640" y="2606040"/>
            <a:ext cx="3520440" cy="182880"/>
          </a:xfrm>
          <a:prstGeom prst="line">
            <a:avLst/>
          </a:prstGeom>
          <a:ln w="12700">
            <a:solidFill>
              <a:srgbClr val="111827"/>
            </a:solidFill>
            <a:prstDash val="dash"/>
            <a:tailEnd type="triangle"/>
          </a:ln>
        </p:spPr>
      </p:cxnSp>
      <p:sp>
        <p:nvSpPr>
          <p:cNvPr id="100" name="TextBox 100"/>
          <p:cNvSpPr txBox="1"/>
          <p:nvPr/>
        </p:nvSpPr>
        <p:spPr>
          <a:xfrm>
            <a:off x="6903720" y="105156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900">
                <a:solidFill>
                  <a:srgbClr val="4B5563"/>
                </a:solidFill>
                <a:latin typeface="Arial"/>
                <a:ea typeface="Microsoft YaHei"/>
              </a:rPr>
              <a:t>one node → one front</a:t>
            </a:r>
            <a:endParaRPr lang="zh-CN"/>
          </a:p>
        </p:txBody>
      </p:sp>
      <p:cxnSp>
        <p:nvCxnSpPr>
          <p:cNvPr id="101" name="Connector 101"/>
          <p:cNvCxnSpPr/>
          <p:nvPr/>
        </p:nvCxnSpPr>
        <p:spPr>
          <a:xfrm flipV="1">
            <a:off x="8412480" y="3310128"/>
            <a:ext cx="91440" cy="667512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102" name="Connector 102"/>
          <p:cNvCxnSpPr/>
          <p:nvPr/>
        </p:nvCxnSpPr>
        <p:spPr>
          <a:xfrm flipV="1">
            <a:off x="10378440" y="3310128"/>
            <a:ext cx="91440" cy="667512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103" name="Connector 103"/>
          <p:cNvCxnSpPr/>
          <p:nvPr/>
        </p:nvCxnSpPr>
        <p:spPr>
          <a:xfrm flipV="1">
            <a:off x="8732520" y="1865376"/>
            <a:ext cx="1005840" cy="603504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104" name="Connector 104"/>
          <p:cNvCxnSpPr/>
          <p:nvPr/>
        </p:nvCxnSpPr>
        <p:spPr>
          <a:xfrm flipH="1" flipV="1">
            <a:off x="10287000" y="1865376"/>
            <a:ext cx="274320" cy="603504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sp>
        <p:nvSpPr>
          <p:cNvPr id="105" name="TextBox 105"/>
          <p:cNvSpPr txBox="1"/>
          <p:nvPr/>
        </p:nvSpPr>
        <p:spPr>
          <a:xfrm>
            <a:off x="8430768" y="3419856"/>
            <a:ext cx="12435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11827"/>
                </a:solidFill>
                <a:latin typeface="Arial"/>
                <a:ea typeface="Microsoft YaHei"/>
              </a:rPr>
              <a:t>update /</a:t>
            </a:r>
            <a:endParaRPr lang="zh-CN"/>
          </a:p>
          <a:p>
            <a:pPr algn="ctr">
              <a:buNone/>
            </a:pPr>
            <a:r>
              <a:rPr lang="zh-CN" sz="800">
                <a:solidFill>
                  <a:srgbClr val="111827"/>
                </a:solidFill>
                <a:latin typeface="Arial"/>
                <a:ea typeface="Microsoft YaHei"/>
              </a:rPr>
              <a:t>contribution</a:t>
            </a:r>
            <a:endParaRPr lang="zh-CN"/>
          </a:p>
        </p:txBody>
      </p:sp>
      <p:sp>
        <p:nvSpPr>
          <p:cNvPr id="106" name="TextBox 106"/>
          <p:cNvSpPr txBox="1"/>
          <p:nvPr/>
        </p:nvSpPr>
        <p:spPr>
          <a:xfrm>
            <a:off x="9948672" y="1975104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11827"/>
                </a:solidFill>
                <a:latin typeface="Arial"/>
                <a:ea typeface="Microsoft YaHei"/>
              </a:rPr>
              <a:t>update /</a:t>
            </a:r>
            <a:endParaRPr lang="zh-CN"/>
          </a:p>
          <a:p>
            <a:pPr algn="ctr">
              <a:buNone/>
            </a:pPr>
            <a:r>
              <a:rPr lang="zh-CN" sz="800">
                <a:solidFill>
                  <a:srgbClr val="111827"/>
                </a:solidFill>
                <a:latin typeface="Arial"/>
                <a:ea typeface="Microsoft YaHei"/>
              </a:rPr>
              <a:t>contribution</a:t>
            </a:r>
            <a:endParaRPr lang="zh-CN"/>
          </a:p>
        </p:txBody>
      </p:sp>
      <p:sp>
        <p:nvSpPr>
          <p:cNvPr id="107" name="Rectangle 107"/>
          <p:cNvSpPr/>
          <p:nvPr/>
        </p:nvSpPr>
        <p:spPr>
          <a:xfrm>
            <a:off x="7543800" y="1097280"/>
            <a:ext cx="141732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A7B3C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assembly:</a:t>
            </a:r>
            <a:endParaRPr lang="zh-CN"/>
          </a:p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A_local + child updates</a:t>
            </a:r>
            <a:endParaRPr lang="zh-CN"/>
          </a:p>
        </p:txBody>
      </p:sp>
      <p:sp>
        <p:nvSpPr>
          <p:cNvPr id="108" name="TextBox 108"/>
          <p:cNvSpPr txBox="1"/>
          <p:nvPr/>
        </p:nvSpPr>
        <p:spPr>
          <a:xfrm>
            <a:off x="9144000" y="71323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300" b="1">
                <a:solidFill>
                  <a:srgbClr val="2E5E8C"/>
                </a:solidFill>
                <a:latin typeface="Arial"/>
                <a:ea typeface="Microsoft YaHei"/>
              </a:rPr>
              <a:t>完成最终节点分解</a:t>
            </a:r>
            <a:endParaRPr lang="zh-CN"/>
          </a:p>
        </p:txBody>
      </p:sp>
      <p:sp>
        <p:nvSpPr>
          <p:cNvPr id="109" name="TextBox 109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200">
                <a:solidFill>
                  <a:srgbClr val="4B5563"/>
                </a:solidFill>
                <a:latin typeface="Arial"/>
                <a:ea typeface="Microsoft YaHei"/>
              </a:rPr>
              <a:t>多前沿算法将全局稀疏分解转化为基于消去树的节点级 frontal matrix 装配、分解与更新过程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2600" b="1">
                <a:solidFill>
                  <a:srgbClr val="111827"/>
                </a:solidFill>
                <a:latin typeface="Arial"/>
                <a:ea typeface="Microsoft YaHei"/>
              </a:rPr>
              <a:t>单个节点前沿矩阵的计算流程</a:t>
            </a:r>
            <a:endParaRPr lang="zh-CN"/>
          </a:p>
        </p:txBody>
      </p:sp>
      <p:cxnSp>
        <p:nvCxnSpPr>
          <p:cNvPr id="3" name="Connector 3"/>
          <p:cNvCxnSpPr/>
          <p:nvPr/>
        </p:nvCxnSpPr>
        <p:spPr>
          <a:xfrm>
            <a:off x="1005840" y="877824"/>
            <a:ext cx="10012680" cy="1"/>
          </a:xfrm>
          <a:prstGeom prst="line">
            <a:avLst/>
          </a:prstGeom>
          <a:ln w="9525">
            <a:solidFill>
              <a:srgbClr val="A9BCD0"/>
            </a:solidFill>
          </a:ln>
        </p:spPr>
      </p:cxnSp>
      <p:sp>
        <p:nvSpPr>
          <p:cNvPr id="4" name="TextBox 4"/>
          <p:cNvSpPr txBox="1"/>
          <p:nvPr/>
        </p:nvSpPr>
        <p:spPr>
          <a:xfrm>
            <a:off x="4069080" y="694944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200">
                <a:solidFill>
                  <a:srgbClr val="4B5563"/>
                </a:solidFill>
                <a:latin typeface="Arial"/>
                <a:ea typeface="Microsoft YaHei"/>
              </a:rPr>
              <a:t>node-level frontal matrix processing</a:t>
            </a:r>
            <a:endParaRPr lang="zh-CN"/>
          </a:p>
        </p:txBody>
      </p:sp>
      <p:sp>
        <p:nvSpPr>
          <p:cNvPr id="5" name="Rectangle 5"/>
          <p:cNvSpPr/>
          <p:nvPr/>
        </p:nvSpPr>
        <p:spPr>
          <a:xfrm>
            <a:off x="594360" y="2121408"/>
            <a:ext cx="1691640" cy="1243584"/>
          </a:xfrm>
          <a:prstGeom prst="rect">
            <a:avLst/>
          </a:prstGeom>
          <a:solidFill>
            <a:srgbClr val="EAF3FF"/>
          </a:solidFill>
          <a:ln w="12700">
            <a:solidFill>
              <a:srgbClr val="7A9AB8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300" b="1">
                <a:solidFill>
                  <a:srgbClr val="1F2937"/>
                </a:solidFill>
                <a:latin typeface="Arial"/>
                <a:ea typeface="Microsoft YaHei"/>
              </a:rPr>
              <a:t>Assembly</a:t>
            </a:r>
            <a:endParaRPr lang="zh-CN"/>
          </a:p>
          <a:p>
            <a:pPr algn="ctr">
              <a:buNone/>
            </a:pPr>
            <a:r>
              <a:rPr lang="zh-CN" sz="1100">
                <a:solidFill>
                  <a:srgbClr val="1F2937"/>
                </a:solidFill>
                <a:latin typeface="Arial"/>
                <a:ea typeface="Microsoft YaHei"/>
              </a:rPr>
              <a:t>装配 A_local 与</a:t>
            </a:r>
            <a:endParaRPr lang="zh-CN"/>
          </a:p>
          <a:p>
            <a:pPr algn="ctr">
              <a:buNone/>
            </a:pPr>
            <a:r>
              <a:rPr lang="zh-CN" sz="1100">
                <a:solidFill>
                  <a:srgbClr val="1F2937"/>
                </a:solidFill>
                <a:latin typeface="Arial"/>
                <a:ea typeface="Microsoft YaHei"/>
              </a:rPr>
              <a:t>child updates</a:t>
            </a:r>
            <a:endParaRPr lang="zh-CN"/>
          </a:p>
        </p:txBody>
      </p:sp>
      <p:sp>
        <p:nvSpPr>
          <p:cNvPr id="6" name="Rectangle 6"/>
          <p:cNvSpPr/>
          <p:nvPr/>
        </p:nvSpPr>
        <p:spPr>
          <a:xfrm>
            <a:off x="2788920" y="2121408"/>
            <a:ext cx="1691640" cy="1243584"/>
          </a:xfrm>
          <a:prstGeom prst="rect">
            <a:avLst/>
          </a:prstGeom>
          <a:solidFill>
            <a:srgbClr val="EAF3FF"/>
          </a:solidFill>
          <a:ln w="12700">
            <a:solidFill>
              <a:srgbClr val="7A9AB8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300" b="1">
                <a:solidFill>
                  <a:srgbClr val="1F2937"/>
                </a:solidFill>
                <a:latin typeface="Arial"/>
                <a:ea typeface="Microsoft YaHei"/>
              </a:rPr>
              <a:t>Pivot / Block LU</a:t>
            </a:r>
            <a:endParaRPr lang="zh-CN"/>
          </a:p>
          <a:p>
            <a:pPr algn="ctr">
              <a:buNone/>
            </a:pPr>
            <a:r>
              <a:rPr lang="zh-CN" sz="1100">
                <a:solidFill>
                  <a:srgbClr val="1F2937"/>
                </a:solidFill>
                <a:latin typeface="Arial"/>
                <a:ea typeface="Microsoft YaHei"/>
              </a:rPr>
              <a:t>主元选择与</a:t>
            </a:r>
            <a:endParaRPr lang="zh-CN"/>
          </a:p>
          <a:p>
            <a:pPr algn="ctr">
              <a:buNone/>
            </a:pPr>
            <a:r>
              <a:rPr lang="zh-CN" sz="1100">
                <a:solidFill>
                  <a:srgbClr val="1F2937"/>
                </a:solidFill>
                <a:latin typeface="Arial"/>
                <a:ea typeface="Microsoft YaHei"/>
              </a:rPr>
              <a:t>主元块分解</a:t>
            </a:r>
            <a:endParaRPr lang="zh-CN"/>
          </a:p>
        </p:txBody>
      </p:sp>
      <p:sp>
        <p:nvSpPr>
          <p:cNvPr id="7" name="Rectangle 7"/>
          <p:cNvSpPr/>
          <p:nvPr/>
        </p:nvSpPr>
        <p:spPr>
          <a:xfrm>
            <a:off x="4983480" y="2121408"/>
            <a:ext cx="1691640" cy="1243584"/>
          </a:xfrm>
          <a:prstGeom prst="rect">
            <a:avLst/>
          </a:prstGeom>
          <a:solidFill>
            <a:srgbClr val="EAF3FF"/>
          </a:solidFill>
          <a:ln w="12700">
            <a:solidFill>
              <a:srgbClr val="7A9AB8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300" b="1">
                <a:solidFill>
                  <a:srgbClr val="1F2937"/>
                </a:solidFill>
                <a:latin typeface="Arial"/>
                <a:ea typeface="Microsoft YaHei"/>
              </a:rPr>
              <a:t>TRSM</a:t>
            </a:r>
            <a:endParaRPr lang="zh-CN"/>
          </a:p>
          <a:p>
            <a:pPr algn="ctr">
              <a:buNone/>
            </a:pPr>
            <a:r>
              <a:rPr lang="zh-CN" sz="1100">
                <a:solidFill>
                  <a:srgbClr val="1F2937"/>
                </a:solidFill>
                <a:latin typeface="Arial"/>
                <a:ea typeface="Microsoft YaHei"/>
              </a:rPr>
              <a:t>求解 F21U11^{-1}</a:t>
            </a:r>
            <a:endParaRPr lang="zh-CN"/>
          </a:p>
          <a:p>
            <a:pPr algn="ctr">
              <a:buNone/>
            </a:pPr>
            <a:r>
              <a:rPr lang="zh-CN" sz="1100">
                <a:solidFill>
                  <a:srgbClr val="1F2937"/>
                </a:solidFill>
                <a:latin typeface="Arial"/>
                <a:ea typeface="Microsoft YaHei"/>
              </a:rPr>
              <a:t>与 L11^{-1}F12</a:t>
            </a:r>
            <a:endParaRPr lang="zh-CN"/>
          </a:p>
        </p:txBody>
      </p:sp>
      <p:sp>
        <p:nvSpPr>
          <p:cNvPr id="8" name="Rectangle 8"/>
          <p:cNvSpPr/>
          <p:nvPr/>
        </p:nvSpPr>
        <p:spPr>
          <a:xfrm>
            <a:off x="7178040" y="2121408"/>
            <a:ext cx="1691640" cy="1243584"/>
          </a:xfrm>
          <a:prstGeom prst="rect">
            <a:avLst/>
          </a:prstGeom>
          <a:solidFill>
            <a:srgbClr val="F3F6F9"/>
          </a:solidFill>
          <a:ln w="12700">
            <a:solidFill>
              <a:srgbClr val="7A9AB8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300" b="1">
                <a:solidFill>
                  <a:srgbClr val="1F2937"/>
                </a:solidFill>
                <a:latin typeface="Arial"/>
                <a:ea typeface="Microsoft YaHei"/>
              </a:rPr>
              <a:t>Schur Update</a:t>
            </a:r>
            <a:endParaRPr lang="zh-CN"/>
          </a:p>
          <a:p>
            <a:pPr algn="ctr">
              <a:buNone/>
            </a:pPr>
            <a:r>
              <a:rPr lang="zh-CN" sz="1100">
                <a:solidFill>
                  <a:srgbClr val="1F2937"/>
                </a:solidFill>
                <a:latin typeface="Arial"/>
                <a:ea typeface="Microsoft YaHei"/>
              </a:rPr>
              <a:t>(GEMM)</a:t>
            </a:r>
            <a:endParaRPr lang="zh-CN"/>
          </a:p>
          <a:p>
            <a:pPr algn="ctr">
              <a:buNone/>
            </a:pPr>
            <a:r>
              <a:rPr lang="zh-CN" sz="1100">
                <a:solidFill>
                  <a:srgbClr val="1F2937"/>
                </a:solidFill>
                <a:latin typeface="Arial"/>
                <a:ea typeface="Microsoft YaHei"/>
              </a:rPr>
              <a:t>F22 ← F22 - F21F12</a:t>
            </a:r>
            <a:endParaRPr lang="zh-CN"/>
          </a:p>
        </p:txBody>
      </p:sp>
      <p:sp>
        <p:nvSpPr>
          <p:cNvPr id="9" name="Rectangle 9"/>
          <p:cNvSpPr/>
          <p:nvPr/>
        </p:nvSpPr>
        <p:spPr>
          <a:xfrm>
            <a:off x="9372600" y="2121408"/>
            <a:ext cx="1691640" cy="1243584"/>
          </a:xfrm>
          <a:prstGeom prst="rect">
            <a:avLst/>
          </a:prstGeom>
          <a:solidFill>
            <a:srgbClr val="F8FBFF"/>
          </a:solidFill>
          <a:ln w="12700">
            <a:solidFill>
              <a:srgbClr val="2E5E8C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700" b="1">
                <a:solidFill>
                  <a:srgbClr val="1F2937"/>
                </a:solidFill>
                <a:latin typeface="Arial"/>
                <a:ea typeface="Microsoft YaHei"/>
              </a:rPr>
              <a:t>Output</a:t>
            </a:r>
            <a:endParaRPr lang="zh-CN"/>
          </a:p>
        </p:txBody>
      </p:sp>
      <p:sp>
        <p:nvSpPr>
          <p:cNvPr id="10" name="Rectangle 10"/>
          <p:cNvSpPr/>
          <p:nvPr/>
        </p:nvSpPr>
        <p:spPr>
          <a:xfrm>
            <a:off x="9482328" y="2560320"/>
            <a:ext cx="1472184" cy="320040"/>
          </a:xfrm>
          <a:prstGeom prst="rect">
            <a:avLst/>
          </a:prstGeom>
          <a:solidFill>
            <a:srgbClr val="E7F1FB"/>
          </a:solidFill>
          <a:ln w="12700">
            <a:solidFill>
              <a:srgbClr val="A7B3C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factor writeback: L/U</a:t>
            </a:r>
            <a:endParaRPr lang="zh-CN"/>
          </a:p>
        </p:txBody>
      </p:sp>
      <p:sp>
        <p:nvSpPr>
          <p:cNvPr id="11" name="Rectangle 11"/>
          <p:cNvSpPr/>
          <p:nvPr/>
        </p:nvSpPr>
        <p:spPr>
          <a:xfrm>
            <a:off x="9482328" y="2926080"/>
            <a:ext cx="1472184" cy="320040"/>
          </a:xfrm>
          <a:prstGeom prst="rect">
            <a:avLst/>
          </a:prstGeom>
          <a:solidFill>
            <a:srgbClr val="F1F4F7"/>
          </a:solidFill>
          <a:ln w="12700">
            <a:solidFill>
              <a:srgbClr val="A7B3C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update writeback</a:t>
            </a:r>
            <a:endParaRPr lang="zh-CN"/>
          </a:p>
          <a:p>
            <a:pPr algn="ctr">
              <a:buNone/>
            </a:pPr>
            <a:r>
              <a:rPr lang="zh-CN" sz="800">
                <a:solidFill>
                  <a:srgbClr val="1F2937"/>
                </a:solidFill>
                <a:latin typeface="Arial"/>
                <a:ea typeface="Microsoft YaHei"/>
              </a:rPr>
              <a:t>to parent</a:t>
            </a:r>
            <a:endParaRPr lang="zh-CN"/>
          </a:p>
        </p:txBody>
      </p:sp>
      <p:cxnSp>
        <p:nvCxnSpPr>
          <p:cNvPr id="12" name="Connector 12"/>
          <p:cNvCxnSpPr/>
          <p:nvPr/>
        </p:nvCxnSpPr>
        <p:spPr>
          <a:xfrm>
            <a:off x="2286000" y="2743200"/>
            <a:ext cx="384048" cy="1"/>
          </a:xfrm>
          <a:prstGeom prst="line">
            <a:avLst/>
          </a:prstGeom>
          <a:ln w="25400">
            <a:solidFill>
              <a:srgbClr val="111827"/>
            </a:solidFill>
            <a:tailEnd type="triangle"/>
          </a:ln>
        </p:spPr>
      </p:cxnSp>
      <p:cxnSp>
        <p:nvCxnSpPr>
          <p:cNvPr id="13" name="Connector 13"/>
          <p:cNvCxnSpPr/>
          <p:nvPr/>
        </p:nvCxnSpPr>
        <p:spPr>
          <a:xfrm>
            <a:off x="4480560" y="2743200"/>
            <a:ext cx="384048" cy="1"/>
          </a:xfrm>
          <a:prstGeom prst="line">
            <a:avLst/>
          </a:prstGeom>
          <a:ln w="25400">
            <a:solidFill>
              <a:srgbClr val="111827"/>
            </a:solidFill>
            <a:tailEnd type="triangle"/>
          </a:ln>
        </p:spPr>
      </p:cxnSp>
      <p:cxnSp>
        <p:nvCxnSpPr>
          <p:cNvPr id="14" name="Connector 14"/>
          <p:cNvCxnSpPr/>
          <p:nvPr/>
        </p:nvCxnSpPr>
        <p:spPr>
          <a:xfrm>
            <a:off x="6675120" y="2743200"/>
            <a:ext cx="384048" cy="1"/>
          </a:xfrm>
          <a:prstGeom prst="line">
            <a:avLst/>
          </a:prstGeom>
          <a:ln w="25400">
            <a:solidFill>
              <a:srgbClr val="111827"/>
            </a:solidFill>
            <a:tailEnd type="triangle"/>
          </a:ln>
        </p:spPr>
      </p:cxnSp>
      <p:cxnSp>
        <p:nvCxnSpPr>
          <p:cNvPr id="15" name="Connector 15"/>
          <p:cNvCxnSpPr/>
          <p:nvPr/>
        </p:nvCxnSpPr>
        <p:spPr>
          <a:xfrm>
            <a:off x="8869680" y="2743200"/>
            <a:ext cx="384048" cy="1"/>
          </a:xfrm>
          <a:prstGeom prst="line">
            <a:avLst/>
          </a:prstGeom>
          <a:ln w="25400">
            <a:solidFill>
              <a:srgbClr val="111827"/>
            </a:solidFill>
            <a:tailEnd type="triangle"/>
          </a:ln>
        </p:spPr>
      </p:cxnSp>
      <p:sp>
        <p:nvSpPr>
          <p:cNvPr id="16" name="Rectangle 16"/>
          <p:cNvSpPr/>
          <p:nvPr/>
        </p:nvSpPr>
        <p:spPr>
          <a:xfrm>
            <a:off x="822960" y="3977640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2CEDA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000">
                <a:solidFill>
                  <a:srgbClr val="1F2937"/>
                </a:solidFill>
                <a:latin typeface="Arial"/>
                <a:ea typeface="Microsoft YaHei"/>
              </a:rPr>
              <a:t>装配完成后确定 node-scale</a:t>
            </a:r>
            <a:endParaRPr lang="zh-CN"/>
          </a:p>
        </p:txBody>
      </p:sp>
      <p:cxnSp>
        <p:nvCxnSpPr>
          <p:cNvPr id="17" name="Connector 17"/>
          <p:cNvCxnSpPr/>
          <p:nvPr/>
        </p:nvCxnSpPr>
        <p:spPr>
          <a:xfrm flipH="1" flipV="1">
            <a:off x="1508760" y="3419856"/>
            <a:ext cx="274320" cy="548640"/>
          </a:xfrm>
          <a:prstGeom prst="line">
            <a:avLst/>
          </a:prstGeom>
          <a:ln w="12700">
            <a:solidFill>
              <a:srgbClr val="4B5563"/>
            </a:solidFill>
            <a:tailEnd type="triangle"/>
          </a:ln>
        </p:spPr>
      </p:cxnSp>
      <p:sp>
        <p:nvSpPr>
          <p:cNvPr id="18" name="Rectangle 18"/>
          <p:cNvSpPr/>
          <p:nvPr/>
        </p:nvSpPr>
        <p:spPr>
          <a:xfrm>
            <a:off x="7269480" y="3977640"/>
            <a:ext cx="20848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2CEDA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000">
                <a:solidFill>
                  <a:srgbClr val="1F2937"/>
                </a:solidFill>
                <a:latin typeface="Arial"/>
                <a:ea typeface="Microsoft YaHei"/>
              </a:rPr>
              <a:t>高吞吐矩阵乘更新</a:t>
            </a:r>
            <a:endParaRPr lang="zh-CN"/>
          </a:p>
        </p:txBody>
      </p:sp>
      <p:cxnSp>
        <p:nvCxnSpPr>
          <p:cNvPr id="19" name="Connector 19"/>
          <p:cNvCxnSpPr/>
          <p:nvPr/>
        </p:nvCxnSpPr>
        <p:spPr>
          <a:xfrm flipH="1" flipV="1">
            <a:off x="8028432" y="3429000"/>
            <a:ext cx="228600" cy="539496"/>
          </a:xfrm>
          <a:prstGeom prst="line">
            <a:avLst/>
          </a:prstGeom>
          <a:ln w="12700">
            <a:solidFill>
              <a:srgbClr val="4B5563"/>
            </a:solidFill>
            <a:tailEnd type="triangle"/>
          </a:ln>
        </p:spPr>
      </p:cxnSp>
      <p:sp>
        <p:nvSpPr>
          <p:cNvPr id="20" name="TextBox 20"/>
          <p:cNvSpPr txBox="1"/>
          <p:nvPr/>
        </p:nvSpPr>
        <p:spPr>
          <a:xfrm>
            <a:off x="685800" y="523036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300">
                <a:solidFill>
                  <a:srgbClr val="4B5563"/>
                </a:solidFill>
                <a:latin typeface="Arial"/>
                <a:ea typeface="Microsoft YaHei"/>
              </a:rPr>
              <a:t>每个 front 在本节点完成装配、块分解、TRSM 与 Schur 更新；因子写回本节点，贡献块继续上传父节点。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2600" b="1">
                <a:solidFill>
                  <a:srgbClr val="111827"/>
                </a:solidFill>
                <a:latin typeface="Arial"/>
                <a:ea typeface="Microsoft YaHei"/>
              </a:rPr>
              <a:t>前沿矩阵的块划分及节点内计算关系</a:t>
            </a:r>
            <a:endParaRPr lang="zh-CN"/>
          </a:p>
        </p:txBody>
      </p:sp>
      <p:sp>
        <p:nvSpPr>
          <p:cNvPr id="3" name="TextBox 3"/>
          <p:cNvSpPr txBox="1"/>
          <p:nvPr/>
        </p:nvSpPr>
        <p:spPr>
          <a:xfrm>
            <a:off x="1188720" y="896112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800" b="1">
                <a:solidFill>
                  <a:srgbClr val="2E5E8C"/>
                </a:solidFill>
                <a:latin typeface="Arial"/>
                <a:ea typeface="Microsoft YaHei"/>
              </a:rPr>
              <a:t>当前节点前沿矩阵 F</a:t>
            </a:r>
            <a:endParaRPr lang="zh-CN"/>
          </a:p>
        </p:txBody>
      </p:sp>
      <p:sp>
        <p:nvSpPr>
          <p:cNvPr id="4" name="Rectangle 4"/>
          <p:cNvSpPr/>
          <p:nvPr/>
        </p:nvSpPr>
        <p:spPr>
          <a:xfrm>
            <a:off x="1078992" y="1325880"/>
            <a:ext cx="1783080" cy="1371600"/>
          </a:xfrm>
          <a:prstGeom prst="rect">
            <a:avLst/>
          </a:prstGeom>
          <a:solidFill>
            <a:srgbClr val="CFE8FF"/>
          </a:solidFill>
          <a:ln w="12700">
            <a:solidFill>
              <a:srgbClr val="2E5E8C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2200" b="1">
                <a:solidFill>
                  <a:srgbClr val="1F2937"/>
                </a:solidFill>
                <a:latin typeface="Arial"/>
                <a:ea typeface="Microsoft YaHei"/>
              </a:rPr>
              <a:t>F11</a:t>
            </a:r>
            <a:endParaRPr lang="zh-CN"/>
          </a:p>
        </p:txBody>
      </p:sp>
      <p:sp>
        <p:nvSpPr>
          <p:cNvPr id="5" name="Rectangle 5"/>
          <p:cNvSpPr/>
          <p:nvPr/>
        </p:nvSpPr>
        <p:spPr>
          <a:xfrm>
            <a:off x="2862072" y="1325880"/>
            <a:ext cx="2788920" cy="1371600"/>
          </a:xfrm>
          <a:prstGeom prst="rect">
            <a:avLst/>
          </a:prstGeom>
          <a:solidFill>
            <a:srgbClr val="EAF3FF"/>
          </a:solidFill>
          <a:ln w="12700">
            <a:solidFill>
              <a:srgbClr val="7A9AB8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2200" b="1">
                <a:solidFill>
                  <a:srgbClr val="1F2937"/>
                </a:solidFill>
                <a:latin typeface="Arial"/>
                <a:ea typeface="Microsoft YaHei"/>
              </a:rPr>
              <a:t>F12</a:t>
            </a:r>
            <a:endParaRPr lang="zh-CN"/>
          </a:p>
        </p:txBody>
      </p:sp>
      <p:sp>
        <p:nvSpPr>
          <p:cNvPr id="6" name="Rectangle 6"/>
          <p:cNvSpPr/>
          <p:nvPr/>
        </p:nvSpPr>
        <p:spPr>
          <a:xfrm>
            <a:off x="1078992" y="2697480"/>
            <a:ext cx="1783080" cy="2267712"/>
          </a:xfrm>
          <a:prstGeom prst="rect">
            <a:avLst/>
          </a:prstGeom>
          <a:solidFill>
            <a:srgbClr val="EAF3FF"/>
          </a:solidFill>
          <a:ln w="12700">
            <a:solidFill>
              <a:srgbClr val="7A9AB8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2200" b="1">
                <a:solidFill>
                  <a:srgbClr val="1F2937"/>
                </a:solidFill>
                <a:latin typeface="Arial"/>
                <a:ea typeface="Microsoft YaHei"/>
              </a:rPr>
              <a:t>F21</a:t>
            </a:r>
            <a:endParaRPr lang="zh-CN"/>
          </a:p>
        </p:txBody>
      </p:sp>
      <p:sp>
        <p:nvSpPr>
          <p:cNvPr id="7" name="Rectangle 7"/>
          <p:cNvSpPr/>
          <p:nvPr/>
        </p:nvSpPr>
        <p:spPr>
          <a:xfrm>
            <a:off x="2862072" y="2697480"/>
            <a:ext cx="2788920" cy="2267712"/>
          </a:xfrm>
          <a:prstGeom prst="rect">
            <a:avLst/>
          </a:prstGeom>
          <a:solidFill>
            <a:srgbClr val="F1F4F7"/>
          </a:solidFill>
          <a:ln w="12700">
            <a:solidFill>
              <a:srgbClr val="8FA0B2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2200" b="1">
                <a:solidFill>
                  <a:srgbClr val="1F2937"/>
                </a:solidFill>
                <a:latin typeface="Arial"/>
                <a:ea typeface="Microsoft YaHei"/>
              </a:rPr>
              <a:t>F22</a:t>
            </a:r>
            <a:endParaRPr lang="zh-CN"/>
          </a:p>
        </p:txBody>
      </p:sp>
      <p:sp>
        <p:nvSpPr>
          <p:cNvPr id="8" name="Rectangle 8"/>
          <p:cNvSpPr/>
          <p:nvPr/>
        </p:nvSpPr>
        <p:spPr>
          <a:xfrm>
            <a:off x="1078992" y="1325880"/>
            <a:ext cx="4572000" cy="3639312"/>
          </a:xfrm>
          <a:prstGeom prst="rect">
            <a:avLst/>
          </a:prstGeom>
          <a:noFill/>
          <a:ln w="19050">
            <a:solidFill>
              <a:srgbClr val="111827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22960" y="950976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000">
                <a:solidFill>
                  <a:srgbClr val="4B5563"/>
                </a:solidFill>
                <a:latin typeface="Arial"/>
                <a:ea typeface="Microsoft YaHei"/>
              </a:rPr>
              <a:t>pivot block / 当前节点待消去变量</a:t>
            </a:r>
            <a:endParaRPr lang="zh-CN"/>
          </a:p>
        </p:txBody>
      </p:sp>
      <p:cxnSp>
        <p:nvCxnSpPr>
          <p:cNvPr id="10" name="Connector 10"/>
          <p:cNvCxnSpPr/>
          <p:nvPr/>
        </p:nvCxnSpPr>
        <p:spPr>
          <a:xfrm>
            <a:off x="1920240" y="1207008"/>
            <a:ext cx="1" cy="146304"/>
          </a:xfrm>
          <a:prstGeom prst="line">
            <a:avLst/>
          </a:prstGeom>
          <a:ln w="12700">
            <a:solidFill>
              <a:srgbClr val="4B5563"/>
            </a:solidFill>
            <a:tailEnd type="triangle"/>
          </a:ln>
        </p:spPr>
      </p:cxnSp>
      <p:sp>
        <p:nvSpPr>
          <p:cNvPr id="11" name="TextBox 11"/>
          <p:cNvSpPr txBox="1"/>
          <p:nvPr/>
        </p:nvSpPr>
        <p:spPr>
          <a:xfrm>
            <a:off x="3767328" y="1005840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000">
                <a:solidFill>
                  <a:srgbClr val="4B5563"/>
                </a:solidFill>
                <a:latin typeface="Arial"/>
                <a:ea typeface="Microsoft YaHei"/>
              </a:rPr>
              <a:t>coupling block</a:t>
            </a:r>
            <a:endParaRPr lang="zh-CN"/>
          </a:p>
        </p:txBody>
      </p:sp>
      <p:sp>
        <p:nvSpPr>
          <p:cNvPr id="12" name="TextBox 12"/>
          <p:cNvSpPr txBox="1"/>
          <p:nvPr/>
        </p:nvSpPr>
        <p:spPr>
          <a:xfrm>
            <a:off x="182880" y="274320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000">
                <a:solidFill>
                  <a:srgbClr val="4B5563"/>
                </a:solidFill>
                <a:latin typeface="Arial"/>
                <a:ea typeface="Microsoft YaHei"/>
              </a:rPr>
              <a:t>coupling</a:t>
            </a:r>
            <a:endParaRPr lang="zh-CN"/>
          </a:p>
          <a:p>
            <a:pPr algn="ctr">
              <a:buNone/>
            </a:pPr>
            <a:r>
              <a:rPr lang="zh-CN" sz="1000">
                <a:solidFill>
                  <a:srgbClr val="4B5563"/>
                </a:solidFill>
                <a:latin typeface="Arial"/>
                <a:ea typeface="Microsoft YaHei"/>
              </a:rPr>
              <a:t>block</a:t>
            </a:r>
            <a:endParaRPr lang="zh-CN"/>
          </a:p>
        </p:txBody>
      </p:sp>
      <p:sp>
        <p:nvSpPr>
          <p:cNvPr id="13" name="TextBox 13"/>
          <p:cNvSpPr txBox="1"/>
          <p:nvPr/>
        </p:nvSpPr>
        <p:spPr>
          <a:xfrm>
            <a:off x="3703320" y="4773168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000">
                <a:solidFill>
                  <a:srgbClr val="4B5563"/>
                </a:solidFill>
                <a:latin typeface="Arial"/>
                <a:ea typeface="Microsoft YaHei"/>
              </a:rPr>
              <a:t>remaining block / update source</a:t>
            </a:r>
            <a:endParaRPr lang="zh-CN"/>
          </a:p>
        </p:txBody>
      </p:sp>
      <p:cxnSp>
        <p:nvCxnSpPr>
          <p:cNvPr id="14" name="Connector 14"/>
          <p:cNvCxnSpPr/>
          <p:nvPr/>
        </p:nvCxnSpPr>
        <p:spPr>
          <a:xfrm>
            <a:off x="1975104" y="2011680"/>
            <a:ext cx="2459736" cy="1"/>
          </a:xfrm>
          <a:prstGeom prst="line">
            <a:avLst/>
          </a:prstGeom>
          <a:ln w="17780">
            <a:solidFill>
              <a:srgbClr val="2E5E8C"/>
            </a:solidFill>
            <a:tailEnd type="triangle"/>
          </a:ln>
        </p:spPr>
      </p:cxnSp>
      <p:cxnSp>
        <p:nvCxnSpPr>
          <p:cNvPr id="15" name="Connector 15"/>
          <p:cNvCxnSpPr/>
          <p:nvPr/>
        </p:nvCxnSpPr>
        <p:spPr>
          <a:xfrm>
            <a:off x="1975104" y="2011680"/>
            <a:ext cx="1" cy="1938528"/>
          </a:xfrm>
          <a:prstGeom prst="line">
            <a:avLst/>
          </a:prstGeom>
          <a:ln w="17780">
            <a:solidFill>
              <a:srgbClr val="2E5E8C"/>
            </a:solidFill>
            <a:tailEnd type="triangle"/>
          </a:ln>
        </p:spPr>
      </p:cxnSp>
      <p:cxnSp>
        <p:nvCxnSpPr>
          <p:cNvPr id="16" name="Connector 16"/>
          <p:cNvCxnSpPr/>
          <p:nvPr/>
        </p:nvCxnSpPr>
        <p:spPr>
          <a:xfrm>
            <a:off x="4160520" y="2359152"/>
            <a:ext cx="1" cy="1682496"/>
          </a:xfrm>
          <a:prstGeom prst="line">
            <a:avLst/>
          </a:prstGeom>
          <a:ln w="17780">
            <a:solidFill>
              <a:srgbClr val="111827"/>
            </a:solidFill>
            <a:tailEnd type="triangle"/>
          </a:ln>
        </p:spPr>
      </p:cxnSp>
      <p:cxnSp>
        <p:nvCxnSpPr>
          <p:cNvPr id="17" name="Connector 17"/>
          <p:cNvCxnSpPr/>
          <p:nvPr/>
        </p:nvCxnSpPr>
        <p:spPr>
          <a:xfrm>
            <a:off x="2606040" y="3822192"/>
            <a:ext cx="1234440" cy="1"/>
          </a:xfrm>
          <a:prstGeom prst="line">
            <a:avLst/>
          </a:prstGeom>
          <a:ln w="17780">
            <a:solidFill>
              <a:srgbClr val="111827"/>
            </a:solidFill>
            <a:tailEnd type="triangle"/>
          </a:ln>
        </p:spPr>
      </p:cxnSp>
      <p:sp>
        <p:nvSpPr>
          <p:cNvPr id="18" name="Rectangle 18"/>
          <p:cNvSpPr/>
          <p:nvPr/>
        </p:nvSpPr>
        <p:spPr>
          <a:xfrm>
            <a:off x="6537960" y="1097280"/>
            <a:ext cx="2148840" cy="502920"/>
          </a:xfrm>
          <a:prstGeom prst="rect">
            <a:avLst/>
          </a:prstGeom>
          <a:solidFill>
            <a:srgbClr val="EAF3FF"/>
          </a:solidFill>
          <a:ln w="12700">
            <a:solidFill>
              <a:srgbClr val="7A9AB8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400" b="1">
                <a:solidFill>
                  <a:srgbClr val="1F2937"/>
                </a:solidFill>
                <a:latin typeface="Arial"/>
                <a:ea typeface="Microsoft YaHei"/>
              </a:rPr>
              <a:t>Block LU on F11</a:t>
            </a:r>
            <a:endParaRPr lang="zh-CN"/>
          </a:p>
        </p:txBody>
      </p:sp>
      <p:cxnSp>
        <p:nvCxnSpPr>
          <p:cNvPr id="19" name="Connector 19"/>
          <p:cNvCxnSpPr/>
          <p:nvPr/>
        </p:nvCxnSpPr>
        <p:spPr>
          <a:xfrm flipH="1">
            <a:off x="2907792" y="1335024"/>
            <a:ext cx="3602736" cy="539496"/>
          </a:xfrm>
          <a:prstGeom prst="line">
            <a:avLst/>
          </a:prstGeom>
          <a:ln w="12700">
            <a:solidFill>
              <a:srgbClr val="111827"/>
            </a:solidFill>
            <a:tailEnd type="triangle"/>
          </a:ln>
        </p:spPr>
      </p:cxnSp>
      <p:sp>
        <p:nvSpPr>
          <p:cNvPr id="20" name="Rectangle 20"/>
          <p:cNvSpPr/>
          <p:nvPr/>
        </p:nvSpPr>
        <p:spPr>
          <a:xfrm>
            <a:off x="6537960" y="1993392"/>
            <a:ext cx="2697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EDA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200">
                <a:solidFill>
                  <a:srgbClr val="1F2937"/>
                </a:solidFill>
                <a:latin typeface="Arial"/>
                <a:ea typeface="Microsoft YaHei"/>
              </a:rPr>
              <a:t>U12 = L11^{-1}F12</a:t>
            </a:r>
            <a:endParaRPr lang="zh-CN"/>
          </a:p>
        </p:txBody>
      </p:sp>
      <p:cxnSp>
        <p:nvCxnSpPr>
          <p:cNvPr id="21" name="Connector 21"/>
          <p:cNvCxnSpPr/>
          <p:nvPr/>
        </p:nvCxnSpPr>
        <p:spPr>
          <a:xfrm flipH="1" flipV="1">
            <a:off x="4645152" y="1993392"/>
            <a:ext cx="1865376" cy="256032"/>
          </a:xfrm>
          <a:prstGeom prst="line">
            <a:avLst/>
          </a:prstGeom>
          <a:ln w="12700">
            <a:solidFill>
              <a:srgbClr val="111827"/>
            </a:solidFill>
            <a:tailEnd type="triangle"/>
          </a:ln>
        </p:spPr>
      </p:cxnSp>
      <p:sp>
        <p:nvSpPr>
          <p:cNvPr id="22" name="Rectangle 22"/>
          <p:cNvSpPr/>
          <p:nvPr/>
        </p:nvSpPr>
        <p:spPr>
          <a:xfrm>
            <a:off x="6537960" y="2788920"/>
            <a:ext cx="2697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EDA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200">
                <a:solidFill>
                  <a:srgbClr val="1F2937"/>
                </a:solidFill>
                <a:latin typeface="Arial"/>
                <a:ea typeface="Microsoft YaHei"/>
              </a:rPr>
              <a:t>L21 = F21U11^{-1}</a:t>
            </a:r>
            <a:endParaRPr lang="zh-CN"/>
          </a:p>
        </p:txBody>
      </p:sp>
      <p:cxnSp>
        <p:nvCxnSpPr>
          <p:cNvPr id="23" name="Connector 23"/>
          <p:cNvCxnSpPr/>
          <p:nvPr/>
        </p:nvCxnSpPr>
        <p:spPr>
          <a:xfrm flipH="1">
            <a:off x="2395728" y="3035808"/>
            <a:ext cx="4114800" cy="548640"/>
          </a:xfrm>
          <a:prstGeom prst="line">
            <a:avLst/>
          </a:prstGeom>
          <a:ln w="12700">
            <a:solidFill>
              <a:srgbClr val="111827"/>
            </a:solidFill>
            <a:tailEnd type="triangle"/>
          </a:ln>
        </p:spPr>
      </p:cxnSp>
      <p:sp>
        <p:nvSpPr>
          <p:cNvPr id="24" name="Rectangle 24"/>
          <p:cNvSpPr/>
          <p:nvPr/>
        </p:nvSpPr>
        <p:spPr>
          <a:xfrm>
            <a:off x="6537960" y="3913632"/>
            <a:ext cx="3703320" cy="594360"/>
          </a:xfrm>
          <a:prstGeom prst="rect">
            <a:avLst/>
          </a:prstGeom>
          <a:solidFill>
            <a:srgbClr val="F3F6F9"/>
          </a:solidFill>
          <a:ln w="12700">
            <a:solidFill>
              <a:srgbClr val="7A9AB8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400" b="1">
                <a:solidFill>
                  <a:srgbClr val="1F2937"/>
                </a:solidFill>
                <a:latin typeface="Arial"/>
                <a:ea typeface="Microsoft YaHei"/>
              </a:rPr>
              <a:t>Schur update: F22 ← F22 - L21U12</a:t>
            </a:r>
            <a:endParaRPr lang="zh-CN"/>
          </a:p>
        </p:txBody>
      </p:sp>
      <p:cxnSp>
        <p:nvCxnSpPr>
          <p:cNvPr id="25" name="Connector 25"/>
          <p:cNvCxnSpPr/>
          <p:nvPr/>
        </p:nvCxnSpPr>
        <p:spPr>
          <a:xfrm flipH="1" flipV="1">
            <a:off x="5321808" y="4005072"/>
            <a:ext cx="1197864" cy="182880"/>
          </a:xfrm>
          <a:prstGeom prst="line">
            <a:avLst/>
          </a:prstGeom>
          <a:ln w="12700">
            <a:solidFill>
              <a:srgbClr val="111827"/>
            </a:solidFill>
            <a:tailEnd type="triangle"/>
          </a:ln>
        </p:spPr>
      </p:cxnSp>
      <p:sp>
        <p:nvSpPr>
          <p:cNvPr id="26" name="Rectangle 26"/>
          <p:cNvSpPr/>
          <p:nvPr/>
        </p:nvSpPr>
        <p:spPr>
          <a:xfrm>
            <a:off x="7059168" y="5257800"/>
            <a:ext cx="3520440" cy="640080"/>
          </a:xfrm>
          <a:prstGeom prst="rect">
            <a:avLst/>
          </a:prstGeom>
          <a:solidFill>
            <a:srgbClr val="F8FBFF"/>
          </a:solidFill>
          <a:ln w="12700">
            <a:solidFill>
              <a:srgbClr val="A7B3C0"/>
            </a:solidFill>
          </a:ln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100">
                <a:solidFill>
                  <a:srgbClr val="1F2937"/>
                </a:solidFill>
                <a:latin typeface="Arial"/>
                <a:ea typeface="Microsoft YaHei"/>
              </a:rPr>
              <a:t>node 内统一 M_format；</a:t>
            </a:r>
            <a:endParaRPr lang="zh-CN"/>
          </a:p>
          <a:p>
            <a:pPr algn="ctr">
              <a:buNone/>
            </a:pPr>
            <a:r>
              <a:rPr lang="zh-CN" sz="1100">
                <a:solidFill>
                  <a:srgbClr val="1F2937"/>
                </a:solidFill>
                <a:latin typeface="Arial"/>
                <a:ea typeface="Microsoft YaHei"/>
              </a:rPr>
              <a:t>乘子采用 QF_format</a:t>
            </a:r>
            <a:endParaRPr 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TABLE_ENDDRAG_ORIGIN_RECT" val="608*162"/>
  <p:tag name="TABLE_ENDDRAG_RECT" val="144*210*608*162"/>
</p:tagLst>
</file>

<file path=ppt/tags/tag67.xml><?xml version="1.0" encoding="utf-8"?>
<p:tagLst xmlns:p="http://schemas.openxmlformats.org/presentationml/2006/main">
  <p:tag name="KSO_DOCER_RESOURCE_TRACE_INFO" val="{&quot;id&quot;:&quot;50059496&quot;,&quot;origin&quot;:0,&quot;type&quot;:&quot;icons&quot;,&quot;user&quot;:&quot;1040096332&quot;}"/>
</p:tagLst>
</file>

<file path=ppt/tags/tag68.xml><?xml version="1.0" encoding="utf-8"?>
<p:tagLst xmlns:p="http://schemas.openxmlformats.org/presentationml/2006/main">
  <p:tag name="TABLE_ENDDRAG_ORIGIN_RECT" val="608*162"/>
  <p:tag name="TABLE_ENDDRAG_RECT" val="144*210*608*162"/>
</p:tagLst>
</file>

<file path=ppt/tags/tag69.xml><?xml version="1.0" encoding="utf-8"?>
<p:tagLst xmlns:p="http://schemas.openxmlformats.org/presentationml/2006/main">
  <p:tag name="KSO_DOCER_RESOURCE_TRACE_INFO" val="{&quot;id&quot;:&quot;50059429&quot;,&quot;origin&quot;:0,&quot;type&quot;:&quot;icons&quot;,&quot;user&quot;:&quot;1040096332&quot;}"/>
</p:tagLst>
</file>

<file path=ppt/tags/tag70.xml><?xml version="1.0" encoding="utf-8"?>
<p:tagLst xmlns:p="http://schemas.openxmlformats.org/presentationml/2006/main">
  <p:tag name="TABLE_ENDDRAG_ORIGIN_RECT" val="608*162"/>
  <p:tag name="TABLE_ENDDRAG_RECT" val="144*210*608*162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59496,50059429],&quot;65&quot;:[20205081]}"/>
</p:tagLst>
</file>

<file path=ppt/tags/tag72.xml><?xml version="1.0" encoding="utf-8"?>
<p:tagLst xmlns:p="http://schemas.openxmlformats.org/presentationml/2006/main">
  <p:tag name="TABLE_ENDDRAG_ORIGIN_RECT" val="671*259"/>
  <p:tag name="TABLE_ENDDRAG_RECT" val="144*85*671*259"/>
</p:tagLst>
</file>

<file path=ppt/tags/tag73.xml><?xml version="1.0" encoding="utf-8"?>
<p:tagLst xmlns:p="http://schemas.openxmlformats.org/presentationml/2006/main">
  <p:tag name="TABLE_ENDDRAG_ORIGIN_RECT" val="671*259"/>
  <p:tag name="TABLE_ENDDRAG_RECT" val="144*85*671*259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TABLE_ENDDRAG_ORIGIN_RECT" val="671*259"/>
  <p:tag name="TABLE_ENDDRAG_RECT" val="144*85*671*259"/>
</p:tagLst>
</file>

<file path=ppt/tags/tag76.xml><?xml version="1.0" encoding="utf-8"?>
<p:tagLst xmlns:p="http://schemas.openxmlformats.org/presentationml/2006/main">
  <p:tag name="TABLE_ENDDRAG_ORIGIN_RECT" val="671*259"/>
  <p:tag name="TABLE_ENDDRAG_RECT" val="144*85*671*259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040096332&quot;}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62469,50062354,50059176],&quot;65&quot;:[20205081]}"/>
</p:tagLst>
</file>

<file path=ppt/tags/tag80.xml><?xml version="1.0" encoding="utf-8"?>
<p:tagLst xmlns:p="http://schemas.openxmlformats.org/presentationml/2006/main">
  <p:tag name="resource_record_key" val="{&quot;10&quot;:[50059496,50059429,50062469,50062354,50059176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</Words>
  <Application>WPS 演示</Application>
  <PresentationFormat>宽屏</PresentationFormat>
  <Paragraphs>82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Times New Roman</vt:lpstr>
      <vt:lpstr>Cambria Math</vt:lpstr>
      <vt:lpstr>微软雅黑</vt:lpstr>
      <vt:lpstr>Arial Unicode MS</vt:lpstr>
      <vt:lpstr>Calibri</vt:lpstr>
      <vt:lpstr>WPS</vt:lpstr>
      <vt:lpstr>绘图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hy1729</cp:lastModifiedBy>
  <cp:revision>171</cp:revision>
  <dcterms:created xsi:type="dcterms:W3CDTF">2019-06-19T02:08:00Z</dcterms:created>
  <dcterms:modified xsi:type="dcterms:W3CDTF">2026-06-04T05:40:52Z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D6967463888C41DB94B4AA3D4D047C03_13</vt:lpwstr>
  </property>
</Properties>
</file>