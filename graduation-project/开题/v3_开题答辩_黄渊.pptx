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4"/>
  </p:notesMasterIdLst>
  <p:handoutMasterIdLst>
    <p:handoutMasterId r:id="rId23"/>
  </p:handoutMasterIdLst>
  <p:sldIdLst>
    <p:sldId id="516" r:id="rId3"/>
    <p:sldId id="517" r:id="rId5"/>
    <p:sldId id="518" r:id="rId6"/>
    <p:sldId id="519" r:id="rId7"/>
    <p:sldId id="520" r:id="rId8"/>
    <p:sldId id="521" r:id="rId9"/>
    <p:sldId id="524" r:id="rId10"/>
    <p:sldId id="526" r:id="rId11"/>
    <p:sldId id="536" r:id="rId12"/>
    <p:sldId id="537" r:id="rId13"/>
    <p:sldId id="528" r:id="rId14"/>
    <p:sldId id="547" r:id="rId15"/>
    <p:sldId id="542" r:id="rId16"/>
    <p:sldId id="543" r:id="rId17"/>
    <p:sldId id="544" r:id="rId18"/>
    <p:sldId id="549" r:id="rId19"/>
    <p:sldId id="533" r:id="rId20"/>
    <p:sldId id="534" r:id="rId21"/>
    <p:sldId id="535" r:id="rId22"/>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044590158" name="XYP"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4E79"/>
    <a:srgbClr val="E4F0FF"/>
    <a:srgbClr val="CC9ADE"/>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92" autoAdjust="0"/>
    <p:restoredTop sz="94660"/>
  </p:normalViewPr>
  <p:slideViewPr>
    <p:cSldViewPr snapToGrid="0">
      <p:cViewPr varScale="1">
        <p:scale>
          <a:sx n="88" d="100"/>
          <a:sy n="88" d="100"/>
        </p:scale>
        <p:origin x="35" y="7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85.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B06E40-5AF1-4FF6-B99E-D5F4BC30F11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页眉占位符 3"/>
          <p:cNvSpPr>
            <a:spLocks noGrp="1"/>
          </p:cNvSpPr>
          <p:nvPr>
            <p:ph type="hdr" sz="quarter"/>
          </p:nvPr>
        </p:nvSpPr>
        <p:spPr/>
        <p:txBody>
          <a:bodyPr/>
          <a:p>
            <a:endParaRPr lang="zh-CN" altLang="en-US"/>
          </a:p>
        </p:txBody>
      </p:sp>
      <p:sp>
        <p:nvSpPr>
          <p:cNvPr id="5" name="灯片编号占位符 4"/>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B06E40-5AF1-4FF6-B99E-D5F4BC30F11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7.jpe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团队PPT模板202206">
    <p:spTree>
      <p:nvGrpSpPr>
        <p:cNvPr id="1" name=""/>
        <p:cNvGrpSpPr/>
        <p:nvPr/>
      </p:nvGrpSpPr>
      <p:grpSpPr>
        <a:xfrm>
          <a:off x="0" y="0"/>
          <a:ext cx="0" cy="0"/>
          <a:chOff x="0" y="0"/>
          <a:chExt cx="0" cy="0"/>
        </a:xfrm>
      </p:grpSpPr>
      <p:pic>
        <p:nvPicPr>
          <p:cNvPr id="4" name="图片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88" y="26988"/>
            <a:ext cx="13779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21B2860E-9000-4A1E-BC98-D8A14802E455}"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8F919326-02EE-4395-BB87-A5D3D1122EDB}"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1F35F759-C146-407E-8937-FBE53644865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3B469B21-F3E0-463C-B78A-30764B838394}" type="slidenum">
              <a:rPr lang="zh-CN" altLang="en-US"/>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50C7CF47-2559-487B-A0F6-7ACDE9BC355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B7A5B8E3-1B28-4401-ACC4-14CE8903C429}"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4196" y="947292"/>
            <a:ext cx="5835604" cy="550613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199" y="947292"/>
            <a:ext cx="5893713" cy="550613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pPr>
              <a:defRPr/>
            </a:pPr>
            <a:fld id="{A9606573-A4DB-4317-9B52-6715A5CF2692}"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0DF76F53-AEE7-4E6C-BF13-6FB2452C7682}"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29"/>
            <a:ext cx="5859428"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8" y="1657760"/>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6"/>
            <a:ext cx="5859427"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6"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8" y="39468"/>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B4C85088-7D2F-4DB8-82A2-C9D0417F3097}"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fld id="{B2F5BCE9-B853-4EE9-B782-449E16ABF816}" type="slidenum">
              <a:rPr lang="zh-CN" altLang="en-US"/>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6DA96541-12EF-41A3-92FE-7AFC5A3A6398}"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fld id="{406FA649-EABE-4C17-9949-9B390A2853A9}" type="slidenum">
              <a:rPr lang="zh-CN" altLang="en-US"/>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44725" y="974526"/>
            <a:ext cx="4627300" cy="468000"/>
          </a:xfrm>
        </p:spPr>
        <p:txBody>
          <a:bodyPr anchor="b"/>
          <a:lstStyle>
            <a:lvl1pPr>
              <a:defRPr sz="3200"/>
            </a:lvl1pPr>
          </a:lstStyle>
          <a:p>
            <a:r>
              <a:rPr lang="zh-CN" altLang="en-US"/>
              <a:t>单击此处编辑母版标题样式</a:t>
            </a:r>
            <a:endParaRPr lang="zh-CN" altLang="en-US" dirty="0"/>
          </a:p>
        </p:txBody>
      </p:sp>
      <p:sp>
        <p:nvSpPr>
          <p:cNvPr id="3" name="内容占位符 2"/>
          <p:cNvSpPr>
            <a:spLocks noGrp="1"/>
          </p:cNvSpPr>
          <p:nvPr>
            <p:ph idx="1"/>
          </p:nvPr>
        </p:nvSpPr>
        <p:spPr>
          <a:xfrm>
            <a:off x="4966099" y="974526"/>
            <a:ext cx="7006619" cy="55512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144726" y="1572242"/>
            <a:ext cx="4627300" cy="495354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134ECE57-385C-4D52-A9B2-B52A6E2CDF17}"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97DC6110-DA9A-48D5-8C96-42D809C99F2D}" type="slidenum">
              <a:rPr lang="zh-CN" altLang="en-US"/>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39447" y="974526"/>
            <a:ext cx="4626000" cy="468000"/>
          </a:xfrm>
        </p:spPr>
        <p:txBody>
          <a:bodyPr anchor="b"/>
          <a:lstStyle>
            <a:lvl1pPr>
              <a:defRPr sz="3200"/>
            </a:lvl1pPr>
          </a:lstStyle>
          <a:p>
            <a:r>
              <a:rPr lang="zh-CN" altLang="en-US"/>
              <a:t>单击此处编辑母版标题样式</a:t>
            </a:r>
            <a:endParaRPr lang="zh-CN" altLang="en-US" dirty="0"/>
          </a:p>
        </p:txBody>
      </p:sp>
      <p:sp>
        <p:nvSpPr>
          <p:cNvPr id="3" name="图片占位符 2"/>
          <p:cNvSpPr>
            <a:spLocks noGrp="1"/>
          </p:cNvSpPr>
          <p:nvPr>
            <p:ph type="pic" idx="1"/>
          </p:nvPr>
        </p:nvSpPr>
        <p:spPr>
          <a:xfrm>
            <a:off x="4933813" y="987426"/>
            <a:ext cx="7052063" cy="542554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39448" y="1539350"/>
            <a:ext cx="4632578" cy="487362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3110B2D9-DA20-455B-882A-03E6D5E09A16}"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781A76BD-02FB-4D24-9C4C-56D38D5A73A1}" type="slidenum">
              <a:rPr lang="zh-CN" altLang="en-US"/>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4B2F45A-68F6-460C-8694-F20A0D8E526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723F6F1-28CA-46E9-8C7B-AA88B09A4EDD}" type="slidenum">
              <a:rPr lang="zh-CN" altLang="en-US"/>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418375" y="947122"/>
            <a:ext cx="2628900" cy="555235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44725" y="953871"/>
            <a:ext cx="9124265" cy="554560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958D650-4FDE-4C3A-90D4-91AFDD9BB0F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10ABB3FF-2E2A-48F0-BB49-9EF224E3D1A0}"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29"/>
            <a:ext cx="5859428"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8" y="1657760"/>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6"/>
            <a:ext cx="5859427"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6"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8" y="39468"/>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31"/>
            <a:ext cx="5859428" cy="4591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9" y="1657762"/>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8"/>
            <a:ext cx="5859427" cy="4591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7"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9" y="39470"/>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首页">
    <p:spTree>
      <p:nvGrpSpPr>
        <p:cNvPr id="1" name=""/>
        <p:cNvGrpSpPr/>
        <p:nvPr/>
      </p:nvGrpSpPr>
      <p:grpSpPr>
        <a:xfrm>
          <a:off x="0" y="0"/>
          <a:ext cx="0" cy="0"/>
          <a:chOff x="0" y="0"/>
          <a:chExt cx="0" cy="0"/>
        </a:xfrm>
      </p:grpSpPr>
      <p:pic>
        <p:nvPicPr>
          <p:cNvPr id="65" name="图片 64"/>
          <p:cNvPicPr>
            <a:picLocks noChangeAspect="1"/>
          </p:cNvPicPr>
          <p:nvPr userDrawn="1"/>
        </p:nvPicPr>
        <p:blipFill rotWithShape="1">
          <a:blip r:embed="rId2" cstate="email">
            <a:alphaModFix amt="5000"/>
            <a:extLst>
              <a:ext uri="{BEBA8EAE-BF5A-486C-A8C5-ECC9F3942E4B}">
                <a14:imgProps xmlns:a14="http://schemas.microsoft.com/office/drawing/2010/main">
                  <a14:imgLayer r:embed="rId3">
                    <a14:imgEffect>
                      <a14:artisticPlasticWrap/>
                    </a14:imgEffect>
                  </a14:imgLayer>
                </a14:imgProps>
              </a:ext>
            </a:extLst>
          </a:blip>
          <a:srcRect l="22550" t="2975" r="10998" b="28608"/>
          <a:stretch>
            <a:fillRect/>
          </a:stretch>
        </p:blipFill>
        <p:spPr>
          <a:xfrm>
            <a:off x="106680" y="91440"/>
            <a:ext cx="11978640" cy="6659880"/>
          </a:xfrm>
          <a:prstGeom prst="rect">
            <a:avLst/>
          </a:prstGeom>
        </p:spPr>
      </p:pic>
      <p:pic>
        <p:nvPicPr>
          <p:cNvPr id="7" name="图片 6" descr="图片包含 树, 户外, 道路, 植物&#10;&#10;自动生成的说明"/>
          <p:cNvPicPr>
            <a:picLocks noChangeAspect="1"/>
          </p:cNvPicPr>
          <p:nvPr userDrawn="1"/>
        </p:nvPicPr>
        <p:blipFill>
          <a:blip r:embed="rId4" cstate="email"/>
          <a:stretch>
            <a:fillRect/>
          </a:stretch>
        </p:blipFill>
        <p:spPr>
          <a:xfrm>
            <a:off x="0" y="-11354"/>
            <a:ext cx="12192000" cy="3175000"/>
          </a:xfrm>
          <a:prstGeom prst="rect">
            <a:avLst/>
          </a:prstGeom>
        </p:spPr>
      </p:pic>
      <p:sp>
        <p:nvSpPr>
          <p:cNvPr id="8" name="矩形 7"/>
          <p:cNvSpPr/>
          <p:nvPr userDrawn="1"/>
        </p:nvSpPr>
        <p:spPr>
          <a:xfrm>
            <a:off x="-9469" y="-13620"/>
            <a:ext cx="12192000" cy="3195427"/>
          </a:xfrm>
          <a:prstGeom prst="rect">
            <a:avLst/>
          </a:prstGeom>
          <a:gradFill>
            <a:gsLst>
              <a:gs pos="0">
                <a:srgbClr val="00477F">
                  <a:alpha val="97000"/>
                </a:srgbClr>
              </a:gs>
              <a:gs pos="52000">
                <a:srgbClr val="00477F">
                  <a:alpha val="93000"/>
                </a:srgbClr>
              </a:gs>
              <a:gs pos="98000">
                <a:srgbClr val="00477F">
                  <a:alpha val="92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nvGrpSpPr>
          <p:cNvPr id="9" name="组合 8"/>
          <p:cNvGrpSpPr/>
          <p:nvPr userDrawn="1"/>
        </p:nvGrpSpPr>
        <p:grpSpPr>
          <a:xfrm>
            <a:off x="-2128075" y="5492262"/>
            <a:ext cx="3802399" cy="3802399"/>
            <a:chOff x="3380880" y="-1242289"/>
            <a:chExt cx="2412272" cy="2412272"/>
          </a:xfrm>
        </p:grpSpPr>
        <p:sp>
          <p:nvSpPr>
            <p:cNvPr id="10"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rgbClr val="0070C0">
                  <a:alpha val="1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1" name="任意多边形: 形状 10"/>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2" name="任意多边形: 形状 11"/>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3" name="任意多边形: 形状 12"/>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4" name="任意多边形: 形状 13"/>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cxnSp>
        <p:nvCxnSpPr>
          <p:cNvPr id="16" name="直接箭头连接符 15"/>
          <p:cNvCxnSpPr/>
          <p:nvPr userDrawn="1"/>
        </p:nvCxnSpPr>
        <p:spPr>
          <a:xfrm>
            <a:off x="0" y="3175487"/>
            <a:ext cx="12192000" cy="0"/>
          </a:xfrm>
          <a:prstGeom prst="straightConnector1">
            <a:avLst/>
          </a:prstGeom>
          <a:ln w="25400" cmpd="dbl">
            <a:solidFill>
              <a:schemeClr val="tx1">
                <a:lumMod val="65000"/>
                <a:lumOff val="35000"/>
                <a:alpha val="68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272814" y="190875"/>
            <a:ext cx="2018750" cy="601605"/>
            <a:chOff x="196614" y="190875"/>
            <a:chExt cx="1749275" cy="521299"/>
          </a:xfrm>
        </p:grpSpPr>
        <p:pic>
          <p:nvPicPr>
            <p:cNvPr id="18" name="图形 17"/>
            <p:cNvPicPr>
              <a:picLocks noChangeAspect="1"/>
            </p:cNvPicPr>
            <p:nvPr/>
          </p:nvPicPr>
          <p:blipFill rotWithShape="1">
            <a:blip r:embed="rId5" cstate="email">
              <a:extLst>
                <a:ext uri="{96DAC541-7B7A-43D3-8B79-37D633B846F1}">
                  <asvg:svgBlip xmlns:asvg="http://schemas.microsoft.com/office/drawing/2016/SVG/main" r:embed="rId6"/>
                </a:ext>
              </a:extLst>
            </a:blip>
            <a:srcRect/>
            <a:stretch>
              <a:fillRect/>
            </a:stretch>
          </p:blipFill>
          <p:spPr>
            <a:xfrm>
              <a:off x="745980" y="190875"/>
              <a:ext cx="1199909" cy="512116"/>
            </a:xfrm>
            <a:prstGeom prst="rect">
              <a:avLst/>
            </a:prstGeom>
          </p:spPr>
        </p:pic>
        <p:grpSp>
          <p:nvGrpSpPr>
            <p:cNvPr id="19" name="组合 18"/>
            <p:cNvGrpSpPr/>
            <p:nvPr/>
          </p:nvGrpSpPr>
          <p:grpSpPr>
            <a:xfrm>
              <a:off x="196614" y="200058"/>
              <a:ext cx="512122" cy="512116"/>
              <a:chOff x="7699101" y="5483589"/>
              <a:chExt cx="1411457" cy="1411442"/>
            </a:xfrm>
            <a:solidFill>
              <a:srgbClr val="FFFFFF"/>
            </a:solidFill>
          </p:grpSpPr>
          <p:sp>
            <p:nvSpPr>
              <p:cNvPr id="20" name="任意多边形: 形状 19"/>
              <p:cNvSpPr/>
              <p:nvPr/>
            </p:nvSpPr>
            <p:spPr>
              <a:xfrm>
                <a:off x="7818832" y="6359657"/>
                <a:ext cx="97342" cy="97341"/>
              </a:xfrm>
              <a:custGeom>
                <a:avLst/>
                <a:gdLst>
                  <a:gd name="connsiteX0" fmla="*/ 30663 w 97341"/>
                  <a:gd name="connsiteY0" fmla="*/ 93934 h 97340"/>
                  <a:gd name="connsiteX1" fmla="*/ 7301 w 97341"/>
                  <a:gd name="connsiteY1" fmla="*/ 36503 h 97340"/>
                  <a:gd name="connsiteX2" fmla="*/ 11194 w 97341"/>
                  <a:gd name="connsiteY2" fmla="*/ 34556 h 97340"/>
                  <a:gd name="connsiteX3" fmla="*/ 21902 w 97341"/>
                  <a:gd name="connsiteY3" fmla="*/ 41370 h 97340"/>
                  <a:gd name="connsiteX4" fmla="*/ 69599 w 97341"/>
                  <a:gd name="connsiteY4" fmla="*/ 21902 h 97340"/>
                  <a:gd name="connsiteX5" fmla="*/ 72520 w 97341"/>
                  <a:gd name="connsiteY5" fmla="*/ 9247 h 97340"/>
                  <a:gd name="connsiteX6" fmla="*/ 76413 w 97341"/>
                  <a:gd name="connsiteY6" fmla="*/ 7301 h 97340"/>
                  <a:gd name="connsiteX7" fmla="*/ 91014 w 97341"/>
                  <a:gd name="connsiteY7" fmla="*/ 43317 h 97340"/>
                  <a:gd name="connsiteX8" fmla="*/ 87121 w 97341"/>
                  <a:gd name="connsiteY8" fmla="*/ 45263 h 97340"/>
                  <a:gd name="connsiteX9" fmla="*/ 76413 w 97341"/>
                  <a:gd name="connsiteY9" fmla="*/ 38449 h 97340"/>
                  <a:gd name="connsiteX10" fmla="*/ 28716 w 97341"/>
                  <a:gd name="connsiteY10" fmla="*/ 57918 h 97340"/>
                  <a:gd name="connsiteX11" fmla="*/ 24822 w 97341"/>
                  <a:gd name="connsiteY11" fmla="*/ 66678 h 97340"/>
                  <a:gd name="connsiteX12" fmla="*/ 54998 w 97341"/>
                  <a:gd name="connsiteY12" fmla="*/ 78359 h 97340"/>
                  <a:gd name="connsiteX13" fmla="*/ 56945 w 97341"/>
                  <a:gd name="connsiteY13" fmla="*/ 82253 h 97340"/>
                  <a:gd name="connsiteX14" fmla="*/ 30663 w 97341"/>
                  <a:gd name="connsiteY14" fmla="*/ 93934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341" h="97340">
                    <a:moveTo>
                      <a:pt x="30663" y="93934"/>
                    </a:moveTo>
                    <a:lnTo>
                      <a:pt x="7301" y="36503"/>
                    </a:lnTo>
                    <a:lnTo>
                      <a:pt x="11194" y="34556"/>
                    </a:lnTo>
                    <a:cubicBezTo>
                      <a:pt x="13141" y="41370"/>
                      <a:pt x="17035" y="44290"/>
                      <a:pt x="21902" y="41370"/>
                    </a:cubicBezTo>
                    <a:lnTo>
                      <a:pt x="69599" y="21902"/>
                    </a:lnTo>
                    <a:cubicBezTo>
                      <a:pt x="74466" y="19955"/>
                      <a:pt x="75440" y="16061"/>
                      <a:pt x="72520" y="9247"/>
                    </a:cubicBezTo>
                    <a:lnTo>
                      <a:pt x="76413" y="7301"/>
                    </a:lnTo>
                    <a:lnTo>
                      <a:pt x="91014" y="43317"/>
                    </a:lnTo>
                    <a:lnTo>
                      <a:pt x="87121" y="45263"/>
                    </a:lnTo>
                    <a:cubicBezTo>
                      <a:pt x="84201" y="38449"/>
                      <a:pt x="81280" y="35529"/>
                      <a:pt x="76413" y="38449"/>
                    </a:cubicBezTo>
                    <a:lnTo>
                      <a:pt x="28716" y="57918"/>
                    </a:lnTo>
                    <a:cubicBezTo>
                      <a:pt x="23849" y="58891"/>
                      <a:pt x="22875" y="62785"/>
                      <a:pt x="24822" y="66678"/>
                    </a:cubicBezTo>
                    <a:cubicBezTo>
                      <a:pt x="29689" y="76412"/>
                      <a:pt x="39423" y="80306"/>
                      <a:pt x="54998" y="78359"/>
                    </a:cubicBezTo>
                    <a:lnTo>
                      <a:pt x="56945" y="82253"/>
                    </a:lnTo>
                    <a:lnTo>
                      <a:pt x="30663" y="9393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1" name="任意多边形: 形状 20"/>
              <p:cNvSpPr/>
              <p:nvPr/>
            </p:nvSpPr>
            <p:spPr>
              <a:xfrm>
                <a:off x="7849007" y="6456024"/>
                <a:ext cx="97342" cy="87607"/>
              </a:xfrm>
              <a:custGeom>
                <a:avLst/>
                <a:gdLst>
                  <a:gd name="connsiteX0" fmla="*/ 55972 w 97341"/>
                  <a:gd name="connsiteY0" fmla="*/ 35529 h 87606"/>
                  <a:gd name="connsiteX1" fmla="*/ 70573 w 97341"/>
                  <a:gd name="connsiteY1" fmla="*/ 15088 h 87606"/>
                  <a:gd name="connsiteX2" fmla="*/ 46237 w 97341"/>
                  <a:gd name="connsiteY2" fmla="*/ 18981 h 87606"/>
                  <a:gd name="connsiteX3" fmla="*/ 55972 w 97341"/>
                  <a:gd name="connsiteY3" fmla="*/ 35529 h 87606"/>
                  <a:gd name="connsiteX4" fmla="*/ 55972 w 97341"/>
                  <a:gd name="connsiteY4" fmla="*/ 35529 h 87606"/>
                  <a:gd name="connsiteX5" fmla="*/ 21902 w 97341"/>
                  <a:gd name="connsiteY5" fmla="*/ 38449 h 87606"/>
                  <a:gd name="connsiteX6" fmla="*/ 7301 w 97341"/>
                  <a:gd name="connsiteY6" fmla="*/ 13141 h 87606"/>
                  <a:gd name="connsiteX7" fmla="*/ 11195 w 97341"/>
                  <a:gd name="connsiteY7" fmla="*/ 11194 h 87606"/>
                  <a:gd name="connsiteX8" fmla="*/ 29689 w 97341"/>
                  <a:gd name="connsiteY8" fmla="*/ 16061 h 87606"/>
                  <a:gd name="connsiteX9" fmla="*/ 91015 w 97341"/>
                  <a:gd name="connsiteY9" fmla="*/ 7301 h 87606"/>
                  <a:gd name="connsiteX10" fmla="*/ 93935 w 97341"/>
                  <a:gd name="connsiteY10" fmla="*/ 12168 h 87606"/>
                  <a:gd name="connsiteX11" fmla="*/ 53051 w 97341"/>
                  <a:gd name="connsiteY11" fmla="*/ 68625 h 87606"/>
                  <a:gd name="connsiteX12" fmla="*/ 52078 w 97341"/>
                  <a:gd name="connsiteY12" fmla="*/ 81280 h 87606"/>
                  <a:gd name="connsiteX13" fmla="*/ 48184 w 97341"/>
                  <a:gd name="connsiteY13" fmla="*/ 83226 h 87606"/>
                  <a:gd name="connsiteX14" fmla="*/ 28716 w 97341"/>
                  <a:gd name="connsiteY14" fmla="*/ 50130 h 87606"/>
                  <a:gd name="connsiteX15" fmla="*/ 32610 w 97341"/>
                  <a:gd name="connsiteY15" fmla="*/ 48184 h 87606"/>
                  <a:gd name="connsiteX16" fmla="*/ 34557 w 97341"/>
                  <a:gd name="connsiteY16" fmla="*/ 52077 h 87606"/>
                  <a:gd name="connsiteX17" fmla="*/ 41370 w 97341"/>
                  <a:gd name="connsiteY17" fmla="*/ 55971 h 87606"/>
                  <a:gd name="connsiteX18" fmla="*/ 43317 w 97341"/>
                  <a:gd name="connsiteY18" fmla="*/ 54024 h 87606"/>
                  <a:gd name="connsiteX19" fmla="*/ 44291 w 97341"/>
                  <a:gd name="connsiteY19" fmla="*/ 53051 h 87606"/>
                  <a:gd name="connsiteX20" fmla="*/ 52078 w 97341"/>
                  <a:gd name="connsiteY20" fmla="*/ 42343 h 87606"/>
                  <a:gd name="connsiteX21" fmla="*/ 40397 w 97341"/>
                  <a:gd name="connsiteY21" fmla="*/ 21902 h 87606"/>
                  <a:gd name="connsiteX22" fmla="*/ 31636 w 97341"/>
                  <a:gd name="connsiteY22" fmla="*/ 22875 h 87606"/>
                  <a:gd name="connsiteX23" fmla="*/ 24822 w 97341"/>
                  <a:gd name="connsiteY23" fmla="*/ 24822 h 87606"/>
                  <a:gd name="connsiteX24" fmla="*/ 23849 w 97341"/>
                  <a:gd name="connsiteY24" fmla="*/ 32609 h 87606"/>
                  <a:gd name="connsiteX25" fmla="*/ 26769 w 97341"/>
                  <a:gd name="connsiteY25" fmla="*/ 37476 h 87606"/>
                  <a:gd name="connsiteX26" fmla="*/ 21902 w 97341"/>
                  <a:gd name="connsiteY26" fmla="*/ 38449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341" h="87606">
                    <a:moveTo>
                      <a:pt x="55972" y="35529"/>
                    </a:moveTo>
                    <a:lnTo>
                      <a:pt x="70573" y="15088"/>
                    </a:lnTo>
                    <a:lnTo>
                      <a:pt x="46237" y="18981"/>
                    </a:lnTo>
                    <a:lnTo>
                      <a:pt x="55972" y="35529"/>
                    </a:lnTo>
                    <a:lnTo>
                      <a:pt x="55972" y="35529"/>
                    </a:lnTo>
                    <a:close/>
                    <a:moveTo>
                      <a:pt x="21902" y="38449"/>
                    </a:moveTo>
                    <a:lnTo>
                      <a:pt x="7301" y="13141"/>
                    </a:lnTo>
                    <a:lnTo>
                      <a:pt x="11195" y="11194"/>
                    </a:lnTo>
                    <a:cubicBezTo>
                      <a:pt x="15088" y="16061"/>
                      <a:pt x="20929" y="17035"/>
                      <a:pt x="29689" y="16061"/>
                    </a:cubicBezTo>
                    <a:lnTo>
                      <a:pt x="91015" y="7301"/>
                    </a:lnTo>
                    <a:lnTo>
                      <a:pt x="93935" y="12168"/>
                    </a:lnTo>
                    <a:lnTo>
                      <a:pt x="53051" y="68625"/>
                    </a:lnTo>
                    <a:cubicBezTo>
                      <a:pt x="50131" y="72519"/>
                      <a:pt x="49158" y="76413"/>
                      <a:pt x="52078" y="81280"/>
                    </a:cubicBezTo>
                    <a:lnTo>
                      <a:pt x="48184" y="83226"/>
                    </a:lnTo>
                    <a:lnTo>
                      <a:pt x="28716" y="50130"/>
                    </a:lnTo>
                    <a:lnTo>
                      <a:pt x="32610" y="48184"/>
                    </a:lnTo>
                    <a:lnTo>
                      <a:pt x="34557" y="52077"/>
                    </a:lnTo>
                    <a:cubicBezTo>
                      <a:pt x="36503" y="55971"/>
                      <a:pt x="38450" y="56944"/>
                      <a:pt x="41370" y="55971"/>
                    </a:cubicBezTo>
                    <a:cubicBezTo>
                      <a:pt x="42344" y="55971"/>
                      <a:pt x="42344" y="54998"/>
                      <a:pt x="43317" y="54024"/>
                    </a:cubicBezTo>
                    <a:cubicBezTo>
                      <a:pt x="44291" y="54024"/>
                      <a:pt x="44291" y="53051"/>
                      <a:pt x="44291" y="53051"/>
                    </a:cubicBezTo>
                    <a:lnTo>
                      <a:pt x="52078" y="42343"/>
                    </a:lnTo>
                    <a:lnTo>
                      <a:pt x="40397" y="21902"/>
                    </a:lnTo>
                    <a:lnTo>
                      <a:pt x="31636" y="22875"/>
                    </a:lnTo>
                    <a:cubicBezTo>
                      <a:pt x="29689" y="22875"/>
                      <a:pt x="27742" y="22875"/>
                      <a:pt x="24822" y="24822"/>
                    </a:cubicBezTo>
                    <a:cubicBezTo>
                      <a:pt x="21902" y="26769"/>
                      <a:pt x="21902" y="29689"/>
                      <a:pt x="23849" y="32609"/>
                    </a:cubicBezTo>
                    <a:lnTo>
                      <a:pt x="26769" y="37476"/>
                    </a:lnTo>
                    <a:lnTo>
                      <a:pt x="21902" y="3844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2" name="任意多边形: 形状 21"/>
              <p:cNvSpPr/>
              <p:nvPr/>
            </p:nvSpPr>
            <p:spPr>
              <a:xfrm>
                <a:off x="7897678" y="6494960"/>
                <a:ext cx="116810" cy="107075"/>
              </a:xfrm>
              <a:custGeom>
                <a:avLst/>
                <a:gdLst>
                  <a:gd name="connsiteX0" fmla="*/ 61812 w 116810"/>
                  <a:gd name="connsiteY0" fmla="*/ 10221 h 107074"/>
                  <a:gd name="connsiteX1" fmla="*/ 64733 w 116810"/>
                  <a:gd name="connsiteY1" fmla="*/ 7301 h 107074"/>
                  <a:gd name="connsiteX2" fmla="*/ 81281 w 116810"/>
                  <a:gd name="connsiteY2" fmla="*/ 27742 h 107074"/>
                  <a:gd name="connsiteX3" fmla="*/ 64733 w 116810"/>
                  <a:gd name="connsiteY3" fmla="*/ 88093 h 107074"/>
                  <a:gd name="connsiteX4" fmla="*/ 64733 w 116810"/>
                  <a:gd name="connsiteY4" fmla="*/ 88093 h 107074"/>
                  <a:gd name="connsiteX5" fmla="*/ 93935 w 116810"/>
                  <a:gd name="connsiteY5" fmla="*/ 63758 h 107074"/>
                  <a:gd name="connsiteX6" fmla="*/ 92962 w 116810"/>
                  <a:gd name="connsiteY6" fmla="*/ 49157 h 107074"/>
                  <a:gd name="connsiteX7" fmla="*/ 95882 w 116810"/>
                  <a:gd name="connsiteY7" fmla="*/ 46237 h 107074"/>
                  <a:gd name="connsiteX8" fmla="*/ 113404 w 116810"/>
                  <a:gd name="connsiteY8" fmla="*/ 67652 h 107074"/>
                  <a:gd name="connsiteX9" fmla="*/ 110483 w 116810"/>
                  <a:gd name="connsiteY9" fmla="*/ 70572 h 107074"/>
                  <a:gd name="connsiteX10" fmla="*/ 97829 w 116810"/>
                  <a:gd name="connsiteY10" fmla="*/ 68625 h 107074"/>
                  <a:gd name="connsiteX11" fmla="*/ 50131 w 116810"/>
                  <a:gd name="connsiteY11" fmla="*/ 107562 h 107074"/>
                  <a:gd name="connsiteX12" fmla="*/ 43317 w 116810"/>
                  <a:gd name="connsiteY12" fmla="*/ 99774 h 107074"/>
                  <a:gd name="connsiteX13" fmla="*/ 61812 w 116810"/>
                  <a:gd name="connsiteY13" fmla="*/ 31636 h 107074"/>
                  <a:gd name="connsiteX14" fmla="*/ 61812 w 116810"/>
                  <a:gd name="connsiteY14" fmla="*/ 31636 h 107074"/>
                  <a:gd name="connsiteX15" fmla="*/ 25796 w 116810"/>
                  <a:gd name="connsiteY15" fmla="*/ 60838 h 107074"/>
                  <a:gd name="connsiteX16" fmla="*/ 28716 w 116810"/>
                  <a:gd name="connsiteY16" fmla="*/ 75439 h 107074"/>
                  <a:gd name="connsiteX17" fmla="*/ 25796 w 116810"/>
                  <a:gd name="connsiteY17" fmla="*/ 78359 h 107074"/>
                  <a:gd name="connsiteX18" fmla="*/ 7301 w 116810"/>
                  <a:gd name="connsiteY18" fmla="*/ 55971 h 107074"/>
                  <a:gd name="connsiteX19" fmla="*/ 10221 w 116810"/>
                  <a:gd name="connsiteY19" fmla="*/ 53051 h 107074"/>
                  <a:gd name="connsiteX20" fmla="*/ 22875 w 116810"/>
                  <a:gd name="connsiteY20" fmla="*/ 56944 h 107074"/>
                  <a:gd name="connsiteX21" fmla="*/ 62786 w 116810"/>
                  <a:gd name="connsiteY21" fmla="*/ 23848 h 107074"/>
                  <a:gd name="connsiteX22" fmla="*/ 61812 w 116810"/>
                  <a:gd name="connsiteY22" fmla="*/ 10221 h 10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6810" h="107074">
                    <a:moveTo>
                      <a:pt x="61812" y="10221"/>
                    </a:moveTo>
                    <a:lnTo>
                      <a:pt x="64733" y="7301"/>
                    </a:lnTo>
                    <a:lnTo>
                      <a:pt x="81281" y="27742"/>
                    </a:lnTo>
                    <a:lnTo>
                      <a:pt x="64733" y="88093"/>
                    </a:lnTo>
                    <a:lnTo>
                      <a:pt x="64733" y="88093"/>
                    </a:lnTo>
                    <a:lnTo>
                      <a:pt x="93935" y="63758"/>
                    </a:lnTo>
                    <a:cubicBezTo>
                      <a:pt x="97829" y="60838"/>
                      <a:pt x="97829" y="55971"/>
                      <a:pt x="92962" y="49157"/>
                    </a:cubicBezTo>
                    <a:lnTo>
                      <a:pt x="95882" y="46237"/>
                    </a:lnTo>
                    <a:lnTo>
                      <a:pt x="113404" y="67652"/>
                    </a:lnTo>
                    <a:lnTo>
                      <a:pt x="110483" y="70572"/>
                    </a:lnTo>
                    <a:cubicBezTo>
                      <a:pt x="105616" y="65705"/>
                      <a:pt x="100749" y="64732"/>
                      <a:pt x="97829" y="68625"/>
                    </a:cubicBezTo>
                    <a:lnTo>
                      <a:pt x="50131" y="107562"/>
                    </a:lnTo>
                    <a:lnTo>
                      <a:pt x="43317" y="99774"/>
                    </a:lnTo>
                    <a:lnTo>
                      <a:pt x="61812" y="31636"/>
                    </a:lnTo>
                    <a:lnTo>
                      <a:pt x="61812" y="31636"/>
                    </a:lnTo>
                    <a:lnTo>
                      <a:pt x="25796" y="60838"/>
                    </a:lnTo>
                    <a:cubicBezTo>
                      <a:pt x="20929" y="63758"/>
                      <a:pt x="21902" y="68625"/>
                      <a:pt x="28716" y="75439"/>
                    </a:cubicBezTo>
                    <a:lnTo>
                      <a:pt x="25796" y="78359"/>
                    </a:lnTo>
                    <a:lnTo>
                      <a:pt x="7301" y="55971"/>
                    </a:lnTo>
                    <a:lnTo>
                      <a:pt x="10221" y="53051"/>
                    </a:lnTo>
                    <a:cubicBezTo>
                      <a:pt x="14115" y="58891"/>
                      <a:pt x="18982" y="59865"/>
                      <a:pt x="22875" y="56944"/>
                    </a:cubicBezTo>
                    <a:lnTo>
                      <a:pt x="62786" y="23848"/>
                    </a:lnTo>
                    <a:cubicBezTo>
                      <a:pt x="67653" y="19955"/>
                      <a:pt x="67653" y="16061"/>
                      <a:pt x="61812" y="102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3" name="任意多边形: 形状 22"/>
              <p:cNvSpPr/>
              <p:nvPr/>
            </p:nvSpPr>
            <p:spPr>
              <a:xfrm>
                <a:off x="7959977" y="6563099"/>
                <a:ext cx="107076" cy="97341"/>
              </a:xfrm>
              <a:custGeom>
                <a:avLst/>
                <a:gdLst>
                  <a:gd name="connsiteX0" fmla="*/ 69599 w 107076"/>
                  <a:gd name="connsiteY0" fmla="*/ 77386 h 97340"/>
                  <a:gd name="connsiteX1" fmla="*/ 50131 w 107076"/>
                  <a:gd name="connsiteY1" fmla="*/ 97827 h 97340"/>
                  <a:gd name="connsiteX2" fmla="*/ 7301 w 107076"/>
                  <a:gd name="connsiteY2" fmla="*/ 58891 h 97340"/>
                  <a:gd name="connsiteX3" fmla="*/ 11194 w 107076"/>
                  <a:gd name="connsiteY3" fmla="*/ 54998 h 97340"/>
                  <a:gd name="connsiteX4" fmla="*/ 83227 w 107076"/>
                  <a:gd name="connsiteY4" fmla="*/ 34556 h 97340"/>
                  <a:gd name="connsiteX5" fmla="*/ 78360 w 107076"/>
                  <a:gd name="connsiteY5" fmla="*/ 29689 h 97340"/>
                  <a:gd name="connsiteX6" fmla="*/ 46237 w 107076"/>
                  <a:gd name="connsiteY6" fmla="*/ 28715 h 97340"/>
                  <a:gd name="connsiteX7" fmla="*/ 42343 w 107076"/>
                  <a:gd name="connsiteY7" fmla="*/ 25795 h 97340"/>
                  <a:gd name="connsiteX8" fmla="*/ 60839 w 107076"/>
                  <a:gd name="connsiteY8" fmla="*/ 7301 h 97340"/>
                  <a:gd name="connsiteX9" fmla="*/ 100749 w 107076"/>
                  <a:gd name="connsiteY9" fmla="*/ 44290 h 97340"/>
                  <a:gd name="connsiteX10" fmla="*/ 95882 w 107076"/>
                  <a:gd name="connsiteY10" fmla="*/ 50130 h 97340"/>
                  <a:gd name="connsiteX11" fmla="*/ 26769 w 107076"/>
                  <a:gd name="connsiteY11" fmla="*/ 69599 h 97340"/>
                  <a:gd name="connsiteX12" fmla="*/ 67652 w 107076"/>
                  <a:gd name="connsiteY12" fmla="*/ 74466 h 97340"/>
                  <a:gd name="connsiteX13" fmla="*/ 69599 w 107076"/>
                  <a:gd name="connsiteY13" fmla="*/ 77386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076" h="97340">
                    <a:moveTo>
                      <a:pt x="69599" y="77386"/>
                    </a:moveTo>
                    <a:lnTo>
                      <a:pt x="50131" y="97827"/>
                    </a:lnTo>
                    <a:lnTo>
                      <a:pt x="7301" y="58891"/>
                    </a:lnTo>
                    <a:lnTo>
                      <a:pt x="11194" y="54998"/>
                    </a:lnTo>
                    <a:lnTo>
                      <a:pt x="83227" y="34556"/>
                    </a:lnTo>
                    <a:lnTo>
                      <a:pt x="78360" y="29689"/>
                    </a:lnTo>
                    <a:cubicBezTo>
                      <a:pt x="66679" y="19955"/>
                      <a:pt x="55972" y="18981"/>
                      <a:pt x="46237" y="28715"/>
                    </a:cubicBezTo>
                    <a:lnTo>
                      <a:pt x="42343" y="25795"/>
                    </a:lnTo>
                    <a:lnTo>
                      <a:pt x="60839" y="7301"/>
                    </a:lnTo>
                    <a:lnTo>
                      <a:pt x="100749" y="44290"/>
                    </a:lnTo>
                    <a:lnTo>
                      <a:pt x="95882" y="50130"/>
                    </a:lnTo>
                    <a:lnTo>
                      <a:pt x="26769" y="69599"/>
                    </a:lnTo>
                    <a:cubicBezTo>
                      <a:pt x="41370" y="84200"/>
                      <a:pt x="54025" y="86147"/>
                      <a:pt x="67652" y="74466"/>
                    </a:cubicBezTo>
                    <a:lnTo>
                      <a:pt x="69599" y="77386"/>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4" name="任意多边形: 形状 23"/>
              <p:cNvSpPr/>
              <p:nvPr/>
            </p:nvSpPr>
            <p:spPr>
              <a:xfrm>
                <a:off x="8019356" y="6605929"/>
                <a:ext cx="116810" cy="116809"/>
              </a:xfrm>
              <a:custGeom>
                <a:avLst/>
                <a:gdLst>
                  <a:gd name="connsiteX0" fmla="*/ 53051 w 116810"/>
                  <a:gd name="connsiteY0" fmla="*/ 51104 h 116809"/>
                  <a:gd name="connsiteX1" fmla="*/ 72520 w 116810"/>
                  <a:gd name="connsiteY1" fmla="*/ 64732 h 116809"/>
                  <a:gd name="connsiteX2" fmla="*/ 85174 w 116810"/>
                  <a:gd name="connsiteY2" fmla="*/ 47210 h 116809"/>
                  <a:gd name="connsiteX3" fmla="*/ 81281 w 116810"/>
                  <a:gd name="connsiteY3" fmla="*/ 36503 h 116809"/>
                  <a:gd name="connsiteX4" fmla="*/ 83227 w 116810"/>
                  <a:gd name="connsiteY4" fmla="*/ 32609 h 116809"/>
                  <a:gd name="connsiteX5" fmla="*/ 114377 w 116810"/>
                  <a:gd name="connsiteY5" fmla="*/ 54024 h 116809"/>
                  <a:gd name="connsiteX6" fmla="*/ 112430 w 116810"/>
                  <a:gd name="connsiteY6" fmla="*/ 57918 h 116809"/>
                  <a:gd name="connsiteX7" fmla="*/ 99775 w 116810"/>
                  <a:gd name="connsiteY7" fmla="*/ 57918 h 116809"/>
                  <a:gd name="connsiteX8" fmla="*/ 70573 w 116810"/>
                  <a:gd name="connsiteY8" fmla="*/ 100748 h 116809"/>
                  <a:gd name="connsiteX9" fmla="*/ 75440 w 116810"/>
                  <a:gd name="connsiteY9" fmla="*/ 112429 h 116809"/>
                  <a:gd name="connsiteX10" fmla="*/ 73493 w 116810"/>
                  <a:gd name="connsiteY10" fmla="*/ 116322 h 116809"/>
                  <a:gd name="connsiteX11" fmla="*/ 42344 w 116810"/>
                  <a:gd name="connsiteY11" fmla="*/ 94907 h 116809"/>
                  <a:gd name="connsiteX12" fmla="*/ 44291 w 116810"/>
                  <a:gd name="connsiteY12" fmla="*/ 91014 h 116809"/>
                  <a:gd name="connsiteX13" fmla="*/ 55972 w 116810"/>
                  <a:gd name="connsiteY13" fmla="*/ 90040 h 116809"/>
                  <a:gd name="connsiteX14" fmla="*/ 70573 w 116810"/>
                  <a:gd name="connsiteY14" fmla="*/ 69599 h 116809"/>
                  <a:gd name="connsiteX15" fmla="*/ 51104 w 116810"/>
                  <a:gd name="connsiteY15" fmla="*/ 55971 h 116809"/>
                  <a:gd name="connsiteX16" fmla="*/ 36503 w 116810"/>
                  <a:gd name="connsiteY16" fmla="*/ 76413 h 116809"/>
                  <a:gd name="connsiteX17" fmla="*/ 40397 w 116810"/>
                  <a:gd name="connsiteY17" fmla="*/ 87120 h 116809"/>
                  <a:gd name="connsiteX18" fmla="*/ 38450 w 116810"/>
                  <a:gd name="connsiteY18" fmla="*/ 91014 h 116809"/>
                  <a:gd name="connsiteX19" fmla="*/ 7301 w 116810"/>
                  <a:gd name="connsiteY19" fmla="*/ 69599 h 116809"/>
                  <a:gd name="connsiteX20" fmla="*/ 9248 w 116810"/>
                  <a:gd name="connsiteY20" fmla="*/ 65705 h 116809"/>
                  <a:gd name="connsiteX21" fmla="*/ 21902 w 116810"/>
                  <a:gd name="connsiteY21" fmla="*/ 65705 h 116809"/>
                  <a:gd name="connsiteX22" fmla="*/ 51104 w 116810"/>
                  <a:gd name="connsiteY22" fmla="*/ 22875 h 116809"/>
                  <a:gd name="connsiteX23" fmla="*/ 47211 w 116810"/>
                  <a:gd name="connsiteY23" fmla="*/ 11194 h 116809"/>
                  <a:gd name="connsiteX24" fmla="*/ 49158 w 116810"/>
                  <a:gd name="connsiteY24" fmla="*/ 7301 h 116809"/>
                  <a:gd name="connsiteX25" fmla="*/ 80307 w 116810"/>
                  <a:gd name="connsiteY25" fmla="*/ 28716 h 116809"/>
                  <a:gd name="connsiteX26" fmla="*/ 78360 w 116810"/>
                  <a:gd name="connsiteY26" fmla="*/ 32609 h 116809"/>
                  <a:gd name="connsiteX27" fmla="*/ 66679 w 116810"/>
                  <a:gd name="connsiteY27" fmla="*/ 33583 h 116809"/>
                  <a:gd name="connsiteX28" fmla="*/ 53051 w 116810"/>
                  <a:gd name="connsiteY28" fmla="*/ 51104 h 11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810" h="116809">
                    <a:moveTo>
                      <a:pt x="53051" y="51104"/>
                    </a:moveTo>
                    <a:lnTo>
                      <a:pt x="72520" y="64732"/>
                    </a:lnTo>
                    <a:lnTo>
                      <a:pt x="85174" y="47210"/>
                    </a:lnTo>
                    <a:cubicBezTo>
                      <a:pt x="88095" y="43317"/>
                      <a:pt x="87121" y="39423"/>
                      <a:pt x="81281" y="36503"/>
                    </a:cubicBezTo>
                    <a:lnTo>
                      <a:pt x="83227" y="32609"/>
                    </a:lnTo>
                    <a:lnTo>
                      <a:pt x="114377" y="54024"/>
                    </a:lnTo>
                    <a:lnTo>
                      <a:pt x="112430" y="57918"/>
                    </a:lnTo>
                    <a:cubicBezTo>
                      <a:pt x="106589" y="53051"/>
                      <a:pt x="101722" y="53051"/>
                      <a:pt x="99775" y="57918"/>
                    </a:cubicBezTo>
                    <a:lnTo>
                      <a:pt x="70573" y="100748"/>
                    </a:lnTo>
                    <a:cubicBezTo>
                      <a:pt x="66679" y="104641"/>
                      <a:pt x="68626" y="108535"/>
                      <a:pt x="75440" y="112429"/>
                    </a:cubicBezTo>
                    <a:lnTo>
                      <a:pt x="73493" y="116322"/>
                    </a:lnTo>
                    <a:lnTo>
                      <a:pt x="42344" y="94907"/>
                    </a:lnTo>
                    <a:lnTo>
                      <a:pt x="44291" y="91014"/>
                    </a:lnTo>
                    <a:cubicBezTo>
                      <a:pt x="49158" y="94907"/>
                      <a:pt x="53051" y="94907"/>
                      <a:pt x="55972" y="90040"/>
                    </a:cubicBezTo>
                    <a:lnTo>
                      <a:pt x="70573" y="69599"/>
                    </a:lnTo>
                    <a:lnTo>
                      <a:pt x="51104" y="55971"/>
                    </a:lnTo>
                    <a:lnTo>
                      <a:pt x="36503" y="76413"/>
                    </a:lnTo>
                    <a:cubicBezTo>
                      <a:pt x="32610" y="80306"/>
                      <a:pt x="34557" y="84200"/>
                      <a:pt x="40397" y="87120"/>
                    </a:cubicBezTo>
                    <a:lnTo>
                      <a:pt x="38450" y="91014"/>
                    </a:lnTo>
                    <a:lnTo>
                      <a:pt x="7301" y="69599"/>
                    </a:lnTo>
                    <a:lnTo>
                      <a:pt x="9248" y="65705"/>
                    </a:lnTo>
                    <a:cubicBezTo>
                      <a:pt x="15088" y="70572"/>
                      <a:pt x="18982" y="70572"/>
                      <a:pt x="21902" y="65705"/>
                    </a:cubicBezTo>
                    <a:lnTo>
                      <a:pt x="51104" y="22875"/>
                    </a:lnTo>
                    <a:cubicBezTo>
                      <a:pt x="54025" y="18982"/>
                      <a:pt x="53051" y="15088"/>
                      <a:pt x="47211" y="11194"/>
                    </a:cubicBezTo>
                    <a:lnTo>
                      <a:pt x="49158" y="7301"/>
                    </a:lnTo>
                    <a:lnTo>
                      <a:pt x="80307" y="28716"/>
                    </a:lnTo>
                    <a:lnTo>
                      <a:pt x="78360" y="32609"/>
                    </a:lnTo>
                    <a:cubicBezTo>
                      <a:pt x="72520" y="28716"/>
                      <a:pt x="68626" y="28716"/>
                      <a:pt x="66679" y="33583"/>
                    </a:cubicBezTo>
                    <a:lnTo>
                      <a:pt x="53051" y="5110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5" name="任意多边形: 形状 24"/>
              <p:cNvSpPr/>
              <p:nvPr/>
            </p:nvSpPr>
            <p:spPr>
              <a:xfrm>
                <a:off x="8113908" y="6667995"/>
                <a:ext cx="87608" cy="87607"/>
              </a:xfrm>
              <a:custGeom>
                <a:avLst/>
                <a:gdLst>
                  <a:gd name="connsiteX0" fmla="*/ 28586 w 87607"/>
                  <a:gd name="connsiteY0" fmla="*/ 37709 h 87606"/>
                  <a:gd name="connsiteX1" fmla="*/ 30533 w 87607"/>
                  <a:gd name="connsiteY1" fmla="*/ 75672 h 87606"/>
                  <a:gd name="connsiteX2" fmla="*/ 60709 w 87607"/>
                  <a:gd name="connsiteY2" fmla="*/ 53283 h 87606"/>
                  <a:gd name="connsiteX3" fmla="*/ 59735 w 87607"/>
                  <a:gd name="connsiteY3" fmla="*/ 15321 h 87606"/>
                  <a:gd name="connsiteX4" fmla="*/ 28586 w 87607"/>
                  <a:gd name="connsiteY4" fmla="*/ 37709 h 87606"/>
                  <a:gd name="connsiteX5" fmla="*/ 28586 w 87607"/>
                  <a:gd name="connsiteY5" fmla="*/ 37709 h 87606"/>
                  <a:gd name="connsiteX6" fmla="*/ 11064 w 87607"/>
                  <a:gd name="connsiteY6" fmla="*/ 28948 h 87606"/>
                  <a:gd name="connsiteX7" fmla="*/ 61682 w 87607"/>
                  <a:gd name="connsiteY7" fmla="*/ 10453 h 87606"/>
                  <a:gd name="connsiteX8" fmla="*/ 79204 w 87607"/>
                  <a:gd name="connsiteY8" fmla="*/ 61071 h 87606"/>
                  <a:gd name="connsiteX9" fmla="*/ 28586 w 87607"/>
                  <a:gd name="connsiteY9" fmla="*/ 78592 h 87606"/>
                  <a:gd name="connsiteX10" fmla="*/ 11064 w 87607"/>
                  <a:gd name="connsiteY10" fmla="*/ 28948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607" h="87606">
                    <a:moveTo>
                      <a:pt x="28586" y="37709"/>
                    </a:moveTo>
                    <a:cubicBezTo>
                      <a:pt x="18852" y="58150"/>
                      <a:pt x="18852" y="70805"/>
                      <a:pt x="30533" y="75672"/>
                    </a:cubicBezTo>
                    <a:cubicBezTo>
                      <a:pt x="41240" y="80539"/>
                      <a:pt x="50974" y="73725"/>
                      <a:pt x="60709" y="53283"/>
                    </a:cubicBezTo>
                    <a:cubicBezTo>
                      <a:pt x="70443" y="32842"/>
                      <a:pt x="69469" y="20188"/>
                      <a:pt x="59735" y="15321"/>
                    </a:cubicBezTo>
                    <a:cubicBezTo>
                      <a:pt x="48054" y="10453"/>
                      <a:pt x="38320" y="17267"/>
                      <a:pt x="28586" y="37709"/>
                    </a:cubicBezTo>
                    <a:lnTo>
                      <a:pt x="28586" y="37709"/>
                    </a:lnTo>
                    <a:close/>
                    <a:moveTo>
                      <a:pt x="11064" y="28948"/>
                    </a:moveTo>
                    <a:cubicBezTo>
                      <a:pt x="22745" y="9480"/>
                      <a:pt x="40267" y="2666"/>
                      <a:pt x="61682" y="10453"/>
                    </a:cubicBezTo>
                    <a:cubicBezTo>
                      <a:pt x="81150" y="22134"/>
                      <a:pt x="86991" y="39656"/>
                      <a:pt x="79204" y="61071"/>
                    </a:cubicBezTo>
                    <a:cubicBezTo>
                      <a:pt x="66549" y="80539"/>
                      <a:pt x="50001" y="86379"/>
                      <a:pt x="28586" y="78592"/>
                    </a:cubicBezTo>
                    <a:cubicBezTo>
                      <a:pt x="9118" y="67885"/>
                      <a:pt x="2304" y="50363"/>
                      <a:pt x="11064" y="289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6" name="任意多边形: 形状 25"/>
              <p:cNvSpPr/>
              <p:nvPr/>
            </p:nvSpPr>
            <p:spPr>
              <a:xfrm>
                <a:off x="8202270" y="6691589"/>
                <a:ext cx="87608" cy="97341"/>
              </a:xfrm>
              <a:custGeom>
                <a:avLst/>
                <a:gdLst>
                  <a:gd name="connsiteX0" fmla="*/ 13230 w 87607"/>
                  <a:gd name="connsiteY0" fmla="*/ 7301 h 97340"/>
                  <a:gd name="connsiteX1" fmla="*/ 49246 w 87607"/>
                  <a:gd name="connsiteY1" fmla="*/ 18008 h 97340"/>
                  <a:gd name="connsiteX2" fmla="*/ 48273 w 87607"/>
                  <a:gd name="connsiteY2" fmla="*/ 21902 h 97340"/>
                  <a:gd name="connsiteX3" fmla="*/ 35618 w 87607"/>
                  <a:gd name="connsiteY3" fmla="*/ 25796 h 97340"/>
                  <a:gd name="connsiteX4" fmla="*/ 22964 w 87607"/>
                  <a:gd name="connsiteY4" fmla="*/ 68625 h 97340"/>
                  <a:gd name="connsiteX5" fmla="*/ 33671 w 87607"/>
                  <a:gd name="connsiteY5" fmla="*/ 87120 h 97340"/>
                  <a:gd name="connsiteX6" fmla="*/ 57034 w 87607"/>
                  <a:gd name="connsiteY6" fmla="*/ 74466 h 97340"/>
                  <a:gd name="connsiteX7" fmla="*/ 68714 w 87607"/>
                  <a:gd name="connsiteY7" fmla="*/ 36503 h 97340"/>
                  <a:gd name="connsiteX8" fmla="*/ 59954 w 87607"/>
                  <a:gd name="connsiteY8" fmla="*/ 24822 h 97340"/>
                  <a:gd name="connsiteX9" fmla="*/ 60927 w 87607"/>
                  <a:gd name="connsiteY9" fmla="*/ 20929 h 97340"/>
                  <a:gd name="connsiteX10" fmla="*/ 87209 w 87607"/>
                  <a:gd name="connsiteY10" fmla="*/ 28716 h 97340"/>
                  <a:gd name="connsiteX11" fmla="*/ 86236 w 87607"/>
                  <a:gd name="connsiteY11" fmla="*/ 32609 h 97340"/>
                  <a:gd name="connsiteX12" fmla="*/ 73582 w 87607"/>
                  <a:gd name="connsiteY12" fmla="*/ 37476 h 97340"/>
                  <a:gd name="connsiteX13" fmla="*/ 62874 w 87607"/>
                  <a:gd name="connsiteY13" fmla="*/ 74466 h 97340"/>
                  <a:gd name="connsiteX14" fmla="*/ 28804 w 87607"/>
                  <a:gd name="connsiteY14" fmla="*/ 89067 h 97340"/>
                  <a:gd name="connsiteX15" fmla="*/ 8363 w 87607"/>
                  <a:gd name="connsiteY15" fmla="*/ 60838 h 97340"/>
                  <a:gd name="connsiteX16" fmla="*/ 21017 w 87607"/>
                  <a:gd name="connsiteY16" fmla="*/ 19955 h 97340"/>
                  <a:gd name="connsiteX17" fmla="*/ 13230 w 87607"/>
                  <a:gd name="connsiteY17" fmla="*/ 10221 h 97340"/>
                  <a:gd name="connsiteX18" fmla="*/ 13230 w 87607"/>
                  <a:gd name="connsiteY18" fmla="*/ 730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607" h="97340">
                    <a:moveTo>
                      <a:pt x="13230" y="7301"/>
                    </a:moveTo>
                    <a:lnTo>
                      <a:pt x="49246" y="18008"/>
                    </a:lnTo>
                    <a:lnTo>
                      <a:pt x="48273" y="21902"/>
                    </a:lnTo>
                    <a:cubicBezTo>
                      <a:pt x="40485" y="18982"/>
                      <a:pt x="36592" y="20929"/>
                      <a:pt x="35618" y="25796"/>
                    </a:cubicBezTo>
                    <a:lnTo>
                      <a:pt x="22964" y="68625"/>
                    </a:lnTo>
                    <a:cubicBezTo>
                      <a:pt x="21017" y="77386"/>
                      <a:pt x="23937" y="83227"/>
                      <a:pt x="33671" y="87120"/>
                    </a:cubicBezTo>
                    <a:cubicBezTo>
                      <a:pt x="45352" y="91014"/>
                      <a:pt x="53140" y="86147"/>
                      <a:pt x="57034" y="74466"/>
                    </a:cubicBezTo>
                    <a:lnTo>
                      <a:pt x="68714" y="36503"/>
                    </a:lnTo>
                    <a:cubicBezTo>
                      <a:pt x="70661" y="31636"/>
                      <a:pt x="67741" y="28716"/>
                      <a:pt x="59954" y="24822"/>
                    </a:cubicBezTo>
                    <a:lnTo>
                      <a:pt x="60927" y="20929"/>
                    </a:lnTo>
                    <a:lnTo>
                      <a:pt x="87209" y="28716"/>
                    </a:lnTo>
                    <a:lnTo>
                      <a:pt x="86236" y="32609"/>
                    </a:lnTo>
                    <a:cubicBezTo>
                      <a:pt x="78449" y="31636"/>
                      <a:pt x="74555" y="33583"/>
                      <a:pt x="73582" y="37476"/>
                    </a:cubicBezTo>
                    <a:lnTo>
                      <a:pt x="62874" y="74466"/>
                    </a:lnTo>
                    <a:cubicBezTo>
                      <a:pt x="58007" y="90040"/>
                      <a:pt x="47299" y="93934"/>
                      <a:pt x="28804" y="89067"/>
                    </a:cubicBezTo>
                    <a:cubicBezTo>
                      <a:pt x="11283" y="83227"/>
                      <a:pt x="4469" y="74466"/>
                      <a:pt x="8363" y="60838"/>
                    </a:cubicBezTo>
                    <a:lnTo>
                      <a:pt x="21017" y="19955"/>
                    </a:lnTo>
                    <a:cubicBezTo>
                      <a:pt x="22964" y="15088"/>
                      <a:pt x="20043" y="12168"/>
                      <a:pt x="13230" y="10221"/>
                    </a:cubicBezTo>
                    <a:lnTo>
                      <a:pt x="13230"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7" name="任意多边形: 形状 26"/>
              <p:cNvSpPr/>
              <p:nvPr/>
            </p:nvSpPr>
            <p:spPr>
              <a:xfrm>
                <a:off x="8361026" y="6724685"/>
                <a:ext cx="87608" cy="87607"/>
              </a:xfrm>
              <a:custGeom>
                <a:avLst/>
                <a:gdLst>
                  <a:gd name="connsiteX0" fmla="*/ 7301 w 87607"/>
                  <a:gd name="connsiteY0" fmla="*/ 7301 h 87606"/>
                  <a:gd name="connsiteX1" fmla="*/ 45264 w 87607"/>
                  <a:gd name="connsiteY1" fmla="*/ 7301 h 87606"/>
                  <a:gd name="connsiteX2" fmla="*/ 45264 w 87607"/>
                  <a:gd name="connsiteY2" fmla="*/ 11194 h 87606"/>
                  <a:gd name="connsiteX3" fmla="*/ 34557 w 87607"/>
                  <a:gd name="connsiteY3" fmla="*/ 18008 h 87606"/>
                  <a:gd name="connsiteX4" fmla="*/ 34557 w 87607"/>
                  <a:gd name="connsiteY4" fmla="*/ 62785 h 87606"/>
                  <a:gd name="connsiteX5" fmla="*/ 50131 w 87607"/>
                  <a:gd name="connsiteY5" fmla="*/ 77386 h 87606"/>
                  <a:gd name="connsiteX6" fmla="*/ 68626 w 87607"/>
                  <a:gd name="connsiteY6" fmla="*/ 58891 h 87606"/>
                  <a:gd name="connsiteX7" fmla="*/ 68626 w 87607"/>
                  <a:gd name="connsiteY7" fmla="*/ 19955 h 87606"/>
                  <a:gd name="connsiteX8" fmla="*/ 56945 w 87607"/>
                  <a:gd name="connsiteY8" fmla="*/ 11194 h 87606"/>
                  <a:gd name="connsiteX9" fmla="*/ 56945 w 87607"/>
                  <a:gd name="connsiteY9" fmla="*/ 7301 h 87606"/>
                  <a:gd name="connsiteX10" fmla="*/ 84201 w 87607"/>
                  <a:gd name="connsiteY10" fmla="*/ 7301 h 87606"/>
                  <a:gd name="connsiteX11" fmla="*/ 84201 w 87607"/>
                  <a:gd name="connsiteY11" fmla="*/ 11194 h 87606"/>
                  <a:gd name="connsiteX12" fmla="*/ 74466 w 87607"/>
                  <a:gd name="connsiteY12" fmla="*/ 19955 h 87606"/>
                  <a:gd name="connsiteX13" fmla="*/ 74466 w 87607"/>
                  <a:gd name="connsiteY13" fmla="*/ 57918 h 87606"/>
                  <a:gd name="connsiteX14" fmla="*/ 46237 w 87607"/>
                  <a:gd name="connsiteY14" fmla="*/ 81279 h 87606"/>
                  <a:gd name="connsiteX15" fmla="*/ 18008 w 87607"/>
                  <a:gd name="connsiteY15" fmla="*/ 60838 h 87606"/>
                  <a:gd name="connsiteX16" fmla="*/ 18008 w 87607"/>
                  <a:gd name="connsiteY16" fmla="*/ 18008 h 87606"/>
                  <a:gd name="connsiteX17" fmla="*/ 8274 w 87607"/>
                  <a:gd name="connsiteY17" fmla="*/ 11194 h 87606"/>
                  <a:gd name="connsiteX18" fmla="*/ 7301 w 87607"/>
                  <a:gd name="connsiteY18" fmla="*/ 7301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607" h="87606">
                    <a:moveTo>
                      <a:pt x="7301" y="7301"/>
                    </a:moveTo>
                    <a:lnTo>
                      <a:pt x="45264" y="7301"/>
                    </a:lnTo>
                    <a:lnTo>
                      <a:pt x="45264" y="11194"/>
                    </a:lnTo>
                    <a:cubicBezTo>
                      <a:pt x="37477" y="11194"/>
                      <a:pt x="33583" y="13141"/>
                      <a:pt x="34557" y="18008"/>
                    </a:cubicBezTo>
                    <a:lnTo>
                      <a:pt x="34557" y="62785"/>
                    </a:lnTo>
                    <a:cubicBezTo>
                      <a:pt x="34557" y="71545"/>
                      <a:pt x="39424" y="76412"/>
                      <a:pt x="50131" y="77386"/>
                    </a:cubicBezTo>
                    <a:cubicBezTo>
                      <a:pt x="61812" y="77386"/>
                      <a:pt x="68626" y="71545"/>
                      <a:pt x="68626" y="58891"/>
                    </a:cubicBezTo>
                    <a:lnTo>
                      <a:pt x="68626" y="19955"/>
                    </a:lnTo>
                    <a:cubicBezTo>
                      <a:pt x="69599" y="15088"/>
                      <a:pt x="65706" y="12168"/>
                      <a:pt x="56945" y="11194"/>
                    </a:cubicBezTo>
                    <a:lnTo>
                      <a:pt x="56945" y="7301"/>
                    </a:lnTo>
                    <a:lnTo>
                      <a:pt x="84201" y="7301"/>
                    </a:lnTo>
                    <a:lnTo>
                      <a:pt x="84201" y="11194"/>
                    </a:lnTo>
                    <a:cubicBezTo>
                      <a:pt x="76413" y="12168"/>
                      <a:pt x="73493" y="15088"/>
                      <a:pt x="74466" y="19955"/>
                    </a:cubicBezTo>
                    <a:lnTo>
                      <a:pt x="74466" y="57918"/>
                    </a:lnTo>
                    <a:cubicBezTo>
                      <a:pt x="74466" y="73492"/>
                      <a:pt x="64732" y="81279"/>
                      <a:pt x="46237" y="81279"/>
                    </a:cubicBezTo>
                    <a:cubicBezTo>
                      <a:pt x="27742" y="81279"/>
                      <a:pt x="18982" y="74466"/>
                      <a:pt x="18008" y="60838"/>
                    </a:cubicBezTo>
                    <a:lnTo>
                      <a:pt x="18008" y="18008"/>
                    </a:lnTo>
                    <a:cubicBezTo>
                      <a:pt x="18008" y="13141"/>
                      <a:pt x="15088" y="10221"/>
                      <a:pt x="8274" y="11194"/>
                    </a:cubicBezTo>
                    <a:lnTo>
                      <a:pt x="7301"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8" name="任意多边形: 形状 27"/>
              <p:cNvSpPr/>
              <p:nvPr/>
            </p:nvSpPr>
            <p:spPr>
              <a:xfrm>
                <a:off x="8440846" y="6713977"/>
                <a:ext cx="87608" cy="97341"/>
              </a:xfrm>
              <a:custGeom>
                <a:avLst/>
                <a:gdLst>
                  <a:gd name="connsiteX0" fmla="*/ 8274 w 87607"/>
                  <a:gd name="connsiteY0" fmla="*/ 22875 h 97340"/>
                  <a:gd name="connsiteX1" fmla="*/ 7301 w 87607"/>
                  <a:gd name="connsiteY1" fmla="*/ 18981 h 97340"/>
                  <a:gd name="connsiteX2" fmla="*/ 33583 w 87607"/>
                  <a:gd name="connsiteY2" fmla="*/ 15088 h 97340"/>
                  <a:gd name="connsiteX3" fmla="*/ 76413 w 87607"/>
                  <a:gd name="connsiteY3" fmla="*/ 59865 h 97340"/>
                  <a:gd name="connsiteX4" fmla="*/ 76413 w 87607"/>
                  <a:gd name="connsiteY4" fmla="*/ 59865 h 97340"/>
                  <a:gd name="connsiteX5" fmla="*/ 70573 w 87607"/>
                  <a:gd name="connsiteY5" fmla="*/ 21902 h 97340"/>
                  <a:gd name="connsiteX6" fmla="*/ 57918 w 87607"/>
                  <a:gd name="connsiteY6" fmla="*/ 15088 h 97340"/>
                  <a:gd name="connsiteX7" fmla="*/ 56945 w 87607"/>
                  <a:gd name="connsiteY7" fmla="*/ 11194 h 97340"/>
                  <a:gd name="connsiteX8" fmla="*/ 84201 w 87607"/>
                  <a:gd name="connsiteY8" fmla="*/ 7301 h 97340"/>
                  <a:gd name="connsiteX9" fmla="*/ 85174 w 87607"/>
                  <a:gd name="connsiteY9" fmla="*/ 11194 h 97340"/>
                  <a:gd name="connsiteX10" fmla="*/ 76413 w 87607"/>
                  <a:gd name="connsiteY10" fmla="*/ 20928 h 97340"/>
                  <a:gd name="connsiteX11" fmla="*/ 85174 w 87607"/>
                  <a:gd name="connsiteY11" fmla="*/ 82253 h 97340"/>
                  <a:gd name="connsiteX12" fmla="*/ 75440 w 87607"/>
                  <a:gd name="connsiteY12" fmla="*/ 84200 h 97340"/>
                  <a:gd name="connsiteX13" fmla="*/ 25796 w 87607"/>
                  <a:gd name="connsiteY13" fmla="*/ 33582 h 97340"/>
                  <a:gd name="connsiteX14" fmla="*/ 25796 w 87607"/>
                  <a:gd name="connsiteY14" fmla="*/ 33582 h 97340"/>
                  <a:gd name="connsiteX15" fmla="*/ 32610 w 87607"/>
                  <a:gd name="connsiteY15" fmla="*/ 79333 h 97340"/>
                  <a:gd name="connsiteX16" fmla="*/ 46237 w 87607"/>
                  <a:gd name="connsiteY16" fmla="*/ 84200 h 97340"/>
                  <a:gd name="connsiteX17" fmla="*/ 47211 w 87607"/>
                  <a:gd name="connsiteY17" fmla="*/ 88093 h 97340"/>
                  <a:gd name="connsiteX18" fmla="*/ 18008 w 87607"/>
                  <a:gd name="connsiteY18" fmla="*/ 91987 h 97340"/>
                  <a:gd name="connsiteX19" fmla="*/ 17035 w 87607"/>
                  <a:gd name="connsiteY19" fmla="*/ 88093 h 97340"/>
                  <a:gd name="connsiteX20" fmla="*/ 26769 w 87607"/>
                  <a:gd name="connsiteY20" fmla="*/ 79333 h 97340"/>
                  <a:gd name="connsiteX21" fmla="*/ 18981 w 87607"/>
                  <a:gd name="connsiteY21" fmla="*/ 28715 h 97340"/>
                  <a:gd name="connsiteX22" fmla="*/ 8274 w 87607"/>
                  <a:gd name="connsiteY22" fmla="*/ 22875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607" h="97340">
                    <a:moveTo>
                      <a:pt x="8274" y="22875"/>
                    </a:moveTo>
                    <a:lnTo>
                      <a:pt x="7301" y="18981"/>
                    </a:lnTo>
                    <a:lnTo>
                      <a:pt x="33583" y="15088"/>
                    </a:lnTo>
                    <a:lnTo>
                      <a:pt x="76413" y="59865"/>
                    </a:lnTo>
                    <a:lnTo>
                      <a:pt x="76413" y="59865"/>
                    </a:lnTo>
                    <a:lnTo>
                      <a:pt x="70573" y="21902"/>
                    </a:lnTo>
                    <a:cubicBezTo>
                      <a:pt x="70573" y="17035"/>
                      <a:pt x="66679" y="15088"/>
                      <a:pt x="57918" y="15088"/>
                    </a:cubicBezTo>
                    <a:lnTo>
                      <a:pt x="56945" y="11194"/>
                    </a:lnTo>
                    <a:lnTo>
                      <a:pt x="84201" y="7301"/>
                    </a:lnTo>
                    <a:lnTo>
                      <a:pt x="85174" y="11194"/>
                    </a:lnTo>
                    <a:cubicBezTo>
                      <a:pt x="78360" y="13141"/>
                      <a:pt x="75440" y="16061"/>
                      <a:pt x="76413" y="20928"/>
                    </a:cubicBezTo>
                    <a:lnTo>
                      <a:pt x="85174" y="82253"/>
                    </a:lnTo>
                    <a:lnTo>
                      <a:pt x="75440" y="84200"/>
                    </a:lnTo>
                    <a:lnTo>
                      <a:pt x="25796" y="33582"/>
                    </a:lnTo>
                    <a:lnTo>
                      <a:pt x="25796" y="33582"/>
                    </a:lnTo>
                    <a:lnTo>
                      <a:pt x="32610" y="79333"/>
                    </a:lnTo>
                    <a:cubicBezTo>
                      <a:pt x="32610" y="85173"/>
                      <a:pt x="37477" y="86147"/>
                      <a:pt x="46237" y="84200"/>
                    </a:cubicBezTo>
                    <a:lnTo>
                      <a:pt x="47211" y="88093"/>
                    </a:lnTo>
                    <a:lnTo>
                      <a:pt x="18008" y="91987"/>
                    </a:lnTo>
                    <a:lnTo>
                      <a:pt x="17035" y="88093"/>
                    </a:lnTo>
                    <a:cubicBezTo>
                      <a:pt x="24822" y="87120"/>
                      <a:pt x="27742" y="85173"/>
                      <a:pt x="26769" y="79333"/>
                    </a:cubicBezTo>
                    <a:lnTo>
                      <a:pt x="18981" y="28715"/>
                    </a:lnTo>
                    <a:cubicBezTo>
                      <a:pt x="19955" y="22875"/>
                      <a:pt x="16061" y="20928"/>
                      <a:pt x="8274" y="2287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9" name="任意多边形: 形状 28"/>
              <p:cNvSpPr/>
              <p:nvPr/>
            </p:nvSpPr>
            <p:spPr>
              <a:xfrm>
                <a:off x="8527480" y="6701323"/>
                <a:ext cx="68139" cy="87607"/>
              </a:xfrm>
              <a:custGeom>
                <a:avLst/>
                <a:gdLst>
                  <a:gd name="connsiteX0" fmla="*/ 64732 w 68139"/>
                  <a:gd name="connsiteY0" fmla="*/ 78360 h 87606"/>
                  <a:gd name="connsiteX1" fmla="*/ 26769 w 68139"/>
                  <a:gd name="connsiteY1" fmla="*/ 89067 h 87606"/>
                  <a:gd name="connsiteX2" fmla="*/ 25796 w 68139"/>
                  <a:gd name="connsiteY2" fmla="*/ 85173 h 87606"/>
                  <a:gd name="connsiteX3" fmla="*/ 33583 w 68139"/>
                  <a:gd name="connsiteY3" fmla="*/ 75439 h 87606"/>
                  <a:gd name="connsiteX4" fmla="*/ 19955 w 68139"/>
                  <a:gd name="connsiteY4" fmla="*/ 25796 h 87606"/>
                  <a:gd name="connsiteX5" fmla="*/ 8274 w 68139"/>
                  <a:gd name="connsiteY5" fmla="*/ 21902 h 87606"/>
                  <a:gd name="connsiteX6" fmla="*/ 7301 w 68139"/>
                  <a:gd name="connsiteY6" fmla="*/ 18008 h 87606"/>
                  <a:gd name="connsiteX7" fmla="*/ 45264 w 68139"/>
                  <a:gd name="connsiteY7" fmla="*/ 7301 h 87606"/>
                  <a:gd name="connsiteX8" fmla="*/ 46237 w 68139"/>
                  <a:gd name="connsiteY8" fmla="*/ 11194 h 87606"/>
                  <a:gd name="connsiteX9" fmla="*/ 38450 w 68139"/>
                  <a:gd name="connsiteY9" fmla="*/ 20929 h 87606"/>
                  <a:gd name="connsiteX10" fmla="*/ 52078 w 68139"/>
                  <a:gd name="connsiteY10" fmla="*/ 70572 h 87606"/>
                  <a:gd name="connsiteX11" fmla="*/ 63759 w 68139"/>
                  <a:gd name="connsiteY11" fmla="*/ 74466 h 87606"/>
                  <a:gd name="connsiteX12" fmla="*/ 64732 w 68139"/>
                  <a:gd name="connsiteY12" fmla="*/ 78360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139" h="87606">
                    <a:moveTo>
                      <a:pt x="64732" y="78360"/>
                    </a:moveTo>
                    <a:lnTo>
                      <a:pt x="26769" y="89067"/>
                    </a:lnTo>
                    <a:lnTo>
                      <a:pt x="25796" y="85173"/>
                    </a:lnTo>
                    <a:cubicBezTo>
                      <a:pt x="32610" y="84200"/>
                      <a:pt x="35530" y="80306"/>
                      <a:pt x="33583" y="75439"/>
                    </a:cubicBezTo>
                    <a:lnTo>
                      <a:pt x="19955" y="25796"/>
                    </a:lnTo>
                    <a:cubicBezTo>
                      <a:pt x="18982" y="20929"/>
                      <a:pt x="15088" y="18982"/>
                      <a:pt x="8274" y="21902"/>
                    </a:cubicBezTo>
                    <a:lnTo>
                      <a:pt x="7301" y="18008"/>
                    </a:lnTo>
                    <a:lnTo>
                      <a:pt x="45264" y="7301"/>
                    </a:lnTo>
                    <a:lnTo>
                      <a:pt x="46237" y="11194"/>
                    </a:lnTo>
                    <a:cubicBezTo>
                      <a:pt x="38450" y="13141"/>
                      <a:pt x="36503" y="16061"/>
                      <a:pt x="38450" y="20929"/>
                    </a:cubicBezTo>
                    <a:lnTo>
                      <a:pt x="52078" y="70572"/>
                    </a:lnTo>
                    <a:cubicBezTo>
                      <a:pt x="53051" y="75439"/>
                      <a:pt x="56945" y="77386"/>
                      <a:pt x="63759" y="74466"/>
                    </a:cubicBezTo>
                    <a:lnTo>
                      <a:pt x="64732" y="7836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0" name="任意多边形: 形状 29"/>
              <p:cNvSpPr/>
              <p:nvPr/>
            </p:nvSpPr>
            <p:spPr>
              <a:xfrm>
                <a:off x="8572258" y="6673094"/>
                <a:ext cx="77874" cy="97341"/>
              </a:xfrm>
              <a:custGeom>
                <a:avLst/>
                <a:gdLst>
                  <a:gd name="connsiteX0" fmla="*/ 9247 w 77873"/>
                  <a:gd name="connsiteY0" fmla="*/ 36503 h 97340"/>
                  <a:gd name="connsiteX1" fmla="*/ 7301 w 77873"/>
                  <a:gd name="connsiteY1" fmla="*/ 32609 h 97340"/>
                  <a:gd name="connsiteX2" fmla="*/ 40397 w 77873"/>
                  <a:gd name="connsiteY2" fmla="*/ 18982 h 97340"/>
                  <a:gd name="connsiteX3" fmla="*/ 42344 w 77873"/>
                  <a:gd name="connsiteY3" fmla="*/ 22875 h 97340"/>
                  <a:gd name="connsiteX4" fmla="*/ 34556 w 77873"/>
                  <a:gd name="connsiteY4" fmla="*/ 30662 h 97340"/>
                  <a:gd name="connsiteX5" fmla="*/ 64732 w 77873"/>
                  <a:gd name="connsiteY5" fmla="*/ 67652 h 97340"/>
                  <a:gd name="connsiteX6" fmla="*/ 64732 w 77873"/>
                  <a:gd name="connsiteY6" fmla="*/ 67652 h 97340"/>
                  <a:gd name="connsiteX7" fmla="*/ 64732 w 77873"/>
                  <a:gd name="connsiteY7" fmla="*/ 60838 h 97340"/>
                  <a:gd name="connsiteX8" fmla="*/ 62785 w 77873"/>
                  <a:gd name="connsiteY8" fmla="*/ 21902 h 97340"/>
                  <a:gd name="connsiteX9" fmla="*/ 52078 w 77873"/>
                  <a:gd name="connsiteY9" fmla="*/ 19955 h 97340"/>
                  <a:gd name="connsiteX10" fmla="*/ 50131 w 77873"/>
                  <a:gd name="connsiteY10" fmla="*/ 16061 h 97340"/>
                  <a:gd name="connsiteX11" fmla="*/ 72520 w 77873"/>
                  <a:gd name="connsiteY11" fmla="*/ 7301 h 97340"/>
                  <a:gd name="connsiteX12" fmla="*/ 74466 w 77873"/>
                  <a:gd name="connsiteY12" fmla="*/ 11194 h 97340"/>
                  <a:gd name="connsiteX13" fmla="*/ 68626 w 77873"/>
                  <a:gd name="connsiteY13" fmla="*/ 21902 h 97340"/>
                  <a:gd name="connsiteX14" fmla="*/ 70573 w 77873"/>
                  <a:gd name="connsiteY14" fmla="*/ 89067 h 97340"/>
                  <a:gd name="connsiteX15" fmla="*/ 62785 w 77873"/>
                  <a:gd name="connsiteY15" fmla="*/ 91987 h 97340"/>
                  <a:gd name="connsiteX16" fmla="*/ 20928 w 77873"/>
                  <a:gd name="connsiteY16" fmla="*/ 41370 h 97340"/>
                  <a:gd name="connsiteX17" fmla="*/ 9247 w 77873"/>
                  <a:gd name="connsiteY17" fmla="*/ 36503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3" h="97340">
                    <a:moveTo>
                      <a:pt x="9247" y="36503"/>
                    </a:moveTo>
                    <a:lnTo>
                      <a:pt x="7301" y="32609"/>
                    </a:lnTo>
                    <a:lnTo>
                      <a:pt x="40397" y="18982"/>
                    </a:lnTo>
                    <a:lnTo>
                      <a:pt x="42344" y="22875"/>
                    </a:lnTo>
                    <a:cubicBezTo>
                      <a:pt x="35530" y="25795"/>
                      <a:pt x="33583" y="27742"/>
                      <a:pt x="34556" y="30662"/>
                    </a:cubicBezTo>
                    <a:cubicBezTo>
                      <a:pt x="33583" y="30662"/>
                      <a:pt x="43317" y="42343"/>
                      <a:pt x="64732" y="67652"/>
                    </a:cubicBezTo>
                    <a:lnTo>
                      <a:pt x="64732" y="67652"/>
                    </a:lnTo>
                    <a:cubicBezTo>
                      <a:pt x="64732" y="65705"/>
                      <a:pt x="64732" y="63758"/>
                      <a:pt x="64732" y="60838"/>
                    </a:cubicBezTo>
                    <a:cubicBezTo>
                      <a:pt x="63759" y="31636"/>
                      <a:pt x="62785" y="18982"/>
                      <a:pt x="62785" y="21902"/>
                    </a:cubicBezTo>
                    <a:cubicBezTo>
                      <a:pt x="60839" y="18008"/>
                      <a:pt x="57918" y="18008"/>
                      <a:pt x="52078" y="19955"/>
                    </a:cubicBezTo>
                    <a:lnTo>
                      <a:pt x="50131" y="16061"/>
                    </a:lnTo>
                    <a:lnTo>
                      <a:pt x="72520" y="7301"/>
                    </a:lnTo>
                    <a:lnTo>
                      <a:pt x="74466" y="11194"/>
                    </a:lnTo>
                    <a:cubicBezTo>
                      <a:pt x="69599" y="14115"/>
                      <a:pt x="67652" y="17035"/>
                      <a:pt x="68626" y="21902"/>
                    </a:cubicBezTo>
                    <a:lnTo>
                      <a:pt x="70573" y="89067"/>
                    </a:lnTo>
                    <a:lnTo>
                      <a:pt x="62785" y="91987"/>
                    </a:lnTo>
                    <a:lnTo>
                      <a:pt x="20928" y="41370"/>
                    </a:lnTo>
                    <a:cubicBezTo>
                      <a:pt x="18008" y="35529"/>
                      <a:pt x="14114" y="34556"/>
                      <a:pt x="9247" y="365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1" name="任意多边形: 形状 30"/>
              <p:cNvSpPr/>
              <p:nvPr/>
            </p:nvSpPr>
            <p:spPr>
              <a:xfrm>
                <a:off x="8641371" y="6638051"/>
                <a:ext cx="107076" cy="107075"/>
              </a:xfrm>
              <a:custGeom>
                <a:avLst/>
                <a:gdLst>
                  <a:gd name="connsiteX0" fmla="*/ 64732 w 107076"/>
                  <a:gd name="connsiteY0" fmla="*/ 7301 h 107074"/>
                  <a:gd name="connsiteX1" fmla="*/ 78360 w 107076"/>
                  <a:gd name="connsiteY1" fmla="*/ 29689 h 107074"/>
                  <a:gd name="connsiteX2" fmla="*/ 74466 w 107076"/>
                  <a:gd name="connsiteY2" fmla="*/ 31636 h 107074"/>
                  <a:gd name="connsiteX3" fmla="*/ 41370 w 107076"/>
                  <a:gd name="connsiteY3" fmla="*/ 25796 h 107074"/>
                  <a:gd name="connsiteX4" fmla="*/ 37476 w 107076"/>
                  <a:gd name="connsiteY4" fmla="*/ 36503 h 107074"/>
                  <a:gd name="connsiteX5" fmla="*/ 48184 w 107076"/>
                  <a:gd name="connsiteY5" fmla="*/ 54998 h 107074"/>
                  <a:gd name="connsiteX6" fmla="*/ 56945 w 107076"/>
                  <a:gd name="connsiteY6" fmla="*/ 35530 h 107074"/>
                  <a:gd name="connsiteX7" fmla="*/ 60839 w 107076"/>
                  <a:gd name="connsiteY7" fmla="*/ 33583 h 107074"/>
                  <a:gd name="connsiteX8" fmla="*/ 75440 w 107076"/>
                  <a:gd name="connsiteY8" fmla="*/ 59865 h 107074"/>
                  <a:gd name="connsiteX9" fmla="*/ 71546 w 107076"/>
                  <a:gd name="connsiteY9" fmla="*/ 61812 h 107074"/>
                  <a:gd name="connsiteX10" fmla="*/ 50131 w 107076"/>
                  <a:gd name="connsiteY10" fmla="*/ 58891 h 107074"/>
                  <a:gd name="connsiteX11" fmla="*/ 62785 w 107076"/>
                  <a:gd name="connsiteY11" fmla="*/ 80306 h 107074"/>
                  <a:gd name="connsiteX12" fmla="*/ 73493 w 107076"/>
                  <a:gd name="connsiteY12" fmla="*/ 81280 h 107074"/>
                  <a:gd name="connsiteX13" fmla="*/ 85174 w 107076"/>
                  <a:gd name="connsiteY13" fmla="*/ 47210 h 107074"/>
                  <a:gd name="connsiteX14" fmla="*/ 89068 w 107076"/>
                  <a:gd name="connsiteY14" fmla="*/ 45264 h 107074"/>
                  <a:gd name="connsiteX15" fmla="*/ 102696 w 107076"/>
                  <a:gd name="connsiteY15" fmla="*/ 70572 h 107074"/>
                  <a:gd name="connsiteX16" fmla="*/ 43317 w 107076"/>
                  <a:gd name="connsiteY16" fmla="*/ 104641 h 107074"/>
                  <a:gd name="connsiteX17" fmla="*/ 41370 w 107076"/>
                  <a:gd name="connsiteY17" fmla="*/ 100748 h 107074"/>
                  <a:gd name="connsiteX18" fmla="*/ 47211 w 107076"/>
                  <a:gd name="connsiteY18" fmla="*/ 89067 h 107074"/>
                  <a:gd name="connsiteX19" fmla="*/ 21902 w 107076"/>
                  <a:gd name="connsiteY19" fmla="*/ 44290 h 107074"/>
                  <a:gd name="connsiteX20" fmla="*/ 9247 w 107076"/>
                  <a:gd name="connsiteY20" fmla="*/ 43317 h 107074"/>
                  <a:gd name="connsiteX21" fmla="*/ 7301 w 107076"/>
                  <a:gd name="connsiteY21" fmla="*/ 39423 h 107074"/>
                  <a:gd name="connsiteX22" fmla="*/ 64732 w 107076"/>
                  <a:gd name="connsiteY22" fmla="*/ 7301 h 10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076" h="107074">
                    <a:moveTo>
                      <a:pt x="64732" y="7301"/>
                    </a:moveTo>
                    <a:lnTo>
                      <a:pt x="78360" y="29689"/>
                    </a:lnTo>
                    <a:lnTo>
                      <a:pt x="74466" y="31636"/>
                    </a:lnTo>
                    <a:cubicBezTo>
                      <a:pt x="63759" y="20929"/>
                      <a:pt x="53051" y="18982"/>
                      <a:pt x="41370" y="25796"/>
                    </a:cubicBezTo>
                    <a:cubicBezTo>
                      <a:pt x="35530" y="28716"/>
                      <a:pt x="34556" y="32609"/>
                      <a:pt x="37476" y="36503"/>
                    </a:cubicBezTo>
                    <a:lnTo>
                      <a:pt x="48184" y="54998"/>
                    </a:lnTo>
                    <a:cubicBezTo>
                      <a:pt x="56945" y="51104"/>
                      <a:pt x="59865" y="44290"/>
                      <a:pt x="56945" y="35530"/>
                    </a:cubicBezTo>
                    <a:lnTo>
                      <a:pt x="60839" y="33583"/>
                    </a:lnTo>
                    <a:lnTo>
                      <a:pt x="75440" y="59865"/>
                    </a:lnTo>
                    <a:lnTo>
                      <a:pt x="71546" y="61812"/>
                    </a:lnTo>
                    <a:cubicBezTo>
                      <a:pt x="65706" y="54998"/>
                      <a:pt x="57918" y="54024"/>
                      <a:pt x="50131" y="58891"/>
                    </a:cubicBezTo>
                    <a:lnTo>
                      <a:pt x="62785" y="80306"/>
                    </a:lnTo>
                    <a:cubicBezTo>
                      <a:pt x="64732" y="85173"/>
                      <a:pt x="68626" y="85173"/>
                      <a:pt x="73493" y="81280"/>
                    </a:cubicBezTo>
                    <a:cubicBezTo>
                      <a:pt x="85174" y="74466"/>
                      <a:pt x="89068" y="62785"/>
                      <a:pt x="85174" y="47210"/>
                    </a:cubicBezTo>
                    <a:lnTo>
                      <a:pt x="89068" y="45264"/>
                    </a:lnTo>
                    <a:lnTo>
                      <a:pt x="102696" y="70572"/>
                    </a:lnTo>
                    <a:lnTo>
                      <a:pt x="43317" y="104641"/>
                    </a:lnTo>
                    <a:lnTo>
                      <a:pt x="41370" y="100748"/>
                    </a:lnTo>
                    <a:cubicBezTo>
                      <a:pt x="48184" y="97828"/>
                      <a:pt x="50131" y="93934"/>
                      <a:pt x="47211" y="89067"/>
                    </a:cubicBezTo>
                    <a:lnTo>
                      <a:pt x="21902" y="44290"/>
                    </a:lnTo>
                    <a:cubicBezTo>
                      <a:pt x="19955" y="39423"/>
                      <a:pt x="15088" y="39423"/>
                      <a:pt x="9247" y="43317"/>
                    </a:cubicBezTo>
                    <a:lnTo>
                      <a:pt x="7301" y="39423"/>
                    </a:lnTo>
                    <a:lnTo>
                      <a:pt x="64732"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2" name="任意多边形: 形状 31"/>
              <p:cNvSpPr/>
              <p:nvPr/>
            </p:nvSpPr>
            <p:spPr>
              <a:xfrm>
                <a:off x="8708536" y="6599198"/>
                <a:ext cx="107076" cy="97341"/>
              </a:xfrm>
              <a:custGeom>
                <a:avLst/>
                <a:gdLst>
                  <a:gd name="connsiteX0" fmla="*/ 37477 w 107076"/>
                  <a:gd name="connsiteY0" fmla="*/ 30580 h 97340"/>
                  <a:gd name="connsiteX1" fmla="*/ 52078 w 107076"/>
                  <a:gd name="connsiteY1" fmla="*/ 49075 h 97340"/>
                  <a:gd name="connsiteX2" fmla="*/ 57918 w 107076"/>
                  <a:gd name="connsiteY2" fmla="*/ 25713 h 97340"/>
                  <a:gd name="connsiteX3" fmla="*/ 39423 w 107076"/>
                  <a:gd name="connsiteY3" fmla="*/ 21819 h 97340"/>
                  <a:gd name="connsiteX4" fmla="*/ 37477 w 107076"/>
                  <a:gd name="connsiteY4" fmla="*/ 30580 h 97340"/>
                  <a:gd name="connsiteX5" fmla="*/ 37477 w 107076"/>
                  <a:gd name="connsiteY5" fmla="*/ 30580 h 97340"/>
                  <a:gd name="connsiteX6" fmla="*/ 97828 w 107076"/>
                  <a:gd name="connsiteY6" fmla="*/ 42261 h 97340"/>
                  <a:gd name="connsiteX7" fmla="*/ 100749 w 107076"/>
                  <a:gd name="connsiteY7" fmla="*/ 39340 h 97340"/>
                  <a:gd name="connsiteX8" fmla="*/ 98802 w 107076"/>
                  <a:gd name="connsiteY8" fmla="*/ 62702 h 97340"/>
                  <a:gd name="connsiteX9" fmla="*/ 75440 w 107076"/>
                  <a:gd name="connsiteY9" fmla="*/ 58809 h 97340"/>
                  <a:gd name="connsiteX10" fmla="*/ 64732 w 107076"/>
                  <a:gd name="connsiteY10" fmla="*/ 50048 h 97340"/>
                  <a:gd name="connsiteX11" fmla="*/ 54025 w 107076"/>
                  <a:gd name="connsiteY11" fmla="*/ 52968 h 97340"/>
                  <a:gd name="connsiteX12" fmla="*/ 67652 w 107076"/>
                  <a:gd name="connsiteY12" fmla="*/ 70489 h 97340"/>
                  <a:gd name="connsiteX13" fmla="*/ 81281 w 107076"/>
                  <a:gd name="connsiteY13" fmla="*/ 70489 h 97340"/>
                  <a:gd name="connsiteX14" fmla="*/ 84201 w 107076"/>
                  <a:gd name="connsiteY14" fmla="*/ 73410 h 97340"/>
                  <a:gd name="connsiteX15" fmla="*/ 54025 w 107076"/>
                  <a:gd name="connsiteY15" fmla="*/ 97745 h 97340"/>
                  <a:gd name="connsiteX16" fmla="*/ 51104 w 107076"/>
                  <a:gd name="connsiteY16" fmla="*/ 94825 h 97340"/>
                  <a:gd name="connsiteX17" fmla="*/ 54998 w 107076"/>
                  <a:gd name="connsiteY17" fmla="*/ 82170 h 97340"/>
                  <a:gd name="connsiteX18" fmla="*/ 22875 w 107076"/>
                  <a:gd name="connsiteY18" fmla="*/ 41287 h 97340"/>
                  <a:gd name="connsiteX19" fmla="*/ 10221 w 107076"/>
                  <a:gd name="connsiteY19" fmla="*/ 42261 h 97340"/>
                  <a:gd name="connsiteX20" fmla="*/ 7301 w 107076"/>
                  <a:gd name="connsiteY20" fmla="*/ 39340 h 97340"/>
                  <a:gd name="connsiteX21" fmla="*/ 37477 w 107076"/>
                  <a:gd name="connsiteY21" fmla="*/ 15979 h 97340"/>
                  <a:gd name="connsiteX22" fmla="*/ 71546 w 107076"/>
                  <a:gd name="connsiteY22" fmla="*/ 14032 h 97340"/>
                  <a:gd name="connsiteX23" fmla="*/ 61812 w 107076"/>
                  <a:gd name="connsiteY23" fmla="*/ 44208 h 97340"/>
                  <a:gd name="connsiteX24" fmla="*/ 61812 w 107076"/>
                  <a:gd name="connsiteY24" fmla="*/ 44208 h 97340"/>
                  <a:gd name="connsiteX25" fmla="*/ 87121 w 107076"/>
                  <a:gd name="connsiteY25" fmla="*/ 45181 h 97340"/>
                  <a:gd name="connsiteX26" fmla="*/ 99775 w 107076"/>
                  <a:gd name="connsiteY26" fmla="*/ 50048 h 97340"/>
                  <a:gd name="connsiteX27" fmla="*/ 97828 w 107076"/>
                  <a:gd name="connsiteY27" fmla="*/ 4226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076" h="97340">
                    <a:moveTo>
                      <a:pt x="37477" y="30580"/>
                    </a:moveTo>
                    <a:lnTo>
                      <a:pt x="52078" y="49075"/>
                    </a:lnTo>
                    <a:cubicBezTo>
                      <a:pt x="62785" y="41287"/>
                      <a:pt x="64732" y="33500"/>
                      <a:pt x="57918" y="25713"/>
                    </a:cubicBezTo>
                    <a:cubicBezTo>
                      <a:pt x="52078" y="18899"/>
                      <a:pt x="45264" y="16952"/>
                      <a:pt x="39423" y="21819"/>
                    </a:cubicBezTo>
                    <a:cubicBezTo>
                      <a:pt x="35530" y="24739"/>
                      <a:pt x="34556" y="27659"/>
                      <a:pt x="37477" y="30580"/>
                    </a:cubicBezTo>
                    <a:lnTo>
                      <a:pt x="37477" y="30580"/>
                    </a:lnTo>
                    <a:close/>
                    <a:moveTo>
                      <a:pt x="97828" y="42261"/>
                    </a:moveTo>
                    <a:lnTo>
                      <a:pt x="100749" y="39340"/>
                    </a:lnTo>
                    <a:cubicBezTo>
                      <a:pt x="107563" y="48101"/>
                      <a:pt x="107563" y="55888"/>
                      <a:pt x="98802" y="62702"/>
                    </a:cubicBezTo>
                    <a:cubicBezTo>
                      <a:pt x="91015" y="69516"/>
                      <a:pt x="82254" y="68543"/>
                      <a:pt x="75440" y="58809"/>
                    </a:cubicBezTo>
                    <a:cubicBezTo>
                      <a:pt x="70573" y="52968"/>
                      <a:pt x="66679" y="50048"/>
                      <a:pt x="64732" y="50048"/>
                    </a:cubicBezTo>
                    <a:cubicBezTo>
                      <a:pt x="61812" y="49075"/>
                      <a:pt x="58892" y="50048"/>
                      <a:pt x="54025" y="52968"/>
                    </a:cubicBezTo>
                    <a:lnTo>
                      <a:pt x="67652" y="70489"/>
                    </a:lnTo>
                    <a:cubicBezTo>
                      <a:pt x="70573" y="76330"/>
                      <a:pt x="75440" y="76330"/>
                      <a:pt x="81281" y="70489"/>
                    </a:cubicBezTo>
                    <a:lnTo>
                      <a:pt x="84201" y="73410"/>
                    </a:lnTo>
                    <a:lnTo>
                      <a:pt x="54025" y="97745"/>
                    </a:lnTo>
                    <a:lnTo>
                      <a:pt x="51104" y="94825"/>
                    </a:lnTo>
                    <a:cubicBezTo>
                      <a:pt x="56945" y="90931"/>
                      <a:pt x="58892" y="87037"/>
                      <a:pt x="54998" y="82170"/>
                    </a:cubicBezTo>
                    <a:lnTo>
                      <a:pt x="22875" y="41287"/>
                    </a:lnTo>
                    <a:cubicBezTo>
                      <a:pt x="19955" y="37394"/>
                      <a:pt x="16061" y="37394"/>
                      <a:pt x="10221" y="42261"/>
                    </a:cubicBezTo>
                    <a:lnTo>
                      <a:pt x="7301" y="39340"/>
                    </a:lnTo>
                    <a:lnTo>
                      <a:pt x="37477" y="15979"/>
                    </a:lnTo>
                    <a:cubicBezTo>
                      <a:pt x="52078" y="5271"/>
                      <a:pt x="62785" y="4298"/>
                      <a:pt x="71546" y="14032"/>
                    </a:cubicBezTo>
                    <a:cubicBezTo>
                      <a:pt x="78360" y="23766"/>
                      <a:pt x="75440" y="33500"/>
                      <a:pt x="61812" y="44208"/>
                    </a:cubicBezTo>
                    <a:lnTo>
                      <a:pt x="61812" y="44208"/>
                    </a:lnTo>
                    <a:cubicBezTo>
                      <a:pt x="70573" y="39340"/>
                      <a:pt x="78360" y="39340"/>
                      <a:pt x="87121" y="45181"/>
                    </a:cubicBezTo>
                    <a:cubicBezTo>
                      <a:pt x="94908" y="51021"/>
                      <a:pt x="98802" y="52968"/>
                      <a:pt x="99775" y="50048"/>
                    </a:cubicBezTo>
                    <a:cubicBezTo>
                      <a:pt x="101722" y="49075"/>
                      <a:pt x="100749" y="46154"/>
                      <a:pt x="97828" y="4226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3" name="任意多边形: 形状 32"/>
              <p:cNvSpPr/>
              <p:nvPr/>
            </p:nvSpPr>
            <p:spPr>
              <a:xfrm>
                <a:off x="8783246" y="6541684"/>
                <a:ext cx="87608" cy="97341"/>
              </a:xfrm>
              <a:custGeom>
                <a:avLst/>
                <a:gdLst>
                  <a:gd name="connsiteX0" fmla="*/ 51348 w 87607"/>
                  <a:gd name="connsiteY0" fmla="*/ 95881 h 97340"/>
                  <a:gd name="connsiteX1" fmla="*/ 30906 w 87607"/>
                  <a:gd name="connsiteY1" fmla="*/ 76413 h 97340"/>
                  <a:gd name="connsiteX2" fmla="*/ 33826 w 87607"/>
                  <a:gd name="connsiteY2" fmla="*/ 73493 h 97340"/>
                  <a:gd name="connsiteX3" fmla="*/ 67896 w 87607"/>
                  <a:gd name="connsiteY3" fmla="*/ 73493 h 97340"/>
                  <a:gd name="connsiteX4" fmla="*/ 68869 w 87607"/>
                  <a:gd name="connsiteY4" fmla="*/ 54998 h 97340"/>
                  <a:gd name="connsiteX5" fmla="*/ 47454 w 87607"/>
                  <a:gd name="connsiteY5" fmla="*/ 58891 h 97340"/>
                  <a:gd name="connsiteX6" fmla="*/ 15331 w 87607"/>
                  <a:gd name="connsiteY6" fmla="*/ 60838 h 97340"/>
                  <a:gd name="connsiteX7" fmla="*/ 15331 w 87607"/>
                  <a:gd name="connsiteY7" fmla="*/ 25795 h 97340"/>
                  <a:gd name="connsiteX8" fmla="*/ 28959 w 87607"/>
                  <a:gd name="connsiteY8" fmla="*/ 18008 h 97340"/>
                  <a:gd name="connsiteX9" fmla="*/ 32853 w 87607"/>
                  <a:gd name="connsiteY9" fmla="*/ 16061 h 97340"/>
                  <a:gd name="connsiteX10" fmla="*/ 32853 w 87607"/>
                  <a:gd name="connsiteY10" fmla="*/ 10221 h 97340"/>
                  <a:gd name="connsiteX11" fmla="*/ 35773 w 87607"/>
                  <a:gd name="connsiteY11" fmla="*/ 7301 h 97340"/>
                  <a:gd name="connsiteX12" fmla="*/ 54268 w 87607"/>
                  <a:gd name="connsiteY12" fmla="*/ 24822 h 97340"/>
                  <a:gd name="connsiteX13" fmla="*/ 51348 w 87607"/>
                  <a:gd name="connsiteY13" fmla="*/ 27742 h 97340"/>
                  <a:gd name="connsiteX14" fmla="*/ 21172 w 87607"/>
                  <a:gd name="connsiteY14" fmla="*/ 27742 h 97340"/>
                  <a:gd name="connsiteX15" fmla="*/ 20198 w 87607"/>
                  <a:gd name="connsiteY15" fmla="*/ 44290 h 97340"/>
                  <a:gd name="connsiteX16" fmla="*/ 41614 w 87607"/>
                  <a:gd name="connsiteY16" fmla="*/ 41370 h 97340"/>
                  <a:gd name="connsiteX17" fmla="*/ 76657 w 87607"/>
                  <a:gd name="connsiteY17" fmla="*/ 39423 h 97340"/>
                  <a:gd name="connsiteX18" fmla="*/ 75683 w 87607"/>
                  <a:gd name="connsiteY18" fmla="*/ 74466 h 97340"/>
                  <a:gd name="connsiteX19" fmla="*/ 61082 w 87607"/>
                  <a:gd name="connsiteY19" fmla="*/ 85173 h 97340"/>
                  <a:gd name="connsiteX20" fmla="*/ 57188 w 87607"/>
                  <a:gd name="connsiteY20" fmla="*/ 87120 h 97340"/>
                  <a:gd name="connsiteX21" fmla="*/ 57188 w 87607"/>
                  <a:gd name="connsiteY21" fmla="*/ 92961 h 97340"/>
                  <a:gd name="connsiteX22" fmla="*/ 51348 w 87607"/>
                  <a:gd name="connsiteY22" fmla="*/ 9588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607" h="97340">
                    <a:moveTo>
                      <a:pt x="51348" y="95881"/>
                    </a:moveTo>
                    <a:lnTo>
                      <a:pt x="30906" y="76413"/>
                    </a:lnTo>
                    <a:lnTo>
                      <a:pt x="33826" y="73493"/>
                    </a:lnTo>
                    <a:cubicBezTo>
                      <a:pt x="48428" y="82253"/>
                      <a:pt x="60109" y="82253"/>
                      <a:pt x="67896" y="73493"/>
                    </a:cubicBezTo>
                    <a:cubicBezTo>
                      <a:pt x="73737" y="66679"/>
                      <a:pt x="74710" y="60838"/>
                      <a:pt x="68869" y="54998"/>
                    </a:cubicBezTo>
                    <a:cubicBezTo>
                      <a:pt x="65949" y="52077"/>
                      <a:pt x="58162" y="53051"/>
                      <a:pt x="47454" y="58891"/>
                    </a:cubicBezTo>
                    <a:cubicBezTo>
                      <a:pt x="32853" y="66679"/>
                      <a:pt x="21172" y="67652"/>
                      <a:pt x="15331" y="60838"/>
                    </a:cubicBezTo>
                    <a:cubicBezTo>
                      <a:pt x="4624" y="50130"/>
                      <a:pt x="4624" y="38450"/>
                      <a:pt x="15331" y="25795"/>
                    </a:cubicBezTo>
                    <a:cubicBezTo>
                      <a:pt x="19225" y="21902"/>
                      <a:pt x="23119" y="19955"/>
                      <a:pt x="28959" y="18008"/>
                    </a:cubicBezTo>
                    <a:cubicBezTo>
                      <a:pt x="30906" y="17035"/>
                      <a:pt x="31879" y="17035"/>
                      <a:pt x="32853" y="16061"/>
                    </a:cubicBezTo>
                    <a:cubicBezTo>
                      <a:pt x="33826" y="15088"/>
                      <a:pt x="33826" y="13141"/>
                      <a:pt x="32853" y="10221"/>
                    </a:cubicBezTo>
                    <a:lnTo>
                      <a:pt x="35773" y="7301"/>
                    </a:lnTo>
                    <a:lnTo>
                      <a:pt x="54268" y="24822"/>
                    </a:lnTo>
                    <a:lnTo>
                      <a:pt x="51348" y="27742"/>
                    </a:lnTo>
                    <a:cubicBezTo>
                      <a:pt x="38693" y="20928"/>
                      <a:pt x="27986" y="20928"/>
                      <a:pt x="21172" y="27742"/>
                    </a:cubicBezTo>
                    <a:cubicBezTo>
                      <a:pt x="16305" y="33583"/>
                      <a:pt x="15331" y="39423"/>
                      <a:pt x="20198" y="44290"/>
                    </a:cubicBezTo>
                    <a:cubicBezTo>
                      <a:pt x="24092" y="48184"/>
                      <a:pt x="30906" y="47210"/>
                      <a:pt x="41614" y="41370"/>
                    </a:cubicBezTo>
                    <a:cubicBezTo>
                      <a:pt x="57188" y="32609"/>
                      <a:pt x="68869" y="32609"/>
                      <a:pt x="76657" y="39423"/>
                    </a:cubicBezTo>
                    <a:cubicBezTo>
                      <a:pt x="86391" y="50130"/>
                      <a:pt x="86391" y="61812"/>
                      <a:pt x="75683" y="74466"/>
                    </a:cubicBezTo>
                    <a:cubicBezTo>
                      <a:pt x="71790" y="79333"/>
                      <a:pt x="66922" y="82253"/>
                      <a:pt x="61082" y="85173"/>
                    </a:cubicBezTo>
                    <a:cubicBezTo>
                      <a:pt x="59135" y="86147"/>
                      <a:pt x="57188" y="86147"/>
                      <a:pt x="57188" y="87120"/>
                    </a:cubicBezTo>
                    <a:cubicBezTo>
                      <a:pt x="56215" y="88094"/>
                      <a:pt x="56215" y="90040"/>
                      <a:pt x="57188" y="92961"/>
                    </a:cubicBezTo>
                    <a:lnTo>
                      <a:pt x="51348" y="9588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4" name="任意多边形: 形状 33"/>
              <p:cNvSpPr/>
              <p:nvPr/>
            </p:nvSpPr>
            <p:spPr>
              <a:xfrm>
                <a:off x="8822426" y="6494960"/>
                <a:ext cx="87608" cy="87607"/>
              </a:xfrm>
              <a:custGeom>
                <a:avLst/>
                <a:gdLst>
                  <a:gd name="connsiteX0" fmla="*/ 89068 w 87607"/>
                  <a:gd name="connsiteY0" fmla="*/ 53051 h 87606"/>
                  <a:gd name="connsiteX1" fmla="*/ 64733 w 87607"/>
                  <a:gd name="connsiteY1" fmla="*/ 84200 h 87606"/>
                  <a:gd name="connsiteX2" fmla="*/ 61812 w 87607"/>
                  <a:gd name="connsiteY2" fmla="*/ 81280 h 87606"/>
                  <a:gd name="connsiteX3" fmla="*/ 62786 w 87607"/>
                  <a:gd name="connsiteY3" fmla="*/ 68625 h 87606"/>
                  <a:gd name="connsiteX4" fmla="*/ 21902 w 87607"/>
                  <a:gd name="connsiteY4" fmla="*/ 37476 h 87606"/>
                  <a:gd name="connsiteX5" fmla="*/ 10221 w 87607"/>
                  <a:gd name="connsiteY5" fmla="*/ 41370 h 87606"/>
                  <a:gd name="connsiteX6" fmla="*/ 7301 w 87607"/>
                  <a:gd name="connsiteY6" fmla="*/ 38449 h 87606"/>
                  <a:gd name="connsiteX7" fmla="*/ 31636 w 87607"/>
                  <a:gd name="connsiteY7" fmla="*/ 7301 h 87606"/>
                  <a:gd name="connsiteX8" fmla="*/ 34557 w 87607"/>
                  <a:gd name="connsiteY8" fmla="*/ 10221 h 87606"/>
                  <a:gd name="connsiteX9" fmla="*/ 33583 w 87607"/>
                  <a:gd name="connsiteY9" fmla="*/ 22875 h 87606"/>
                  <a:gd name="connsiteX10" fmla="*/ 74467 w 87607"/>
                  <a:gd name="connsiteY10" fmla="*/ 54024 h 87606"/>
                  <a:gd name="connsiteX11" fmla="*/ 86148 w 87607"/>
                  <a:gd name="connsiteY11" fmla="*/ 50130 h 87606"/>
                  <a:gd name="connsiteX12" fmla="*/ 89068 w 87607"/>
                  <a:gd name="connsiteY12" fmla="*/ 53051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607" h="87606">
                    <a:moveTo>
                      <a:pt x="89068" y="53051"/>
                    </a:moveTo>
                    <a:lnTo>
                      <a:pt x="64733" y="84200"/>
                    </a:lnTo>
                    <a:lnTo>
                      <a:pt x="61812" y="81280"/>
                    </a:lnTo>
                    <a:cubicBezTo>
                      <a:pt x="66679" y="75439"/>
                      <a:pt x="66679" y="71546"/>
                      <a:pt x="62786" y="68625"/>
                    </a:cubicBezTo>
                    <a:lnTo>
                      <a:pt x="21902" y="37476"/>
                    </a:lnTo>
                    <a:cubicBezTo>
                      <a:pt x="18008" y="34556"/>
                      <a:pt x="14115" y="35529"/>
                      <a:pt x="10221" y="41370"/>
                    </a:cubicBezTo>
                    <a:lnTo>
                      <a:pt x="7301" y="38449"/>
                    </a:lnTo>
                    <a:lnTo>
                      <a:pt x="31636" y="7301"/>
                    </a:lnTo>
                    <a:lnTo>
                      <a:pt x="34557" y="10221"/>
                    </a:lnTo>
                    <a:cubicBezTo>
                      <a:pt x="29689" y="16061"/>
                      <a:pt x="29689" y="19955"/>
                      <a:pt x="33583" y="22875"/>
                    </a:cubicBezTo>
                    <a:lnTo>
                      <a:pt x="74467" y="54024"/>
                    </a:lnTo>
                    <a:cubicBezTo>
                      <a:pt x="78360" y="57918"/>
                      <a:pt x="82254" y="55971"/>
                      <a:pt x="86148" y="50130"/>
                    </a:cubicBezTo>
                    <a:lnTo>
                      <a:pt x="89068" y="5305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5" name="任意多边形: 形状 34"/>
              <p:cNvSpPr/>
              <p:nvPr/>
            </p:nvSpPr>
            <p:spPr>
              <a:xfrm>
                <a:off x="8851629" y="6427795"/>
                <a:ext cx="107076" cy="97341"/>
              </a:xfrm>
              <a:custGeom>
                <a:avLst/>
                <a:gdLst>
                  <a:gd name="connsiteX0" fmla="*/ 7301 w 107076"/>
                  <a:gd name="connsiteY0" fmla="*/ 67652 h 97340"/>
                  <a:gd name="connsiteX1" fmla="*/ 42344 w 107076"/>
                  <a:gd name="connsiteY1" fmla="*/ 7301 h 97340"/>
                  <a:gd name="connsiteX2" fmla="*/ 64733 w 107076"/>
                  <a:gd name="connsiteY2" fmla="*/ 19955 h 97340"/>
                  <a:gd name="connsiteX3" fmla="*/ 62786 w 107076"/>
                  <a:gd name="connsiteY3" fmla="*/ 24822 h 97340"/>
                  <a:gd name="connsiteX4" fmla="*/ 33583 w 107076"/>
                  <a:gd name="connsiteY4" fmla="*/ 32609 h 97340"/>
                  <a:gd name="connsiteX5" fmla="*/ 83227 w 107076"/>
                  <a:gd name="connsiteY5" fmla="*/ 61811 h 97340"/>
                  <a:gd name="connsiteX6" fmla="*/ 95882 w 107076"/>
                  <a:gd name="connsiteY6" fmla="*/ 54998 h 97340"/>
                  <a:gd name="connsiteX7" fmla="*/ 99775 w 107076"/>
                  <a:gd name="connsiteY7" fmla="*/ 56944 h 97340"/>
                  <a:gd name="connsiteX8" fmla="*/ 78360 w 107076"/>
                  <a:gd name="connsiteY8" fmla="*/ 92960 h 97340"/>
                  <a:gd name="connsiteX9" fmla="*/ 74467 w 107076"/>
                  <a:gd name="connsiteY9" fmla="*/ 91013 h 97340"/>
                  <a:gd name="connsiteX10" fmla="*/ 74467 w 107076"/>
                  <a:gd name="connsiteY10" fmla="*/ 76412 h 97340"/>
                  <a:gd name="connsiteX11" fmla="*/ 24822 w 107076"/>
                  <a:gd name="connsiteY11" fmla="*/ 47210 h 97340"/>
                  <a:gd name="connsiteX12" fmla="*/ 32610 w 107076"/>
                  <a:gd name="connsiteY12" fmla="*/ 76412 h 97340"/>
                  <a:gd name="connsiteX13" fmla="*/ 29689 w 107076"/>
                  <a:gd name="connsiteY13" fmla="*/ 80306 h 97340"/>
                  <a:gd name="connsiteX14" fmla="*/ 7301 w 107076"/>
                  <a:gd name="connsiteY14" fmla="*/ 67652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076" h="97340">
                    <a:moveTo>
                      <a:pt x="7301" y="67652"/>
                    </a:moveTo>
                    <a:lnTo>
                      <a:pt x="42344" y="7301"/>
                    </a:lnTo>
                    <a:lnTo>
                      <a:pt x="64733" y="19955"/>
                    </a:lnTo>
                    <a:lnTo>
                      <a:pt x="62786" y="24822"/>
                    </a:lnTo>
                    <a:cubicBezTo>
                      <a:pt x="49158" y="20928"/>
                      <a:pt x="39424" y="22875"/>
                      <a:pt x="33583" y="32609"/>
                    </a:cubicBezTo>
                    <a:lnTo>
                      <a:pt x="83227" y="61811"/>
                    </a:lnTo>
                    <a:cubicBezTo>
                      <a:pt x="87121" y="65705"/>
                      <a:pt x="91015" y="62785"/>
                      <a:pt x="95882" y="54998"/>
                    </a:cubicBezTo>
                    <a:lnTo>
                      <a:pt x="99775" y="56944"/>
                    </a:lnTo>
                    <a:lnTo>
                      <a:pt x="78360" y="92960"/>
                    </a:lnTo>
                    <a:lnTo>
                      <a:pt x="74467" y="91013"/>
                    </a:lnTo>
                    <a:cubicBezTo>
                      <a:pt x="79334" y="84200"/>
                      <a:pt x="79334" y="79333"/>
                      <a:pt x="74467" y="76412"/>
                    </a:cubicBezTo>
                    <a:lnTo>
                      <a:pt x="24822" y="47210"/>
                    </a:lnTo>
                    <a:cubicBezTo>
                      <a:pt x="18982" y="56944"/>
                      <a:pt x="21902" y="66678"/>
                      <a:pt x="32610" y="76412"/>
                    </a:cubicBezTo>
                    <a:lnTo>
                      <a:pt x="29689" y="80306"/>
                    </a:lnTo>
                    <a:lnTo>
                      <a:pt x="7301" y="6765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6" name="任意多边形: 形状 35"/>
              <p:cNvSpPr/>
              <p:nvPr/>
            </p:nvSpPr>
            <p:spPr>
              <a:xfrm>
                <a:off x="8889592" y="6357710"/>
                <a:ext cx="97342" cy="87607"/>
              </a:xfrm>
              <a:custGeom>
                <a:avLst/>
                <a:gdLst>
                  <a:gd name="connsiteX0" fmla="*/ 11194 w 97341"/>
                  <a:gd name="connsiteY0" fmla="*/ 74466 h 87606"/>
                  <a:gd name="connsiteX1" fmla="*/ 7301 w 97341"/>
                  <a:gd name="connsiteY1" fmla="*/ 72519 h 87606"/>
                  <a:gd name="connsiteX2" fmla="*/ 20928 w 97341"/>
                  <a:gd name="connsiteY2" fmla="*/ 39423 h 87606"/>
                  <a:gd name="connsiteX3" fmla="*/ 24822 w 97341"/>
                  <a:gd name="connsiteY3" fmla="*/ 41370 h 87606"/>
                  <a:gd name="connsiteX4" fmla="*/ 24822 w 97341"/>
                  <a:gd name="connsiteY4" fmla="*/ 50130 h 87606"/>
                  <a:gd name="connsiteX5" fmla="*/ 29689 w 97341"/>
                  <a:gd name="connsiteY5" fmla="*/ 51104 h 87606"/>
                  <a:gd name="connsiteX6" fmla="*/ 31636 w 97341"/>
                  <a:gd name="connsiteY6" fmla="*/ 51104 h 87606"/>
                  <a:gd name="connsiteX7" fmla="*/ 55972 w 97341"/>
                  <a:gd name="connsiteY7" fmla="*/ 49157 h 87606"/>
                  <a:gd name="connsiteX8" fmla="*/ 41370 w 97341"/>
                  <a:gd name="connsiteY8" fmla="*/ 31636 h 87606"/>
                  <a:gd name="connsiteX9" fmla="*/ 36503 w 97341"/>
                  <a:gd name="connsiteY9" fmla="*/ 27742 h 87606"/>
                  <a:gd name="connsiteX10" fmla="*/ 28716 w 97341"/>
                  <a:gd name="connsiteY10" fmla="*/ 34556 h 87606"/>
                  <a:gd name="connsiteX11" fmla="*/ 24822 w 97341"/>
                  <a:gd name="connsiteY11" fmla="*/ 32609 h 87606"/>
                  <a:gd name="connsiteX12" fmla="*/ 35530 w 97341"/>
                  <a:gd name="connsiteY12" fmla="*/ 7301 h 87606"/>
                  <a:gd name="connsiteX13" fmla="*/ 39423 w 97341"/>
                  <a:gd name="connsiteY13" fmla="*/ 9248 h 87606"/>
                  <a:gd name="connsiteX14" fmla="*/ 42343 w 97341"/>
                  <a:gd name="connsiteY14" fmla="*/ 22875 h 87606"/>
                  <a:gd name="connsiteX15" fmla="*/ 65706 w 97341"/>
                  <a:gd name="connsiteY15" fmla="*/ 49157 h 87606"/>
                  <a:gd name="connsiteX16" fmla="*/ 83227 w 97341"/>
                  <a:gd name="connsiteY16" fmla="*/ 56944 h 87606"/>
                  <a:gd name="connsiteX17" fmla="*/ 94908 w 97341"/>
                  <a:gd name="connsiteY17" fmla="*/ 49157 h 87606"/>
                  <a:gd name="connsiteX18" fmla="*/ 98802 w 97341"/>
                  <a:gd name="connsiteY18" fmla="*/ 51104 h 87606"/>
                  <a:gd name="connsiteX19" fmla="*/ 82254 w 97341"/>
                  <a:gd name="connsiteY19" fmla="*/ 89067 h 87606"/>
                  <a:gd name="connsiteX20" fmla="*/ 78360 w 97341"/>
                  <a:gd name="connsiteY20" fmla="*/ 87120 h 87606"/>
                  <a:gd name="connsiteX21" fmla="*/ 76413 w 97341"/>
                  <a:gd name="connsiteY21" fmla="*/ 73492 h 87606"/>
                  <a:gd name="connsiteX22" fmla="*/ 57918 w 97341"/>
                  <a:gd name="connsiteY22" fmla="*/ 65705 h 87606"/>
                  <a:gd name="connsiteX23" fmla="*/ 27742 w 97341"/>
                  <a:gd name="connsiteY23" fmla="*/ 67652 h 87606"/>
                  <a:gd name="connsiteX24" fmla="*/ 11194 w 97341"/>
                  <a:gd name="connsiteY24" fmla="*/ 74466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7341" h="87606">
                    <a:moveTo>
                      <a:pt x="11194" y="74466"/>
                    </a:moveTo>
                    <a:lnTo>
                      <a:pt x="7301" y="72519"/>
                    </a:lnTo>
                    <a:lnTo>
                      <a:pt x="20928" y="39423"/>
                    </a:lnTo>
                    <a:lnTo>
                      <a:pt x="24822" y="41370"/>
                    </a:lnTo>
                    <a:cubicBezTo>
                      <a:pt x="22875" y="47210"/>
                      <a:pt x="22875" y="50130"/>
                      <a:pt x="24822" y="50130"/>
                    </a:cubicBezTo>
                    <a:cubicBezTo>
                      <a:pt x="25796" y="50130"/>
                      <a:pt x="26769" y="51104"/>
                      <a:pt x="29689" y="51104"/>
                    </a:cubicBezTo>
                    <a:cubicBezTo>
                      <a:pt x="30663" y="51104"/>
                      <a:pt x="30663" y="51104"/>
                      <a:pt x="31636" y="51104"/>
                    </a:cubicBezTo>
                    <a:lnTo>
                      <a:pt x="55972" y="49157"/>
                    </a:lnTo>
                    <a:lnTo>
                      <a:pt x="41370" y="31636"/>
                    </a:lnTo>
                    <a:cubicBezTo>
                      <a:pt x="39423" y="29689"/>
                      <a:pt x="37476" y="28716"/>
                      <a:pt x="36503" y="27742"/>
                    </a:cubicBezTo>
                    <a:cubicBezTo>
                      <a:pt x="33583" y="26769"/>
                      <a:pt x="31636" y="28716"/>
                      <a:pt x="28716" y="34556"/>
                    </a:cubicBezTo>
                    <a:lnTo>
                      <a:pt x="24822" y="32609"/>
                    </a:lnTo>
                    <a:lnTo>
                      <a:pt x="35530" y="7301"/>
                    </a:lnTo>
                    <a:lnTo>
                      <a:pt x="39423" y="9248"/>
                    </a:lnTo>
                    <a:cubicBezTo>
                      <a:pt x="37476" y="16061"/>
                      <a:pt x="38450" y="20928"/>
                      <a:pt x="42343" y="22875"/>
                    </a:cubicBezTo>
                    <a:lnTo>
                      <a:pt x="65706" y="49157"/>
                    </a:lnTo>
                    <a:lnTo>
                      <a:pt x="83227" y="56944"/>
                    </a:lnTo>
                    <a:cubicBezTo>
                      <a:pt x="88094" y="59865"/>
                      <a:pt x="91988" y="56944"/>
                      <a:pt x="94908" y="49157"/>
                    </a:cubicBezTo>
                    <a:lnTo>
                      <a:pt x="98802" y="51104"/>
                    </a:lnTo>
                    <a:lnTo>
                      <a:pt x="82254" y="89067"/>
                    </a:lnTo>
                    <a:lnTo>
                      <a:pt x="78360" y="87120"/>
                    </a:lnTo>
                    <a:cubicBezTo>
                      <a:pt x="82254" y="79333"/>
                      <a:pt x="81280" y="74466"/>
                      <a:pt x="76413" y="73492"/>
                    </a:cubicBezTo>
                    <a:lnTo>
                      <a:pt x="57918" y="65705"/>
                    </a:lnTo>
                    <a:lnTo>
                      <a:pt x="27742" y="67652"/>
                    </a:lnTo>
                    <a:cubicBezTo>
                      <a:pt x="17035" y="68625"/>
                      <a:pt x="12168" y="70572"/>
                      <a:pt x="11194" y="744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7" name="任意多边形: 形状 36"/>
              <p:cNvSpPr/>
              <p:nvPr/>
            </p:nvSpPr>
            <p:spPr>
              <a:xfrm>
                <a:off x="7807151" y="6164002"/>
                <a:ext cx="48671" cy="48670"/>
              </a:xfrm>
              <a:custGeom>
                <a:avLst/>
                <a:gdLst>
                  <a:gd name="connsiteX0" fmla="*/ 28716 w 48670"/>
                  <a:gd name="connsiteY0" fmla="*/ 49157 h 48670"/>
                  <a:gd name="connsiteX1" fmla="*/ 50131 w 48670"/>
                  <a:gd name="connsiteY1" fmla="*/ 28715 h 48670"/>
                  <a:gd name="connsiteX2" fmla="*/ 28716 w 48670"/>
                  <a:gd name="connsiteY2" fmla="*/ 7301 h 48670"/>
                  <a:gd name="connsiteX3" fmla="*/ 7301 w 48670"/>
                  <a:gd name="connsiteY3" fmla="*/ 28715 h 48670"/>
                  <a:gd name="connsiteX4" fmla="*/ 28716 w 48670"/>
                  <a:gd name="connsiteY4" fmla="*/ 49157 h 48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70" h="48670">
                    <a:moveTo>
                      <a:pt x="28716" y="49157"/>
                    </a:moveTo>
                    <a:cubicBezTo>
                      <a:pt x="40397" y="49157"/>
                      <a:pt x="50131" y="40396"/>
                      <a:pt x="50131" y="28715"/>
                    </a:cubicBezTo>
                    <a:cubicBezTo>
                      <a:pt x="50131" y="17035"/>
                      <a:pt x="40397" y="7301"/>
                      <a:pt x="28716" y="7301"/>
                    </a:cubicBezTo>
                    <a:cubicBezTo>
                      <a:pt x="17035" y="7301"/>
                      <a:pt x="7301" y="17035"/>
                      <a:pt x="7301" y="28715"/>
                    </a:cubicBezTo>
                    <a:cubicBezTo>
                      <a:pt x="7301" y="40396"/>
                      <a:pt x="18008" y="49157"/>
                      <a:pt x="28716" y="4915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8" name="任意多边形: 形状 37"/>
              <p:cNvSpPr/>
              <p:nvPr/>
            </p:nvSpPr>
            <p:spPr>
              <a:xfrm>
                <a:off x="8950918" y="6164002"/>
                <a:ext cx="48671" cy="48670"/>
              </a:xfrm>
              <a:custGeom>
                <a:avLst/>
                <a:gdLst>
                  <a:gd name="connsiteX0" fmla="*/ 28716 w 48670"/>
                  <a:gd name="connsiteY0" fmla="*/ 49157 h 48670"/>
                  <a:gd name="connsiteX1" fmla="*/ 49158 w 48670"/>
                  <a:gd name="connsiteY1" fmla="*/ 28715 h 48670"/>
                  <a:gd name="connsiteX2" fmla="*/ 28716 w 48670"/>
                  <a:gd name="connsiteY2" fmla="*/ 7301 h 48670"/>
                  <a:gd name="connsiteX3" fmla="*/ 7301 w 48670"/>
                  <a:gd name="connsiteY3" fmla="*/ 28715 h 48670"/>
                  <a:gd name="connsiteX4" fmla="*/ 28716 w 48670"/>
                  <a:gd name="connsiteY4" fmla="*/ 49157 h 48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70" h="48670">
                    <a:moveTo>
                      <a:pt x="28716" y="49157"/>
                    </a:moveTo>
                    <a:cubicBezTo>
                      <a:pt x="40397" y="49157"/>
                      <a:pt x="49158" y="40396"/>
                      <a:pt x="49158" y="28715"/>
                    </a:cubicBezTo>
                    <a:cubicBezTo>
                      <a:pt x="49158" y="17035"/>
                      <a:pt x="40397" y="7301"/>
                      <a:pt x="28716" y="7301"/>
                    </a:cubicBezTo>
                    <a:cubicBezTo>
                      <a:pt x="17035" y="7301"/>
                      <a:pt x="7301" y="17035"/>
                      <a:pt x="7301" y="28715"/>
                    </a:cubicBezTo>
                    <a:cubicBezTo>
                      <a:pt x="7301" y="40396"/>
                      <a:pt x="17035" y="49157"/>
                      <a:pt x="28716" y="4915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9" name="任意多边形: 形状 38"/>
              <p:cNvSpPr/>
              <p:nvPr/>
            </p:nvSpPr>
            <p:spPr>
              <a:xfrm>
                <a:off x="7699101" y="5483589"/>
                <a:ext cx="1411457" cy="1411442"/>
              </a:xfrm>
              <a:custGeom>
                <a:avLst/>
                <a:gdLst>
                  <a:gd name="connsiteX0" fmla="*/ 709136 w 1411457"/>
                  <a:gd name="connsiteY0" fmla="*/ 7301 h 1411442"/>
                  <a:gd name="connsiteX1" fmla="*/ 1410971 w 1411457"/>
                  <a:gd name="connsiteY1" fmla="*/ 709128 h 1411442"/>
                  <a:gd name="connsiteX2" fmla="*/ 709136 w 1411457"/>
                  <a:gd name="connsiteY2" fmla="*/ 1410956 h 1411442"/>
                  <a:gd name="connsiteX3" fmla="*/ 7301 w 1411457"/>
                  <a:gd name="connsiteY3" fmla="*/ 709128 h 1411442"/>
                  <a:gd name="connsiteX4" fmla="*/ 709136 w 1411457"/>
                  <a:gd name="connsiteY4" fmla="*/ 7301 h 1411442"/>
                  <a:gd name="connsiteX5" fmla="*/ 709136 w 1411457"/>
                  <a:gd name="connsiteY5" fmla="*/ 7301 h 1411442"/>
                  <a:gd name="connsiteX6" fmla="*/ 709136 w 1411457"/>
                  <a:gd name="connsiteY6" fmla="*/ 25795 h 1411442"/>
                  <a:gd name="connsiteX7" fmla="*/ 26769 w 1411457"/>
                  <a:gd name="connsiteY7" fmla="*/ 708155 h 1411442"/>
                  <a:gd name="connsiteX8" fmla="*/ 709136 w 1411457"/>
                  <a:gd name="connsiteY8" fmla="*/ 1390514 h 1411442"/>
                  <a:gd name="connsiteX9" fmla="*/ 1391502 w 1411457"/>
                  <a:gd name="connsiteY9" fmla="*/ 708155 h 1411442"/>
                  <a:gd name="connsiteX10" fmla="*/ 709136 w 1411457"/>
                  <a:gd name="connsiteY10" fmla="*/ 25795 h 141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57" h="1411442">
                    <a:moveTo>
                      <a:pt x="709136" y="7301"/>
                    </a:moveTo>
                    <a:cubicBezTo>
                      <a:pt x="1096556" y="7301"/>
                      <a:pt x="1410971" y="321711"/>
                      <a:pt x="1410971" y="709128"/>
                    </a:cubicBezTo>
                    <a:cubicBezTo>
                      <a:pt x="1410971" y="1096545"/>
                      <a:pt x="1096556" y="1410956"/>
                      <a:pt x="709136" y="1410956"/>
                    </a:cubicBezTo>
                    <a:cubicBezTo>
                      <a:pt x="321715" y="1410956"/>
                      <a:pt x="7301" y="1096545"/>
                      <a:pt x="7301" y="709128"/>
                    </a:cubicBezTo>
                    <a:cubicBezTo>
                      <a:pt x="7301" y="321711"/>
                      <a:pt x="321715" y="7301"/>
                      <a:pt x="709136" y="7301"/>
                    </a:cubicBezTo>
                    <a:lnTo>
                      <a:pt x="709136" y="7301"/>
                    </a:lnTo>
                    <a:close/>
                    <a:moveTo>
                      <a:pt x="709136" y="25795"/>
                    </a:moveTo>
                    <a:cubicBezTo>
                      <a:pt x="332422" y="25795"/>
                      <a:pt x="26769" y="331445"/>
                      <a:pt x="26769" y="708155"/>
                    </a:cubicBezTo>
                    <a:cubicBezTo>
                      <a:pt x="26769" y="1084864"/>
                      <a:pt x="332422" y="1390514"/>
                      <a:pt x="709136" y="1390514"/>
                    </a:cubicBezTo>
                    <a:cubicBezTo>
                      <a:pt x="1085849" y="1390514"/>
                      <a:pt x="1391502" y="1084864"/>
                      <a:pt x="1391502" y="708155"/>
                    </a:cubicBezTo>
                    <a:cubicBezTo>
                      <a:pt x="1392476" y="331445"/>
                      <a:pt x="1086822" y="25795"/>
                      <a:pt x="709136" y="257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0" name="任意多边形: 形状 39"/>
              <p:cNvSpPr/>
              <p:nvPr/>
            </p:nvSpPr>
            <p:spPr>
              <a:xfrm>
                <a:off x="7922987" y="5707473"/>
                <a:ext cx="963685" cy="963674"/>
              </a:xfrm>
              <a:custGeom>
                <a:avLst/>
                <a:gdLst>
                  <a:gd name="connsiteX0" fmla="*/ 485249 w 963684"/>
                  <a:gd name="connsiteY0" fmla="*/ 7301 h 963674"/>
                  <a:gd name="connsiteX1" fmla="*/ 963198 w 963684"/>
                  <a:gd name="connsiteY1" fmla="*/ 485244 h 963674"/>
                  <a:gd name="connsiteX2" fmla="*/ 485249 w 963684"/>
                  <a:gd name="connsiteY2" fmla="*/ 963188 h 963674"/>
                  <a:gd name="connsiteX3" fmla="*/ 7301 w 963684"/>
                  <a:gd name="connsiteY3" fmla="*/ 485244 h 963674"/>
                  <a:gd name="connsiteX4" fmla="*/ 485249 w 963684"/>
                  <a:gd name="connsiteY4" fmla="*/ 7301 h 963674"/>
                  <a:gd name="connsiteX5" fmla="*/ 485249 w 963684"/>
                  <a:gd name="connsiteY5" fmla="*/ 7301 h 963674"/>
                  <a:gd name="connsiteX6" fmla="*/ 485249 w 963684"/>
                  <a:gd name="connsiteY6" fmla="*/ 19955 h 963674"/>
                  <a:gd name="connsiteX7" fmla="*/ 19955 w 963684"/>
                  <a:gd name="connsiteY7" fmla="*/ 485244 h 963674"/>
                  <a:gd name="connsiteX8" fmla="*/ 485249 w 963684"/>
                  <a:gd name="connsiteY8" fmla="*/ 950533 h 963674"/>
                  <a:gd name="connsiteX9" fmla="*/ 950543 w 963684"/>
                  <a:gd name="connsiteY9" fmla="*/ 485244 h 963674"/>
                  <a:gd name="connsiteX10" fmla="*/ 485249 w 963684"/>
                  <a:gd name="connsiteY10" fmla="*/ 19955 h 963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3684" h="963674">
                    <a:moveTo>
                      <a:pt x="485249" y="7301"/>
                    </a:moveTo>
                    <a:cubicBezTo>
                      <a:pt x="749046" y="7301"/>
                      <a:pt x="963198" y="221450"/>
                      <a:pt x="963198" y="485244"/>
                    </a:cubicBezTo>
                    <a:cubicBezTo>
                      <a:pt x="963198" y="749038"/>
                      <a:pt x="749046" y="963188"/>
                      <a:pt x="485249" y="963188"/>
                    </a:cubicBezTo>
                    <a:cubicBezTo>
                      <a:pt x="221453" y="963188"/>
                      <a:pt x="7301" y="749038"/>
                      <a:pt x="7301" y="485244"/>
                    </a:cubicBezTo>
                    <a:cubicBezTo>
                      <a:pt x="7301" y="221450"/>
                      <a:pt x="221453" y="7301"/>
                      <a:pt x="485249" y="7301"/>
                    </a:cubicBezTo>
                    <a:lnTo>
                      <a:pt x="485249" y="7301"/>
                    </a:lnTo>
                    <a:close/>
                    <a:moveTo>
                      <a:pt x="485249" y="19955"/>
                    </a:moveTo>
                    <a:cubicBezTo>
                      <a:pt x="228267" y="19955"/>
                      <a:pt x="19955" y="228264"/>
                      <a:pt x="19955" y="485244"/>
                    </a:cubicBezTo>
                    <a:cubicBezTo>
                      <a:pt x="19955" y="742224"/>
                      <a:pt x="228267" y="950533"/>
                      <a:pt x="485249" y="950533"/>
                    </a:cubicBezTo>
                    <a:cubicBezTo>
                      <a:pt x="742232" y="950533"/>
                      <a:pt x="950543" y="742224"/>
                      <a:pt x="950543" y="485244"/>
                    </a:cubicBezTo>
                    <a:cubicBezTo>
                      <a:pt x="950543" y="228264"/>
                      <a:pt x="742232" y="19955"/>
                      <a:pt x="485249" y="1995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1" name="任意多边形: 形状 40"/>
              <p:cNvSpPr/>
              <p:nvPr/>
            </p:nvSpPr>
            <p:spPr>
              <a:xfrm>
                <a:off x="7990153" y="5848617"/>
                <a:ext cx="837140" cy="486704"/>
              </a:xfrm>
              <a:custGeom>
                <a:avLst/>
                <a:gdLst>
                  <a:gd name="connsiteX0" fmla="*/ 819132 w 837140"/>
                  <a:gd name="connsiteY0" fmla="*/ 306137 h 486704"/>
                  <a:gd name="connsiteX1" fmla="*/ 781169 w 837140"/>
                  <a:gd name="connsiteY1" fmla="*/ 306137 h 486704"/>
                  <a:gd name="connsiteX2" fmla="*/ 781169 w 837140"/>
                  <a:gd name="connsiteY2" fmla="*/ 345073 h 486704"/>
                  <a:gd name="connsiteX3" fmla="*/ 819132 w 837140"/>
                  <a:gd name="connsiteY3" fmla="*/ 345073 h 486704"/>
                  <a:gd name="connsiteX4" fmla="*/ 819132 w 837140"/>
                  <a:gd name="connsiteY4" fmla="*/ 306137 h 486704"/>
                  <a:gd name="connsiteX5" fmla="*/ 819132 w 837140"/>
                  <a:gd name="connsiteY5" fmla="*/ 306137 h 486704"/>
                  <a:gd name="connsiteX6" fmla="*/ 413216 w 837140"/>
                  <a:gd name="connsiteY6" fmla="*/ 16061 h 486704"/>
                  <a:gd name="connsiteX7" fmla="*/ 417110 w 837140"/>
                  <a:gd name="connsiteY7" fmla="*/ 16061 h 486704"/>
                  <a:gd name="connsiteX8" fmla="*/ 417110 w 837140"/>
                  <a:gd name="connsiteY8" fmla="*/ 7301 h 486704"/>
                  <a:gd name="connsiteX9" fmla="*/ 419057 w 837140"/>
                  <a:gd name="connsiteY9" fmla="*/ 7301 h 486704"/>
                  <a:gd name="connsiteX10" fmla="*/ 421004 w 837140"/>
                  <a:gd name="connsiteY10" fmla="*/ 7301 h 486704"/>
                  <a:gd name="connsiteX11" fmla="*/ 421004 w 837140"/>
                  <a:gd name="connsiteY11" fmla="*/ 16061 h 486704"/>
                  <a:gd name="connsiteX12" fmla="*/ 424898 w 837140"/>
                  <a:gd name="connsiteY12" fmla="*/ 16061 h 486704"/>
                  <a:gd name="connsiteX13" fmla="*/ 424898 w 837140"/>
                  <a:gd name="connsiteY13" fmla="*/ 25795 h 486704"/>
                  <a:gd name="connsiteX14" fmla="*/ 421004 w 837140"/>
                  <a:gd name="connsiteY14" fmla="*/ 25795 h 486704"/>
                  <a:gd name="connsiteX15" fmla="*/ 421004 w 837140"/>
                  <a:gd name="connsiteY15" fmla="*/ 45263 h 486704"/>
                  <a:gd name="connsiteX16" fmla="*/ 423924 w 837140"/>
                  <a:gd name="connsiteY16" fmla="*/ 53051 h 486704"/>
                  <a:gd name="connsiteX17" fmla="*/ 423924 w 837140"/>
                  <a:gd name="connsiteY17" fmla="*/ 79333 h 486704"/>
                  <a:gd name="connsiteX18" fmla="*/ 431711 w 837140"/>
                  <a:gd name="connsiteY18" fmla="*/ 89067 h 486704"/>
                  <a:gd name="connsiteX19" fmla="*/ 431711 w 837140"/>
                  <a:gd name="connsiteY19" fmla="*/ 131897 h 486704"/>
                  <a:gd name="connsiteX20" fmla="*/ 442419 w 837140"/>
                  <a:gd name="connsiteY20" fmla="*/ 131897 h 486704"/>
                  <a:gd name="connsiteX21" fmla="*/ 442419 w 837140"/>
                  <a:gd name="connsiteY21" fmla="*/ 212690 h 486704"/>
                  <a:gd name="connsiteX22" fmla="*/ 454100 w 837140"/>
                  <a:gd name="connsiteY22" fmla="*/ 212690 h 486704"/>
                  <a:gd name="connsiteX23" fmla="*/ 454100 w 837140"/>
                  <a:gd name="connsiteY23" fmla="*/ 202955 h 486704"/>
                  <a:gd name="connsiteX24" fmla="*/ 466754 w 837140"/>
                  <a:gd name="connsiteY24" fmla="*/ 202955 h 486704"/>
                  <a:gd name="connsiteX25" fmla="*/ 466754 w 837140"/>
                  <a:gd name="connsiteY25" fmla="*/ 249679 h 486704"/>
                  <a:gd name="connsiteX26" fmla="*/ 640996 w 837140"/>
                  <a:gd name="connsiteY26" fmla="*/ 249679 h 486704"/>
                  <a:gd name="connsiteX27" fmla="*/ 640996 w 837140"/>
                  <a:gd name="connsiteY27" fmla="*/ 222424 h 486704"/>
                  <a:gd name="connsiteX28" fmla="*/ 650731 w 837140"/>
                  <a:gd name="connsiteY28" fmla="*/ 222424 h 486704"/>
                  <a:gd name="connsiteX29" fmla="*/ 650731 w 837140"/>
                  <a:gd name="connsiteY29" fmla="*/ 230211 h 486704"/>
                  <a:gd name="connsiteX30" fmla="*/ 682854 w 837140"/>
                  <a:gd name="connsiteY30" fmla="*/ 230211 h 486704"/>
                  <a:gd name="connsiteX31" fmla="*/ 682854 w 837140"/>
                  <a:gd name="connsiteY31" fmla="*/ 221450 h 486704"/>
                  <a:gd name="connsiteX32" fmla="*/ 692588 w 837140"/>
                  <a:gd name="connsiteY32" fmla="*/ 221450 h 486704"/>
                  <a:gd name="connsiteX33" fmla="*/ 692588 w 837140"/>
                  <a:gd name="connsiteY33" fmla="*/ 248706 h 486704"/>
                  <a:gd name="connsiteX34" fmla="*/ 829840 w 837140"/>
                  <a:gd name="connsiteY34" fmla="*/ 248706 h 486704"/>
                  <a:gd name="connsiteX35" fmla="*/ 829840 w 837140"/>
                  <a:gd name="connsiteY35" fmla="*/ 432680 h 486704"/>
                  <a:gd name="connsiteX36" fmla="*/ 7301 w 837140"/>
                  <a:gd name="connsiteY36" fmla="*/ 432680 h 486704"/>
                  <a:gd name="connsiteX37" fmla="*/ 7301 w 837140"/>
                  <a:gd name="connsiteY37" fmla="*/ 248706 h 486704"/>
                  <a:gd name="connsiteX38" fmla="*/ 144553 w 837140"/>
                  <a:gd name="connsiteY38" fmla="*/ 248706 h 486704"/>
                  <a:gd name="connsiteX39" fmla="*/ 144553 w 837140"/>
                  <a:gd name="connsiteY39" fmla="*/ 221450 h 486704"/>
                  <a:gd name="connsiteX40" fmla="*/ 154287 w 837140"/>
                  <a:gd name="connsiteY40" fmla="*/ 221450 h 486704"/>
                  <a:gd name="connsiteX41" fmla="*/ 154287 w 837140"/>
                  <a:gd name="connsiteY41" fmla="*/ 230211 h 486704"/>
                  <a:gd name="connsiteX42" fmla="*/ 186410 w 837140"/>
                  <a:gd name="connsiteY42" fmla="*/ 230211 h 486704"/>
                  <a:gd name="connsiteX43" fmla="*/ 186410 w 837140"/>
                  <a:gd name="connsiteY43" fmla="*/ 222424 h 486704"/>
                  <a:gd name="connsiteX44" fmla="*/ 196144 w 837140"/>
                  <a:gd name="connsiteY44" fmla="*/ 222424 h 486704"/>
                  <a:gd name="connsiteX45" fmla="*/ 196144 w 837140"/>
                  <a:gd name="connsiteY45" fmla="*/ 249679 h 486704"/>
                  <a:gd name="connsiteX46" fmla="*/ 370386 w 837140"/>
                  <a:gd name="connsiteY46" fmla="*/ 249679 h 486704"/>
                  <a:gd name="connsiteX47" fmla="*/ 370386 w 837140"/>
                  <a:gd name="connsiteY47" fmla="*/ 202955 h 486704"/>
                  <a:gd name="connsiteX48" fmla="*/ 383040 w 837140"/>
                  <a:gd name="connsiteY48" fmla="*/ 202955 h 486704"/>
                  <a:gd name="connsiteX49" fmla="*/ 383040 w 837140"/>
                  <a:gd name="connsiteY49" fmla="*/ 212690 h 486704"/>
                  <a:gd name="connsiteX50" fmla="*/ 394722 w 837140"/>
                  <a:gd name="connsiteY50" fmla="*/ 212690 h 486704"/>
                  <a:gd name="connsiteX51" fmla="*/ 394722 w 837140"/>
                  <a:gd name="connsiteY51" fmla="*/ 131897 h 486704"/>
                  <a:gd name="connsiteX52" fmla="*/ 405429 w 837140"/>
                  <a:gd name="connsiteY52" fmla="*/ 131897 h 486704"/>
                  <a:gd name="connsiteX53" fmla="*/ 405429 w 837140"/>
                  <a:gd name="connsiteY53" fmla="*/ 89067 h 486704"/>
                  <a:gd name="connsiteX54" fmla="*/ 413216 w 837140"/>
                  <a:gd name="connsiteY54" fmla="*/ 79333 h 486704"/>
                  <a:gd name="connsiteX55" fmla="*/ 413216 w 837140"/>
                  <a:gd name="connsiteY55" fmla="*/ 53051 h 486704"/>
                  <a:gd name="connsiteX56" fmla="*/ 416137 w 837140"/>
                  <a:gd name="connsiteY56" fmla="*/ 45263 h 486704"/>
                  <a:gd name="connsiteX57" fmla="*/ 416137 w 837140"/>
                  <a:gd name="connsiteY57" fmla="*/ 25795 h 486704"/>
                  <a:gd name="connsiteX58" fmla="*/ 412243 w 837140"/>
                  <a:gd name="connsiteY58" fmla="*/ 25795 h 486704"/>
                  <a:gd name="connsiteX59" fmla="*/ 412243 w 837140"/>
                  <a:gd name="connsiteY59" fmla="*/ 16061 h 486704"/>
                  <a:gd name="connsiteX60" fmla="*/ 413216 w 837140"/>
                  <a:gd name="connsiteY60" fmla="*/ 16061 h 486704"/>
                  <a:gd name="connsiteX61" fmla="*/ 819132 w 837140"/>
                  <a:gd name="connsiteY61" fmla="*/ 347994 h 486704"/>
                  <a:gd name="connsiteX62" fmla="*/ 769488 w 837140"/>
                  <a:gd name="connsiteY62" fmla="*/ 347994 h 486704"/>
                  <a:gd name="connsiteX63" fmla="*/ 769488 w 837140"/>
                  <a:gd name="connsiteY63" fmla="*/ 379142 h 486704"/>
                  <a:gd name="connsiteX64" fmla="*/ 819132 w 837140"/>
                  <a:gd name="connsiteY64" fmla="*/ 379142 h 486704"/>
                  <a:gd name="connsiteX65" fmla="*/ 819132 w 837140"/>
                  <a:gd name="connsiteY65" fmla="*/ 347994 h 486704"/>
                  <a:gd name="connsiteX66" fmla="*/ 819132 w 837140"/>
                  <a:gd name="connsiteY66" fmla="*/ 347994 h 486704"/>
                  <a:gd name="connsiteX67" fmla="*/ 819132 w 837140"/>
                  <a:gd name="connsiteY67" fmla="*/ 382063 h 486704"/>
                  <a:gd name="connsiteX68" fmla="*/ 760727 w 837140"/>
                  <a:gd name="connsiteY68" fmla="*/ 382063 h 486704"/>
                  <a:gd name="connsiteX69" fmla="*/ 760727 w 837140"/>
                  <a:gd name="connsiteY69" fmla="*/ 407371 h 486704"/>
                  <a:gd name="connsiteX70" fmla="*/ 780195 w 837140"/>
                  <a:gd name="connsiteY70" fmla="*/ 407371 h 486704"/>
                  <a:gd name="connsiteX71" fmla="*/ 780195 w 837140"/>
                  <a:gd name="connsiteY71" fmla="*/ 388877 h 486704"/>
                  <a:gd name="connsiteX72" fmla="*/ 790903 w 837140"/>
                  <a:gd name="connsiteY72" fmla="*/ 388877 h 486704"/>
                  <a:gd name="connsiteX73" fmla="*/ 790903 w 837140"/>
                  <a:gd name="connsiteY73" fmla="*/ 407371 h 486704"/>
                  <a:gd name="connsiteX74" fmla="*/ 799664 w 837140"/>
                  <a:gd name="connsiteY74" fmla="*/ 407371 h 486704"/>
                  <a:gd name="connsiteX75" fmla="*/ 799664 w 837140"/>
                  <a:gd name="connsiteY75" fmla="*/ 421972 h 486704"/>
                  <a:gd name="connsiteX76" fmla="*/ 819132 w 837140"/>
                  <a:gd name="connsiteY76" fmla="*/ 421972 h 486704"/>
                  <a:gd name="connsiteX77" fmla="*/ 819132 w 837140"/>
                  <a:gd name="connsiteY77" fmla="*/ 382063 h 486704"/>
                  <a:gd name="connsiteX78" fmla="*/ 819132 w 837140"/>
                  <a:gd name="connsiteY78" fmla="*/ 382063 h 486704"/>
                  <a:gd name="connsiteX79" fmla="*/ 683827 w 837140"/>
                  <a:gd name="connsiteY79" fmla="*/ 306137 h 486704"/>
                  <a:gd name="connsiteX80" fmla="*/ 683827 w 837140"/>
                  <a:gd name="connsiteY80" fmla="*/ 345073 h 486704"/>
                  <a:gd name="connsiteX81" fmla="*/ 726657 w 837140"/>
                  <a:gd name="connsiteY81" fmla="*/ 345073 h 486704"/>
                  <a:gd name="connsiteX82" fmla="*/ 726657 w 837140"/>
                  <a:gd name="connsiteY82" fmla="*/ 306137 h 486704"/>
                  <a:gd name="connsiteX83" fmla="*/ 683827 w 837140"/>
                  <a:gd name="connsiteY83" fmla="*/ 306137 h 486704"/>
                  <a:gd name="connsiteX84" fmla="*/ 683827 w 837140"/>
                  <a:gd name="connsiteY84" fmla="*/ 306137 h 486704"/>
                  <a:gd name="connsiteX85" fmla="*/ 683827 w 837140"/>
                  <a:gd name="connsiteY85" fmla="*/ 347994 h 486704"/>
                  <a:gd name="connsiteX86" fmla="*/ 683827 w 837140"/>
                  <a:gd name="connsiteY86" fmla="*/ 379142 h 486704"/>
                  <a:gd name="connsiteX87" fmla="*/ 741259 w 837140"/>
                  <a:gd name="connsiteY87" fmla="*/ 379142 h 486704"/>
                  <a:gd name="connsiteX88" fmla="*/ 741259 w 837140"/>
                  <a:gd name="connsiteY88" fmla="*/ 347994 h 486704"/>
                  <a:gd name="connsiteX89" fmla="*/ 683827 w 837140"/>
                  <a:gd name="connsiteY89" fmla="*/ 347994 h 486704"/>
                  <a:gd name="connsiteX90" fmla="*/ 683827 w 837140"/>
                  <a:gd name="connsiteY90" fmla="*/ 347994 h 486704"/>
                  <a:gd name="connsiteX91" fmla="*/ 683827 w 837140"/>
                  <a:gd name="connsiteY91" fmla="*/ 382063 h 486704"/>
                  <a:gd name="connsiteX92" fmla="*/ 683827 w 837140"/>
                  <a:gd name="connsiteY92" fmla="*/ 421972 h 486704"/>
                  <a:gd name="connsiteX93" fmla="*/ 710109 w 837140"/>
                  <a:gd name="connsiteY93" fmla="*/ 421972 h 486704"/>
                  <a:gd name="connsiteX94" fmla="*/ 710109 w 837140"/>
                  <a:gd name="connsiteY94" fmla="*/ 407371 h 486704"/>
                  <a:gd name="connsiteX95" fmla="*/ 716923 w 837140"/>
                  <a:gd name="connsiteY95" fmla="*/ 407371 h 486704"/>
                  <a:gd name="connsiteX96" fmla="*/ 716923 w 837140"/>
                  <a:gd name="connsiteY96" fmla="*/ 388877 h 486704"/>
                  <a:gd name="connsiteX97" fmla="*/ 728604 w 837140"/>
                  <a:gd name="connsiteY97" fmla="*/ 388877 h 486704"/>
                  <a:gd name="connsiteX98" fmla="*/ 728604 w 837140"/>
                  <a:gd name="connsiteY98" fmla="*/ 407371 h 486704"/>
                  <a:gd name="connsiteX99" fmla="*/ 750993 w 837140"/>
                  <a:gd name="connsiteY99" fmla="*/ 407371 h 486704"/>
                  <a:gd name="connsiteX100" fmla="*/ 750993 w 837140"/>
                  <a:gd name="connsiteY100" fmla="*/ 382063 h 486704"/>
                  <a:gd name="connsiteX101" fmla="*/ 683827 w 837140"/>
                  <a:gd name="connsiteY101" fmla="*/ 382063 h 486704"/>
                  <a:gd name="connsiteX102" fmla="*/ 683827 w 837140"/>
                  <a:gd name="connsiteY102" fmla="*/ 382063 h 486704"/>
                  <a:gd name="connsiteX103" fmla="*/ 683827 w 837140"/>
                  <a:gd name="connsiteY103" fmla="*/ 269147 h 486704"/>
                  <a:gd name="connsiteX104" fmla="*/ 683827 w 837140"/>
                  <a:gd name="connsiteY104" fmla="*/ 302243 h 486704"/>
                  <a:gd name="connsiteX105" fmla="*/ 726657 w 837140"/>
                  <a:gd name="connsiteY105" fmla="*/ 302243 h 486704"/>
                  <a:gd name="connsiteX106" fmla="*/ 726657 w 837140"/>
                  <a:gd name="connsiteY106" fmla="*/ 269147 h 486704"/>
                  <a:gd name="connsiteX107" fmla="*/ 683827 w 837140"/>
                  <a:gd name="connsiteY107" fmla="*/ 269147 h 486704"/>
                  <a:gd name="connsiteX108" fmla="*/ 683827 w 837140"/>
                  <a:gd name="connsiteY108" fmla="*/ 269147 h 486704"/>
                  <a:gd name="connsiteX109" fmla="*/ 772408 w 837140"/>
                  <a:gd name="connsiteY109" fmla="*/ 270121 h 486704"/>
                  <a:gd name="connsiteX110" fmla="*/ 736392 w 837140"/>
                  <a:gd name="connsiteY110" fmla="*/ 270121 h 486704"/>
                  <a:gd name="connsiteX111" fmla="*/ 736392 w 837140"/>
                  <a:gd name="connsiteY111" fmla="*/ 341180 h 486704"/>
                  <a:gd name="connsiteX112" fmla="*/ 748072 w 837140"/>
                  <a:gd name="connsiteY112" fmla="*/ 341180 h 486704"/>
                  <a:gd name="connsiteX113" fmla="*/ 748072 w 837140"/>
                  <a:gd name="connsiteY113" fmla="*/ 371355 h 486704"/>
                  <a:gd name="connsiteX114" fmla="*/ 763647 w 837140"/>
                  <a:gd name="connsiteY114" fmla="*/ 371355 h 486704"/>
                  <a:gd name="connsiteX115" fmla="*/ 763647 w 837140"/>
                  <a:gd name="connsiteY115" fmla="*/ 341180 h 486704"/>
                  <a:gd name="connsiteX116" fmla="*/ 772408 w 837140"/>
                  <a:gd name="connsiteY116" fmla="*/ 341180 h 486704"/>
                  <a:gd name="connsiteX117" fmla="*/ 772408 w 837140"/>
                  <a:gd name="connsiteY117" fmla="*/ 270121 h 486704"/>
                  <a:gd name="connsiteX118" fmla="*/ 772408 w 837140"/>
                  <a:gd name="connsiteY118" fmla="*/ 270121 h 486704"/>
                  <a:gd name="connsiteX119" fmla="*/ 682854 w 837140"/>
                  <a:gd name="connsiteY119" fmla="*/ 239945 h 486704"/>
                  <a:gd name="connsiteX120" fmla="*/ 650731 w 837140"/>
                  <a:gd name="connsiteY120" fmla="*/ 239945 h 486704"/>
                  <a:gd name="connsiteX121" fmla="*/ 650731 w 837140"/>
                  <a:gd name="connsiteY121" fmla="*/ 250653 h 486704"/>
                  <a:gd name="connsiteX122" fmla="*/ 682854 w 837140"/>
                  <a:gd name="connsiteY122" fmla="*/ 250653 h 486704"/>
                  <a:gd name="connsiteX123" fmla="*/ 682854 w 837140"/>
                  <a:gd name="connsiteY123" fmla="*/ 239945 h 486704"/>
                  <a:gd name="connsiteX124" fmla="*/ 682854 w 837140"/>
                  <a:gd name="connsiteY124" fmla="*/ 239945 h 486704"/>
                  <a:gd name="connsiteX125" fmla="*/ 674093 w 837140"/>
                  <a:gd name="connsiteY125" fmla="*/ 264280 h 486704"/>
                  <a:gd name="connsiteX126" fmla="*/ 648784 w 837140"/>
                  <a:gd name="connsiteY126" fmla="*/ 264280 h 486704"/>
                  <a:gd name="connsiteX127" fmla="*/ 648784 w 837140"/>
                  <a:gd name="connsiteY127" fmla="*/ 422946 h 486704"/>
                  <a:gd name="connsiteX128" fmla="*/ 674093 w 837140"/>
                  <a:gd name="connsiteY128" fmla="*/ 422946 h 486704"/>
                  <a:gd name="connsiteX129" fmla="*/ 674093 w 837140"/>
                  <a:gd name="connsiteY129" fmla="*/ 264280 h 486704"/>
                  <a:gd name="connsiteX130" fmla="*/ 674093 w 837140"/>
                  <a:gd name="connsiteY130" fmla="*/ 264280 h 486704"/>
                  <a:gd name="connsiteX131" fmla="*/ 462861 w 837140"/>
                  <a:gd name="connsiteY131" fmla="*/ 300296 h 486704"/>
                  <a:gd name="connsiteX132" fmla="*/ 451180 w 837140"/>
                  <a:gd name="connsiteY132" fmla="*/ 300296 h 486704"/>
                  <a:gd name="connsiteX133" fmla="*/ 451180 w 837140"/>
                  <a:gd name="connsiteY133" fmla="*/ 318791 h 486704"/>
                  <a:gd name="connsiteX134" fmla="*/ 462861 w 837140"/>
                  <a:gd name="connsiteY134" fmla="*/ 318791 h 486704"/>
                  <a:gd name="connsiteX135" fmla="*/ 462861 w 837140"/>
                  <a:gd name="connsiteY135" fmla="*/ 300296 h 486704"/>
                  <a:gd name="connsiteX136" fmla="*/ 462861 w 837140"/>
                  <a:gd name="connsiteY136" fmla="*/ 300296 h 486704"/>
                  <a:gd name="connsiteX137" fmla="*/ 638076 w 837140"/>
                  <a:gd name="connsiteY137" fmla="*/ 300296 h 486704"/>
                  <a:gd name="connsiteX138" fmla="*/ 627369 w 837140"/>
                  <a:gd name="connsiteY138" fmla="*/ 300296 h 486704"/>
                  <a:gd name="connsiteX139" fmla="*/ 627369 w 837140"/>
                  <a:gd name="connsiteY139" fmla="*/ 322685 h 486704"/>
                  <a:gd name="connsiteX140" fmla="*/ 613741 w 837140"/>
                  <a:gd name="connsiteY140" fmla="*/ 322685 h 486704"/>
                  <a:gd name="connsiteX141" fmla="*/ 613741 w 837140"/>
                  <a:gd name="connsiteY141" fmla="*/ 300296 h 486704"/>
                  <a:gd name="connsiteX142" fmla="*/ 602060 w 837140"/>
                  <a:gd name="connsiteY142" fmla="*/ 300296 h 486704"/>
                  <a:gd name="connsiteX143" fmla="*/ 602060 w 837140"/>
                  <a:gd name="connsiteY143" fmla="*/ 322685 h 486704"/>
                  <a:gd name="connsiteX144" fmla="*/ 588432 w 837140"/>
                  <a:gd name="connsiteY144" fmla="*/ 322685 h 486704"/>
                  <a:gd name="connsiteX145" fmla="*/ 588432 w 837140"/>
                  <a:gd name="connsiteY145" fmla="*/ 300296 h 486704"/>
                  <a:gd name="connsiteX146" fmla="*/ 576751 w 837140"/>
                  <a:gd name="connsiteY146" fmla="*/ 300296 h 486704"/>
                  <a:gd name="connsiteX147" fmla="*/ 576751 w 837140"/>
                  <a:gd name="connsiteY147" fmla="*/ 322685 h 486704"/>
                  <a:gd name="connsiteX148" fmla="*/ 563123 w 837140"/>
                  <a:gd name="connsiteY148" fmla="*/ 322685 h 486704"/>
                  <a:gd name="connsiteX149" fmla="*/ 563123 w 837140"/>
                  <a:gd name="connsiteY149" fmla="*/ 300296 h 486704"/>
                  <a:gd name="connsiteX150" fmla="*/ 551442 w 837140"/>
                  <a:gd name="connsiteY150" fmla="*/ 300296 h 486704"/>
                  <a:gd name="connsiteX151" fmla="*/ 551442 w 837140"/>
                  <a:gd name="connsiteY151" fmla="*/ 322685 h 486704"/>
                  <a:gd name="connsiteX152" fmla="*/ 537814 w 837140"/>
                  <a:gd name="connsiteY152" fmla="*/ 322685 h 486704"/>
                  <a:gd name="connsiteX153" fmla="*/ 537814 w 837140"/>
                  <a:gd name="connsiteY153" fmla="*/ 300296 h 486704"/>
                  <a:gd name="connsiteX154" fmla="*/ 526133 w 837140"/>
                  <a:gd name="connsiteY154" fmla="*/ 300296 h 486704"/>
                  <a:gd name="connsiteX155" fmla="*/ 526133 w 837140"/>
                  <a:gd name="connsiteY155" fmla="*/ 322685 h 486704"/>
                  <a:gd name="connsiteX156" fmla="*/ 512505 w 837140"/>
                  <a:gd name="connsiteY156" fmla="*/ 322685 h 486704"/>
                  <a:gd name="connsiteX157" fmla="*/ 512505 w 837140"/>
                  <a:gd name="connsiteY157" fmla="*/ 300296 h 486704"/>
                  <a:gd name="connsiteX158" fmla="*/ 500824 w 837140"/>
                  <a:gd name="connsiteY158" fmla="*/ 300296 h 486704"/>
                  <a:gd name="connsiteX159" fmla="*/ 500824 w 837140"/>
                  <a:gd name="connsiteY159" fmla="*/ 322685 h 486704"/>
                  <a:gd name="connsiteX160" fmla="*/ 487196 w 837140"/>
                  <a:gd name="connsiteY160" fmla="*/ 322685 h 486704"/>
                  <a:gd name="connsiteX161" fmla="*/ 487196 w 837140"/>
                  <a:gd name="connsiteY161" fmla="*/ 300296 h 486704"/>
                  <a:gd name="connsiteX162" fmla="*/ 475515 w 837140"/>
                  <a:gd name="connsiteY162" fmla="*/ 300296 h 486704"/>
                  <a:gd name="connsiteX163" fmla="*/ 475515 w 837140"/>
                  <a:gd name="connsiteY163" fmla="*/ 318791 h 486704"/>
                  <a:gd name="connsiteX164" fmla="*/ 479409 w 837140"/>
                  <a:gd name="connsiteY164" fmla="*/ 318791 h 486704"/>
                  <a:gd name="connsiteX165" fmla="*/ 479409 w 837140"/>
                  <a:gd name="connsiteY165" fmla="*/ 328525 h 486704"/>
                  <a:gd name="connsiteX166" fmla="*/ 638076 w 837140"/>
                  <a:gd name="connsiteY166" fmla="*/ 328525 h 486704"/>
                  <a:gd name="connsiteX167" fmla="*/ 638076 w 837140"/>
                  <a:gd name="connsiteY167" fmla="*/ 300296 h 486704"/>
                  <a:gd name="connsiteX168" fmla="*/ 638076 w 837140"/>
                  <a:gd name="connsiteY168" fmla="*/ 300296 h 486704"/>
                  <a:gd name="connsiteX169" fmla="*/ 618608 w 837140"/>
                  <a:gd name="connsiteY169" fmla="*/ 332419 h 486704"/>
                  <a:gd name="connsiteX170" fmla="*/ 599139 w 837140"/>
                  <a:gd name="connsiteY170" fmla="*/ 332419 h 486704"/>
                  <a:gd name="connsiteX171" fmla="*/ 599139 w 837140"/>
                  <a:gd name="connsiteY171" fmla="*/ 367462 h 486704"/>
                  <a:gd name="connsiteX172" fmla="*/ 618608 w 837140"/>
                  <a:gd name="connsiteY172" fmla="*/ 367462 h 486704"/>
                  <a:gd name="connsiteX173" fmla="*/ 618608 w 837140"/>
                  <a:gd name="connsiteY173" fmla="*/ 332419 h 486704"/>
                  <a:gd name="connsiteX174" fmla="*/ 618608 w 837140"/>
                  <a:gd name="connsiteY174" fmla="*/ 332419 h 486704"/>
                  <a:gd name="connsiteX175" fmla="*/ 595246 w 837140"/>
                  <a:gd name="connsiteY175" fmla="*/ 332419 h 486704"/>
                  <a:gd name="connsiteX176" fmla="*/ 575778 w 837140"/>
                  <a:gd name="connsiteY176" fmla="*/ 332419 h 486704"/>
                  <a:gd name="connsiteX177" fmla="*/ 575778 w 837140"/>
                  <a:gd name="connsiteY177" fmla="*/ 367462 h 486704"/>
                  <a:gd name="connsiteX178" fmla="*/ 595246 w 837140"/>
                  <a:gd name="connsiteY178" fmla="*/ 367462 h 486704"/>
                  <a:gd name="connsiteX179" fmla="*/ 595246 w 837140"/>
                  <a:gd name="connsiteY179" fmla="*/ 332419 h 486704"/>
                  <a:gd name="connsiteX180" fmla="*/ 595246 w 837140"/>
                  <a:gd name="connsiteY180" fmla="*/ 332419 h 486704"/>
                  <a:gd name="connsiteX181" fmla="*/ 572857 w 837140"/>
                  <a:gd name="connsiteY181" fmla="*/ 332419 h 486704"/>
                  <a:gd name="connsiteX182" fmla="*/ 553389 w 837140"/>
                  <a:gd name="connsiteY182" fmla="*/ 332419 h 486704"/>
                  <a:gd name="connsiteX183" fmla="*/ 553389 w 837140"/>
                  <a:gd name="connsiteY183" fmla="*/ 367462 h 486704"/>
                  <a:gd name="connsiteX184" fmla="*/ 572857 w 837140"/>
                  <a:gd name="connsiteY184" fmla="*/ 367462 h 486704"/>
                  <a:gd name="connsiteX185" fmla="*/ 572857 w 837140"/>
                  <a:gd name="connsiteY185" fmla="*/ 332419 h 486704"/>
                  <a:gd name="connsiteX186" fmla="*/ 572857 w 837140"/>
                  <a:gd name="connsiteY186" fmla="*/ 332419 h 486704"/>
                  <a:gd name="connsiteX187" fmla="*/ 638076 w 837140"/>
                  <a:gd name="connsiteY187" fmla="*/ 332419 h 486704"/>
                  <a:gd name="connsiteX188" fmla="*/ 621528 w 837140"/>
                  <a:gd name="connsiteY188" fmla="*/ 332419 h 486704"/>
                  <a:gd name="connsiteX189" fmla="*/ 621528 w 837140"/>
                  <a:gd name="connsiteY189" fmla="*/ 367462 h 486704"/>
                  <a:gd name="connsiteX190" fmla="*/ 638076 w 837140"/>
                  <a:gd name="connsiteY190" fmla="*/ 367462 h 486704"/>
                  <a:gd name="connsiteX191" fmla="*/ 638076 w 837140"/>
                  <a:gd name="connsiteY191" fmla="*/ 332419 h 486704"/>
                  <a:gd name="connsiteX192" fmla="*/ 638076 w 837140"/>
                  <a:gd name="connsiteY192" fmla="*/ 332419 h 486704"/>
                  <a:gd name="connsiteX193" fmla="*/ 638076 w 837140"/>
                  <a:gd name="connsiteY193" fmla="*/ 370382 h 486704"/>
                  <a:gd name="connsiteX194" fmla="*/ 492063 w 837140"/>
                  <a:gd name="connsiteY194" fmla="*/ 370382 h 486704"/>
                  <a:gd name="connsiteX195" fmla="*/ 492063 w 837140"/>
                  <a:gd name="connsiteY195" fmla="*/ 421972 h 486704"/>
                  <a:gd name="connsiteX196" fmla="*/ 546575 w 837140"/>
                  <a:gd name="connsiteY196" fmla="*/ 421972 h 486704"/>
                  <a:gd name="connsiteX197" fmla="*/ 546575 w 837140"/>
                  <a:gd name="connsiteY197" fmla="*/ 378169 h 486704"/>
                  <a:gd name="connsiteX198" fmla="*/ 556309 w 837140"/>
                  <a:gd name="connsiteY198" fmla="*/ 378169 h 486704"/>
                  <a:gd name="connsiteX199" fmla="*/ 556309 w 837140"/>
                  <a:gd name="connsiteY199" fmla="*/ 421972 h 486704"/>
                  <a:gd name="connsiteX200" fmla="*/ 568963 w 837140"/>
                  <a:gd name="connsiteY200" fmla="*/ 421972 h 486704"/>
                  <a:gd name="connsiteX201" fmla="*/ 568963 w 837140"/>
                  <a:gd name="connsiteY201" fmla="*/ 378169 h 486704"/>
                  <a:gd name="connsiteX202" fmla="*/ 578698 w 837140"/>
                  <a:gd name="connsiteY202" fmla="*/ 378169 h 486704"/>
                  <a:gd name="connsiteX203" fmla="*/ 578698 w 837140"/>
                  <a:gd name="connsiteY203" fmla="*/ 421972 h 486704"/>
                  <a:gd name="connsiteX204" fmla="*/ 591352 w 837140"/>
                  <a:gd name="connsiteY204" fmla="*/ 421972 h 486704"/>
                  <a:gd name="connsiteX205" fmla="*/ 591352 w 837140"/>
                  <a:gd name="connsiteY205" fmla="*/ 378169 h 486704"/>
                  <a:gd name="connsiteX206" fmla="*/ 601086 w 837140"/>
                  <a:gd name="connsiteY206" fmla="*/ 378169 h 486704"/>
                  <a:gd name="connsiteX207" fmla="*/ 601086 w 837140"/>
                  <a:gd name="connsiteY207" fmla="*/ 421972 h 486704"/>
                  <a:gd name="connsiteX208" fmla="*/ 613741 w 837140"/>
                  <a:gd name="connsiteY208" fmla="*/ 421972 h 486704"/>
                  <a:gd name="connsiteX209" fmla="*/ 613741 w 837140"/>
                  <a:gd name="connsiteY209" fmla="*/ 378169 h 486704"/>
                  <a:gd name="connsiteX210" fmla="*/ 623475 w 837140"/>
                  <a:gd name="connsiteY210" fmla="*/ 378169 h 486704"/>
                  <a:gd name="connsiteX211" fmla="*/ 623475 w 837140"/>
                  <a:gd name="connsiteY211" fmla="*/ 421972 h 486704"/>
                  <a:gd name="connsiteX212" fmla="*/ 637103 w 837140"/>
                  <a:gd name="connsiteY212" fmla="*/ 421972 h 486704"/>
                  <a:gd name="connsiteX213" fmla="*/ 637103 w 837140"/>
                  <a:gd name="connsiteY213" fmla="*/ 370382 h 486704"/>
                  <a:gd name="connsiteX214" fmla="*/ 638076 w 837140"/>
                  <a:gd name="connsiteY214" fmla="*/ 370382 h 486704"/>
                  <a:gd name="connsiteX215" fmla="*/ 819132 w 837140"/>
                  <a:gd name="connsiteY215" fmla="*/ 269147 h 486704"/>
                  <a:gd name="connsiteX216" fmla="*/ 781169 w 837140"/>
                  <a:gd name="connsiteY216" fmla="*/ 269147 h 486704"/>
                  <a:gd name="connsiteX217" fmla="*/ 781169 w 837140"/>
                  <a:gd name="connsiteY217" fmla="*/ 302243 h 486704"/>
                  <a:gd name="connsiteX218" fmla="*/ 819132 w 837140"/>
                  <a:gd name="connsiteY218" fmla="*/ 302243 h 486704"/>
                  <a:gd name="connsiteX219" fmla="*/ 819132 w 837140"/>
                  <a:gd name="connsiteY219" fmla="*/ 269147 h 486704"/>
                  <a:gd name="connsiteX220" fmla="*/ 819132 w 837140"/>
                  <a:gd name="connsiteY220" fmla="*/ 269147 h 486704"/>
                  <a:gd name="connsiteX221" fmla="*/ 424898 w 837140"/>
                  <a:gd name="connsiteY221" fmla="*/ 318791 h 486704"/>
                  <a:gd name="connsiteX222" fmla="*/ 437552 w 837140"/>
                  <a:gd name="connsiteY222" fmla="*/ 318791 h 486704"/>
                  <a:gd name="connsiteX223" fmla="*/ 437552 w 837140"/>
                  <a:gd name="connsiteY223" fmla="*/ 300296 h 486704"/>
                  <a:gd name="connsiteX224" fmla="*/ 424898 w 837140"/>
                  <a:gd name="connsiteY224" fmla="*/ 300296 h 486704"/>
                  <a:gd name="connsiteX225" fmla="*/ 424898 w 837140"/>
                  <a:gd name="connsiteY225" fmla="*/ 318791 h 486704"/>
                  <a:gd name="connsiteX226" fmla="*/ 424898 w 837140"/>
                  <a:gd name="connsiteY226" fmla="*/ 318791 h 486704"/>
                  <a:gd name="connsiteX227" fmla="*/ 17035 w 837140"/>
                  <a:gd name="connsiteY227" fmla="*/ 306137 h 486704"/>
                  <a:gd name="connsiteX228" fmla="*/ 17035 w 837140"/>
                  <a:gd name="connsiteY228" fmla="*/ 345073 h 486704"/>
                  <a:gd name="connsiteX229" fmla="*/ 54998 w 837140"/>
                  <a:gd name="connsiteY229" fmla="*/ 345073 h 486704"/>
                  <a:gd name="connsiteX230" fmla="*/ 54998 w 837140"/>
                  <a:gd name="connsiteY230" fmla="*/ 306137 h 486704"/>
                  <a:gd name="connsiteX231" fmla="*/ 17035 w 837140"/>
                  <a:gd name="connsiteY231" fmla="*/ 306137 h 486704"/>
                  <a:gd name="connsiteX232" fmla="*/ 17035 w 837140"/>
                  <a:gd name="connsiteY232" fmla="*/ 306137 h 486704"/>
                  <a:gd name="connsiteX233" fmla="*/ 17035 w 837140"/>
                  <a:gd name="connsiteY233" fmla="*/ 347994 h 486704"/>
                  <a:gd name="connsiteX234" fmla="*/ 17035 w 837140"/>
                  <a:gd name="connsiteY234" fmla="*/ 379142 h 486704"/>
                  <a:gd name="connsiteX235" fmla="*/ 66679 w 837140"/>
                  <a:gd name="connsiteY235" fmla="*/ 379142 h 486704"/>
                  <a:gd name="connsiteX236" fmla="*/ 66679 w 837140"/>
                  <a:gd name="connsiteY236" fmla="*/ 347994 h 486704"/>
                  <a:gd name="connsiteX237" fmla="*/ 17035 w 837140"/>
                  <a:gd name="connsiteY237" fmla="*/ 347994 h 486704"/>
                  <a:gd name="connsiteX238" fmla="*/ 17035 w 837140"/>
                  <a:gd name="connsiteY238" fmla="*/ 347994 h 486704"/>
                  <a:gd name="connsiteX239" fmla="*/ 17035 w 837140"/>
                  <a:gd name="connsiteY239" fmla="*/ 382063 h 486704"/>
                  <a:gd name="connsiteX240" fmla="*/ 17035 w 837140"/>
                  <a:gd name="connsiteY240" fmla="*/ 421972 h 486704"/>
                  <a:gd name="connsiteX241" fmla="*/ 36503 w 837140"/>
                  <a:gd name="connsiteY241" fmla="*/ 421972 h 486704"/>
                  <a:gd name="connsiteX242" fmla="*/ 36503 w 837140"/>
                  <a:gd name="connsiteY242" fmla="*/ 407371 h 486704"/>
                  <a:gd name="connsiteX243" fmla="*/ 45264 w 837140"/>
                  <a:gd name="connsiteY243" fmla="*/ 407371 h 486704"/>
                  <a:gd name="connsiteX244" fmla="*/ 45264 w 837140"/>
                  <a:gd name="connsiteY244" fmla="*/ 388877 h 486704"/>
                  <a:gd name="connsiteX245" fmla="*/ 55972 w 837140"/>
                  <a:gd name="connsiteY245" fmla="*/ 388877 h 486704"/>
                  <a:gd name="connsiteX246" fmla="*/ 55972 w 837140"/>
                  <a:gd name="connsiteY246" fmla="*/ 407371 h 486704"/>
                  <a:gd name="connsiteX247" fmla="*/ 75440 w 837140"/>
                  <a:gd name="connsiteY247" fmla="*/ 407371 h 486704"/>
                  <a:gd name="connsiteX248" fmla="*/ 75440 w 837140"/>
                  <a:gd name="connsiteY248" fmla="*/ 382063 h 486704"/>
                  <a:gd name="connsiteX249" fmla="*/ 17035 w 837140"/>
                  <a:gd name="connsiteY249" fmla="*/ 382063 h 486704"/>
                  <a:gd name="connsiteX250" fmla="*/ 17035 w 837140"/>
                  <a:gd name="connsiteY250" fmla="*/ 382063 h 486704"/>
                  <a:gd name="connsiteX251" fmla="*/ 153313 w 837140"/>
                  <a:gd name="connsiteY251" fmla="*/ 306137 h 486704"/>
                  <a:gd name="connsiteX252" fmla="*/ 110483 w 837140"/>
                  <a:gd name="connsiteY252" fmla="*/ 306137 h 486704"/>
                  <a:gd name="connsiteX253" fmla="*/ 110483 w 837140"/>
                  <a:gd name="connsiteY253" fmla="*/ 345073 h 486704"/>
                  <a:gd name="connsiteX254" fmla="*/ 153313 w 837140"/>
                  <a:gd name="connsiteY254" fmla="*/ 345073 h 486704"/>
                  <a:gd name="connsiteX255" fmla="*/ 153313 w 837140"/>
                  <a:gd name="connsiteY255" fmla="*/ 306137 h 486704"/>
                  <a:gd name="connsiteX256" fmla="*/ 153313 w 837140"/>
                  <a:gd name="connsiteY256" fmla="*/ 306137 h 486704"/>
                  <a:gd name="connsiteX257" fmla="*/ 153313 w 837140"/>
                  <a:gd name="connsiteY257" fmla="*/ 347994 h 486704"/>
                  <a:gd name="connsiteX258" fmla="*/ 95882 w 837140"/>
                  <a:gd name="connsiteY258" fmla="*/ 347994 h 486704"/>
                  <a:gd name="connsiteX259" fmla="*/ 95882 w 837140"/>
                  <a:gd name="connsiteY259" fmla="*/ 379142 h 486704"/>
                  <a:gd name="connsiteX260" fmla="*/ 153313 w 837140"/>
                  <a:gd name="connsiteY260" fmla="*/ 379142 h 486704"/>
                  <a:gd name="connsiteX261" fmla="*/ 153313 w 837140"/>
                  <a:gd name="connsiteY261" fmla="*/ 347994 h 486704"/>
                  <a:gd name="connsiteX262" fmla="*/ 153313 w 837140"/>
                  <a:gd name="connsiteY262" fmla="*/ 347994 h 486704"/>
                  <a:gd name="connsiteX263" fmla="*/ 153313 w 837140"/>
                  <a:gd name="connsiteY263" fmla="*/ 382063 h 486704"/>
                  <a:gd name="connsiteX264" fmla="*/ 86148 w 837140"/>
                  <a:gd name="connsiteY264" fmla="*/ 382063 h 486704"/>
                  <a:gd name="connsiteX265" fmla="*/ 86148 w 837140"/>
                  <a:gd name="connsiteY265" fmla="*/ 407371 h 486704"/>
                  <a:gd name="connsiteX266" fmla="*/ 108536 w 837140"/>
                  <a:gd name="connsiteY266" fmla="*/ 407371 h 486704"/>
                  <a:gd name="connsiteX267" fmla="*/ 108536 w 837140"/>
                  <a:gd name="connsiteY267" fmla="*/ 388877 h 486704"/>
                  <a:gd name="connsiteX268" fmla="*/ 120217 w 837140"/>
                  <a:gd name="connsiteY268" fmla="*/ 388877 h 486704"/>
                  <a:gd name="connsiteX269" fmla="*/ 120217 w 837140"/>
                  <a:gd name="connsiteY269" fmla="*/ 407371 h 486704"/>
                  <a:gd name="connsiteX270" fmla="*/ 127031 w 837140"/>
                  <a:gd name="connsiteY270" fmla="*/ 407371 h 486704"/>
                  <a:gd name="connsiteX271" fmla="*/ 127031 w 837140"/>
                  <a:gd name="connsiteY271" fmla="*/ 421972 h 486704"/>
                  <a:gd name="connsiteX272" fmla="*/ 153313 w 837140"/>
                  <a:gd name="connsiteY272" fmla="*/ 421972 h 486704"/>
                  <a:gd name="connsiteX273" fmla="*/ 153313 w 837140"/>
                  <a:gd name="connsiteY273" fmla="*/ 382063 h 486704"/>
                  <a:gd name="connsiteX274" fmla="*/ 153313 w 837140"/>
                  <a:gd name="connsiteY274" fmla="*/ 382063 h 486704"/>
                  <a:gd name="connsiteX275" fmla="*/ 153313 w 837140"/>
                  <a:gd name="connsiteY275" fmla="*/ 269147 h 486704"/>
                  <a:gd name="connsiteX276" fmla="*/ 110483 w 837140"/>
                  <a:gd name="connsiteY276" fmla="*/ 269147 h 486704"/>
                  <a:gd name="connsiteX277" fmla="*/ 110483 w 837140"/>
                  <a:gd name="connsiteY277" fmla="*/ 302243 h 486704"/>
                  <a:gd name="connsiteX278" fmla="*/ 153313 w 837140"/>
                  <a:gd name="connsiteY278" fmla="*/ 302243 h 486704"/>
                  <a:gd name="connsiteX279" fmla="*/ 153313 w 837140"/>
                  <a:gd name="connsiteY279" fmla="*/ 269147 h 486704"/>
                  <a:gd name="connsiteX280" fmla="*/ 153313 w 837140"/>
                  <a:gd name="connsiteY280" fmla="*/ 269147 h 486704"/>
                  <a:gd name="connsiteX281" fmla="*/ 64733 w 837140"/>
                  <a:gd name="connsiteY281" fmla="*/ 270121 h 486704"/>
                  <a:gd name="connsiteX282" fmla="*/ 64733 w 837140"/>
                  <a:gd name="connsiteY282" fmla="*/ 341180 h 486704"/>
                  <a:gd name="connsiteX283" fmla="*/ 73493 w 837140"/>
                  <a:gd name="connsiteY283" fmla="*/ 341180 h 486704"/>
                  <a:gd name="connsiteX284" fmla="*/ 73493 w 837140"/>
                  <a:gd name="connsiteY284" fmla="*/ 371355 h 486704"/>
                  <a:gd name="connsiteX285" fmla="*/ 89068 w 837140"/>
                  <a:gd name="connsiteY285" fmla="*/ 371355 h 486704"/>
                  <a:gd name="connsiteX286" fmla="*/ 89068 w 837140"/>
                  <a:gd name="connsiteY286" fmla="*/ 341180 h 486704"/>
                  <a:gd name="connsiteX287" fmla="*/ 100749 w 837140"/>
                  <a:gd name="connsiteY287" fmla="*/ 341180 h 486704"/>
                  <a:gd name="connsiteX288" fmla="*/ 100749 w 837140"/>
                  <a:gd name="connsiteY288" fmla="*/ 270121 h 486704"/>
                  <a:gd name="connsiteX289" fmla="*/ 64733 w 837140"/>
                  <a:gd name="connsiteY289" fmla="*/ 270121 h 486704"/>
                  <a:gd name="connsiteX290" fmla="*/ 64733 w 837140"/>
                  <a:gd name="connsiteY290" fmla="*/ 270121 h 486704"/>
                  <a:gd name="connsiteX291" fmla="*/ 154287 w 837140"/>
                  <a:gd name="connsiteY291" fmla="*/ 239945 h 486704"/>
                  <a:gd name="connsiteX292" fmla="*/ 154287 w 837140"/>
                  <a:gd name="connsiteY292" fmla="*/ 250653 h 486704"/>
                  <a:gd name="connsiteX293" fmla="*/ 186410 w 837140"/>
                  <a:gd name="connsiteY293" fmla="*/ 250653 h 486704"/>
                  <a:gd name="connsiteX294" fmla="*/ 186410 w 837140"/>
                  <a:gd name="connsiteY294" fmla="*/ 239945 h 486704"/>
                  <a:gd name="connsiteX295" fmla="*/ 154287 w 837140"/>
                  <a:gd name="connsiteY295" fmla="*/ 239945 h 486704"/>
                  <a:gd name="connsiteX296" fmla="*/ 154287 w 837140"/>
                  <a:gd name="connsiteY296" fmla="*/ 239945 h 486704"/>
                  <a:gd name="connsiteX297" fmla="*/ 163048 w 837140"/>
                  <a:gd name="connsiteY297" fmla="*/ 264280 h 486704"/>
                  <a:gd name="connsiteX298" fmla="*/ 163048 w 837140"/>
                  <a:gd name="connsiteY298" fmla="*/ 422946 h 486704"/>
                  <a:gd name="connsiteX299" fmla="*/ 188357 w 837140"/>
                  <a:gd name="connsiteY299" fmla="*/ 422946 h 486704"/>
                  <a:gd name="connsiteX300" fmla="*/ 188357 w 837140"/>
                  <a:gd name="connsiteY300" fmla="*/ 264280 h 486704"/>
                  <a:gd name="connsiteX301" fmla="*/ 163048 w 837140"/>
                  <a:gd name="connsiteY301" fmla="*/ 264280 h 486704"/>
                  <a:gd name="connsiteX302" fmla="*/ 163048 w 837140"/>
                  <a:gd name="connsiteY302" fmla="*/ 264280 h 486704"/>
                  <a:gd name="connsiteX303" fmla="*/ 374280 w 837140"/>
                  <a:gd name="connsiteY303" fmla="*/ 300296 h 486704"/>
                  <a:gd name="connsiteX304" fmla="*/ 374280 w 837140"/>
                  <a:gd name="connsiteY304" fmla="*/ 318791 h 486704"/>
                  <a:gd name="connsiteX305" fmla="*/ 385961 w 837140"/>
                  <a:gd name="connsiteY305" fmla="*/ 318791 h 486704"/>
                  <a:gd name="connsiteX306" fmla="*/ 385961 w 837140"/>
                  <a:gd name="connsiteY306" fmla="*/ 300296 h 486704"/>
                  <a:gd name="connsiteX307" fmla="*/ 374280 w 837140"/>
                  <a:gd name="connsiteY307" fmla="*/ 300296 h 486704"/>
                  <a:gd name="connsiteX308" fmla="*/ 374280 w 837140"/>
                  <a:gd name="connsiteY308" fmla="*/ 300296 h 486704"/>
                  <a:gd name="connsiteX309" fmla="*/ 198091 w 837140"/>
                  <a:gd name="connsiteY309" fmla="*/ 300296 h 486704"/>
                  <a:gd name="connsiteX310" fmla="*/ 198091 w 837140"/>
                  <a:gd name="connsiteY310" fmla="*/ 328525 h 486704"/>
                  <a:gd name="connsiteX311" fmla="*/ 356758 w 837140"/>
                  <a:gd name="connsiteY311" fmla="*/ 328525 h 486704"/>
                  <a:gd name="connsiteX312" fmla="*/ 356758 w 837140"/>
                  <a:gd name="connsiteY312" fmla="*/ 318791 h 486704"/>
                  <a:gd name="connsiteX313" fmla="*/ 360652 w 837140"/>
                  <a:gd name="connsiteY313" fmla="*/ 318791 h 486704"/>
                  <a:gd name="connsiteX314" fmla="*/ 360652 w 837140"/>
                  <a:gd name="connsiteY314" fmla="*/ 300296 h 486704"/>
                  <a:gd name="connsiteX315" fmla="*/ 348971 w 837140"/>
                  <a:gd name="connsiteY315" fmla="*/ 300296 h 486704"/>
                  <a:gd name="connsiteX316" fmla="*/ 348971 w 837140"/>
                  <a:gd name="connsiteY316" fmla="*/ 322685 h 486704"/>
                  <a:gd name="connsiteX317" fmla="*/ 335343 w 837140"/>
                  <a:gd name="connsiteY317" fmla="*/ 322685 h 486704"/>
                  <a:gd name="connsiteX318" fmla="*/ 335343 w 837140"/>
                  <a:gd name="connsiteY318" fmla="*/ 300296 h 486704"/>
                  <a:gd name="connsiteX319" fmla="*/ 323662 w 837140"/>
                  <a:gd name="connsiteY319" fmla="*/ 300296 h 486704"/>
                  <a:gd name="connsiteX320" fmla="*/ 323662 w 837140"/>
                  <a:gd name="connsiteY320" fmla="*/ 322685 h 486704"/>
                  <a:gd name="connsiteX321" fmla="*/ 310034 w 837140"/>
                  <a:gd name="connsiteY321" fmla="*/ 322685 h 486704"/>
                  <a:gd name="connsiteX322" fmla="*/ 310034 w 837140"/>
                  <a:gd name="connsiteY322" fmla="*/ 300296 h 486704"/>
                  <a:gd name="connsiteX323" fmla="*/ 298353 w 837140"/>
                  <a:gd name="connsiteY323" fmla="*/ 300296 h 486704"/>
                  <a:gd name="connsiteX324" fmla="*/ 298353 w 837140"/>
                  <a:gd name="connsiteY324" fmla="*/ 322685 h 486704"/>
                  <a:gd name="connsiteX325" fmla="*/ 284725 w 837140"/>
                  <a:gd name="connsiteY325" fmla="*/ 322685 h 486704"/>
                  <a:gd name="connsiteX326" fmla="*/ 284725 w 837140"/>
                  <a:gd name="connsiteY326" fmla="*/ 300296 h 486704"/>
                  <a:gd name="connsiteX327" fmla="*/ 273044 w 837140"/>
                  <a:gd name="connsiteY327" fmla="*/ 300296 h 486704"/>
                  <a:gd name="connsiteX328" fmla="*/ 273044 w 837140"/>
                  <a:gd name="connsiteY328" fmla="*/ 322685 h 486704"/>
                  <a:gd name="connsiteX329" fmla="*/ 259416 w 837140"/>
                  <a:gd name="connsiteY329" fmla="*/ 322685 h 486704"/>
                  <a:gd name="connsiteX330" fmla="*/ 259416 w 837140"/>
                  <a:gd name="connsiteY330" fmla="*/ 300296 h 486704"/>
                  <a:gd name="connsiteX331" fmla="*/ 247735 w 837140"/>
                  <a:gd name="connsiteY331" fmla="*/ 300296 h 486704"/>
                  <a:gd name="connsiteX332" fmla="*/ 247735 w 837140"/>
                  <a:gd name="connsiteY332" fmla="*/ 322685 h 486704"/>
                  <a:gd name="connsiteX333" fmla="*/ 234107 w 837140"/>
                  <a:gd name="connsiteY333" fmla="*/ 322685 h 486704"/>
                  <a:gd name="connsiteX334" fmla="*/ 234107 w 837140"/>
                  <a:gd name="connsiteY334" fmla="*/ 300296 h 486704"/>
                  <a:gd name="connsiteX335" fmla="*/ 222426 w 837140"/>
                  <a:gd name="connsiteY335" fmla="*/ 300296 h 486704"/>
                  <a:gd name="connsiteX336" fmla="*/ 222426 w 837140"/>
                  <a:gd name="connsiteY336" fmla="*/ 322685 h 486704"/>
                  <a:gd name="connsiteX337" fmla="*/ 208798 w 837140"/>
                  <a:gd name="connsiteY337" fmla="*/ 322685 h 486704"/>
                  <a:gd name="connsiteX338" fmla="*/ 208798 w 837140"/>
                  <a:gd name="connsiteY338" fmla="*/ 300296 h 486704"/>
                  <a:gd name="connsiteX339" fmla="*/ 198091 w 837140"/>
                  <a:gd name="connsiteY339" fmla="*/ 300296 h 486704"/>
                  <a:gd name="connsiteX340" fmla="*/ 198091 w 837140"/>
                  <a:gd name="connsiteY340" fmla="*/ 300296 h 486704"/>
                  <a:gd name="connsiteX341" fmla="*/ 218533 w 837140"/>
                  <a:gd name="connsiteY341" fmla="*/ 332419 h 486704"/>
                  <a:gd name="connsiteX342" fmla="*/ 218533 w 837140"/>
                  <a:gd name="connsiteY342" fmla="*/ 367462 h 486704"/>
                  <a:gd name="connsiteX343" fmla="*/ 238001 w 837140"/>
                  <a:gd name="connsiteY343" fmla="*/ 367462 h 486704"/>
                  <a:gd name="connsiteX344" fmla="*/ 238001 w 837140"/>
                  <a:gd name="connsiteY344" fmla="*/ 332419 h 486704"/>
                  <a:gd name="connsiteX345" fmla="*/ 218533 w 837140"/>
                  <a:gd name="connsiteY345" fmla="*/ 332419 h 486704"/>
                  <a:gd name="connsiteX346" fmla="*/ 218533 w 837140"/>
                  <a:gd name="connsiteY346" fmla="*/ 332419 h 486704"/>
                  <a:gd name="connsiteX347" fmla="*/ 240921 w 837140"/>
                  <a:gd name="connsiteY347" fmla="*/ 332419 h 486704"/>
                  <a:gd name="connsiteX348" fmla="*/ 240921 w 837140"/>
                  <a:gd name="connsiteY348" fmla="*/ 367462 h 486704"/>
                  <a:gd name="connsiteX349" fmla="*/ 260390 w 837140"/>
                  <a:gd name="connsiteY349" fmla="*/ 367462 h 486704"/>
                  <a:gd name="connsiteX350" fmla="*/ 260390 w 837140"/>
                  <a:gd name="connsiteY350" fmla="*/ 332419 h 486704"/>
                  <a:gd name="connsiteX351" fmla="*/ 240921 w 837140"/>
                  <a:gd name="connsiteY351" fmla="*/ 332419 h 486704"/>
                  <a:gd name="connsiteX352" fmla="*/ 240921 w 837140"/>
                  <a:gd name="connsiteY352" fmla="*/ 332419 h 486704"/>
                  <a:gd name="connsiteX353" fmla="*/ 263310 w 837140"/>
                  <a:gd name="connsiteY353" fmla="*/ 332419 h 486704"/>
                  <a:gd name="connsiteX354" fmla="*/ 263310 w 837140"/>
                  <a:gd name="connsiteY354" fmla="*/ 367462 h 486704"/>
                  <a:gd name="connsiteX355" fmla="*/ 282778 w 837140"/>
                  <a:gd name="connsiteY355" fmla="*/ 367462 h 486704"/>
                  <a:gd name="connsiteX356" fmla="*/ 282778 w 837140"/>
                  <a:gd name="connsiteY356" fmla="*/ 332419 h 486704"/>
                  <a:gd name="connsiteX357" fmla="*/ 263310 w 837140"/>
                  <a:gd name="connsiteY357" fmla="*/ 332419 h 486704"/>
                  <a:gd name="connsiteX358" fmla="*/ 263310 w 837140"/>
                  <a:gd name="connsiteY358" fmla="*/ 332419 h 486704"/>
                  <a:gd name="connsiteX359" fmla="*/ 198091 w 837140"/>
                  <a:gd name="connsiteY359" fmla="*/ 332419 h 486704"/>
                  <a:gd name="connsiteX360" fmla="*/ 198091 w 837140"/>
                  <a:gd name="connsiteY360" fmla="*/ 367462 h 486704"/>
                  <a:gd name="connsiteX361" fmla="*/ 214639 w 837140"/>
                  <a:gd name="connsiteY361" fmla="*/ 367462 h 486704"/>
                  <a:gd name="connsiteX362" fmla="*/ 214639 w 837140"/>
                  <a:gd name="connsiteY362" fmla="*/ 332419 h 486704"/>
                  <a:gd name="connsiteX363" fmla="*/ 198091 w 837140"/>
                  <a:gd name="connsiteY363" fmla="*/ 332419 h 486704"/>
                  <a:gd name="connsiteX364" fmla="*/ 198091 w 837140"/>
                  <a:gd name="connsiteY364" fmla="*/ 332419 h 486704"/>
                  <a:gd name="connsiteX365" fmla="*/ 198091 w 837140"/>
                  <a:gd name="connsiteY365" fmla="*/ 370382 h 486704"/>
                  <a:gd name="connsiteX366" fmla="*/ 198091 w 837140"/>
                  <a:gd name="connsiteY366" fmla="*/ 421972 h 486704"/>
                  <a:gd name="connsiteX367" fmla="*/ 211719 w 837140"/>
                  <a:gd name="connsiteY367" fmla="*/ 421972 h 486704"/>
                  <a:gd name="connsiteX368" fmla="*/ 211719 w 837140"/>
                  <a:gd name="connsiteY368" fmla="*/ 378169 h 486704"/>
                  <a:gd name="connsiteX369" fmla="*/ 221453 w 837140"/>
                  <a:gd name="connsiteY369" fmla="*/ 378169 h 486704"/>
                  <a:gd name="connsiteX370" fmla="*/ 221453 w 837140"/>
                  <a:gd name="connsiteY370" fmla="*/ 421972 h 486704"/>
                  <a:gd name="connsiteX371" fmla="*/ 234107 w 837140"/>
                  <a:gd name="connsiteY371" fmla="*/ 421972 h 486704"/>
                  <a:gd name="connsiteX372" fmla="*/ 234107 w 837140"/>
                  <a:gd name="connsiteY372" fmla="*/ 378169 h 486704"/>
                  <a:gd name="connsiteX373" fmla="*/ 243842 w 837140"/>
                  <a:gd name="connsiteY373" fmla="*/ 378169 h 486704"/>
                  <a:gd name="connsiteX374" fmla="*/ 243842 w 837140"/>
                  <a:gd name="connsiteY374" fmla="*/ 421972 h 486704"/>
                  <a:gd name="connsiteX375" fmla="*/ 256496 w 837140"/>
                  <a:gd name="connsiteY375" fmla="*/ 421972 h 486704"/>
                  <a:gd name="connsiteX376" fmla="*/ 256496 w 837140"/>
                  <a:gd name="connsiteY376" fmla="*/ 378169 h 486704"/>
                  <a:gd name="connsiteX377" fmla="*/ 266230 w 837140"/>
                  <a:gd name="connsiteY377" fmla="*/ 378169 h 486704"/>
                  <a:gd name="connsiteX378" fmla="*/ 266230 w 837140"/>
                  <a:gd name="connsiteY378" fmla="*/ 421972 h 486704"/>
                  <a:gd name="connsiteX379" fmla="*/ 278885 w 837140"/>
                  <a:gd name="connsiteY379" fmla="*/ 421972 h 486704"/>
                  <a:gd name="connsiteX380" fmla="*/ 278885 w 837140"/>
                  <a:gd name="connsiteY380" fmla="*/ 378169 h 486704"/>
                  <a:gd name="connsiteX381" fmla="*/ 288619 w 837140"/>
                  <a:gd name="connsiteY381" fmla="*/ 378169 h 486704"/>
                  <a:gd name="connsiteX382" fmla="*/ 288619 w 837140"/>
                  <a:gd name="connsiteY382" fmla="*/ 421972 h 486704"/>
                  <a:gd name="connsiteX383" fmla="*/ 343130 w 837140"/>
                  <a:gd name="connsiteY383" fmla="*/ 421972 h 486704"/>
                  <a:gd name="connsiteX384" fmla="*/ 343130 w 837140"/>
                  <a:gd name="connsiteY384" fmla="*/ 370382 h 486704"/>
                  <a:gd name="connsiteX385" fmla="*/ 198091 w 837140"/>
                  <a:gd name="connsiteY385" fmla="*/ 370382 h 486704"/>
                  <a:gd name="connsiteX386" fmla="*/ 198091 w 837140"/>
                  <a:gd name="connsiteY386" fmla="*/ 370382 h 486704"/>
                  <a:gd name="connsiteX387" fmla="*/ 17035 w 837140"/>
                  <a:gd name="connsiteY387" fmla="*/ 269147 h 486704"/>
                  <a:gd name="connsiteX388" fmla="*/ 17035 w 837140"/>
                  <a:gd name="connsiteY388" fmla="*/ 302243 h 486704"/>
                  <a:gd name="connsiteX389" fmla="*/ 54998 w 837140"/>
                  <a:gd name="connsiteY389" fmla="*/ 302243 h 486704"/>
                  <a:gd name="connsiteX390" fmla="*/ 54998 w 837140"/>
                  <a:gd name="connsiteY390" fmla="*/ 269147 h 486704"/>
                  <a:gd name="connsiteX391" fmla="*/ 17035 w 837140"/>
                  <a:gd name="connsiteY391" fmla="*/ 269147 h 486704"/>
                  <a:gd name="connsiteX392" fmla="*/ 17035 w 837140"/>
                  <a:gd name="connsiteY392" fmla="*/ 269147 h 486704"/>
                  <a:gd name="connsiteX393" fmla="*/ 412243 w 837140"/>
                  <a:gd name="connsiteY393" fmla="*/ 318791 h 486704"/>
                  <a:gd name="connsiteX394" fmla="*/ 412243 w 837140"/>
                  <a:gd name="connsiteY394" fmla="*/ 300296 h 486704"/>
                  <a:gd name="connsiteX395" fmla="*/ 399589 w 837140"/>
                  <a:gd name="connsiteY395" fmla="*/ 300296 h 486704"/>
                  <a:gd name="connsiteX396" fmla="*/ 399589 w 837140"/>
                  <a:gd name="connsiteY396" fmla="*/ 318791 h 486704"/>
                  <a:gd name="connsiteX397" fmla="*/ 412243 w 837140"/>
                  <a:gd name="connsiteY397" fmla="*/ 318791 h 486704"/>
                  <a:gd name="connsiteX398" fmla="*/ 412243 w 837140"/>
                  <a:gd name="connsiteY398" fmla="*/ 318791 h 486704"/>
                  <a:gd name="connsiteX399" fmla="*/ 425871 w 837140"/>
                  <a:gd name="connsiteY399" fmla="*/ 131897 h 486704"/>
                  <a:gd name="connsiteX400" fmla="*/ 425871 w 837140"/>
                  <a:gd name="connsiteY400" fmla="*/ 94907 h 486704"/>
                  <a:gd name="connsiteX401" fmla="*/ 418084 w 837140"/>
                  <a:gd name="connsiteY401" fmla="*/ 90040 h 486704"/>
                  <a:gd name="connsiteX402" fmla="*/ 410296 w 837140"/>
                  <a:gd name="connsiteY402" fmla="*/ 94907 h 486704"/>
                  <a:gd name="connsiteX403" fmla="*/ 410296 w 837140"/>
                  <a:gd name="connsiteY403" fmla="*/ 131897 h 486704"/>
                  <a:gd name="connsiteX404" fmla="*/ 425871 w 837140"/>
                  <a:gd name="connsiteY404" fmla="*/ 131897 h 486704"/>
                  <a:gd name="connsiteX405" fmla="*/ 425871 w 837140"/>
                  <a:gd name="connsiteY405" fmla="*/ 131897 h 486704"/>
                  <a:gd name="connsiteX406" fmla="*/ 432685 w 837140"/>
                  <a:gd name="connsiteY406" fmla="*/ 212690 h 486704"/>
                  <a:gd name="connsiteX407" fmla="*/ 432685 w 837140"/>
                  <a:gd name="connsiteY407" fmla="*/ 143578 h 486704"/>
                  <a:gd name="connsiteX408" fmla="*/ 404456 w 837140"/>
                  <a:gd name="connsiteY408" fmla="*/ 143578 h 486704"/>
                  <a:gd name="connsiteX409" fmla="*/ 404456 w 837140"/>
                  <a:gd name="connsiteY409" fmla="*/ 212690 h 486704"/>
                  <a:gd name="connsiteX410" fmla="*/ 432685 w 837140"/>
                  <a:gd name="connsiteY410" fmla="*/ 212690 h 486704"/>
                  <a:gd name="connsiteX411" fmla="*/ 432685 w 837140"/>
                  <a:gd name="connsiteY411" fmla="*/ 212690 h 486704"/>
                  <a:gd name="connsiteX412" fmla="*/ 454100 w 837140"/>
                  <a:gd name="connsiteY412" fmla="*/ 249679 h 486704"/>
                  <a:gd name="connsiteX413" fmla="*/ 454100 w 837140"/>
                  <a:gd name="connsiteY413" fmla="*/ 225344 h 486704"/>
                  <a:gd name="connsiteX414" fmla="*/ 382067 w 837140"/>
                  <a:gd name="connsiteY414" fmla="*/ 225344 h 486704"/>
                  <a:gd name="connsiteX415" fmla="*/ 382067 w 837140"/>
                  <a:gd name="connsiteY415" fmla="*/ 249679 h 486704"/>
                  <a:gd name="connsiteX416" fmla="*/ 454100 w 837140"/>
                  <a:gd name="connsiteY416" fmla="*/ 249679 h 486704"/>
                  <a:gd name="connsiteX417" fmla="*/ 454100 w 837140"/>
                  <a:gd name="connsiteY417" fmla="*/ 249679 h 486704"/>
                  <a:gd name="connsiteX418" fmla="*/ 418084 w 837140"/>
                  <a:gd name="connsiteY418" fmla="*/ 266227 h 486704"/>
                  <a:gd name="connsiteX419" fmla="*/ 424898 w 837140"/>
                  <a:gd name="connsiteY419" fmla="*/ 273041 h 486704"/>
                  <a:gd name="connsiteX420" fmla="*/ 424898 w 837140"/>
                  <a:gd name="connsiteY420" fmla="*/ 274988 h 486704"/>
                  <a:gd name="connsiteX421" fmla="*/ 437552 w 837140"/>
                  <a:gd name="connsiteY421" fmla="*/ 274988 h 486704"/>
                  <a:gd name="connsiteX422" fmla="*/ 437552 w 837140"/>
                  <a:gd name="connsiteY422" fmla="*/ 273041 h 486704"/>
                  <a:gd name="connsiteX423" fmla="*/ 444366 w 837140"/>
                  <a:gd name="connsiteY423" fmla="*/ 266227 h 486704"/>
                  <a:gd name="connsiteX424" fmla="*/ 444366 w 837140"/>
                  <a:gd name="connsiteY424" fmla="*/ 266227 h 486704"/>
                  <a:gd name="connsiteX425" fmla="*/ 451180 w 837140"/>
                  <a:gd name="connsiteY425" fmla="*/ 273041 h 486704"/>
                  <a:gd name="connsiteX426" fmla="*/ 451180 w 837140"/>
                  <a:gd name="connsiteY426" fmla="*/ 274988 h 486704"/>
                  <a:gd name="connsiteX427" fmla="*/ 463834 w 837140"/>
                  <a:gd name="connsiteY427" fmla="*/ 274988 h 486704"/>
                  <a:gd name="connsiteX428" fmla="*/ 463834 w 837140"/>
                  <a:gd name="connsiteY428" fmla="*/ 273041 h 486704"/>
                  <a:gd name="connsiteX429" fmla="*/ 470648 w 837140"/>
                  <a:gd name="connsiteY429" fmla="*/ 266227 h 486704"/>
                  <a:gd name="connsiteX430" fmla="*/ 470648 w 837140"/>
                  <a:gd name="connsiteY430" fmla="*/ 266227 h 486704"/>
                  <a:gd name="connsiteX431" fmla="*/ 477462 w 837140"/>
                  <a:gd name="connsiteY431" fmla="*/ 273041 h 486704"/>
                  <a:gd name="connsiteX432" fmla="*/ 477462 w 837140"/>
                  <a:gd name="connsiteY432" fmla="*/ 274988 h 486704"/>
                  <a:gd name="connsiteX433" fmla="*/ 490116 w 837140"/>
                  <a:gd name="connsiteY433" fmla="*/ 274988 h 486704"/>
                  <a:gd name="connsiteX434" fmla="*/ 490116 w 837140"/>
                  <a:gd name="connsiteY434" fmla="*/ 273041 h 486704"/>
                  <a:gd name="connsiteX435" fmla="*/ 496931 w 837140"/>
                  <a:gd name="connsiteY435" fmla="*/ 266227 h 486704"/>
                  <a:gd name="connsiteX436" fmla="*/ 496931 w 837140"/>
                  <a:gd name="connsiteY436" fmla="*/ 266227 h 486704"/>
                  <a:gd name="connsiteX437" fmla="*/ 503744 w 837140"/>
                  <a:gd name="connsiteY437" fmla="*/ 273041 h 486704"/>
                  <a:gd name="connsiteX438" fmla="*/ 503744 w 837140"/>
                  <a:gd name="connsiteY438" fmla="*/ 274988 h 486704"/>
                  <a:gd name="connsiteX439" fmla="*/ 516399 w 837140"/>
                  <a:gd name="connsiteY439" fmla="*/ 274988 h 486704"/>
                  <a:gd name="connsiteX440" fmla="*/ 516399 w 837140"/>
                  <a:gd name="connsiteY440" fmla="*/ 273041 h 486704"/>
                  <a:gd name="connsiteX441" fmla="*/ 523213 w 837140"/>
                  <a:gd name="connsiteY441" fmla="*/ 266227 h 486704"/>
                  <a:gd name="connsiteX442" fmla="*/ 523213 w 837140"/>
                  <a:gd name="connsiteY442" fmla="*/ 266227 h 486704"/>
                  <a:gd name="connsiteX443" fmla="*/ 530027 w 837140"/>
                  <a:gd name="connsiteY443" fmla="*/ 273041 h 486704"/>
                  <a:gd name="connsiteX444" fmla="*/ 530027 w 837140"/>
                  <a:gd name="connsiteY444" fmla="*/ 274988 h 486704"/>
                  <a:gd name="connsiteX445" fmla="*/ 542681 w 837140"/>
                  <a:gd name="connsiteY445" fmla="*/ 274988 h 486704"/>
                  <a:gd name="connsiteX446" fmla="*/ 542681 w 837140"/>
                  <a:gd name="connsiteY446" fmla="*/ 273041 h 486704"/>
                  <a:gd name="connsiteX447" fmla="*/ 549495 w 837140"/>
                  <a:gd name="connsiteY447" fmla="*/ 266227 h 486704"/>
                  <a:gd name="connsiteX448" fmla="*/ 549495 w 837140"/>
                  <a:gd name="connsiteY448" fmla="*/ 266227 h 486704"/>
                  <a:gd name="connsiteX449" fmla="*/ 556309 w 837140"/>
                  <a:gd name="connsiteY449" fmla="*/ 273041 h 486704"/>
                  <a:gd name="connsiteX450" fmla="*/ 556309 w 837140"/>
                  <a:gd name="connsiteY450" fmla="*/ 274988 h 486704"/>
                  <a:gd name="connsiteX451" fmla="*/ 568963 w 837140"/>
                  <a:gd name="connsiteY451" fmla="*/ 274988 h 486704"/>
                  <a:gd name="connsiteX452" fmla="*/ 568963 w 837140"/>
                  <a:gd name="connsiteY452" fmla="*/ 273041 h 486704"/>
                  <a:gd name="connsiteX453" fmla="*/ 575778 w 837140"/>
                  <a:gd name="connsiteY453" fmla="*/ 266227 h 486704"/>
                  <a:gd name="connsiteX454" fmla="*/ 575778 w 837140"/>
                  <a:gd name="connsiteY454" fmla="*/ 266227 h 486704"/>
                  <a:gd name="connsiteX455" fmla="*/ 582591 w 837140"/>
                  <a:gd name="connsiteY455" fmla="*/ 273041 h 486704"/>
                  <a:gd name="connsiteX456" fmla="*/ 582591 w 837140"/>
                  <a:gd name="connsiteY456" fmla="*/ 274988 h 486704"/>
                  <a:gd name="connsiteX457" fmla="*/ 595246 w 837140"/>
                  <a:gd name="connsiteY457" fmla="*/ 274988 h 486704"/>
                  <a:gd name="connsiteX458" fmla="*/ 595246 w 837140"/>
                  <a:gd name="connsiteY458" fmla="*/ 273041 h 486704"/>
                  <a:gd name="connsiteX459" fmla="*/ 602060 w 837140"/>
                  <a:gd name="connsiteY459" fmla="*/ 266227 h 486704"/>
                  <a:gd name="connsiteX460" fmla="*/ 602060 w 837140"/>
                  <a:gd name="connsiteY460" fmla="*/ 266227 h 486704"/>
                  <a:gd name="connsiteX461" fmla="*/ 608874 w 837140"/>
                  <a:gd name="connsiteY461" fmla="*/ 273041 h 486704"/>
                  <a:gd name="connsiteX462" fmla="*/ 608874 w 837140"/>
                  <a:gd name="connsiteY462" fmla="*/ 274988 h 486704"/>
                  <a:gd name="connsiteX463" fmla="*/ 621528 w 837140"/>
                  <a:gd name="connsiteY463" fmla="*/ 274988 h 486704"/>
                  <a:gd name="connsiteX464" fmla="*/ 621528 w 837140"/>
                  <a:gd name="connsiteY464" fmla="*/ 273041 h 486704"/>
                  <a:gd name="connsiteX465" fmla="*/ 628342 w 837140"/>
                  <a:gd name="connsiteY465" fmla="*/ 266227 h 486704"/>
                  <a:gd name="connsiteX466" fmla="*/ 628342 w 837140"/>
                  <a:gd name="connsiteY466" fmla="*/ 266227 h 486704"/>
                  <a:gd name="connsiteX467" fmla="*/ 635156 w 837140"/>
                  <a:gd name="connsiteY467" fmla="*/ 273041 h 486704"/>
                  <a:gd name="connsiteX468" fmla="*/ 635156 w 837140"/>
                  <a:gd name="connsiteY468" fmla="*/ 274988 h 486704"/>
                  <a:gd name="connsiteX469" fmla="*/ 645863 w 837140"/>
                  <a:gd name="connsiteY469" fmla="*/ 274988 h 486704"/>
                  <a:gd name="connsiteX470" fmla="*/ 645863 w 837140"/>
                  <a:gd name="connsiteY470" fmla="*/ 259413 h 486704"/>
                  <a:gd name="connsiteX471" fmla="*/ 205878 w 837140"/>
                  <a:gd name="connsiteY471" fmla="*/ 259413 h 486704"/>
                  <a:gd name="connsiteX472" fmla="*/ 205878 w 837140"/>
                  <a:gd name="connsiteY472" fmla="*/ 274988 h 486704"/>
                  <a:gd name="connsiteX473" fmla="*/ 216586 w 837140"/>
                  <a:gd name="connsiteY473" fmla="*/ 274988 h 486704"/>
                  <a:gd name="connsiteX474" fmla="*/ 216586 w 837140"/>
                  <a:gd name="connsiteY474" fmla="*/ 273041 h 486704"/>
                  <a:gd name="connsiteX475" fmla="*/ 223400 w 837140"/>
                  <a:gd name="connsiteY475" fmla="*/ 266227 h 486704"/>
                  <a:gd name="connsiteX476" fmla="*/ 223400 w 837140"/>
                  <a:gd name="connsiteY476" fmla="*/ 266227 h 486704"/>
                  <a:gd name="connsiteX477" fmla="*/ 230214 w 837140"/>
                  <a:gd name="connsiteY477" fmla="*/ 273041 h 486704"/>
                  <a:gd name="connsiteX478" fmla="*/ 230214 w 837140"/>
                  <a:gd name="connsiteY478" fmla="*/ 274988 h 486704"/>
                  <a:gd name="connsiteX479" fmla="*/ 242868 w 837140"/>
                  <a:gd name="connsiteY479" fmla="*/ 274988 h 486704"/>
                  <a:gd name="connsiteX480" fmla="*/ 242868 w 837140"/>
                  <a:gd name="connsiteY480" fmla="*/ 273041 h 486704"/>
                  <a:gd name="connsiteX481" fmla="*/ 249682 w 837140"/>
                  <a:gd name="connsiteY481" fmla="*/ 266227 h 486704"/>
                  <a:gd name="connsiteX482" fmla="*/ 249682 w 837140"/>
                  <a:gd name="connsiteY482" fmla="*/ 266227 h 486704"/>
                  <a:gd name="connsiteX483" fmla="*/ 256496 w 837140"/>
                  <a:gd name="connsiteY483" fmla="*/ 273041 h 486704"/>
                  <a:gd name="connsiteX484" fmla="*/ 256496 w 837140"/>
                  <a:gd name="connsiteY484" fmla="*/ 274988 h 486704"/>
                  <a:gd name="connsiteX485" fmla="*/ 269151 w 837140"/>
                  <a:gd name="connsiteY485" fmla="*/ 274988 h 486704"/>
                  <a:gd name="connsiteX486" fmla="*/ 269151 w 837140"/>
                  <a:gd name="connsiteY486" fmla="*/ 273041 h 486704"/>
                  <a:gd name="connsiteX487" fmla="*/ 275964 w 837140"/>
                  <a:gd name="connsiteY487" fmla="*/ 266227 h 486704"/>
                  <a:gd name="connsiteX488" fmla="*/ 275964 w 837140"/>
                  <a:gd name="connsiteY488" fmla="*/ 266227 h 486704"/>
                  <a:gd name="connsiteX489" fmla="*/ 282778 w 837140"/>
                  <a:gd name="connsiteY489" fmla="*/ 273041 h 486704"/>
                  <a:gd name="connsiteX490" fmla="*/ 282778 w 837140"/>
                  <a:gd name="connsiteY490" fmla="*/ 274988 h 486704"/>
                  <a:gd name="connsiteX491" fmla="*/ 295433 w 837140"/>
                  <a:gd name="connsiteY491" fmla="*/ 274988 h 486704"/>
                  <a:gd name="connsiteX492" fmla="*/ 295433 w 837140"/>
                  <a:gd name="connsiteY492" fmla="*/ 273041 h 486704"/>
                  <a:gd name="connsiteX493" fmla="*/ 302247 w 837140"/>
                  <a:gd name="connsiteY493" fmla="*/ 266227 h 486704"/>
                  <a:gd name="connsiteX494" fmla="*/ 302247 w 837140"/>
                  <a:gd name="connsiteY494" fmla="*/ 266227 h 486704"/>
                  <a:gd name="connsiteX495" fmla="*/ 309060 w 837140"/>
                  <a:gd name="connsiteY495" fmla="*/ 273041 h 486704"/>
                  <a:gd name="connsiteX496" fmla="*/ 309060 w 837140"/>
                  <a:gd name="connsiteY496" fmla="*/ 274988 h 486704"/>
                  <a:gd name="connsiteX497" fmla="*/ 321715 w 837140"/>
                  <a:gd name="connsiteY497" fmla="*/ 274988 h 486704"/>
                  <a:gd name="connsiteX498" fmla="*/ 321715 w 837140"/>
                  <a:gd name="connsiteY498" fmla="*/ 273041 h 486704"/>
                  <a:gd name="connsiteX499" fmla="*/ 328529 w 837140"/>
                  <a:gd name="connsiteY499" fmla="*/ 266227 h 486704"/>
                  <a:gd name="connsiteX500" fmla="*/ 328529 w 837140"/>
                  <a:gd name="connsiteY500" fmla="*/ 266227 h 486704"/>
                  <a:gd name="connsiteX501" fmla="*/ 335343 w 837140"/>
                  <a:gd name="connsiteY501" fmla="*/ 273041 h 486704"/>
                  <a:gd name="connsiteX502" fmla="*/ 335343 w 837140"/>
                  <a:gd name="connsiteY502" fmla="*/ 274988 h 486704"/>
                  <a:gd name="connsiteX503" fmla="*/ 347997 w 837140"/>
                  <a:gd name="connsiteY503" fmla="*/ 274988 h 486704"/>
                  <a:gd name="connsiteX504" fmla="*/ 347997 w 837140"/>
                  <a:gd name="connsiteY504" fmla="*/ 273041 h 486704"/>
                  <a:gd name="connsiteX505" fmla="*/ 354811 w 837140"/>
                  <a:gd name="connsiteY505" fmla="*/ 266227 h 486704"/>
                  <a:gd name="connsiteX506" fmla="*/ 354811 w 837140"/>
                  <a:gd name="connsiteY506" fmla="*/ 266227 h 486704"/>
                  <a:gd name="connsiteX507" fmla="*/ 361625 w 837140"/>
                  <a:gd name="connsiteY507" fmla="*/ 273041 h 486704"/>
                  <a:gd name="connsiteX508" fmla="*/ 361625 w 837140"/>
                  <a:gd name="connsiteY508" fmla="*/ 274988 h 486704"/>
                  <a:gd name="connsiteX509" fmla="*/ 374280 w 837140"/>
                  <a:gd name="connsiteY509" fmla="*/ 274988 h 486704"/>
                  <a:gd name="connsiteX510" fmla="*/ 374280 w 837140"/>
                  <a:gd name="connsiteY510" fmla="*/ 273041 h 486704"/>
                  <a:gd name="connsiteX511" fmla="*/ 381094 w 837140"/>
                  <a:gd name="connsiteY511" fmla="*/ 266227 h 486704"/>
                  <a:gd name="connsiteX512" fmla="*/ 381094 w 837140"/>
                  <a:gd name="connsiteY512" fmla="*/ 266227 h 486704"/>
                  <a:gd name="connsiteX513" fmla="*/ 387907 w 837140"/>
                  <a:gd name="connsiteY513" fmla="*/ 273041 h 486704"/>
                  <a:gd name="connsiteX514" fmla="*/ 387907 w 837140"/>
                  <a:gd name="connsiteY514" fmla="*/ 274988 h 486704"/>
                  <a:gd name="connsiteX515" fmla="*/ 400562 w 837140"/>
                  <a:gd name="connsiteY515" fmla="*/ 274988 h 486704"/>
                  <a:gd name="connsiteX516" fmla="*/ 400562 w 837140"/>
                  <a:gd name="connsiteY516" fmla="*/ 273041 h 486704"/>
                  <a:gd name="connsiteX517" fmla="*/ 407376 w 837140"/>
                  <a:gd name="connsiteY517" fmla="*/ 266227 h 486704"/>
                  <a:gd name="connsiteX518" fmla="*/ 407376 w 837140"/>
                  <a:gd name="connsiteY518" fmla="*/ 266227 h 486704"/>
                  <a:gd name="connsiteX519" fmla="*/ 414190 w 837140"/>
                  <a:gd name="connsiteY519" fmla="*/ 273041 h 486704"/>
                  <a:gd name="connsiteX520" fmla="*/ 414190 w 837140"/>
                  <a:gd name="connsiteY520" fmla="*/ 274988 h 486704"/>
                  <a:gd name="connsiteX521" fmla="*/ 426844 w 837140"/>
                  <a:gd name="connsiteY521" fmla="*/ 274988 h 486704"/>
                  <a:gd name="connsiteX522" fmla="*/ 426844 w 837140"/>
                  <a:gd name="connsiteY522" fmla="*/ 273041 h 486704"/>
                  <a:gd name="connsiteX523" fmla="*/ 418084 w 837140"/>
                  <a:gd name="connsiteY523" fmla="*/ 266227 h 486704"/>
                  <a:gd name="connsiteX524" fmla="*/ 418084 w 837140"/>
                  <a:gd name="connsiteY524" fmla="*/ 266227 h 486704"/>
                  <a:gd name="connsiteX525" fmla="*/ 418084 w 837140"/>
                  <a:gd name="connsiteY525" fmla="*/ 266227 h 486704"/>
                  <a:gd name="connsiteX526" fmla="*/ 418084 w 837140"/>
                  <a:gd name="connsiteY526" fmla="*/ 266227 h 486704"/>
                  <a:gd name="connsiteX527" fmla="*/ 638076 w 837140"/>
                  <a:gd name="connsiteY527" fmla="*/ 296403 h 486704"/>
                  <a:gd name="connsiteX528" fmla="*/ 638076 w 837140"/>
                  <a:gd name="connsiteY528" fmla="*/ 277908 h 486704"/>
                  <a:gd name="connsiteX529" fmla="*/ 627369 w 837140"/>
                  <a:gd name="connsiteY529" fmla="*/ 277908 h 486704"/>
                  <a:gd name="connsiteX530" fmla="*/ 627369 w 837140"/>
                  <a:gd name="connsiteY530" fmla="*/ 291536 h 486704"/>
                  <a:gd name="connsiteX531" fmla="*/ 614714 w 837140"/>
                  <a:gd name="connsiteY531" fmla="*/ 291536 h 486704"/>
                  <a:gd name="connsiteX532" fmla="*/ 614714 w 837140"/>
                  <a:gd name="connsiteY532" fmla="*/ 277908 h 486704"/>
                  <a:gd name="connsiteX533" fmla="*/ 602060 w 837140"/>
                  <a:gd name="connsiteY533" fmla="*/ 277908 h 486704"/>
                  <a:gd name="connsiteX534" fmla="*/ 602060 w 837140"/>
                  <a:gd name="connsiteY534" fmla="*/ 291536 h 486704"/>
                  <a:gd name="connsiteX535" fmla="*/ 589405 w 837140"/>
                  <a:gd name="connsiteY535" fmla="*/ 291536 h 486704"/>
                  <a:gd name="connsiteX536" fmla="*/ 589405 w 837140"/>
                  <a:gd name="connsiteY536" fmla="*/ 277908 h 486704"/>
                  <a:gd name="connsiteX537" fmla="*/ 576751 w 837140"/>
                  <a:gd name="connsiteY537" fmla="*/ 277908 h 486704"/>
                  <a:gd name="connsiteX538" fmla="*/ 576751 w 837140"/>
                  <a:gd name="connsiteY538" fmla="*/ 291536 h 486704"/>
                  <a:gd name="connsiteX539" fmla="*/ 564096 w 837140"/>
                  <a:gd name="connsiteY539" fmla="*/ 291536 h 486704"/>
                  <a:gd name="connsiteX540" fmla="*/ 564096 w 837140"/>
                  <a:gd name="connsiteY540" fmla="*/ 277908 h 486704"/>
                  <a:gd name="connsiteX541" fmla="*/ 551442 w 837140"/>
                  <a:gd name="connsiteY541" fmla="*/ 277908 h 486704"/>
                  <a:gd name="connsiteX542" fmla="*/ 551442 w 837140"/>
                  <a:gd name="connsiteY542" fmla="*/ 291536 h 486704"/>
                  <a:gd name="connsiteX543" fmla="*/ 538787 w 837140"/>
                  <a:gd name="connsiteY543" fmla="*/ 291536 h 486704"/>
                  <a:gd name="connsiteX544" fmla="*/ 538787 w 837140"/>
                  <a:gd name="connsiteY544" fmla="*/ 277908 h 486704"/>
                  <a:gd name="connsiteX545" fmla="*/ 526133 w 837140"/>
                  <a:gd name="connsiteY545" fmla="*/ 277908 h 486704"/>
                  <a:gd name="connsiteX546" fmla="*/ 526133 w 837140"/>
                  <a:gd name="connsiteY546" fmla="*/ 291536 h 486704"/>
                  <a:gd name="connsiteX547" fmla="*/ 513478 w 837140"/>
                  <a:gd name="connsiteY547" fmla="*/ 291536 h 486704"/>
                  <a:gd name="connsiteX548" fmla="*/ 513478 w 837140"/>
                  <a:gd name="connsiteY548" fmla="*/ 277908 h 486704"/>
                  <a:gd name="connsiteX549" fmla="*/ 500824 w 837140"/>
                  <a:gd name="connsiteY549" fmla="*/ 277908 h 486704"/>
                  <a:gd name="connsiteX550" fmla="*/ 500824 w 837140"/>
                  <a:gd name="connsiteY550" fmla="*/ 291536 h 486704"/>
                  <a:gd name="connsiteX551" fmla="*/ 488170 w 837140"/>
                  <a:gd name="connsiteY551" fmla="*/ 291536 h 486704"/>
                  <a:gd name="connsiteX552" fmla="*/ 488170 w 837140"/>
                  <a:gd name="connsiteY552" fmla="*/ 277908 h 486704"/>
                  <a:gd name="connsiteX553" fmla="*/ 475515 w 837140"/>
                  <a:gd name="connsiteY553" fmla="*/ 277908 h 486704"/>
                  <a:gd name="connsiteX554" fmla="*/ 475515 w 837140"/>
                  <a:gd name="connsiteY554" fmla="*/ 291536 h 486704"/>
                  <a:gd name="connsiteX555" fmla="*/ 462861 w 837140"/>
                  <a:gd name="connsiteY555" fmla="*/ 291536 h 486704"/>
                  <a:gd name="connsiteX556" fmla="*/ 462861 w 837140"/>
                  <a:gd name="connsiteY556" fmla="*/ 277908 h 486704"/>
                  <a:gd name="connsiteX557" fmla="*/ 450206 w 837140"/>
                  <a:gd name="connsiteY557" fmla="*/ 277908 h 486704"/>
                  <a:gd name="connsiteX558" fmla="*/ 450206 w 837140"/>
                  <a:gd name="connsiteY558" fmla="*/ 291536 h 486704"/>
                  <a:gd name="connsiteX559" fmla="*/ 437552 w 837140"/>
                  <a:gd name="connsiteY559" fmla="*/ 291536 h 486704"/>
                  <a:gd name="connsiteX560" fmla="*/ 437552 w 837140"/>
                  <a:gd name="connsiteY560" fmla="*/ 277908 h 486704"/>
                  <a:gd name="connsiteX561" fmla="*/ 424898 w 837140"/>
                  <a:gd name="connsiteY561" fmla="*/ 277908 h 486704"/>
                  <a:gd name="connsiteX562" fmla="*/ 424898 w 837140"/>
                  <a:gd name="connsiteY562" fmla="*/ 291536 h 486704"/>
                  <a:gd name="connsiteX563" fmla="*/ 412243 w 837140"/>
                  <a:gd name="connsiteY563" fmla="*/ 291536 h 486704"/>
                  <a:gd name="connsiteX564" fmla="*/ 412243 w 837140"/>
                  <a:gd name="connsiteY564" fmla="*/ 277908 h 486704"/>
                  <a:gd name="connsiteX565" fmla="*/ 399589 w 837140"/>
                  <a:gd name="connsiteY565" fmla="*/ 277908 h 486704"/>
                  <a:gd name="connsiteX566" fmla="*/ 399589 w 837140"/>
                  <a:gd name="connsiteY566" fmla="*/ 291536 h 486704"/>
                  <a:gd name="connsiteX567" fmla="*/ 386934 w 837140"/>
                  <a:gd name="connsiteY567" fmla="*/ 291536 h 486704"/>
                  <a:gd name="connsiteX568" fmla="*/ 386934 w 837140"/>
                  <a:gd name="connsiteY568" fmla="*/ 277908 h 486704"/>
                  <a:gd name="connsiteX569" fmla="*/ 374280 w 837140"/>
                  <a:gd name="connsiteY569" fmla="*/ 277908 h 486704"/>
                  <a:gd name="connsiteX570" fmla="*/ 374280 w 837140"/>
                  <a:gd name="connsiteY570" fmla="*/ 291536 h 486704"/>
                  <a:gd name="connsiteX571" fmla="*/ 361625 w 837140"/>
                  <a:gd name="connsiteY571" fmla="*/ 291536 h 486704"/>
                  <a:gd name="connsiteX572" fmla="*/ 361625 w 837140"/>
                  <a:gd name="connsiteY572" fmla="*/ 277908 h 486704"/>
                  <a:gd name="connsiteX573" fmla="*/ 348971 w 837140"/>
                  <a:gd name="connsiteY573" fmla="*/ 277908 h 486704"/>
                  <a:gd name="connsiteX574" fmla="*/ 348971 w 837140"/>
                  <a:gd name="connsiteY574" fmla="*/ 291536 h 486704"/>
                  <a:gd name="connsiteX575" fmla="*/ 336316 w 837140"/>
                  <a:gd name="connsiteY575" fmla="*/ 291536 h 486704"/>
                  <a:gd name="connsiteX576" fmla="*/ 336316 w 837140"/>
                  <a:gd name="connsiteY576" fmla="*/ 277908 h 486704"/>
                  <a:gd name="connsiteX577" fmla="*/ 323662 w 837140"/>
                  <a:gd name="connsiteY577" fmla="*/ 277908 h 486704"/>
                  <a:gd name="connsiteX578" fmla="*/ 323662 w 837140"/>
                  <a:gd name="connsiteY578" fmla="*/ 291536 h 486704"/>
                  <a:gd name="connsiteX579" fmla="*/ 311007 w 837140"/>
                  <a:gd name="connsiteY579" fmla="*/ 291536 h 486704"/>
                  <a:gd name="connsiteX580" fmla="*/ 311007 w 837140"/>
                  <a:gd name="connsiteY580" fmla="*/ 277908 h 486704"/>
                  <a:gd name="connsiteX581" fmla="*/ 298353 w 837140"/>
                  <a:gd name="connsiteY581" fmla="*/ 277908 h 486704"/>
                  <a:gd name="connsiteX582" fmla="*/ 298353 w 837140"/>
                  <a:gd name="connsiteY582" fmla="*/ 291536 h 486704"/>
                  <a:gd name="connsiteX583" fmla="*/ 285699 w 837140"/>
                  <a:gd name="connsiteY583" fmla="*/ 291536 h 486704"/>
                  <a:gd name="connsiteX584" fmla="*/ 285699 w 837140"/>
                  <a:gd name="connsiteY584" fmla="*/ 277908 h 486704"/>
                  <a:gd name="connsiteX585" fmla="*/ 273044 w 837140"/>
                  <a:gd name="connsiteY585" fmla="*/ 277908 h 486704"/>
                  <a:gd name="connsiteX586" fmla="*/ 273044 w 837140"/>
                  <a:gd name="connsiteY586" fmla="*/ 291536 h 486704"/>
                  <a:gd name="connsiteX587" fmla="*/ 260390 w 837140"/>
                  <a:gd name="connsiteY587" fmla="*/ 291536 h 486704"/>
                  <a:gd name="connsiteX588" fmla="*/ 260390 w 837140"/>
                  <a:gd name="connsiteY588" fmla="*/ 277908 h 486704"/>
                  <a:gd name="connsiteX589" fmla="*/ 247735 w 837140"/>
                  <a:gd name="connsiteY589" fmla="*/ 277908 h 486704"/>
                  <a:gd name="connsiteX590" fmla="*/ 247735 w 837140"/>
                  <a:gd name="connsiteY590" fmla="*/ 291536 h 486704"/>
                  <a:gd name="connsiteX591" fmla="*/ 235081 w 837140"/>
                  <a:gd name="connsiteY591" fmla="*/ 291536 h 486704"/>
                  <a:gd name="connsiteX592" fmla="*/ 235081 w 837140"/>
                  <a:gd name="connsiteY592" fmla="*/ 277908 h 486704"/>
                  <a:gd name="connsiteX593" fmla="*/ 222426 w 837140"/>
                  <a:gd name="connsiteY593" fmla="*/ 277908 h 486704"/>
                  <a:gd name="connsiteX594" fmla="*/ 222426 w 837140"/>
                  <a:gd name="connsiteY594" fmla="*/ 291536 h 486704"/>
                  <a:gd name="connsiteX595" fmla="*/ 209772 w 837140"/>
                  <a:gd name="connsiteY595" fmla="*/ 291536 h 486704"/>
                  <a:gd name="connsiteX596" fmla="*/ 209772 w 837140"/>
                  <a:gd name="connsiteY596" fmla="*/ 277908 h 486704"/>
                  <a:gd name="connsiteX597" fmla="*/ 199064 w 837140"/>
                  <a:gd name="connsiteY597" fmla="*/ 277908 h 486704"/>
                  <a:gd name="connsiteX598" fmla="*/ 199064 w 837140"/>
                  <a:gd name="connsiteY598" fmla="*/ 296403 h 486704"/>
                  <a:gd name="connsiteX599" fmla="*/ 638076 w 837140"/>
                  <a:gd name="connsiteY599" fmla="*/ 296403 h 486704"/>
                  <a:gd name="connsiteX600" fmla="*/ 638076 w 837140"/>
                  <a:gd name="connsiteY600" fmla="*/ 296403 h 486704"/>
                  <a:gd name="connsiteX601" fmla="*/ 461887 w 837140"/>
                  <a:gd name="connsiteY601" fmla="*/ 330472 h 486704"/>
                  <a:gd name="connsiteX602" fmla="*/ 493037 w 837140"/>
                  <a:gd name="connsiteY602" fmla="*/ 352861 h 486704"/>
                  <a:gd name="connsiteX603" fmla="*/ 493037 w 837140"/>
                  <a:gd name="connsiteY603" fmla="*/ 367462 h 486704"/>
                  <a:gd name="connsiteX604" fmla="*/ 550469 w 837140"/>
                  <a:gd name="connsiteY604" fmla="*/ 367462 h 486704"/>
                  <a:gd name="connsiteX605" fmla="*/ 550469 w 837140"/>
                  <a:gd name="connsiteY605" fmla="*/ 332419 h 486704"/>
                  <a:gd name="connsiteX606" fmla="*/ 476489 w 837140"/>
                  <a:gd name="connsiteY606" fmla="*/ 332419 h 486704"/>
                  <a:gd name="connsiteX607" fmla="*/ 476489 w 837140"/>
                  <a:gd name="connsiteY607" fmla="*/ 321711 h 486704"/>
                  <a:gd name="connsiteX608" fmla="*/ 361625 w 837140"/>
                  <a:gd name="connsiteY608" fmla="*/ 321711 h 486704"/>
                  <a:gd name="connsiteX609" fmla="*/ 361625 w 837140"/>
                  <a:gd name="connsiteY609" fmla="*/ 332419 h 486704"/>
                  <a:gd name="connsiteX610" fmla="*/ 287645 w 837140"/>
                  <a:gd name="connsiteY610" fmla="*/ 332419 h 486704"/>
                  <a:gd name="connsiteX611" fmla="*/ 287645 w 837140"/>
                  <a:gd name="connsiteY611" fmla="*/ 367462 h 486704"/>
                  <a:gd name="connsiteX612" fmla="*/ 345077 w 837140"/>
                  <a:gd name="connsiteY612" fmla="*/ 367462 h 486704"/>
                  <a:gd name="connsiteX613" fmla="*/ 345077 w 837140"/>
                  <a:gd name="connsiteY613" fmla="*/ 352861 h 486704"/>
                  <a:gd name="connsiteX614" fmla="*/ 376227 w 837140"/>
                  <a:gd name="connsiteY614" fmla="*/ 330472 h 486704"/>
                  <a:gd name="connsiteX615" fmla="*/ 461887 w 837140"/>
                  <a:gd name="connsiteY615" fmla="*/ 330472 h 486704"/>
                  <a:gd name="connsiteX616" fmla="*/ 461887 w 837140"/>
                  <a:gd name="connsiteY616" fmla="*/ 330472 h 486704"/>
                  <a:gd name="connsiteX617" fmla="*/ 431711 w 837140"/>
                  <a:gd name="connsiteY617" fmla="*/ 348967 h 486704"/>
                  <a:gd name="connsiteX618" fmla="*/ 453127 w 837140"/>
                  <a:gd name="connsiteY618" fmla="*/ 372329 h 486704"/>
                  <a:gd name="connsiteX619" fmla="*/ 453127 w 837140"/>
                  <a:gd name="connsiteY619" fmla="*/ 422946 h 486704"/>
                  <a:gd name="connsiteX620" fmla="*/ 463834 w 837140"/>
                  <a:gd name="connsiteY620" fmla="*/ 422946 h 486704"/>
                  <a:gd name="connsiteX621" fmla="*/ 463834 w 837140"/>
                  <a:gd name="connsiteY621" fmla="*/ 352861 h 486704"/>
                  <a:gd name="connsiteX622" fmla="*/ 455073 w 837140"/>
                  <a:gd name="connsiteY622" fmla="*/ 344100 h 486704"/>
                  <a:gd name="connsiteX623" fmla="*/ 380120 w 837140"/>
                  <a:gd name="connsiteY623" fmla="*/ 344100 h 486704"/>
                  <a:gd name="connsiteX624" fmla="*/ 371360 w 837140"/>
                  <a:gd name="connsiteY624" fmla="*/ 352861 h 486704"/>
                  <a:gd name="connsiteX625" fmla="*/ 371360 w 837140"/>
                  <a:gd name="connsiteY625" fmla="*/ 422946 h 486704"/>
                  <a:gd name="connsiteX626" fmla="*/ 382067 w 837140"/>
                  <a:gd name="connsiteY626" fmla="*/ 422946 h 486704"/>
                  <a:gd name="connsiteX627" fmla="*/ 382067 w 837140"/>
                  <a:gd name="connsiteY627" fmla="*/ 372329 h 486704"/>
                  <a:gd name="connsiteX628" fmla="*/ 403482 w 837140"/>
                  <a:gd name="connsiteY628" fmla="*/ 348967 h 486704"/>
                  <a:gd name="connsiteX629" fmla="*/ 431711 w 837140"/>
                  <a:gd name="connsiteY629" fmla="*/ 348967 h 486704"/>
                  <a:gd name="connsiteX630" fmla="*/ 431711 w 837140"/>
                  <a:gd name="connsiteY630" fmla="*/ 348967 h 486704"/>
                  <a:gd name="connsiteX631" fmla="*/ 437552 w 837140"/>
                  <a:gd name="connsiteY631" fmla="*/ 372329 h 486704"/>
                  <a:gd name="connsiteX632" fmla="*/ 437552 w 837140"/>
                  <a:gd name="connsiteY632" fmla="*/ 422946 h 486704"/>
                  <a:gd name="connsiteX633" fmla="*/ 445339 w 837140"/>
                  <a:gd name="connsiteY633" fmla="*/ 422946 h 486704"/>
                  <a:gd name="connsiteX634" fmla="*/ 445339 w 837140"/>
                  <a:gd name="connsiteY634" fmla="*/ 368435 h 486704"/>
                  <a:gd name="connsiteX635" fmla="*/ 432685 w 837140"/>
                  <a:gd name="connsiteY635" fmla="*/ 355781 h 486704"/>
                  <a:gd name="connsiteX636" fmla="*/ 404456 w 837140"/>
                  <a:gd name="connsiteY636" fmla="*/ 355781 h 486704"/>
                  <a:gd name="connsiteX637" fmla="*/ 391801 w 837140"/>
                  <a:gd name="connsiteY637" fmla="*/ 368435 h 486704"/>
                  <a:gd name="connsiteX638" fmla="*/ 391801 w 837140"/>
                  <a:gd name="connsiteY638" fmla="*/ 422946 h 486704"/>
                  <a:gd name="connsiteX639" fmla="*/ 399589 w 837140"/>
                  <a:gd name="connsiteY639" fmla="*/ 422946 h 486704"/>
                  <a:gd name="connsiteX640" fmla="*/ 399589 w 837140"/>
                  <a:gd name="connsiteY640" fmla="*/ 372329 h 486704"/>
                  <a:gd name="connsiteX641" fmla="*/ 437552 w 837140"/>
                  <a:gd name="connsiteY641" fmla="*/ 372329 h 486704"/>
                  <a:gd name="connsiteX642" fmla="*/ 437552 w 837140"/>
                  <a:gd name="connsiteY642" fmla="*/ 372329 h 486704"/>
                  <a:gd name="connsiteX643" fmla="*/ 430738 w 837140"/>
                  <a:gd name="connsiteY643" fmla="*/ 422946 h 486704"/>
                  <a:gd name="connsiteX644" fmla="*/ 430738 w 837140"/>
                  <a:gd name="connsiteY644" fmla="*/ 386930 h 486704"/>
                  <a:gd name="connsiteX645" fmla="*/ 426844 w 837140"/>
                  <a:gd name="connsiteY645" fmla="*/ 384983 h 486704"/>
                  <a:gd name="connsiteX646" fmla="*/ 411269 w 837140"/>
                  <a:gd name="connsiteY646" fmla="*/ 384983 h 486704"/>
                  <a:gd name="connsiteX647" fmla="*/ 407376 w 837140"/>
                  <a:gd name="connsiteY647" fmla="*/ 386930 h 486704"/>
                  <a:gd name="connsiteX648" fmla="*/ 407376 w 837140"/>
                  <a:gd name="connsiteY648" fmla="*/ 422946 h 486704"/>
                  <a:gd name="connsiteX649" fmla="*/ 430738 w 837140"/>
                  <a:gd name="connsiteY649" fmla="*/ 422946 h 486704"/>
                  <a:gd name="connsiteX650" fmla="*/ 430738 w 837140"/>
                  <a:gd name="connsiteY650" fmla="*/ 422946 h 486704"/>
                  <a:gd name="connsiteX651" fmla="*/ 361625 w 837140"/>
                  <a:gd name="connsiteY651" fmla="*/ 457015 h 486704"/>
                  <a:gd name="connsiteX652" fmla="*/ 475515 w 837140"/>
                  <a:gd name="connsiteY652" fmla="*/ 457015 h 486704"/>
                  <a:gd name="connsiteX653" fmla="*/ 475515 w 837140"/>
                  <a:gd name="connsiteY653" fmla="*/ 466749 h 486704"/>
                  <a:gd name="connsiteX654" fmla="*/ 361625 w 837140"/>
                  <a:gd name="connsiteY654" fmla="*/ 466749 h 486704"/>
                  <a:gd name="connsiteX655" fmla="*/ 361625 w 837140"/>
                  <a:gd name="connsiteY655" fmla="*/ 457015 h 486704"/>
                  <a:gd name="connsiteX656" fmla="*/ 361625 w 837140"/>
                  <a:gd name="connsiteY656" fmla="*/ 457015 h 486704"/>
                  <a:gd name="connsiteX657" fmla="*/ 343130 w 837140"/>
                  <a:gd name="connsiteY657" fmla="*/ 472590 h 486704"/>
                  <a:gd name="connsiteX658" fmla="*/ 494984 w 837140"/>
                  <a:gd name="connsiteY658" fmla="*/ 472590 h 486704"/>
                  <a:gd name="connsiteX659" fmla="*/ 494984 w 837140"/>
                  <a:gd name="connsiteY659" fmla="*/ 482324 h 486704"/>
                  <a:gd name="connsiteX660" fmla="*/ 343130 w 837140"/>
                  <a:gd name="connsiteY660" fmla="*/ 482324 h 486704"/>
                  <a:gd name="connsiteX661" fmla="*/ 343130 w 837140"/>
                  <a:gd name="connsiteY661" fmla="*/ 472590 h 486704"/>
                  <a:gd name="connsiteX662" fmla="*/ 343130 w 837140"/>
                  <a:gd name="connsiteY662" fmla="*/ 472590 h 486704"/>
                  <a:gd name="connsiteX663" fmla="*/ 382067 w 837140"/>
                  <a:gd name="connsiteY663" fmla="*/ 442414 h 486704"/>
                  <a:gd name="connsiteX664" fmla="*/ 455073 w 837140"/>
                  <a:gd name="connsiteY664" fmla="*/ 442414 h 486704"/>
                  <a:gd name="connsiteX665" fmla="*/ 455073 w 837140"/>
                  <a:gd name="connsiteY665" fmla="*/ 452148 h 486704"/>
                  <a:gd name="connsiteX666" fmla="*/ 382067 w 837140"/>
                  <a:gd name="connsiteY666" fmla="*/ 452148 h 486704"/>
                  <a:gd name="connsiteX667" fmla="*/ 382067 w 837140"/>
                  <a:gd name="connsiteY667" fmla="*/ 442414 h 48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Lst>
                <a:rect l="l" t="t" r="r" b="b"/>
                <a:pathLst>
                  <a:path w="837140" h="486704">
                    <a:moveTo>
                      <a:pt x="819132" y="306137"/>
                    </a:moveTo>
                    <a:lnTo>
                      <a:pt x="781169" y="306137"/>
                    </a:lnTo>
                    <a:lnTo>
                      <a:pt x="781169" y="345073"/>
                    </a:lnTo>
                    <a:lnTo>
                      <a:pt x="819132" y="345073"/>
                    </a:lnTo>
                    <a:lnTo>
                      <a:pt x="819132" y="306137"/>
                    </a:lnTo>
                    <a:lnTo>
                      <a:pt x="819132" y="306137"/>
                    </a:lnTo>
                    <a:close/>
                    <a:moveTo>
                      <a:pt x="413216" y="16061"/>
                    </a:moveTo>
                    <a:lnTo>
                      <a:pt x="417110" y="16061"/>
                    </a:lnTo>
                    <a:lnTo>
                      <a:pt x="417110" y="7301"/>
                    </a:lnTo>
                    <a:lnTo>
                      <a:pt x="419057" y="7301"/>
                    </a:lnTo>
                    <a:lnTo>
                      <a:pt x="421004" y="7301"/>
                    </a:lnTo>
                    <a:lnTo>
                      <a:pt x="421004" y="16061"/>
                    </a:lnTo>
                    <a:lnTo>
                      <a:pt x="424898" y="16061"/>
                    </a:lnTo>
                    <a:lnTo>
                      <a:pt x="424898" y="25795"/>
                    </a:lnTo>
                    <a:lnTo>
                      <a:pt x="421004" y="25795"/>
                    </a:lnTo>
                    <a:lnTo>
                      <a:pt x="421004" y="45263"/>
                    </a:lnTo>
                    <a:lnTo>
                      <a:pt x="423924" y="53051"/>
                    </a:lnTo>
                    <a:lnTo>
                      <a:pt x="423924" y="79333"/>
                    </a:lnTo>
                    <a:lnTo>
                      <a:pt x="431711" y="89067"/>
                    </a:lnTo>
                    <a:lnTo>
                      <a:pt x="431711" y="131897"/>
                    </a:lnTo>
                    <a:lnTo>
                      <a:pt x="442419" y="131897"/>
                    </a:lnTo>
                    <a:lnTo>
                      <a:pt x="442419" y="212690"/>
                    </a:lnTo>
                    <a:lnTo>
                      <a:pt x="454100" y="212690"/>
                    </a:lnTo>
                    <a:lnTo>
                      <a:pt x="454100" y="202955"/>
                    </a:lnTo>
                    <a:lnTo>
                      <a:pt x="466754" y="202955"/>
                    </a:lnTo>
                    <a:lnTo>
                      <a:pt x="466754" y="249679"/>
                    </a:lnTo>
                    <a:lnTo>
                      <a:pt x="640996" y="249679"/>
                    </a:lnTo>
                    <a:lnTo>
                      <a:pt x="640996" y="222424"/>
                    </a:lnTo>
                    <a:lnTo>
                      <a:pt x="650731" y="222424"/>
                    </a:lnTo>
                    <a:lnTo>
                      <a:pt x="650731" y="230211"/>
                    </a:lnTo>
                    <a:lnTo>
                      <a:pt x="682854" y="230211"/>
                    </a:lnTo>
                    <a:lnTo>
                      <a:pt x="682854" y="221450"/>
                    </a:lnTo>
                    <a:lnTo>
                      <a:pt x="692588" y="221450"/>
                    </a:lnTo>
                    <a:lnTo>
                      <a:pt x="692588" y="248706"/>
                    </a:lnTo>
                    <a:lnTo>
                      <a:pt x="829840" y="248706"/>
                    </a:lnTo>
                    <a:lnTo>
                      <a:pt x="829840" y="432680"/>
                    </a:lnTo>
                    <a:lnTo>
                      <a:pt x="7301" y="432680"/>
                    </a:lnTo>
                    <a:lnTo>
                      <a:pt x="7301" y="248706"/>
                    </a:lnTo>
                    <a:lnTo>
                      <a:pt x="144553" y="248706"/>
                    </a:lnTo>
                    <a:lnTo>
                      <a:pt x="144553" y="221450"/>
                    </a:lnTo>
                    <a:lnTo>
                      <a:pt x="154287" y="221450"/>
                    </a:lnTo>
                    <a:lnTo>
                      <a:pt x="154287" y="230211"/>
                    </a:lnTo>
                    <a:lnTo>
                      <a:pt x="186410" y="230211"/>
                    </a:lnTo>
                    <a:lnTo>
                      <a:pt x="186410" y="222424"/>
                    </a:lnTo>
                    <a:lnTo>
                      <a:pt x="196144" y="222424"/>
                    </a:lnTo>
                    <a:lnTo>
                      <a:pt x="196144" y="249679"/>
                    </a:lnTo>
                    <a:lnTo>
                      <a:pt x="370386" y="249679"/>
                    </a:lnTo>
                    <a:lnTo>
                      <a:pt x="370386" y="202955"/>
                    </a:lnTo>
                    <a:lnTo>
                      <a:pt x="383040" y="202955"/>
                    </a:lnTo>
                    <a:lnTo>
                      <a:pt x="383040" y="212690"/>
                    </a:lnTo>
                    <a:lnTo>
                      <a:pt x="394722" y="212690"/>
                    </a:lnTo>
                    <a:lnTo>
                      <a:pt x="394722" y="131897"/>
                    </a:lnTo>
                    <a:lnTo>
                      <a:pt x="405429" y="131897"/>
                    </a:lnTo>
                    <a:lnTo>
                      <a:pt x="405429" y="89067"/>
                    </a:lnTo>
                    <a:lnTo>
                      <a:pt x="413216" y="79333"/>
                    </a:lnTo>
                    <a:lnTo>
                      <a:pt x="413216" y="53051"/>
                    </a:lnTo>
                    <a:lnTo>
                      <a:pt x="416137" y="45263"/>
                    </a:lnTo>
                    <a:lnTo>
                      <a:pt x="416137" y="25795"/>
                    </a:lnTo>
                    <a:lnTo>
                      <a:pt x="412243" y="25795"/>
                    </a:lnTo>
                    <a:lnTo>
                      <a:pt x="412243" y="16061"/>
                    </a:lnTo>
                    <a:lnTo>
                      <a:pt x="413216" y="16061"/>
                    </a:lnTo>
                    <a:close/>
                    <a:moveTo>
                      <a:pt x="819132" y="347994"/>
                    </a:moveTo>
                    <a:lnTo>
                      <a:pt x="769488" y="347994"/>
                    </a:lnTo>
                    <a:lnTo>
                      <a:pt x="769488" y="379142"/>
                    </a:lnTo>
                    <a:lnTo>
                      <a:pt x="819132" y="379142"/>
                    </a:lnTo>
                    <a:lnTo>
                      <a:pt x="819132" y="347994"/>
                    </a:lnTo>
                    <a:lnTo>
                      <a:pt x="819132" y="347994"/>
                    </a:lnTo>
                    <a:close/>
                    <a:moveTo>
                      <a:pt x="819132" y="382063"/>
                    </a:moveTo>
                    <a:lnTo>
                      <a:pt x="760727" y="382063"/>
                    </a:lnTo>
                    <a:lnTo>
                      <a:pt x="760727" y="407371"/>
                    </a:lnTo>
                    <a:lnTo>
                      <a:pt x="780195" y="407371"/>
                    </a:lnTo>
                    <a:lnTo>
                      <a:pt x="780195" y="388877"/>
                    </a:lnTo>
                    <a:lnTo>
                      <a:pt x="790903" y="388877"/>
                    </a:lnTo>
                    <a:lnTo>
                      <a:pt x="790903" y="407371"/>
                    </a:lnTo>
                    <a:lnTo>
                      <a:pt x="799664" y="407371"/>
                    </a:lnTo>
                    <a:lnTo>
                      <a:pt x="799664" y="421972"/>
                    </a:lnTo>
                    <a:lnTo>
                      <a:pt x="819132" y="421972"/>
                    </a:lnTo>
                    <a:lnTo>
                      <a:pt x="819132" y="382063"/>
                    </a:lnTo>
                    <a:lnTo>
                      <a:pt x="819132" y="382063"/>
                    </a:lnTo>
                    <a:close/>
                    <a:moveTo>
                      <a:pt x="683827" y="306137"/>
                    </a:moveTo>
                    <a:lnTo>
                      <a:pt x="683827" y="345073"/>
                    </a:lnTo>
                    <a:lnTo>
                      <a:pt x="726657" y="345073"/>
                    </a:lnTo>
                    <a:lnTo>
                      <a:pt x="726657" y="306137"/>
                    </a:lnTo>
                    <a:lnTo>
                      <a:pt x="683827" y="306137"/>
                    </a:lnTo>
                    <a:lnTo>
                      <a:pt x="683827" y="306137"/>
                    </a:lnTo>
                    <a:close/>
                    <a:moveTo>
                      <a:pt x="683827" y="347994"/>
                    </a:moveTo>
                    <a:lnTo>
                      <a:pt x="683827" y="379142"/>
                    </a:lnTo>
                    <a:lnTo>
                      <a:pt x="741259" y="379142"/>
                    </a:lnTo>
                    <a:lnTo>
                      <a:pt x="741259" y="347994"/>
                    </a:lnTo>
                    <a:lnTo>
                      <a:pt x="683827" y="347994"/>
                    </a:lnTo>
                    <a:lnTo>
                      <a:pt x="683827" y="347994"/>
                    </a:lnTo>
                    <a:close/>
                    <a:moveTo>
                      <a:pt x="683827" y="382063"/>
                    </a:moveTo>
                    <a:lnTo>
                      <a:pt x="683827" y="421972"/>
                    </a:lnTo>
                    <a:lnTo>
                      <a:pt x="710109" y="421972"/>
                    </a:lnTo>
                    <a:lnTo>
                      <a:pt x="710109" y="407371"/>
                    </a:lnTo>
                    <a:lnTo>
                      <a:pt x="716923" y="407371"/>
                    </a:lnTo>
                    <a:lnTo>
                      <a:pt x="716923" y="388877"/>
                    </a:lnTo>
                    <a:lnTo>
                      <a:pt x="728604" y="388877"/>
                    </a:lnTo>
                    <a:lnTo>
                      <a:pt x="728604" y="407371"/>
                    </a:lnTo>
                    <a:lnTo>
                      <a:pt x="750993" y="407371"/>
                    </a:lnTo>
                    <a:lnTo>
                      <a:pt x="750993" y="382063"/>
                    </a:lnTo>
                    <a:lnTo>
                      <a:pt x="683827" y="382063"/>
                    </a:lnTo>
                    <a:lnTo>
                      <a:pt x="683827" y="382063"/>
                    </a:lnTo>
                    <a:close/>
                    <a:moveTo>
                      <a:pt x="683827" y="269147"/>
                    </a:moveTo>
                    <a:lnTo>
                      <a:pt x="683827" y="302243"/>
                    </a:lnTo>
                    <a:lnTo>
                      <a:pt x="726657" y="302243"/>
                    </a:lnTo>
                    <a:lnTo>
                      <a:pt x="726657" y="269147"/>
                    </a:lnTo>
                    <a:lnTo>
                      <a:pt x="683827" y="269147"/>
                    </a:lnTo>
                    <a:lnTo>
                      <a:pt x="683827" y="269147"/>
                    </a:lnTo>
                    <a:close/>
                    <a:moveTo>
                      <a:pt x="772408" y="270121"/>
                    </a:moveTo>
                    <a:lnTo>
                      <a:pt x="736392" y="270121"/>
                    </a:lnTo>
                    <a:lnTo>
                      <a:pt x="736392" y="341180"/>
                    </a:lnTo>
                    <a:lnTo>
                      <a:pt x="748072" y="341180"/>
                    </a:lnTo>
                    <a:lnTo>
                      <a:pt x="748072" y="371355"/>
                    </a:lnTo>
                    <a:lnTo>
                      <a:pt x="763647" y="371355"/>
                    </a:lnTo>
                    <a:lnTo>
                      <a:pt x="763647" y="341180"/>
                    </a:lnTo>
                    <a:lnTo>
                      <a:pt x="772408" y="341180"/>
                    </a:lnTo>
                    <a:lnTo>
                      <a:pt x="772408" y="270121"/>
                    </a:lnTo>
                    <a:lnTo>
                      <a:pt x="772408" y="270121"/>
                    </a:lnTo>
                    <a:close/>
                    <a:moveTo>
                      <a:pt x="682854" y="239945"/>
                    </a:moveTo>
                    <a:lnTo>
                      <a:pt x="650731" y="239945"/>
                    </a:lnTo>
                    <a:lnTo>
                      <a:pt x="650731" y="250653"/>
                    </a:lnTo>
                    <a:lnTo>
                      <a:pt x="682854" y="250653"/>
                    </a:lnTo>
                    <a:lnTo>
                      <a:pt x="682854" y="239945"/>
                    </a:lnTo>
                    <a:lnTo>
                      <a:pt x="682854" y="239945"/>
                    </a:lnTo>
                    <a:close/>
                    <a:moveTo>
                      <a:pt x="674093" y="264280"/>
                    </a:moveTo>
                    <a:lnTo>
                      <a:pt x="648784" y="264280"/>
                    </a:lnTo>
                    <a:lnTo>
                      <a:pt x="648784" y="422946"/>
                    </a:lnTo>
                    <a:lnTo>
                      <a:pt x="674093" y="422946"/>
                    </a:lnTo>
                    <a:lnTo>
                      <a:pt x="674093" y="264280"/>
                    </a:lnTo>
                    <a:lnTo>
                      <a:pt x="674093" y="264280"/>
                    </a:lnTo>
                    <a:close/>
                    <a:moveTo>
                      <a:pt x="462861" y="300296"/>
                    </a:moveTo>
                    <a:lnTo>
                      <a:pt x="451180" y="300296"/>
                    </a:lnTo>
                    <a:lnTo>
                      <a:pt x="451180" y="318791"/>
                    </a:lnTo>
                    <a:lnTo>
                      <a:pt x="462861" y="318791"/>
                    </a:lnTo>
                    <a:lnTo>
                      <a:pt x="462861" y="300296"/>
                    </a:lnTo>
                    <a:lnTo>
                      <a:pt x="462861" y="300296"/>
                    </a:lnTo>
                    <a:close/>
                    <a:moveTo>
                      <a:pt x="638076" y="300296"/>
                    </a:moveTo>
                    <a:lnTo>
                      <a:pt x="627369" y="300296"/>
                    </a:lnTo>
                    <a:lnTo>
                      <a:pt x="627369" y="322685"/>
                    </a:lnTo>
                    <a:lnTo>
                      <a:pt x="613741" y="322685"/>
                    </a:lnTo>
                    <a:lnTo>
                      <a:pt x="613741" y="300296"/>
                    </a:lnTo>
                    <a:lnTo>
                      <a:pt x="602060" y="300296"/>
                    </a:lnTo>
                    <a:lnTo>
                      <a:pt x="602060" y="322685"/>
                    </a:lnTo>
                    <a:cubicBezTo>
                      <a:pt x="597193" y="322685"/>
                      <a:pt x="593299" y="322685"/>
                      <a:pt x="588432" y="322685"/>
                    </a:cubicBezTo>
                    <a:lnTo>
                      <a:pt x="588432" y="300296"/>
                    </a:lnTo>
                    <a:lnTo>
                      <a:pt x="576751" y="300296"/>
                    </a:lnTo>
                    <a:lnTo>
                      <a:pt x="576751" y="322685"/>
                    </a:lnTo>
                    <a:cubicBezTo>
                      <a:pt x="571884" y="322685"/>
                      <a:pt x="567990" y="322685"/>
                      <a:pt x="563123" y="322685"/>
                    </a:cubicBezTo>
                    <a:lnTo>
                      <a:pt x="563123" y="300296"/>
                    </a:lnTo>
                    <a:lnTo>
                      <a:pt x="551442" y="300296"/>
                    </a:lnTo>
                    <a:lnTo>
                      <a:pt x="551442" y="322685"/>
                    </a:lnTo>
                    <a:cubicBezTo>
                      <a:pt x="546575" y="322685"/>
                      <a:pt x="542681" y="322685"/>
                      <a:pt x="537814" y="322685"/>
                    </a:cubicBezTo>
                    <a:lnTo>
                      <a:pt x="537814" y="300296"/>
                    </a:lnTo>
                    <a:lnTo>
                      <a:pt x="526133" y="300296"/>
                    </a:lnTo>
                    <a:lnTo>
                      <a:pt x="526133" y="322685"/>
                    </a:lnTo>
                    <a:cubicBezTo>
                      <a:pt x="521266" y="322685"/>
                      <a:pt x="517372" y="322685"/>
                      <a:pt x="512505" y="322685"/>
                    </a:cubicBezTo>
                    <a:lnTo>
                      <a:pt x="512505" y="300296"/>
                    </a:lnTo>
                    <a:lnTo>
                      <a:pt x="500824" y="300296"/>
                    </a:lnTo>
                    <a:lnTo>
                      <a:pt x="500824" y="322685"/>
                    </a:lnTo>
                    <a:cubicBezTo>
                      <a:pt x="495957" y="322685"/>
                      <a:pt x="492063" y="322685"/>
                      <a:pt x="487196" y="322685"/>
                    </a:cubicBezTo>
                    <a:lnTo>
                      <a:pt x="487196" y="300296"/>
                    </a:lnTo>
                    <a:lnTo>
                      <a:pt x="475515" y="300296"/>
                    </a:lnTo>
                    <a:lnTo>
                      <a:pt x="475515" y="318791"/>
                    </a:lnTo>
                    <a:lnTo>
                      <a:pt x="479409" y="318791"/>
                    </a:lnTo>
                    <a:lnTo>
                      <a:pt x="479409" y="328525"/>
                    </a:lnTo>
                    <a:lnTo>
                      <a:pt x="638076" y="328525"/>
                    </a:lnTo>
                    <a:lnTo>
                      <a:pt x="638076" y="300296"/>
                    </a:lnTo>
                    <a:lnTo>
                      <a:pt x="638076" y="300296"/>
                    </a:lnTo>
                    <a:close/>
                    <a:moveTo>
                      <a:pt x="618608" y="332419"/>
                    </a:moveTo>
                    <a:lnTo>
                      <a:pt x="599139" y="332419"/>
                    </a:lnTo>
                    <a:lnTo>
                      <a:pt x="599139" y="367462"/>
                    </a:lnTo>
                    <a:lnTo>
                      <a:pt x="618608" y="367462"/>
                    </a:lnTo>
                    <a:lnTo>
                      <a:pt x="618608" y="332419"/>
                    </a:lnTo>
                    <a:lnTo>
                      <a:pt x="618608" y="332419"/>
                    </a:lnTo>
                    <a:close/>
                    <a:moveTo>
                      <a:pt x="595246" y="332419"/>
                    </a:moveTo>
                    <a:lnTo>
                      <a:pt x="575778" y="332419"/>
                    </a:lnTo>
                    <a:lnTo>
                      <a:pt x="575778" y="367462"/>
                    </a:lnTo>
                    <a:lnTo>
                      <a:pt x="595246" y="367462"/>
                    </a:lnTo>
                    <a:lnTo>
                      <a:pt x="595246" y="332419"/>
                    </a:lnTo>
                    <a:lnTo>
                      <a:pt x="595246" y="332419"/>
                    </a:lnTo>
                    <a:close/>
                    <a:moveTo>
                      <a:pt x="572857" y="332419"/>
                    </a:moveTo>
                    <a:lnTo>
                      <a:pt x="553389" y="332419"/>
                    </a:lnTo>
                    <a:lnTo>
                      <a:pt x="553389" y="367462"/>
                    </a:lnTo>
                    <a:lnTo>
                      <a:pt x="572857" y="367462"/>
                    </a:lnTo>
                    <a:lnTo>
                      <a:pt x="572857" y="332419"/>
                    </a:lnTo>
                    <a:lnTo>
                      <a:pt x="572857" y="332419"/>
                    </a:lnTo>
                    <a:close/>
                    <a:moveTo>
                      <a:pt x="638076" y="332419"/>
                    </a:moveTo>
                    <a:lnTo>
                      <a:pt x="621528" y="332419"/>
                    </a:lnTo>
                    <a:lnTo>
                      <a:pt x="621528" y="367462"/>
                    </a:lnTo>
                    <a:lnTo>
                      <a:pt x="638076" y="367462"/>
                    </a:lnTo>
                    <a:lnTo>
                      <a:pt x="638076" y="332419"/>
                    </a:lnTo>
                    <a:lnTo>
                      <a:pt x="638076" y="332419"/>
                    </a:lnTo>
                    <a:close/>
                    <a:moveTo>
                      <a:pt x="638076" y="370382"/>
                    </a:moveTo>
                    <a:lnTo>
                      <a:pt x="492063" y="370382"/>
                    </a:lnTo>
                    <a:lnTo>
                      <a:pt x="492063" y="421972"/>
                    </a:lnTo>
                    <a:lnTo>
                      <a:pt x="546575" y="421972"/>
                    </a:lnTo>
                    <a:lnTo>
                      <a:pt x="546575" y="378169"/>
                    </a:lnTo>
                    <a:lnTo>
                      <a:pt x="556309" y="378169"/>
                    </a:lnTo>
                    <a:lnTo>
                      <a:pt x="556309" y="421972"/>
                    </a:lnTo>
                    <a:lnTo>
                      <a:pt x="568963" y="421972"/>
                    </a:lnTo>
                    <a:lnTo>
                      <a:pt x="568963" y="378169"/>
                    </a:lnTo>
                    <a:lnTo>
                      <a:pt x="578698" y="378169"/>
                    </a:lnTo>
                    <a:lnTo>
                      <a:pt x="578698" y="421972"/>
                    </a:lnTo>
                    <a:lnTo>
                      <a:pt x="591352" y="421972"/>
                    </a:lnTo>
                    <a:lnTo>
                      <a:pt x="591352" y="378169"/>
                    </a:lnTo>
                    <a:lnTo>
                      <a:pt x="601086" y="378169"/>
                    </a:lnTo>
                    <a:lnTo>
                      <a:pt x="601086" y="421972"/>
                    </a:lnTo>
                    <a:lnTo>
                      <a:pt x="613741" y="421972"/>
                    </a:lnTo>
                    <a:lnTo>
                      <a:pt x="613741" y="378169"/>
                    </a:lnTo>
                    <a:lnTo>
                      <a:pt x="623475" y="378169"/>
                    </a:lnTo>
                    <a:lnTo>
                      <a:pt x="623475" y="421972"/>
                    </a:lnTo>
                    <a:lnTo>
                      <a:pt x="637103" y="421972"/>
                    </a:lnTo>
                    <a:lnTo>
                      <a:pt x="637103" y="370382"/>
                    </a:lnTo>
                    <a:lnTo>
                      <a:pt x="638076" y="370382"/>
                    </a:lnTo>
                    <a:close/>
                    <a:moveTo>
                      <a:pt x="819132" y="269147"/>
                    </a:moveTo>
                    <a:lnTo>
                      <a:pt x="781169" y="269147"/>
                    </a:lnTo>
                    <a:lnTo>
                      <a:pt x="781169" y="302243"/>
                    </a:lnTo>
                    <a:lnTo>
                      <a:pt x="819132" y="302243"/>
                    </a:lnTo>
                    <a:lnTo>
                      <a:pt x="819132" y="269147"/>
                    </a:lnTo>
                    <a:lnTo>
                      <a:pt x="819132" y="269147"/>
                    </a:lnTo>
                    <a:close/>
                    <a:moveTo>
                      <a:pt x="424898" y="318791"/>
                    </a:moveTo>
                    <a:lnTo>
                      <a:pt x="437552" y="318791"/>
                    </a:lnTo>
                    <a:lnTo>
                      <a:pt x="437552" y="300296"/>
                    </a:lnTo>
                    <a:lnTo>
                      <a:pt x="424898" y="300296"/>
                    </a:lnTo>
                    <a:lnTo>
                      <a:pt x="424898" y="318791"/>
                    </a:lnTo>
                    <a:lnTo>
                      <a:pt x="424898" y="318791"/>
                    </a:lnTo>
                    <a:close/>
                    <a:moveTo>
                      <a:pt x="17035" y="306137"/>
                    </a:moveTo>
                    <a:lnTo>
                      <a:pt x="17035" y="345073"/>
                    </a:lnTo>
                    <a:lnTo>
                      <a:pt x="54998" y="345073"/>
                    </a:lnTo>
                    <a:lnTo>
                      <a:pt x="54998" y="306137"/>
                    </a:lnTo>
                    <a:lnTo>
                      <a:pt x="17035" y="306137"/>
                    </a:lnTo>
                    <a:lnTo>
                      <a:pt x="17035" y="306137"/>
                    </a:lnTo>
                    <a:close/>
                    <a:moveTo>
                      <a:pt x="17035" y="347994"/>
                    </a:moveTo>
                    <a:lnTo>
                      <a:pt x="17035" y="379142"/>
                    </a:lnTo>
                    <a:lnTo>
                      <a:pt x="66679" y="379142"/>
                    </a:lnTo>
                    <a:lnTo>
                      <a:pt x="66679" y="347994"/>
                    </a:lnTo>
                    <a:lnTo>
                      <a:pt x="17035" y="347994"/>
                    </a:lnTo>
                    <a:lnTo>
                      <a:pt x="17035" y="347994"/>
                    </a:lnTo>
                    <a:close/>
                    <a:moveTo>
                      <a:pt x="17035" y="382063"/>
                    </a:moveTo>
                    <a:lnTo>
                      <a:pt x="17035" y="421972"/>
                    </a:lnTo>
                    <a:lnTo>
                      <a:pt x="36503" y="421972"/>
                    </a:lnTo>
                    <a:lnTo>
                      <a:pt x="36503" y="407371"/>
                    </a:lnTo>
                    <a:lnTo>
                      <a:pt x="45264" y="407371"/>
                    </a:lnTo>
                    <a:lnTo>
                      <a:pt x="45264" y="388877"/>
                    </a:lnTo>
                    <a:lnTo>
                      <a:pt x="55972" y="388877"/>
                    </a:lnTo>
                    <a:lnTo>
                      <a:pt x="55972" y="407371"/>
                    </a:lnTo>
                    <a:lnTo>
                      <a:pt x="75440" y="407371"/>
                    </a:lnTo>
                    <a:lnTo>
                      <a:pt x="75440" y="382063"/>
                    </a:lnTo>
                    <a:lnTo>
                      <a:pt x="17035" y="382063"/>
                    </a:lnTo>
                    <a:lnTo>
                      <a:pt x="17035" y="382063"/>
                    </a:lnTo>
                    <a:close/>
                    <a:moveTo>
                      <a:pt x="153313" y="306137"/>
                    </a:moveTo>
                    <a:lnTo>
                      <a:pt x="110483" y="306137"/>
                    </a:lnTo>
                    <a:lnTo>
                      <a:pt x="110483" y="345073"/>
                    </a:lnTo>
                    <a:lnTo>
                      <a:pt x="153313" y="345073"/>
                    </a:lnTo>
                    <a:lnTo>
                      <a:pt x="153313" y="306137"/>
                    </a:lnTo>
                    <a:lnTo>
                      <a:pt x="153313" y="306137"/>
                    </a:lnTo>
                    <a:close/>
                    <a:moveTo>
                      <a:pt x="153313" y="347994"/>
                    </a:moveTo>
                    <a:lnTo>
                      <a:pt x="95882" y="347994"/>
                    </a:lnTo>
                    <a:lnTo>
                      <a:pt x="95882" y="379142"/>
                    </a:lnTo>
                    <a:lnTo>
                      <a:pt x="153313" y="379142"/>
                    </a:lnTo>
                    <a:lnTo>
                      <a:pt x="153313" y="347994"/>
                    </a:lnTo>
                    <a:lnTo>
                      <a:pt x="153313" y="347994"/>
                    </a:lnTo>
                    <a:close/>
                    <a:moveTo>
                      <a:pt x="153313" y="382063"/>
                    </a:moveTo>
                    <a:lnTo>
                      <a:pt x="86148" y="382063"/>
                    </a:lnTo>
                    <a:lnTo>
                      <a:pt x="86148" y="407371"/>
                    </a:lnTo>
                    <a:lnTo>
                      <a:pt x="108536" y="407371"/>
                    </a:lnTo>
                    <a:lnTo>
                      <a:pt x="108536" y="388877"/>
                    </a:lnTo>
                    <a:lnTo>
                      <a:pt x="120217" y="388877"/>
                    </a:lnTo>
                    <a:lnTo>
                      <a:pt x="120217" y="407371"/>
                    </a:lnTo>
                    <a:lnTo>
                      <a:pt x="127031" y="407371"/>
                    </a:lnTo>
                    <a:lnTo>
                      <a:pt x="127031" y="421972"/>
                    </a:lnTo>
                    <a:lnTo>
                      <a:pt x="153313" y="421972"/>
                    </a:lnTo>
                    <a:lnTo>
                      <a:pt x="153313" y="382063"/>
                    </a:lnTo>
                    <a:lnTo>
                      <a:pt x="153313" y="382063"/>
                    </a:lnTo>
                    <a:close/>
                    <a:moveTo>
                      <a:pt x="153313" y="269147"/>
                    </a:moveTo>
                    <a:lnTo>
                      <a:pt x="110483" y="269147"/>
                    </a:lnTo>
                    <a:lnTo>
                      <a:pt x="110483" y="302243"/>
                    </a:lnTo>
                    <a:lnTo>
                      <a:pt x="153313" y="302243"/>
                    </a:lnTo>
                    <a:lnTo>
                      <a:pt x="153313" y="269147"/>
                    </a:lnTo>
                    <a:lnTo>
                      <a:pt x="153313" y="269147"/>
                    </a:lnTo>
                    <a:close/>
                    <a:moveTo>
                      <a:pt x="64733" y="270121"/>
                    </a:moveTo>
                    <a:lnTo>
                      <a:pt x="64733" y="341180"/>
                    </a:lnTo>
                    <a:lnTo>
                      <a:pt x="73493" y="341180"/>
                    </a:lnTo>
                    <a:lnTo>
                      <a:pt x="73493" y="371355"/>
                    </a:lnTo>
                    <a:lnTo>
                      <a:pt x="89068" y="371355"/>
                    </a:lnTo>
                    <a:lnTo>
                      <a:pt x="89068" y="341180"/>
                    </a:lnTo>
                    <a:lnTo>
                      <a:pt x="100749" y="341180"/>
                    </a:lnTo>
                    <a:lnTo>
                      <a:pt x="100749" y="270121"/>
                    </a:lnTo>
                    <a:lnTo>
                      <a:pt x="64733" y="270121"/>
                    </a:lnTo>
                    <a:lnTo>
                      <a:pt x="64733" y="270121"/>
                    </a:lnTo>
                    <a:close/>
                    <a:moveTo>
                      <a:pt x="154287" y="239945"/>
                    </a:moveTo>
                    <a:lnTo>
                      <a:pt x="154287" y="250653"/>
                    </a:lnTo>
                    <a:lnTo>
                      <a:pt x="186410" y="250653"/>
                    </a:lnTo>
                    <a:lnTo>
                      <a:pt x="186410" y="239945"/>
                    </a:lnTo>
                    <a:lnTo>
                      <a:pt x="154287" y="239945"/>
                    </a:lnTo>
                    <a:lnTo>
                      <a:pt x="154287" y="239945"/>
                    </a:lnTo>
                    <a:close/>
                    <a:moveTo>
                      <a:pt x="163048" y="264280"/>
                    </a:moveTo>
                    <a:lnTo>
                      <a:pt x="163048" y="422946"/>
                    </a:lnTo>
                    <a:lnTo>
                      <a:pt x="188357" y="422946"/>
                    </a:lnTo>
                    <a:lnTo>
                      <a:pt x="188357" y="264280"/>
                    </a:lnTo>
                    <a:lnTo>
                      <a:pt x="163048" y="264280"/>
                    </a:lnTo>
                    <a:lnTo>
                      <a:pt x="163048" y="264280"/>
                    </a:lnTo>
                    <a:close/>
                    <a:moveTo>
                      <a:pt x="374280" y="300296"/>
                    </a:moveTo>
                    <a:lnTo>
                      <a:pt x="374280" y="318791"/>
                    </a:lnTo>
                    <a:lnTo>
                      <a:pt x="385961" y="318791"/>
                    </a:lnTo>
                    <a:lnTo>
                      <a:pt x="385961" y="300296"/>
                    </a:lnTo>
                    <a:lnTo>
                      <a:pt x="374280" y="300296"/>
                    </a:lnTo>
                    <a:lnTo>
                      <a:pt x="374280" y="300296"/>
                    </a:lnTo>
                    <a:close/>
                    <a:moveTo>
                      <a:pt x="198091" y="300296"/>
                    </a:moveTo>
                    <a:lnTo>
                      <a:pt x="198091" y="328525"/>
                    </a:lnTo>
                    <a:lnTo>
                      <a:pt x="356758" y="328525"/>
                    </a:lnTo>
                    <a:lnTo>
                      <a:pt x="356758" y="318791"/>
                    </a:lnTo>
                    <a:lnTo>
                      <a:pt x="360652" y="318791"/>
                    </a:lnTo>
                    <a:lnTo>
                      <a:pt x="360652" y="300296"/>
                    </a:lnTo>
                    <a:lnTo>
                      <a:pt x="348971" y="300296"/>
                    </a:lnTo>
                    <a:lnTo>
                      <a:pt x="348971" y="322685"/>
                    </a:lnTo>
                    <a:cubicBezTo>
                      <a:pt x="344104" y="322685"/>
                      <a:pt x="340210" y="322685"/>
                      <a:pt x="335343" y="322685"/>
                    </a:cubicBezTo>
                    <a:lnTo>
                      <a:pt x="335343" y="300296"/>
                    </a:lnTo>
                    <a:lnTo>
                      <a:pt x="323662" y="300296"/>
                    </a:lnTo>
                    <a:lnTo>
                      <a:pt x="323662" y="322685"/>
                    </a:lnTo>
                    <a:cubicBezTo>
                      <a:pt x="318795" y="322685"/>
                      <a:pt x="314901" y="322685"/>
                      <a:pt x="310034" y="322685"/>
                    </a:cubicBezTo>
                    <a:lnTo>
                      <a:pt x="310034" y="300296"/>
                    </a:lnTo>
                    <a:lnTo>
                      <a:pt x="298353" y="300296"/>
                    </a:lnTo>
                    <a:lnTo>
                      <a:pt x="298353" y="322685"/>
                    </a:lnTo>
                    <a:cubicBezTo>
                      <a:pt x="293486" y="322685"/>
                      <a:pt x="289592" y="322685"/>
                      <a:pt x="284725" y="322685"/>
                    </a:cubicBezTo>
                    <a:lnTo>
                      <a:pt x="284725" y="300296"/>
                    </a:lnTo>
                    <a:lnTo>
                      <a:pt x="273044" y="300296"/>
                    </a:lnTo>
                    <a:lnTo>
                      <a:pt x="273044" y="322685"/>
                    </a:lnTo>
                    <a:cubicBezTo>
                      <a:pt x="268177" y="322685"/>
                      <a:pt x="264283" y="322685"/>
                      <a:pt x="259416" y="322685"/>
                    </a:cubicBezTo>
                    <a:lnTo>
                      <a:pt x="259416" y="300296"/>
                    </a:lnTo>
                    <a:lnTo>
                      <a:pt x="247735" y="300296"/>
                    </a:lnTo>
                    <a:lnTo>
                      <a:pt x="247735" y="322685"/>
                    </a:lnTo>
                    <a:cubicBezTo>
                      <a:pt x="242868" y="322685"/>
                      <a:pt x="238975" y="322685"/>
                      <a:pt x="234107" y="322685"/>
                    </a:cubicBezTo>
                    <a:lnTo>
                      <a:pt x="234107" y="300296"/>
                    </a:lnTo>
                    <a:lnTo>
                      <a:pt x="222426" y="300296"/>
                    </a:lnTo>
                    <a:lnTo>
                      <a:pt x="222426" y="322685"/>
                    </a:lnTo>
                    <a:lnTo>
                      <a:pt x="208798" y="322685"/>
                    </a:lnTo>
                    <a:lnTo>
                      <a:pt x="208798" y="300296"/>
                    </a:lnTo>
                    <a:lnTo>
                      <a:pt x="198091" y="300296"/>
                    </a:lnTo>
                    <a:lnTo>
                      <a:pt x="198091" y="300296"/>
                    </a:lnTo>
                    <a:close/>
                    <a:moveTo>
                      <a:pt x="218533" y="332419"/>
                    </a:moveTo>
                    <a:lnTo>
                      <a:pt x="218533" y="367462"/>
                    </a:lnTo>
                    <a:lnTo>
                      <a:pt x="238001" y="367462"/>
                    </a:lnTo>
                    <a:lnTo>
                      <a:pt x="238001" y="332419"/>
                    </a:lnTo>
                    <a:lnTo>
                      <a:pt x="218533" y="332419"/>
                    </a:lnTo>
                    <a:lnTo>
                      <a:pt x="218533" y="332419"/>
                    </a:lnTo>
                    <a:close/>
                    <a:moveTo>
                      <a:pt x="240921" y="332419"/>
                    </a:moveTo>
                    <a:lnTo>
                      <a:pt x="240921" y="367462"/>
                    </a:lnTo>
                    <a:lnTo>
                      <a:pt x="260390" y="367462"/>
                    </a:lnTo>
                    <a:lnTo>
                      <a:pt x="260390" y="332419"/>
                    </a:lnTo>
                    <a:lnTo>
                      <a:pt x="240921" y="332419"/>
                    </a:lnTo>
                    <a:lnTo>
                      <a:pt x="240921" y="332419"/>
                    </a:lnTo>
                    <a:close/>
                    <a:moveTo>
                      <a:pt x="263310" y="332419"/>
                    </a:moveTo>
                    <a:lnTo>
                      <a:pt x="263310" y="367462"/>
                    </a:lnTo>
                    <a:lnTo>
                      <a:pt x="282778" y="367462"/>
                    </a:lnTo>
                    <a:lnTo>
                      <a:pt x="282778" y="332419"/>
                    </a:lnTo>
                    <a:lnTo>
                      <a:pt x="263310" y="332419"/>
                    </a:lnTo>
                    <a:lnTo>
                      <a:pt x="263310" y="332419"/>
                    </a:lnTo>
                    <a:close/>
                    <a:moveTo>
                      <a:pt x="198091" y="332419"/>
                    </a:moveTo>
                    <a:lnTo>
                      <a:pt x="198091" y="367462"/>
                    </a:lnTo>
                    <a:lnTo>
                      <a:pt x="214639" y="367462"/>
                    </a:lnTo>
                    <a:lnTo>
                      <a:pt x="214639" y="332419"/>
                    </a:lnTo>
                    <a:lnTo>
                      <a:pt x="198091" y="332419"/>
                    </a:lnTo>
                    <a:lnTo>
                      <a:pt x="198091" y="332419"/>
                    </a:lnTo>
                    <a:close/>
                    <a:moveTo>
                      <a:pt x="198091" y="370382"/>
                    </a:moveTo>
                    <a:lnTo>
                      <a:pt x="198091" y="421972"/>
                    </a:lnTo>
                    <a:lnTo>
                      <a:pt x="211719" y="421972"/>
                    </a:lnTo>
                    <a:lnTo>
                      <a:pt x="211719" y="378169"/>
                    </a:lnTo>
                    <a:lnTo>
                      <a:pt x="221453" y="378169"/>
                    </a:lnTo>
                    <a:lnTo>
                      <a:pt x="221453" y="421972"/>
                    </a:lnTo>
                    <a:lnTo>
                      <a:pt x="234107" y="421972"/>
                    </a:lnTo>
                    <a:lnTo>
                      <a:pt x="234107" y="378169"/>
                    </a:lnTo>
                    <a:lnTo>
                      <a:pt x="243842" y="378169"/>
                    </a:lnTo>
                    <a:lnTo>
                      <a:pt x="243842" y="421972"/>
                    </a:lnTo>
                    <a:lnTo>
                      <a:pt x="256496" y="421972"/>
                    </a:lnTo>
                    <a:lnTo>
                      <a:pt x="256496" y="378169"/>
                    </a:lnTo>
                    <a:lnTo>
                      <a:pt x="266230" y="378169"/>
                    </a:lnTo>
                    <a:lnTo>
                      <a:pt x="266230" y="421972"/>
                    </a:lnTo>
                    <a:lnTo>
                      <a:pt x="278885" y="421972"/>
                    </a:lnTo>
                    <a:lnTo>
                      <a:pt x="278885" y="378169"/>
                    </a:lnTo>
                    <a:lnTo>
                      <a:pt x="288619" y="378169"/>
                    </a:lnTo>
                    <a:lnTo>
                      <a:pt x="288619" y="421972"/>
                    </a:lnTo>
                    <a:lnTo>
                      <a:pt x="343130" y="421972"/>
                    </a:lnTo>
                    <a:lnTo>
                      <a:pt x="343130" y="370382"/>
                    </a:lnTo>
                    <a:lnTo>
                      <a:pt x="198091" y="370382"/>
                    </a:lnTo>
                    <a:lnTo>
                      <a:pt x="198091" y="370382"/>
                    </a:lnTo>
                    <a:close/>
                    <a:moveTo>
                      <a:pt x="17035" y="269147"/>
                    </a:moveTo>
                    <a:lnTo>
                      <a:pt x="17035" y="302243"/>
                    </a:lnTo>
                    <a:lnTo>
                      <a:pt x="54998" y="302243"/>
                    </a:lnTo>
                    <a:lnTo>
                      <a:pt x="54998" y="269147"/>
                    </a:lnTo>
                    <a:lnTo>
                      <a:pt x="17035" y="269147"/>
                    </a:lnTo>
                    <a:lnTo>
                      <a:pt x="17035" y="269147"/>
                    </a:lnTo>
                    <a:close/>
                    <a:moveTo>
                      <a:pt x="412243" y="318791"/>
                    </a:moveTo>
                    <a:lnTo>
                      <a:pt x="412243" y="300296"/>
                    </a:lnTo>
                    <a:lnTo>
                      <a:pt x="399589" y="300296"/>
                    </a:lnTo>
                    <a:lnTo>
                      <a:pt x="399589" y="318791"/>
                    </a:lnTo>
                    <a:lnTo>
                      <a:pt x="412243" y="318791"/>
                    </a:lnTo>
                    <a:lnTo>
                      <a:pt x="412243" y="318791"/>
                    </a:lnTo>
                    <a:close/>
                    <a:moveTo>
                      <a:pt x="425871" y="131897"/>
                    </a:moveTo>
                    <a:lnTo>
                      <a:pt x="425871" y="94907"/>
                    </a:lnTo>
                    <a:lnTo>
                      <a:pt x="418084" y="90040"/>
                    </a:lnTo>
                    <a:lnTo>
                      <a:pt x="410296" y="94907"/>
                    </a:lnTo>
                    <a:lnTo>
                      <a:pt x="410296" y="131897"/>
                    </a:lnTo>
                    <a:lnTo>
                      <a:pt x="425871" y="131897"/>
                    </a:lnTo>
                    <a:lnTo>
                      <a:pt x="425871" y="131897"/>
                    </a:lnTo>
                    <a:close/>
                    <a:moveTo>
                      <a:pt x="432685" y="212690"/>
                    </a:moveTo>
                    <a:lnTo>
                      <a:pt x="432685" y="143578"/>
                    </a:lnTo>
                    <a:lnTo>
                      <a:pt x="404456" y="143578"/>
                    </a:lnTo>
                    <a:lnTo>
                      <a:pt x="404456" y="212690"/>
                    </a:lnTo>
                    <a:lnTo>
                      <a:pt x="432685" y="212690"/>
                    </a:lnTo>
                    <a:lnTo>
                      <a:pt x="432685" y="212690"/>
                    </a:lnTo>
                    <a:close/>
                    <a:moveTo>
                      <a:pt x="454100" y="249679"/>
                    </a:moveTo>
                    <a:lnTo>
                      <a:pt x="454100" y="225344"/>
                    </a:lnTo>
                    <a:lnTo>
                      <a:pt x="382067" y="225344"/>
                    </a:lnTo>
                    <a:lnTo>
                      <a:pt x="382067" y="249679"/>
                    </a:lnTo>
                    <a:lnTo>
                      <a:pt x="454100" y="249679"/>
                    </a:lnTo>
                    <a:lnTo>
                      <a:pt x="454100" y="249679"/>
                    </a:lnTo>
                    <a:close/>
                    <a:moveTo>
                      <a:pt x="418084" y="266227"/>
                    </a:moveTo>
                    <a:cubicBezTo>
                      <a:pt x="421977" y="266227"/>
                      <a:pt x="424898" y="269147"/>
                      <a:pt x="424898" y="273041"/>
                    </a:cubicBezTo>
                    <a:lnTo>
                      <a:pt x="424898" y="274988"/>
                    </a:lnTo>
                    <a:lnTo>
                      <a:pt x="437552" y="274988"/>
                    </a:lnTo>
                    <a:lnTo>
                      <a:pt x="437552" y="273041"/>
                    </a:lnTo>
                    <a:cubicBezTo>
                      <a:pt x="437552" y="269147"/>
                      <a:pt x="440472" y="266227"/>
                      <a:pt x="444366" y="266227"/>
                    </a:cubicBezTo>
                    <a:lnTo>
                      <a:pt x="444366" y="266227"/>
                    </a:lnTo>
                    <a:cubicBezTo>
                      <a:pt x="448260" y="266227"/>
                      <a:pt x="451180" y="269147"/>
                      <a:pt x="451180" y="273041"/>
                    </a:cubicBezTo>
                    <a:lnTo>
                      <a:pt x="451180" y="274988"/>
                    </a:lnTo>
                    <a:lnTo>
                      <a:pt x="463834" y="274988"/>
                    </a:lnTo>
                    <a:lnTo>
                      <a:pt x="463834" y="273041"/>
                    </a:lnTo>
                    <a:cubicBezTo>
                      <a:pt x="463834" y="269147"/>
                      <a:pt x="466754" y="266227"/>
                      <a:pt x="470648" y="266227"/>
                    </a:cubicBezTo>
                    <a:lnTo>
                      <a:pt x="470648" y="266227"/>
                    </a:lnTo>
                    <a:cubicBezTo>
                      <a:pt x="474542" y="266227"/>
                      <a:pt x="477462" y="269147"/>
                      <a:pt x="477462" y="273041"/>
                    </a:cubicBezTo>
                    <a:lnTo>
                      <a:pt x="477462" y="274988"/>
                    </a:lnTo>
                    <a:lnTo>
                      <a:pt x="490116" y="274988"/>
                    </a:lnTo>
                    <a:lnTo>
                      <a:pt x="490116" y="273041"/>
                    </a:lnTo>
                    <a:cubicBezTo>
                      <a:pt x="490116" y="269147"/>
                      <a:pt x="493037" y="266227"/>
                      <a:pt x="496931" y="266227"/>
                    </a:cubicBezTo>
                    <a:lnTo>
                      <a:pt x="496931" y="266227"/>
                    </a:lnTo>
                    <a:cubicBezTo>
                      <a:pt x="500824" y="266227"/>
                      <a:pt x="503744" y="269147"/>
                      <a:pt x="503744" y="273041"/>
                    </a:cubicBezTo>
                    <a:lnTo>
                      <a:pt x="503744" y="274988"/>
                    </a:lnTo>
                    <a:lnTo>
                      <a:pt x="516399" y="274988"/>
                    </a:lnTo>
                    <a:lnTo>
                      <a:pt x="516399" y="273041"/>
                    </a:lnTo>
                    <a:cubicBezTo>
                      <a:pt x="516399" y="269147"/>
                      <a:pt x="519319" y="266227"/>
                      <a:pt x="523213" y="266227"/>
                    </a:cubicBezTo>
                    <a:lnTo>
                      <a:pt x="523213" y="266227"/>
                    </a:lnTo>
                    <a:cubicBezTo>
                      <a:pt x="527107" y="266227"/>
                      <a:pt x="530027" y="269147"/>
                      <a:pt x="530027" y="273041"/>
                    </a:cubicBezTo>
                    <a:lnTo>
                      <a:pt x="530027" y="274988"/>
                    </a:lnTo>
                    <a:lnTo>
                      <a:pt x="542681" y="274988"/>
                    </a:lnTo>
                    <a:lnTo>
                      <a:pt x="542681" y="273041"/>
                    </a:lnTo>
                    <a:cubicBezTo>
                      <a:pt x="542681" y="269147"/>
                      <a:pt x="545601" y="266227"/>
                      <a:pt x="549495" y="266227"/>
                    </a:cubicBezTo>
                    <a:lnTo>
                      <a:pt x="549495" y="266227"/>
                    </a:lnTo>
                    <a:cubicBezTo>
                      <a:pt x="553389" y="266227"/>
                      <a:pt x="556309" y="269147"/>
                      <a:pt x="556309" y="273041"/>
                    </a:cubicBezTo>
                    <a:lnTo>
                      <a:pt x="556309" y="274988"/>
                    </a:lnTo>
                    <a:lnTo>
                      <a:pt x="568963" y="274988"/>
                    </a:lnTo>
                    <a:lnTo>
                      <a:pt x="568963" y="273041"/>
                    </a:lnTo>
                    <a:cubicBezTo>
                      <a:pt x="568963" y="269147"/>
                      <a:pt x="571884" y="266227"/>
                      <a:pt x="575778" y="266227"/>
                    </a:cubicBezTo>
                    <a:lnTo>
                      <a:pt x="575778" y="266227"/>
                    </a:lnTo>
                    <a:cubicBezTo>
                      <a:pt x="579671" y="266227"/>
                      <a:pt x="582591" y="269147"/>
                      <a:pt x="582591" y="273041"/>
                    </a:cubicBezTo>
                    <a:lnTo>
                      <a:pt x="582591" y="274988"/>
                    </a:lnTo>
                    <a:lnTo>
                      <a:pt x="595246" y="274988"/>
                    </a:lnTo>
                    <a:lnTo>
                      <a:pt x="595246" y="273041"/>
                    </a:lnTo>
                    <a:cubicBezTo>
                      <a:pt x="595246" y="269147"/>
                      <a:pt x="598166" y="266227"/>
                      <a:pt x="602060" y="266227"/>
                    </a:cubicBezTo>
                    <a:lnTo>
                      <a:pt x="602060" y="266227"/>
                    </a:lnTo>
                    <a:cubicBezTo>
                      <a:pt x="605953" y="266227"/>
                      <a:pt x="608874" y="269147"/>
                      <a:pt x="608874" y="273041"/>
                    </a:cubicBezTo>
                    <a:lnTo>
                      <a:pt x="608874" y="274988"/>
                    </a:lnTo>
                    <a:lnTo>
                      <a:pt x="621528" y="274988"/>
                    </a:lnTo>
                    <a:lnTo>
                      <a:pt x="621528" y="273041"/>
                    </a:lnTo>
                    <a:cubicBezTo>
                      <a:pt x="621528" y="269147"/>
                      <a:pt x="624448" y="266227"/>
                      <a:pt x="628342" y="266227"/>
                    </a:cubicBezTo>
                    <a:lnTo>
                      <a:pt x="628342" y="266227"/>
                    </a:lnTo>
                    <a:cubicBezTo>
                      <a:pt x="632236" y="266227"/>
                      <a:pt x="635156" y="269147"/>
                      <a:pt x="635156" y="273041"/>
                    </a:cubicBezTo>
                    <a:lnTo>
                      <a:pt x="635156" y="274988"/>
                    </a:lnTo>
                    <a:lnTo>
                      <a:pt x="645863" y="274988"/>
                    </a:lnTo>
                    <a:lnTo>
                      <a:pt x="645863" y="259413"/>
                    </a:lnTo>
                    <a:lnTo>
                      <a:pt x="205878" y="259413"/>
                    </a:lnTo>
                    <a:lnTo>
                      <a:pt x="205878" y="274988"/>
                    </a:lnTo>
                    <a:lnTo>
                      <a:pt x="216586" y="274988"/>
                    </a:lnTo>
                    <a:lnTo>
                      <a:pt x="216586" y="273041"/>
                    </a:lnTo>
                    <a:cubicBezTo>
                      <a:pt x="216586" y="269147"/>
                      <a:pt x="219506" y="266227"/>
                      <a:pt x="223400" y="266227"/>
                    </a:cubicBezTo>
                    <a:lnTo>
                      <a:pt x="223400" y="266227"/>
                    </a:lnTo>
                    <a:cubicBezTo>
                      <a:pt x="227293" y="266227"/>
                      <a:pt x="230214" y="269147"/>
                      <a:pt x="230214" y="273041"/>
                    </a:cubicBezTo>
                    <a:lnTo>
                      <a:pt x="230214" y="274988"/>
                    </a:lnTo>
                    <a:lnTo>
                      <a:pt x="242868" y="274988"/>
                    </a:lnTo>
                    <a:lnTo>
                      <a:pt x="242868" y="273041"/>
                    </a:lnTo>
                    <a:cubicBezTo>
                      <a:pt x="242868" y="269147"/>
                      <a:pt x="245788" y="266227"/>
                      <a:pt x="249682" y="266227"/>
                    </a:cubicBezTo>
                    <a:lnTo>
                      <a:pt x="249682" y="266227"/>
                    </a:lnTo>
                    <a:cubicBezTo>
                      <a:pt x="253576" y="266227"/>
                      <a:pt x="256496" y="269147"/>
                      <a:pt x="256496" y="273041"/>
                    </a:cubicBezTo>
                    <a:lnTo>
                      <a:pt x="256496" y="274988"/>
                    </a:lnTo>
                    <a:lnTo>
                      <a:pt x="269151" y="274988"/>
                    </a:lnTo>
                    <a:lnTo>
                      <a:pt x="269151" y="273041"/>
                    </a:lnTo>
                    <a:cubicBezTo>
                      <a:pt x="269151" y="269147"/>
                      <a:pt x="272071" y="266227"/>
                      <a:pt x="275964" y="266227"/>
                    </a:cubicBezTo>
                    <a:lnTo>
                      <a:pt x="275964" y="266227"/>
                    </a:lnTo>
                    <a:cubicBezTo>
                      <a:pt x="279858" y="266227"/>
                      <a:pt x="282778" y="269147"/>
                      <a:pt x="282778" y="273041"/>
                    </a:cubicBezTo>
                    <a:lnTo>
                      <a:pt x="282778" y="274988"/>
                    </a:lnTo>
                    <a:lnTo>
                      <a:pt x="295433" y="274988"/>
                    </a:lnTo>
                    <a:lnTo>
                      <a:pt x="295433" y="273041"/>
                    </a:lnTo>
                    <a:cubicBezTo>
                      <a:pt x="295433" y="269147"/>
                      <a:pt x="298353" y="266227"/>
                      <a:pt x="302247" y="266227"/>
                    </a:cubicBezTo>
                    <a:lnTo>
                      <a:pt x="302247" y="266227"/>
                    </a:lnTo>
                    <a:cubicBezTo>
                      <a:pt x="306140" y="266227"/>
                      <a:pt x="309060" y="269147"/>
                      <a:pt x="309060" y="273041"/>
                    </a:cubicBezTo>
                    <a:lnTo>
                      <a:pt x="309060" y="274988"/>
                    </a:lnTo>
                    <a:lnTo>
                      <a:pt x="321715" y="274988"/>
                    </a:lnTo>
                    <a:lnTo>
                      <a:pt x="321715" y="273041"/>
                    </a:lnTo>
                    <a:cubicBezTo>
                      <a:pt x="321715" y="269147"/>
                      <a:pt x="324635" y="266227"/>
                      <a:pt x="328529" y="266227"/>
                    </a:cubicBezTo>
                    <a:lnTo>
                      <a:pt x="328529" y="266227"/>
                    </a:lnTo>
                    <a:cubicBezTo>
                      <a:pt x="332423" y="266227"/>
                      <a:pt x="335343" y="269147"/>
                      <a:pt x="335343" y="273041"/>
                    </a:cubicBezTo>
                    <a:lnTo>
                      <a:pt x="335343" y="274988"/>
                    </a:lnTo>
                    <a:lnTo>
                      <a:pt x="347997" y="274988"/>
                    </a:lnTo>
                    <a:lnTo>
                      <a:pt x="347997" y="273041"/>
                    </a:lnTo>
                    <a:cubicBezTo>
                      <a:pt x="347997" y="269147"/>
                      <a:pt x="350918" y="266227"/>
                      <a:pt x="354811" y="266227"/>
                    </a:cubicBezTo>
                    <a:lnTo>
                      <a:pt x="354811" y="266227"/>
                    </a:lnTo>
                    <a:cubicBezTo>
                      <a:pt x="358705" y="266227"/>
                      <a:pt x="361625" y="269147"/>
                      <a:pt x="361625" y="273041"/>
                    </a:cubicBezTo>
                    <a:lnTo>
                      <a:pt x="361625" y="274988"/>
                    </a:lnTo>
                    <a:lnTo>
                      <a:pt x="374280" y="274988"/>
                    </a:lnTo>
                    <a:lnTo>
                      <a:pt x="374280" y="273041"/>
                    </a:lnTo>
                    <a:cubicBezTo>
                      <a:pt x="374280" y="269147"/>
                      <a:pt x="377200" y="266227"/>
                      <a:pt x="381094" y="266227"/>
                    </a:cubicBezTo>
                    <a:lnTo>
                      <a:pt x="381094" y="266227"/>
                    </a:lnTo>
                    <a:cubicBezTo>
                      <a:pt x="384987" y="266227"/>
                      <a:pt x="387907" y="269147"/>
                      <a:pt x="387907" y="273041"/>
                    </a:cubicBezTo>
                    <a:lnTo>
                      <a:pt x="387907" y="274988"/>
                    </a:lnTo>
                    <a:lnTo>
                      <a:pt x="400562" y="274988"/>
                    </a:lnTo>
                    <a:lnTo>
                      <a:pt x="400562" y="273041"/>
                    </a:lnTo>
                    <a:cubicBezTo>
                      <a:pt x="400562" y="269147"/>
                      <a:pt x="403482" y="266227"/>
                      <a:pt x="407376" y="266227"/>
                    </a:cubicBezTo>
                    <a:lnTo>
                      <a:pt x="407376" y="266227"/>
                    </a:lnTo>
                    <a:cubicBezTo>
                      <a:pt x="411269" y="266227"/>
                      <a:pt x="414190" y="269147"/>
                      <a:pt x="414190" y="273041"/>
                    </a:cubicBezTo>
                    <a:lnTo>
                      <a:pt x="414190" y="274988"/>
                    </a:lnTo>
                    <a:lnTo>
                      <a:pt x="426844" y="274988"/>
                    </a:lnTo>
                    <a:lnTo>
                      <a:pt x="426844" y="273041"/>
                    </a:lnTo>
                    <a:cubicBezTo>
                      <a:pt x="412243" y="269147"/>
                      <a:pt x="415163" y="266227"/>
                      <a:pt x="418084" y="266227"/>
                    </a:cubicBezTo>
                    <a:lnTo>
                      <a:pt x="418084" y="266227"/>
                    </a:lnTo>
                    <a:lnTo>
                      <a:pt x="418084" y="266227"/>
                    </a:lnTo>
                    <a:lnTo>
                      <a:pt x="418084" y="266227"/>
                    </a:lnTo>
                    <a:close/>
                    <a:moveTo>
                      <a:pt x="638076" y="296403"/>
                    </a:moveTo>
                    <a:lnTo>
                      <a:pt x="638076" y="277908"/>
                    </a:lnTo>
                    <a:lnTo>
                      <a:pt x="627369" y="277908"/>
                    </a:lnTo>
                    <a:lnTo>
                      <a:pt x="627369" y="291536"/>
                    </a:lnTo>
                    <a:lnTo>
                      <a:pt x="614714" y="291536"/>
                    </a:lnTo>
                    <a:lnTo>
                      <a:pt x="614714" y="277908"/>
                    </a:lnTo>
                    <a:lnTo>
                      <a:pt x="602060" y="277908"/>
                    </a:lnTo>
                    <a:lnTo>
                      <a:pt x="602060" y="291536"/>
                    </a:lnTo>
                    <a:cubicBezTo>
                      <a:pt x="598166" y="291536"/>
                      <a:pt x="593299" y="291536"/>
                      <a:pt x="589405" y="291536"/>
                    </a:cubicBezTo>
                    <a:lnTo>
                      <a:pt x="589405" y="277908"/>
                    </a:lnTo>
                    <a:lnTo>
                      <a:pt x="576751" y="277908"/>
                    </a:lnTo>
                    <a:lnTo>
                      <a:pt x="576751" y="291536"/>
                    </a:lnTo>
                    <a:cubicBezTo>
                      <a:pt x="572857" y="291536"/>
                      <a:pt x="567990" y="291536"/>
                      <a:pt x="564096" y="291536"/>
                    </a:cubicBezTo>
                    <a:lnTo>
                      <a:pt x="564096" y="277908"/>
                    </a:lnTo>
                    <a:lnTo>
                      <a:pt x="551442" y="277908"/>
                    </a:lnTo>
                    <a:lnTo>
                      <a:pt x="551442" y="291536"/>
                    </a:lnTo>
                    <a:cubicBezTo>
                      <a:pt x="547548" y="291536"/>
                      <a:pt x="542681" y="291536"/>
                      <a:pt x="538787" y="291536"/>
                    </a:cubicBezTo>
                    <a:lnTo>
                      <a:pt x="538787" y="277908"/>
                    </a:lnTo>
                    <a:lnTo>
                      <a:pt x="526133" y="277908"/>
                    </a:lnTo>
                    <a:lnTo>
                      <a:pt x="526133" y="291536"/>
                    </a:lnTo>
                    <a:cubicBezTo>
                      <a:pt x="522239" y="291536"/>
                      <a:pt x="517372" y="291536"/>
                      <a:pt x="513478" y="291536"/>
                    </a:cubicBezTo>
                    <a:lnTo>
                      <a:pt x="513478" y="277908"/>
                    </a:lnTo>
                    <a:lnTo>
                      <a:pt x="500824" y="277908"/>
                    </a:lnTo>
                    <a:lnTo>
                      <a:pt x="500824" y="291536"/>
                    </a:lnTo>
                    <a:cubicBezTo>
                      <a:pt x="496931" y="291536"/>
                      <a:pt x="492063" y="291536"/>
                      <a:pt x="488170" y="291536"/>
                    </a:cubicBezTo>
                    <a:lnTo>
                      <a:pt x="488170" y="277908"/>
                    </a:lnTo>
                    <a:lnTo>
                      <a:pt x="475515" y="277908"/>
                    </a:lnTo>
                    <a:lnTo>
                      <a:pt x="475515" y="291536"/>
                    </a:lnTo>
                    <a:cubicBezTo>
                      <a:pt x="471622" y="291536"/>
                      <a:pt x="466754" y="291536"/>
                      <a:pt x="462861" y="291536"/>
                    </a:cubicBezTo>
                    <a:lnTo>
                      <a:pt x="462861" y="277908"/>
                    </a:lnTo>
                    <a:lnTo>
                      <a:pt x="450206" y="277908"/>
                    </a:lnTo>
                    <a:lnTo>
                      <a:pt x="450206" y="291536"/>
                    </a:lnTo>
                    <a:cubicBezTo>
                      <a:pt x="446313" y="291536"/>
                      <a:pt x="441446" y="291536"/>
                      <a:pt x="437552" y="291536"/>
                    </a:cubicBezTo>
                    <a:lnTo>
                      <a:pt x="437552" y="277908"/>
                    </a:lnTo>
                    <a:lnTo>
                      <a:pt x="424898" y="277908"/>
                    </a:lnTo>
                    <a:lnTo>
                      <a:pt x="424898" y="291536"/>
                    </a:lnTo>
                    <a:lnTo>
                      <a:pt x="412243" y="291536"/>
                    </a:lnTo>
                    <a:lnTo>
                      <a:pt x="412243" y="277908"/>
                    </a:lnTo>
                    <a:lnTo>
                      <a:pt x="399589" y="277908"/>
                    </a:lnTo>
                    <a:lnTo>
                      <a:pt x="399589" y="291536"/>
                    </a:lnTo>
                    <a:cubicBezTo>
                      <a:pt x="395695" y="291536"/>
                      <a:pt x="390828" y="291536"/>
                      <a:pt x="386934" y="291536"/>
                    </a:cubicBezTo>
                    <a:lnTo>
                      <a:pt x="386934" y="277908"/>
                    </a:lnTo>
                    <a:lnTo>
                      <a:pt x="374280" y="277908"/>
                    </a:lnTo>
                    <a:lnTo>
                      <a:pt x="374280" y="291536"/>
                    </a:lnTo>
                    <a:cubicBezTo>
                      <a:pt x="370386" y="291536"/>
                      <a:pt x="365519" y="291536"/>
                      <a:pt x="361625" y="291536"/>
                    </a:cubicBezTo>
                    <a:lnTo>
                      <a:pt x="361625" y="277908"/>
                    </a:lnTo>
                    <a:lnTo>
                      <a:pt x="348971" y="277908"/>
                    </a:lnTo>
                    <a:lnTo>
                      <a:pt x="348971" y="291536"/>
                    </a:lnTo>
                    <a:cubicBezTo>
                      <a:pt x="345077" y="291536"/>
                      <a:pt x="340210" y="291536"/>
                      <a:pt x="336316" y="291536"/>
                    </a:cubicBezTo>
                    <a:lnTo>
                      <a:pt x="336316" y="277908"/>
                    </a:lnTo>
                    <a:lnTo>
                      <a:pt x="323662" y="277908"/>
                    </a:lnTo>
                    <a:lnTo>
                      <a:pt x="323662" y="291536"/>
                    </a:lnTo>
                    <a:cubicBezTo>
                      <a:pt x="319768" y="291536"/>
                      <a:pt x="314901" y="291536"/>
                      <a:pt x="311007" y="291536"/>
                    </a:cubicBezTo>
                    <a:lnTo>
                      <a:pt x="311007" y="277908"/>
                    </a:lnTo>
                    <a:lnTo>
                      <a:pt x="298353" y="277908"/>
                    </a:lnTo>
                    <a:lnTo>
                      <a:pt x="298353" y="291536"/>
                    </a:lnTo>
                    <a:cubicBezTo>
                      <a:pt x="294459" y="291536"/>
                      <a:pt x="289592" y="291536"/>
                      <a:pt x="285699" y="291536"/>
                    </a:cubicBezTo>
                    <a:lnTo>
                      <a:pt x="285699" y="277908"/>
                    </a:lnTo>
                    <a:lnTo>
                      <a:pt x="273044" y="277908"/>
                    </a:lnTo>
                    <a:lnTo>
                      <a:pt x="273044" y="291536"/>
                    </a:lnTo>
                    <a:cubicBezTo>
                      <a:pt x="269151" y="291536"/>
                      <a:pt x="264283" y="291536"/>
                      <a:pt x="260390" y="291536"/>
                    </a:cubicBezTo>
                    <a:lnTo>
                      <a:pt x="260390" y="277908"/>
                    </a:lnTo>
                    <a:lnTo>
                      <a:pt x="247735" y="277908"/>
                    </a:lnTo>
                    <a:lnTo>
                      <a:pt x="247735" y="291536"/>
                    </a:lnTo>
                    <a:cubicBezTo>
                      <a:pt x="243842" y="291536"/>
                      <a:pt x="238975" y="291536"/>
                      <a:pt x="235081" y="291536"/>
                    </a:cubicBezTo>
                    <a:lnTo>
                      <a:pt x="235081" y="277908"/>
                    </a:lnTo>
                    <a:lnTo>
                      <a:pt x="222426" y="277908"/>
                    </a:lnTo>
                    <a:lnTo>
                      <a:pt x="222426" y="291536"/>
                    </a:lnTo>
                    <a:lnTo>
                      <a:pt x="209772" y="291536"/>
                    </a:lnTo>
                    <a:lnTo>
                      <a:pt x="209772" y="277908"/>
                    </a:lnTo>
                    <a:lnTo>
                      <a:pt x="199064" y="277908"/>
                    </a:lnTo>
                    <a:lnTo>
                      <a:pt x="199064" y="296403"/>
                    </a:lnTo>
                    <a:lnTo>
                      <a:pt x="638076" y="296403"/>
                    </a:lnTo>
                    <a:lnTo>
                      <a:pt x="638076" y="296403"/>
                    </a:lnTo>
                    <a:close/>
                    <a:moveTo>
                      <a:pt x="461887" y="330472"/>
                    </a:moveTo>
                    <a:lnTo>
                      <a:pt x="493037" y="352861"/>
                    </a:lnTo>
                    <a:lnTo>
                      <a:pt x="493037" y="367462"/>
                    </a:lnTo>
                    <a:lnTo>
                      <a:pt x="550469" y="367462"/>
                    </a:lnTo>
                    <a:lnTo>
                      <a:pt x="550469" y="332419"/>
                    </a:lnTo>
                    <a:lnTo>
                      <a:pt x="476489" y="332419"/>
                    </a:lnTo>
                    <a:lnTo>
                      <a:pt x="476489" y="321711"/>
                    </a:lnTo>
                    <a:lnTo>
                      <a:pt x="361625" y="321711"/>
                    </a:lnTo>
                    <a:lnTo>
                      <a:pt x="361625" y="332419"/>
                    </a:lnTo>
                    <a:lnTo>
                      <a:pt x="287645" y="332419"/>
                    </a:lnTo>
                    <a:lnTo>
                      <a:pt x="287645" y="367462"/>
                    </a:lnTo>
                    <a:lnTo>
                      <a:pt x="345077" y="367462"/>
                    </a:lnTo>
                    <a:lnTo>
                      <a:pt x="345077" y="352861"/>
                    </a:lnTo>
                    <a:lnTo>
                      <a:pt x="376227" y="330472"/>
                    </a:lnTo>
                    <a:lnTo>
                      <a:pt x="461887" y="330472"/>
                    </a:lnTo>
                    <a:lnTo>
                      <a:pt x="461887" y="330472"/>
                    </a:lnTo>
                    <a:close/>
                    <a:moveTo>
                      <a:pt x="431711" y="348967"/>
                    </a:moveTo>
                    <a:cubicBezTo>
                      <a:pt x="443392" y="348967"/>
                      <a:pt x="453127" y="359674"/>
                      <a:pt x="453127" y="372329"/>
                    </a:cubicBezTo>
                    <a:lnTo>
                      <a:pt x="453127" y="422946"/>
                    </a:lnTo>
                    <a:lnTo>
                      <a:pt x="463834" y="422946"/>
                    </a:lnTo>
                    <a:lnTo>
                      <a:pt x="463834" y="352861"/>
                    </a:lnTo>
                    <a:lnTo>
                      <a:pt x="455073" y="344100"/>
                    </a:lnTo>
                    <a:lnTo>
                      <a:pt x="380120" y="344100"/>
                    </a:lnTo>
                    <a:lnTo>
                      <a:pt x="371360" y="352861"/>
                    </a:lnTo>
                    <a:lnTo>
                      <a:pt x="371360" y="422946"/>
                    </a:lnTo>
                    <a:lnTo>
                      <a:pt x="382067" y="422946"/>
                    </a:lnTo>
                    <a:lnTo>
                      <a:pt x="382067" y="372329"/>
                    </a:lnTo>
                    <a:cubicBezTo>
                      <a:pt x="382067" y="359674"/>
                      <a:pt x="391801" y="348967"/>
                      <a:pt x="403482" y="348967"/>
                    </a:cubicBezTo>
                    <a:lnTo>
                      <a:pt x="431711" y="348967"/>
                    </a:lnTo>
                    <a:lnTo>
                      <a:pt x="431711" y="348967"/>
                    </a:lnTo>
                    <a:close/>
                    <a:moveTo>
                      <a:pt x="437552" y="372329"/>
                    </a:moveTo>
                    <a:lnTo>
                      <a:pt x="437552" y="422946"/>
                    </a:lnTo>
                    <a:lnTo>
                      <a:pt x="445339" y="422946"/>
                    </a:lnTo>
                    <a:lnTo>
                      <a:pt x="445339" y="368435"/>
                    </a:lnTo>
                    <a:cubicBezTo>
                      <a:pt x="445339" y="361621"/>
                      <a:pt x="439499" y="355781"/>
                      <a:pt x="432685" y="355781"/>
                    </a:cubicBezTo>
                    <a:lnTo>
                      <a:pt x="404456" y="355781"/>
                    </a:lnTo>
                    <a:cubicBezTo>
                      <a:pt x="397642" y="355781"/>
                      <a:pt x="391801" y="361621"/>
                      <a:pt x="391801" y="368435"/>
                    </a:cubicBezTo>
                    <a:lnTo>
                      <a:pt x="391801" y="422946"/>
                    </a:lnTo>
                    <a:lnTo>
                      <a:pt x="399589" y="422946"/>
                    </a:lnTo>
                    <a:lnTo>
                      <a:pt x="399589" y="372329"/>
                    </a:lnTo>
                    <a:lnTo>
                      <a:pt x="437552" y="372329"/>
                    </a:lnTo>
                    <a:lnTo>
                      <a:pt x="437552" y="372329"/>
                    </a:lnTo>
                    <a:close/>
                    <a:moveTo>
                      <a:pt x="430738" y="422946"/>
                    </a:moveTo>
                    <a:lnTo>
                      <a:pt x="430738" y="386930"/>
                    </a:lnTo>
                    <a:cubicBezTo>
                      <a:pt x="430738" y="385956"/>
                      <a:pt x="428791" y="384983"/>
                      <a:pt x="426844" y="384983"/>
                    </a:cubicBezTo>
                    <a:lnTo>
                      <a:pt x="411269" y="384983"/>
                    </a:lnTo>
                    <a:cubicBezTo>
                      <a:pt x="409323" y="384983"/>
                      <a:pt x="407376" y="385956"/>
                      <a:pt x="407376" y="386930"/>
                    </a:cubicBezTo>
                    <a:lnTo>
                      <a:pt x="407376" y="422946"/>
                    </a:lnTo>
                    <a:lnTo>
                      <a:pt x="430738" y="422946"/>
                    </a:lnTo>
                    <a:lnTo>
                      <a:pt x="430738" y="422946"/>
                    </a:lnTo>
                    <a:close/>
                    <a:moveTo>
                      <a:pt x="361625" y="457015"/>
                    </a:moveTo>
                    <a:lnTo>
                      <a:pt x="475515" y="457015"/>
                    </a:lnTo>
                    <a:lnTo>
                      <a:pt x="475515" y="466749"/>
                    </a:lnTo>
                    <a:lnTo>
                      <a:pt x="361625" y="466749"/>
                    </a:lnTo>
                    <a:lnTo>
                      <a:pt x="361625" y="457015"/>
                    </a:lnTo>
                    <a:lnTo>
                      <a:pt x="361625" y="457015"/>
                    </a:lnTo>
                    <a:close/>
                    <a:moveTo>
                      <a:pt x="343130" y="472590"/>
                    </a:moveTo>
                    <a:lnTo>
                      <a:pt x="494984" y="472590"/>
                    </a:lnTo>
                    <a:lnTo>
                      <a:pt x="494984" y="482324"/>
                    </a:lnTo>
                    <a:lnTo>
                      <a:pt x="343130" y="482324"/>
                    </a:lnTo>
                    <a:lnTo>
                      <a:pt x="343130" y="472590"/>
                    </a:lnTo>
                    <a:lnTo>
                      <a:pt x="343130" y="472590"/>
                    </a:lnTo>
                    <a:close/>
                    <a:moveTo>
                      <a:pt x="382067" y="442414"/>
                    </a:moveTo>
                    <a:lnTo>
                      <a:pt x="455073" y="442414"/>
                    </a:lnTo>
                    <a:lnTo>
                      <a:pt x="455073" y="452148"/>
                    </a:lnTo>
                    <a:lnTo>
                      <a:pt x="382067" y="452148"/>
                    </a:lnTo>
                    <a:lnTo>
                      <a:pt x="382067" y="44241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2" name="任意多边形: 形状 41"/>
              <p:cNvSpPr/>
              <p:nvPr/>
            </p:nvSpPr>
            <p:spPr>
              <a:xfrm>
                <a:off x="8274392" y="6421955"/>
                <a:ext cx="262823" cy="87607"/>
              </a:xfrm>
              <a:custGeom>
                <a:avLst/>
                <a:gdLst>
                  <a:gd name="connsiteX0" fmla="*/ 7301 w 262823"/>
                  <a:gd name="connsiteY0" fmla="*/ 35529 h 87606"/>
                  <a:gd name="connsiteX1" fmla="*/ 7301 w 262823"/>
                  <a:gd name="connsiteY1" fmla="*/ 19955 h 87606"/>
                  <a:gd name="connsiteX2" fmla="*/ 27742 w 262823"/>
                  <a:gd name="connsiteY2" fmla="*/ 8274 h 87606"/>
                  <a:gd name="connsiteX3" fmla="*/ 44290 w 262823"/>
                  <a:gd name="connsiteY3" fmla="*/ 8274 h 87606"/>
                  <a:gd name="connsiteX4" fmla="*/ 44290 w 262823"/>
                  <a:gd name="connsiteY4" fmla="*/ 86147 h 87606"/>
                  <a:gd name="connsiteX5" fmla="*/ 26769 w 262823"/>
                  <a:gd name="connsiteY5" fmla="*/ 86147 h 87606"/>
                  <a:gd name="connsiteX6" fmla="*/ 26769 w 262823"/>
                  <a:gd name="connsiteY6" fmla="*/ 24822 h 87606"/>
                  <a:gd name="connsiteX7" fmla="*/ 7301 w 262823"/>
                  <a:gd name="connsiteY7" fmla="*/ 35529 h 87606"/>
                  <a:gd name="connsiteX8" fmla="*/ 7301 w 262823"/>
                  <a:gd name="connsiteY8" fmla="*/ 35529 h 87606"/>
                  <a:gd name="connsiteX9" fmla="*/ 67653 w 262823"/>
                  <a:gd name="connsiteY9" fmla="*/ 67652 h 87606"/>
                  <a:gd name="connsiteX10" fmla="*/ 86148 w 262823"/>
                  <a:gd name="connsiteY10" fmla="*/ 67652 h 87606"/>
                  <a:gd name="connsiteX11" fmla="*/ 94908 w 262823"/>
                  <a:gd name="connsiteY11" fmla="*/ 77386 h 87606"/>
                  <a:gd name="connsiteX12" fmla="*/ 107563 w 262823"/>
                  <a:gd name="connsiteY12" fmla="*/ 52077 h 87606"/>
                  <a:gd name="connsiteX13" fmla="*/ 100749 w 262823"/>
                  <a:gd name="connsiteY13" fmla="*/ 55971 h 87606"/>
                  <a:gd name="connsiteX14" fmla="*/ 91988 w 262823"/>
                  <a:gd name="connsiteY14" fmla="*/ 56944 h 87606"/>
                  <a:gd name="connsiteX15" fmla="*/ 67653 w 262823"/>
                  <a:gd name="connsiteY15" fmla="*/ 33582 h 87606"/>
                  <a:gd name="connsiteX16" fmla="*/ 96855 w 262823"/>
                  <a:gd name="connsiteY16" fmla="*/ 7301 h 87606"/>
                  <a:gd name="connsiteX17" fmla="*/ 127031 w 262823"/>
                  <a:gd name="connsiteY17" fmla="*/ 42343 h 87606"/>
                  <a:gd name="connsiteX18" fmla="*/ 96855 w 262823"/>
                  <a:gd name="connsiteY18" fmla="*/ 89067 h 87606"/>
                  <a:gd name="connsiteX19" fmla="*/ 67653 w 262823"/>
                  <a:gd name="connsiteY19" fmla="*/ 67652 h 87606"/>
                  <a:gd name="connsiteX20" fmla="*/ 67653 w 262823"/>
                  <a:gd name="connsiteY20" fmla="*/ 67652 h 87606"/>
                  <a:gd name="connsiteX21" fmla="*/ 84201 w 262823"/>
                  <a:gd name="connsiteY21" fmla="*/ 32609 h 87606"/>
                  <a:gd name="connsiteX22" fmla="*/ 95882 w 262823"/>
                  <a:gd name="connsiteY22" fmla="*/ 46237 h 87606"/>
                  <a:gd name="connsiteX23" fmla="*/ 106589 w 262823"/>
                  <a:gd name="connsiteY23" fmla="*/ 32609 h 87606"/>
                  <a:gd name="connsiteX24" fmla="*/ 95882 w 262823"/>
                  <a:gd name="connsiteY24" fmla="*/ 18008 h 87606"/>
                  <a:gd name="connsiteX25" fmla="*/ 84201 w 262823"/>
                  <a:gd name="connsiteY25" fmla="*/ 32609 h 87606"/>
                  <a:gd name="connsiteX26" fmla="*/ 84201 w 262823"/>
                  <a:gd name="connsiteY26" fmla="*/ 32609 h 87606"/>
                  <a:gd name="connsiteX27" fmla="*/ 175702 w 262823"/>
                  <a:gd name="connsiteY27" fmla="*/ 48184 h 87606"/>
                  <a:gd name="connsiteX28" fmla="*/ 164995 w 262823"/>
                  <a:gd name="connsiteY28" fmla="*/ 18981 h 87606"/>
                  <a:gd name="connsiteX29" fmla="*/ 154287 w 262823"/>
                  <a:gd name="connsiteY29" fmla="*/ 48184 h 87606"/>
                  <a:gd name="connsiteX30" fmla="*/ 164995 w 262823"/>
                  <a:gd name="connsiteY30" fmla="*/ 77386 h 87606"/>
                  <a:gd name="connsiteX31" fmla="*/ 175702 w 262823"/>
                  <a:gd name="connsiteY31" fmla="*/ 48184 h 87606"/>
                  <a:gd name="connsiteX32" fmla="*/ 175702 w 262823"/>
                  <a:gd name="connsiteY32" fmla="*/ 48184 h 87606"/>
                  <a:gd name="connsiteX33" fmla="*/ 194197 w 262823"/>
                  <a:gd name="connsiteY33" fmla="*/ 48184 h 87606"/>
                  <a:gd name="connsiteX34" fmla="*/ 164995 w 262823"/>
                  <a:gd name="connsiteY34" fmla="*/ 89067 h 87606"/>
                  <a:gd name="connsiteX35" fmla="*/ 136765 w 262823"/>
                  <a:gd name="connsiteY35" fmla="*/ 48184 h 87606"/>
                  <a:gd name="connsiteX36" fmla="*/ 164995 w 262823"/>
                  <a:gd name="connsiteY36" fmla="*/ 7301 h 87606"/>
                  <a:gd name="connsiteX37" fmla="*/ 194197 w 262823"/>
                  <a:gd name="connsiteY37" fmla="*/ 48184 h 87606"/>
                  <a:gd name="connsiteX38" fmla="*/ 194197 w 262823"/>
                  <a:gd name="connsiteY38" fmla="*/ 48184 h 87606"/>
                  <a:gd name="connsiteX39" fmla="*/ 203931 w 262823"/>
                  <a:gd name="connsiteY39" fmla="*/ 67652 h 87606"/>
                  <a:gd name="connsiteX40" fmla="*/ 222426 w 262823"/>
                  <a:gd name="connsiteY40" fmla="*/ 67652 h 87606"/>
                  <a:gd name="connsiteX41" fmla="*/ 231187 w 262823"/>
                  <a:gd name="connsiteY41" fmla="*/ 77386 h 87606"/>
                  <a:gd name="connsiteX42" fmla="*/ 243841 w 262823"/>
                  <a:gd name="connsiteY42" fmla="*/ 52077 h 87606"/>
                  <a:gd name="connsiteX43" fmla="*/ 237028 w 262823"/>
                  <a:gd name="connsiteY43" fmla="*/ 55971 h 87606"/>
                  <a:gd name="connsiteX44" fmla="*/ 228267 w 262823"/>
                  <a:gd name="connsiteY44" fmla="*/ 56944 h 87606"/>
                  <a:gd name="connsiteX45" fmla="*/ 203931 w 262823"/>
                  <a:gd name="connsiteY45" fmla="*/ 33582 h 87606"/>
                  <a:gd name="connsiteX46" fmla="*/ 233134 w 262823"/>
                  <a:gd name="connsiteY46" fmla="*/ 7301 h 87606"/>
                  <a:gd name="connsiteX47" fmla="*/ 263310 w 262823"/>
                  <a:gd name="connsiteY47" fmla="*/ 42343 h 87606"/>
                  <a:gd name="connsiteX48" fmla="*/ 233134 w 262823"/>
                  <a:gd name="connsiteY48" fmla="*/ 89067 h 87606"/>
                  <a:gd name="connsiteX49" fmla="*/ 203931 w 262823"/>
                  <a:gd name="connsiteY49" fmla="*/ 67652 h 87606"/>
                  <a:gd name="connsiteX50" fmla="*/ 203931 w 262823"/>
                  <a:gd name="connsiteY50" fmla="*/ 67652 h 87606"/>
                  <a:gd name="connsiteX51" fmla="*/ 220479 w 262823"/>
                  <a:gd name="connsiteY51" fmla="*/ 32609 h 87606"/>
                  <a:gd name="connsiteX52" fmla="*/ 232160 w 262823"/>
                  <a:gd name="connsiteY52" fmla="*/ 46237 h 87606"/>
                  <a:gd name="connsiteX53" fmla="*/ 242868 w 262823"/>
                  <a:gd name="connsiteY53" fmla="*/ 32609 h 87606"/>
                  <a:gd name="connsiteX54" fmla="*/ 232160 w 262823"/>
                  <a:gd name="connsiteY54" fmla="*/ 18008 h 87606"/>
                  <a:gd name="connsiteX55" fmla="*/ 220479 w 262823"/>
                  <a:gd name="connsiteY55" fmla="*/ 32609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62823" h="87606">
                    <a:moveTo>
                      <a:pt x="7301" y="35529"/>
                    </a:moveTo>
                    <a:lnTo>
                      <a:pt x="7301" y="19955"/>
                    </a:lnTo>
                    <a:cubicBezTo>
                      <a:pt x="14115" y="17035"/>
                      <a:pt x="20928" y="13141"/>
                      <a:pt x="27742" y="8274"/>
                    </a:cubicBezTo>
                    <a:lnTo>
                      <a:pt x="44290" y="8274"/>
                    </a:lnTo>
                    <a:lnTo>
                      <a:pt x="44290" y="86147"/>
                    </a:lnTo>
                    <a:lnTo>
                      <a:pt x="26769" y="86147"/>
                    </a:lnTo>
                    <a:lnTo>
                      <a:pt x="26769" y="24822"/>
                    </a:lnTo>
                    <a:cubicBezTo>
                      <a:pt x="19955" y="29689"/>
                      <a:pt x="14115" y="33582"/>
                      <a:pt x="7301" y="35529"/>
                    </a:cubicBezTo>
                    <a:lnTo>
                      <a:pt x="7301" y="35529"/>
                    </a:lnTo>
                    <a:close/>
                    <a:moveTo>
                      <a:pt x="67653" y="67652"/>
                    </a:moveTo>
                    <a:lnTo>
                      <a:pt x="86148" y="67652"/>
                    </a:lnTo>
                    <a:cubicBezTo>
                      <a:pt x="87121" y="73492"/>
                      <a:pt x="90041" y="77386"/>
                      <a:pt x="94908" y="77386"/>
                    </a:cubicBezTo>
                    <a:cubicBezTo>
                      <a:pt x="104643" y="77386"/>
                      <a:pt x="108536" y="68625"/>
                      <a:pt x="107563" y="52077"/>
                    </a:cubicBezTo>
                    <a:cubicBezTo>
                      <a:pt x="105616" y="54024"/>
                      <a:pt x="102696" y="54998"/>
                      <a:pt x="100749" y="55971"/>
                    </a:cubicBezTo>
                    <a:cubicBezTo>
                      <a:pt x="98802" y="56944"/>
                      <a:pt x="95882" y="56944"/>
                      <a:pt x="91988" y="56944"/>
                    </a:cubicBezTo>
                    <a:cubicBezTo>
                      <a:pt x="77387" y="55971"/>
                      <a:pt x="68626" y="48184"/>
                      <a:pt x="67653" y="33582"/>
                    </a:cubicBezTo>
                    <a:cubicBezTo>
                      <a:pt x="68626" y="17035"/>
                      <a:pt x="78360" y="8274"/>
                      <a:pt x="96855" y="7301"/>
                    </a:cubicBezTo>
                    <a:cubicBezTo>
                      <a:pt x="116324" y="7301"/>
                      <a:pt x="127031" y="18981"/>
                      <a:pt x="127031" y="42343"/>
                    </a:cubicBezTo>
                    <a:cubicBezTo>
                      <a:pt x="128005" y="73492"/>
                      <a:pt x="118270" y="89067"/>
                      <a:pt x="96855" y="89067"/>
                    </a:cubicBezTo>
                    <a:cubicBezTo>
                      <a:pt x="76413" y="89067"/>
                      <a:pt x="67653" y="82253"/>
                      <a:pt x="67653" y="67652"/>
                    </a:cubicBezTo>
                    <a:lnTo>
                      <a:pt x="67653" y="67652"/>
                    </a:lnTo>
                    <a:close/>
                    <a:moveTo>
                      <a:pt x="84201" y="32609"/>
                    </a:moveTo>
                    <a:cubicBezTo>
                      <a:pt x="84201" y="41370"/>
                      <a:pt x="88094" y="46237"/>
                      <a:pt x="95882" y="46237"/>
                    </a:cubicBezTo>
                    <a:cubicBezTo>
                      <a:pt x="102696" y="46237"/>
                      <a:pt x="106589" y="41370"/>
                      <a:pt x="106589" y="32609"/>
                    </a:cubicBezTo>
                    <a:cubicBezTo>
                      <a:pt x="106589" y="23848"/>
                      <a:pt x="102696" y="18981"/>
                      <a:pt x="95882" y="18008"/>
                    </a:cubicBezTo>
                    <a:cubicBezTo>
                      <a:pt x="89068" y="18981"/>
                      <a:pt x="85174" y="23848"/>
                      <a:pt x="84201" y="32609"/>
                    </a:cubicBezTo>
                    <a:lnTo>
                      <a:pt x="84201" y="32609"/>
                    </a:lnTo>
                    <a:close/>
                    <a:moveTo>
                      <a:pt x="175702" y="48184"/>
                    </a:moveTo>
                    <a:cubicBezTo>
                      <a:pt x="175702" y="28715"/>
                      <a:pt x="171808" y="18981"/>
                      <a:pt x="164995" y="18981"/>
                    </a:cubicBezTo>
                    <a:cubicBezTo>
                      <a:pt x="158181" y="18981"/>
                      <a:pt x="154287" y="28715"/>
                      <a:pt x="154287" y="48184"/>
                    </a:cubicBezTo>
                    <a:cubicBezTo>
                      <a:pt x="154287" y="67652"/>
                      <a:pt x="157207" y="77386"/>
                      <a:pt x="164995" y="77386"/>
                    </a:cubicBezTo>
                    <a:cubicBezTo>
                      <a:pt x="171808" y="77386"/>
                      <a:pt x="175702" y="67652"/>
                      <a:pt x="175702" y="48184"/>
                    </a:cubicBezTo>
                    <a:lnTo>
                      <a:pt x="175702" y="48184"/>
                    </a:lnTo>
                    <a:close/>
                    <a:moveTo>
                      <a:pt x="194197" y="48184"/>
                    </a:moveTo>
                    <a:cubicBezTo>
                      <a:pt x="193224" y="74466"/>
                      <a:pt x="183490" y="88093"/>
                      <a:pt x="164995" y="89067"/>
                    </a:cubicBezTo>
                    <a:cubicBezTo>
                      <a:pt x="146499" y="89067"/>
                      <a:pt x="136765" y="75439"/>
                      <a:pt x="136765" y="48184"/>
                    </a:cubicBezTo>
                    <a:cubicBezTo>
                      <a:pt x="137739" y="20928"/>
                      <a:pt x="146499" y="7301"/>
                      <a:pt x="164995" y="7301"/>
                    </a:cubicBezTo>
                    <a:cubicBezTo>
                      <a:pt x="183490" y="7301"/>
                      <a:pt x="193224" y="20928"/>
                      <a:pt x="194197" y="48184"/>
                    </a:cubicBezTo>
                    <a:lnTo>
                      <a:pt x="194197" y="48184"/>
                    </a:lnTo>
                    <a:close/>
                    <a:moveTo>
                      <a:pt x="203931" y="67652"/>
                    </a:moveTo>
                    <a:lnTo>
                      <a:pt x="222426" y="67652"/>
                    </a:lnTo>
                    <a:cubicBezTo>
                      <a:pt x="223400" y="73492"/>
                      <a:pt x="226320" y="77386"/>
                      <a:pt x="231187" y="77386"/>
                    </a:cubicBezTo>
                    <a:cubicBezTo>
                      <a:pt x="240921" y="77386"/>
                      <a:pt x="244815" y="68625"/>
                      <a:pt x="243841" y="52077"/>
                    </a:cubicBezTo>
                    <a:cubicBezTo>
                      <a:pt x="241895" y="54024"/>
                      <a:pt x="238974" y="54998"/>
                      <a:pt x="237028" y="55971"/>
                    </a:cubicBezTo>
                    <a:cubicBezTo>
                      <a:pt x="235081" y="56944"/>
                      <a:pt x="232160" y="56944"/>
                      <a:pt x="228267" y="56944"/>
                    </a:cubicBezTo>
                    <a:cubicBezTo>
                      <a:pt x="213666" y="55971"/>
                      <a:pt x="204905" y="48184"/>
                      <a:pt x="203931" y="33582"/>
                    </a:cubicBezTo>
                    <a:cubicBezTo>
                      <a:pt x="204905" y="17035"/>
                      <a:pt x="214639" y="8274"/>
                      <a:pt x="233134" y="7301"/>
                    </a:cubicBezTo>
                    <a:cubicBezTo>
                      <a:pt x="252602" y="7301"/>
                      <a:pt x="263310" y="18981"/>
                      <a:pt x="263310" y="42343"/>
                    </a:cubicBezTo>
                    <a:cubicBezTo>
                      <a:pt x="264283" y="73492"/>
                      <a:pt x="254549" y="89067"/>
                      <a:pt x="233134" y="89067"/>
                    </a:cubicBezTo>
                    <a:cubicBezTo>
                      <a:pt x="212692" y="89067"/>
                      <a:pt x="203931" y="82253"/>
                      <a:pt x="203931" y="67652"/>
                    </a:cubicBezTo>
                    <a:lnTo>
                      <a:pt x="203931" y="67652"/>
                    </a:lnTo>
                    <a:close/>
                    <a:moveTo>
                      <a:pt x="220479" y="32609"/>
                    </a:moveTo>
                    <a:cubicBezTo>
                      <a:pt x="220479" y="41370"/>
                      <a:pt x="224373" y="46237"/>
                      <a:pt x="232160" y="46237"/>
                    </a:cubicBezTo>
                    <a:cubicBezTo>
                      <a:pt x="238974" y="46237"/>
                      <a:pt x="242868" y="41370"/>
                      <a:pt x="242868" y="32609"/>
                    </a:cubicBezTo>
                    <a:cubicBezTo>
                      <a:pt x="242868" y="23848"/>
                      <a:pt x="238974" y="18981"/>
                      <a:pt x="232160" y="18008"/>
                    </a:cubicBezTo>
                    <a:cubicBezTo>
                      <a:pt x="224373" y="18981"/>
                      <a:pt x="220479" y="23848"/>
                      <a:pt x="220479" y="326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3" name="任意多边形: 形状 42"/>
              <p:cNvSpPr/>
              <p:nvPr/>
            </p:nvSpPr>
            <p:spPr>
              <a:xfrm>
                <a:off x="8149794" y="5589831"/>
                <a:ext cx="136279" cy="126543"/>
              </a:xfrm>
              <a:custGeom>
                <a:avLst/>
                <a:gdLst>
                  <a:gd name="connsiteX0" fmla="*/ 7301 w 136278"/>
                  <a:gd name="connsiteY0" fmla="*/ 74325 h 126543"/>
                  <a:gd name="connsiteX1" fmla="*/ 11194 w 136278"/>
                  <a:gd name="connsiteY1" fmla="*/ 72378 h 126543"/>
                  <a:gd name="connsiteX2" fmla="*/ 13141 w 136278"/>
                  <a:gd name="connsiteY2" fmla="*/ 71405 h 126543"/>
                  <a:gd name="connsiteX3" fmla="*/ 17035 w 136278"/>
                  <a:gd name="connsiteY3" fmla="*/ 72378 h 126543"/>
                  <a:gd name="connsiteX4" fmla="*/ 22875 w 136278"/>
                  <a:gd name="connsiteY4" fmla="*/ 73352 h 126543"/>
                  <a:gd name="connsiteX5" fmla="*/ 25796 w 136278"/>
                  <a:gd name="connsiteY5" fmla="*/ 71405 h 126543"/>
                  <a:gd name="connsiteX6" fmla="*/ 26769 w 136278"/>
                  <a:gd name="connsiteY6" fmla="*/ 68485 h 126543"/>
                  <a:gd name="connsiteX7" fmla="*/ 27742 w 136278"/>
                  <a:gd name="connsiteY7" fmla="*/ 64591 h 126543"/>
                  <a:gd name="connsiteX8" fmla="*/ 27742 w 136278"/>
                  <a:gd name="connsiteY8" fmla="*/ 60698 h 126543"/>
                  <a:gd name="connsiteX9" fmla="*/ 30663 w 136278"/>
                  <a:gd name="connsiteY9" fmla="*/ 54857 h 126543"/>
                  <a:gd name="connsiteX10" fmla="*/ 43317 w 136278"/>
                  <a:gd name="connsiteY10" fmla="*/ 50964 h 126543"/>
                  <a:gd name="connsiteX11" fmla="*/ 46237 w 136278"/>
                  <a:gd name="connsiteY11" fmla="*/ 52910 h 126543"/>
                  <a:gd name="connsiteX12" fmla="*/ 49158 w 136278"/>
                  <a:gd name="connsiteY12" fmla="*/ 59724 h 126543"/>
                  <a:gd name="connsiteX13" fmla="*/ 51104 w 136278"/>
                  <a:gd name="connsiteY13" fmla="*/ 60698 h 126543"/>
                  <a:gd name="connsiteX14" fmla="*/ 54998 w 136278"/>
                  <a:gd name="connsiteY14" fmla="*/ 57777 h 126543"/>
                  <a:gd name="connsiteX15" fmla="*/ 58892 w 136278"/>
                  <a:gd name="connsiteY15" fmla="*/ 49990 h 126543"/>
                  <a:gd name="connsiteX16" fmla="*/ 59865 w 136278"/>
                  <a:gd name="connsiteY16" fmla="*/ 44150 h 126543"/>
                  <a:gd name="connsiteX17" fmla="*/ 60839 w 136278"/>
                  <a:gd name="connsiteY17" fmla="*/ 38309 h 126543"/>
                  <a:gd name="connsiteX18" fmla="*/ 65706 w 136278"/>
                  <a:gd name="connsiteY18" fmla="*/ 34415 h 126543"/>
                  <a:gd name="connsiteX19" fmla="*/ 71546 w 136278"/>
                  <a:gd name="connsiteY19" fmla="*/ 33442 h 126543"/>
                  <a:gd name="connsiteX20" fmla="*/ 74466 w 136278"/>
                  <a:gd name="connsiteY20" fmla="*/ 33442 h 126543"/>
                  <a:gd name="connsiteX21" fmla="*/ 76413 w 136278"/>
                  <a:gd name="connsiteY21" fmla="*/ 35389 h 126543"/>
                  <a:gd name="connsiteX22" fmla="*/ 77387 w 136278"/>
                  <a:gd name="connsiteY22" fmla="*/ 39283 h 126543"/>
                  <a:gd name="connsiteX23" fmla="*/ 85174 w 136278"/>
                  <a:gd name="connsiteY23" fmla="*/ 40256 h 126543"/>
                  <a:gd name="connsiteX24" fmla="*/ 87121 w 136278"/>
                  <a:gd name="connsiteY24" fmla="*/ 39283 h 126543"/>
                  <a:gd name="connsiteX25" fmla="*/ 89068 w 136278"/>
                  <a:gd name="connsiteY25" fmla="*/ 34415 h 126543"/>
                  <a:gd name="connsiteX26" fmla="*/ 90041 w 136278"/>
                  <a:gd name="connsiteY26" fmla="*/ 27602 h 126543"/>
                  <a:gd name="connsiteX27" fmla="*/ 91988 w 136278"/>
                  <a:gd name="connsiteY27" fmla="*/ 17868 h 126543"/>
                  <a:gd name="connsiteX28" fmla="*/ 94908 w 136278"/>
                  <a:gd name="connsiteY28" fmla="*/ 13001 h 126543"/>
                  <a:gd name="connsiteX29" fmla="*/ 99775 w 136278"/>
                  <a:gd name="connsiteY29" fmla="*/ 8134 h 126543"/>
                  <a:gd name="connsiteX30" fmla="*/ 112430 w 136278"/>
                  <a:gd name="connsiteY30" fmla="*/ 9107 h 126543"/>
                  <a:gd name="connsiteX31" fmla="*/ 117297 w 136278"/>
                  <a:gd name="connsiteY31" fmla="*/ 11054 h 126543"/>
                  <a:gd name="connsiteX32" fmla="*/ 118270 w 136278"/>
                  <a:gd name="connsiteY32" fmla="*/ 13001 h 126543"/>
                  <a:gd name="connsiteX33" fmla="*/ 116323 w 136278"/>
                  <a:gd name="connsiteY33" fmla="*/ 23708 h 126543"/>
                  <a:gd name="connsiteX34" fmla="*/ 116323 w 136278"/>
                  <a:gd name="connsiteY34" fmla="*/ 26628 h 126543"/>
                  <a:gd name="connsiteX35" fmla="*/ 117297 w 136278"/>
                  <a:gd name="connsiteY35" fmla="*/ 30522 h 126543"/>
                  <a:gd name="connsiteX36" fmla="*/ 119244 w 136278"/>
                  <a:gd name="connsiteY36" fmla="*/ 35389 h 126543"/>
                  <a:gd name="connsiteX37" fmla="*/ 119244 w 136278"/>
                  <a:gd name="connsiteY37" fmla="*/ 37336 h 126543"/>
                  <a:gd name="connsiteX38" fmla="*/ 121190 w 136278"/>
                  <a:gd name="connsiteY38" fmla="*/ 42203 h 126543"/>
                  <a:gd name="connsiteX39" fmla="*/ 124111 w 136278"/>
                  <a:gd name="connsiteY39" fmla="*/ 47070 h 126543"/>
                  <a:gd name="connsiteX40" fmla="*/ 126058 w 136278"/>
                  <a:gd name="connsiteY40" fmla="*/ 49017 h 126543"/>
                  <a:gd name="connsiteX41" fmla="*/ 127031 w 136278"/>
                  <a:gd name="connsiteY41" fmla="*/ 51937 h 126543"/>
                  <a:gd name="connsiteX42" fmla="*/ 127031 w 136278"/>
                  <a:gd name="connsiteY42" fmla="*/ 53884 h 126543"/>
                  <a:gd name="connsiteX43" fmla="*/ 127031 w 136278"/>
                  <a:gd name="connsiteY43" fmla="*/ 56804 h 126543"/>
                  <a:gd name="connsiteX44" fmla="*/ 128005 w 136278"/>
                  <a:gd name="connsiteY44" fmla="*/ 59724 h 126543"/>
                  <a:gd name="connsiteX45" fmla="*/ 130925 w 136278"/>
                  <a:gd name="connsiteY45" fmla="*/ 60698 h 126543"/>
                  <a:gd name="connsiteX46" fmla="*/ 137739 w 136278"/>
                  <a:gd name="connsiteY46" fmla="*/ 72378 h 126543"/>
                  <a:gd name="connsiteX47" fmla="*/ 133845 w 136278"/>
                  <a:gd name="connsiteY47" fmla="*/ 79192 h 126543"/>
                  <a:gd name="connsiteX48" fmla="*/ 129951 w 136278"/>
                  <a:gd name="connsiteY48" fmla="*/ 87953 h 126543"/>
                  <a:gd name="connsiteX49" fmla="*/ 123137 w 136278"/>
                  <a:gd name="connsiteY49" fmla="*/ 88926 h 126543"/>
                  <a:gd name="connsiteX50" fmla="*/ 120217 w 136278"/>
                  <a:gd name="connsiteY50" fmla="*/ 86006 h 126543"/>
                  <a:gd name="connsiteX51" fmla="*/ 116323 w 136278"/>
                  <a:gd name="connsiteY51" fmla="*/ 85033 h 126543"/>
                  <a:gd name="connsiteX52" fmla="*/ 113403 w 136278"/>
                  <a:gd name="connsiteY52" fmla="*/ 86006 h 126543"/>
                  <a:gd name="connsiteX53" fmla="*/ 113403 w 136278"/>
                  <a:gd name="connsiteY53" fmla="*/ 83086 h 126543"/>
                  <a:gd name="connsiteX54" fmla="*/ 113403 w 136278"/>
                  <a:gd name="connsiteY54" fmla="*/ 77245 h 126543"/>
                  <a:gd name="connsiteX55" fmla="*/ 109510 w 136278"/>
                  <a:gd name="connsiteY55" fmla="*/ 63618 h 126543"/>
                  <a:gd name="connsiteX56" fmla="*/ 107563 w 136278"/>
                  <a:gd name="connsiteY56" fmla="*/ 55831 h 126543"/>
                  <a:gd name="connsiteX57" fmla="*/ 103669 w 136278"/>
                  <a:gd name="connsiteY57" fmla="*/ 45123 h 126543"/>
                  <a:gd name="connsiteX58" fmla="*/ 103669 w 136278"/>
                  <a:gd name="connsiteY58" fmla="*/ 38309 h 126543"/>
                  <a:gd name="connsiteX59" fmla="*/ 101722 w 136278"/>
                  <a:gd name="connsiteY59" fmla="*/ 29548 h 126543"/>
                  <a:gd name="connsiteX60" fmla="*/ 97828 w 136278"/>
                  <a:gd name="connsiteY60" fmla="*/ 26628 h 126543"/>
                  <a:gd name="connsiteX61" fmla="*/ 95882 w 136278"/>
                  <a:gd name="connsiteY61" fmla="*/ 30522 h 126543"/>
                  <a:gd name="connsiteX62" fmla="*/ 94908 w 136278"/>
                  <a:gd name="connsiteY62" fmla="*/ 42203 h 126543"/>
                  <a:gd name="connsiteX63" fmla="*/ 96855 w 136278"/>
                  <a:gd name="connsiteY63" fmla="*/ 45123 h 126543"/>
                  <a:gd name="connsiteX64" fmla="*/ 100749 w 136278"/>
                  <a:gd name="connsiteY64" fmla="*/ 47070 h 126543"/>
                  <a:gd name="connsiteX65" fmla="*/ 102696 w 136278"/>
                  <a:gd name="connsiteY65" fmla="*/ 52910 h 126543"/>
                  <a:gd name="connsiteX66" fmla="*/ 101722 w 136278"/>
                  <a:gd name="connsiteY66" fmla="*/ 58751 h 126543"/>
                  <a:gd name="connsiteX67" fmla="*/ 96855 w 136278"/>
                  <a:gd name="connsiteY67" fmla="*/ 58751 h 126543"/>
                  <a:gd name="connsiteX68" fmla="*/ 91988 w 136278"/>
                  <a:gd name="connsiteY68" fmla="*/ 57777 h 126543"/>
                  <a:gd name="connsiteX69" fmla="*/ 88094 w 136278"/>
                  <a:gd name="connsiteY69" fmla="*/ 53884 h 126543"/>
                  <a:gd name="connsiteX70" fmla="*/ 87121 w 136278"/>
                  <a:gd name="connsiteY70" fmla="*/ 49017 h 126543"/>
                  <a:gd name="connsiteX71" fmla="*/ 85174 w 136278"/>
                  <a:gd name="connsiteY71" fmla="*/ 44150 h 126543"/>
                  <a:gd name="connsiteX72" fmla="*/ 83227 w 136278"/>
                  <a:gd name="connsiteY72" fmla="*/ 44150 h 126543"/>
                  <a:gd name="connsiteX73" fmla="*/ 82254 w 136278"/>
                  <a:gd name="connsiteY73" fmla="*/ 49017 h 126543"/>
                  <a:gd name="connsiteX74" fmla="*/ 83227 w 136278"/>
                  <a:gd name="connsiteY74" fmla="*/ 56804 h 126543"/>
                  <a:gd name="connsiteX75" fmla="*/ 84201 w 136278"/>
                  <a:gd name="connsiteY75" fmla="*/ 63618 h 126543"/>
                  <a:gd name="connsiteX76" fmla="*/ 87121 w 136278"/>
                  <a:gd name="connsiteY76" fmla="*/ 72378 h 126543"/>
                  <a:gd name="connsiteX77" fmla="*/ 91988 w 136278"/>
                  <a:gd name="connsiteY77" fmla="*/ 85033 h 126543"/>
                  <a:gd name="connsiteX78" fmla="*/ 90041 w 136278"/>
                  <a:gd name="connsiteY78" fmla="*/ 93793 h 126543"/>
                  <a:gd name="connsiteX79" fmla="*/ 83227 w 136278"/>
                  <a:gd name="connsiteY79" fmla="*/ 97687 h 126543"/>
                  <a:gd name="connsiteX80" fmla="*/ 78360 w 136278"/>
                  <a:gd name="connsiteY80" fmla="*/ 92820 h 126543"/>
                  <a:gd name="connsiteX81" fmla="*/ 74466 w 136278"/>
                  <a:gd name="connsiteY81" fmla="*/ 83086 h 126543"/>
                  <a:gd name="connsiteX82" fmla="*/ 73493 w 136278"/>
                  <a:gd name="connsiteY82" fmla="*/ 74325 h 126543"/>
                  <a:gd name="connsiteX83" fmla="*/ 73493 w 136278"/>
                  <a:gd name="connsiteY83" fmla="*/ 65565 h 126543"/>
                  <a:gd name="connsiteX84" fmla="*/ 74466 w 136278"/>
                  <a:gd name="connsiteY84" fmla="*/ 58751 h 126543"/>
                  <a:gd name="connsiteX85" fmla="*/ 72520 w 136278"/>
                  <a:gd name="connsiteY85" fmla="*/ 53884 h 126543"/>
                  <a:gd name="connsiteX86" fmla="*/ 70573 w 136278"/>
                  <a:gd name="connsiteY86" fmla="*/ 58751 h 126543"/>
                  <a:gd name="connsiteX87" fmla="*/ 69599 w 136278"/>
                  <a:gd name="connsiteY87" fmla="*/ 66538 h 126543"/>
                  <a:gd name="connsiteX88" fmla="*/ 64732 w 136278"/>
                  <a:gd name="connsiteY88" fmla="*/ 71405 h 126543"/>
                  <a:gd name="connsiteX89" fmla="*/ 60839 w 136278"/>
                  <a:gd name="connsiteY89" fmla="*/ 72378 h 126543"/>
                  <a:gd name="connsiteX90" fmla="*/ 60839 w 136278"/>
                  <a:gd name="connsiteY90" fmla="*/ 78219 h 126543"/>
                  <a:gd name="connsiteX91" fmla="*/ 65706 w 136278"/>
                  <a:gd name="connsiteY91" fmla="*/ 95740 h 126543"/>
                  <a:gd name="connsiteX92" fmla="*/ 60839 w 136278"/>
                  <a:gd name="connsiteY92" fmla="*/ 115209 h 126543"/>
                  <a:gd name="connsiteX93" fmla="*/ 54998 w 136278"/>
                  <a:gd name="connsiteY93" fmla="*/ 120076 h 126543"/>
                  <a:gd name="connsiteX94" fmla="*/ 51104 w 136278"/>
                  <a:gd name="connsiteY94" fmla="*/ 120076 h 126543"/>
                  <a:gd name="connsiteX95" fmla="*/ 44290 w 136278"/>
                  <a:gd name="connsiteY95" fmla="*/ 117155 h 126543"/>
                  <a:gd name="connsiteX96" fmla="*/ 41370 w 136278"/>
                  <a:gd name="connsiteY96" fmla="*/ 113262 h 126543"/>
                  <a:gd name="connsiteX97" fmla="*/ 41370 w 136278"/>
                  <a:gd name="connsiteY97" fmla="*/ 109368 h 126543"/>
                  <a:gd name="connsiteX98" fmla="*/ 45264 w 136278"/>
                  <a:gd name="connsiteY98" fmla="*/ 105474 h 126543"/>
                  <a:gd name="connsiteX99" fmla="*/ 49158 w 136278"/>
                  <a:gd name="connsiteY99" fmla="*/ 89900 h 126543"/>
                  <a:gd name="connsiteX100" fmla="*/ 47211 w 136278"/>
                  <a:gd name="connsiteY100" fmla="*/ 73352 h 126543"/>
                  <a:gd name="connsiteX101" fmla="*/ 41370 w 136278"/>
                  <a:gd name="connsiteY101" fmla="*/ 67511 h 126543"/>
                  <a:gd name="connsiteX102" fmla="*/ 37476 w 136278"/>
                  <a:gd name="connsiteY102" fmla="*/ 69458 h 126543"/>
                  <a:gd name="connsiteX103" fmla="*/ 36503 w 136278"/>
                  <a:gd name="connsiteY103" fmla="*/ 71405 h 126543"/>
                  <a:gd name="connsiteX104" fmla="*/ 36503 w 136278"/>
                  <a:gd name="connsiteY104" fmla="*/ 71405 h 126543"/>
                  <a:gd name="connsiteX105" fmla="*/ 35530 w 136278"/>
                  <a:gd name="connsiteY105" fmla="*/ 74325 h 126543"/>
                  <a:gd name="connsiteX106" fmla="*/ 35530 w 136278"/>
                  <a:gd name="connsiteY106" fmla="*/ 78219 h 126543"/>
                  <a:gd name="connsiteX107" fmla="*/ 37476 w 136278"/>
                  <a:gd name="connsiteY107" fmla="*/ 85033 h 126543"/>
                  <a:gd name="connsiteX108" fmla="*/ 39423 w 136278"/>
                  <a:gd name="connsiteY108" fmla="*/ 89900 h 126543"/>
                  <a:gd name="connsiteX109" fmla="*/ 38450 w 136278"/>
                  <a:gd name="connsiteY109" fmla="*/ 91847 h 126543"/>
                  <a:gd name="connsiteX110" fmla="*/ 28716 w 136278"/>
                  <a:gd name="connsiteY110" fmla="*/ 97687 h 126543"/>
                  <a:gd name="connsiteX111" fmla="*/ 23849 w 136278"/>
                  <a:gd name="connsiteY111" fmla="*/ 95740 h 126543"/>
                  <a:gd name="connsiteX112" fmla="*/ 19955 w 136278"/>
                  <a:gd name="connsiteY112" fmla="*/ 90873 h 126543"/>
                  <a:gd name="connsiteX113" fmla="*/ 19955 w 136278"/>
                  <a:gd name="connsiteY113" fmla="*/ 83086 h 126543"/>
                  <a:gd name="connsiteX114" fmla="*/ 18981 w 136278"/>
                  <a:gd name="connsiteY114" fmla="*/ 78219 h 126543"/>
                  <a:gd name="connsiteX115" fmla="*/ 17035 w 136278"/>
                  <a:gd name="connsiteY115" fmla="*/ 76272 h 126543"/>
                  <a:gd name="connsiteX116" fmla="*/ 7301 w 136278"/>
                  <a:gd name="connsiteY116" fmla="*/ 74325 h 126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36278" h="126543">
                    <a:moveTo>
                      <a:pt x="7301" y="74325"/>
                    </a:moveTo>
                    <a:cubicBezTo>
                      <a:pt x="7301" y="73352"/>
                      <a:pt x="9247" y="73352"/>
                      <a:pt x="11194" y="72378"/>
                    </a:cubicBezTo>
                    <a:cubicBezTo>
                      <a:pt x="12168" y="72378"/>
                      <a:pt x="13141" y="71405"/>
                      <a:pt x="13141" y="71405"/>
                    </a:cubicBezTo>
                    <a:cubicBezTo>
                      <a:pt x="14114" y="71405"/>
                      <a:pt x="15088" y="71405"/>
                      <a:pt x="17035" y="72378"/>
                    </a:cubicBezTo>
                    <a:cubicBezTo>
                      <a:pt x="19955" y="73352"/>
                      <a:pt x="21902" y="74325"/>
                      <a:pt x="22875" y="73352"/>
                    </a:cubicBezTo>
                    <a:cubicBezTo>
                      <a:pt x="23849" y="72378"/>
                      <a:pt x="25796" y="72378"/>
                      <a:pt x="25796" y="71405"/>
                    </a:cubicBezTo>
                    <a:cubicBezTo>
                      <a:pt x="25796" y="70432"/>
                      <a:pt x="25796" y="69458"/>
                      <a:pt x="26769" y="68485"/>
                    </a:cubicBezTo>
                    <a:cubicBezTo>
                      <a:pt x="26769" y="67511"/>
                      <a:pt x="27742" y="65565"/>
                      <a:pt x="27742" y="64591"/>
                    </a:cubicBezTo>
                    <a:cubicBezTo>
                      <a:pt x="27742" y="62644"/>
                      <a:pt x="27742" y="61671"/>
                      <a:pt x="27742" y="60698"/>
                    </a:cubicBezTo>
                    <a:cubicBezTo>
                      <a:pt x="27742" y="59724"/>
                      <a:pt x="29689" y="55831"/>
                      <a:pt x="30663" y="54857"/>
                    </a:cubicBezTo>
                    <a:cubicBezTo>
                      <a:pt x="31636" y="53884"/>
                      <a:pt x="36503" y="50964"/>
                      <a:pt x="43317" y="50964"/>
                    </a:cubicBezTo>
                    <a:cubicBezTo>
                      <a:pt x="43317" y="50964"/>
                      <a:pt x="45264" y="50964"/>
                      <a:pt x="46237" y="52910"/>
                    </a:cubicBezTo>
                    <a:cubicBezTo>
                      <a:pt x="47211" y="54857"/>
                      <a:pt x="48184" y="58751"/>
                      <a:pt x="49158" y="59724"/>
                    </a:cubicBezTo>
                    <a:cubicBezTo>
                      <a:pt x="49158" y="60698"/>
                      <a:pt x="50131" y="60698"/>
                      <a:pt x="51104" y="60698"/>
                    </a:cubicBezTo>
                    <a:cubicBezTo>
                      <a:pt x="53051" y="60698"/>
                      <a:pt x="54025" y="60698"/>
                      <a:pt x="54998" y="57777"/>
                    </a:cubicBezTo>
                    <a:cubicBezTo>
                      <a:pt x="55972" y="54857"/>
                      <a:pt x="57918" y="51937"/>
                      <a:pt x="58892" y="49990"/>
                    </a:cubicBezTo>
                    <a:cubicBezTo>
                      <a:pt x="59865" y="48043"/>
                      <a:pt x="59865" y="46096"/>
                      <a:pt x="59865" y="44150"/>
                    </a:cubicBezTo>
                    <a:cubicBezTo>
                      <a:pt x="59865" y="42203"/>
                      <a:pt x="59865" y="39283"/>
                      <a:pt x="60839" y="38309"/>
                    </a:cubicBezTo>
                    <a:cubicBezTo>
                      <a:pt x="61812" y="37336"/>
                      <a:pt x="62785" y="35389"/>
                      <a:pt x="65706" y="34415"/>
                    </a:cubicBezTo>
                    <a:cubicBezTo>
                      <a:pt x="68626" y="33442"/>
                      <a:pt x="70573" y="33442"/>
                      <a:pt x="71546" y="33442"/>
                    </a:cubicBezTo>
                    <a:cubicBezTo>
                      <a:pt x="72520" y="33442"/>
                      <a:pt x="74466" y="33442"/>
                      <a:pt x="74466" y="33442"/>
                    </a:cubicBezTo>
                    <a:cubicBezTo>
                      <a:pt x="74466" y="33442"/>
                      <a:pt x="75440" y="34415"/>
                      <a:pt x="76413" y="35389"/>
                    </a:cubicBezTo>
                    <a:cubicBezTo>
                      <a:pt x="77387" y="37336"/>
                      <a:pt x="77387" y="38309"/>
                      <a:pt x="77387" y="39283"/>
                    </a:cubicBezTo>
                    <a:cubicBezTo>
                      <a:pt x="77387" y="39283"/>
                      <a:pt x="81280" y="42203"/>
                      <a:pt x="85174" y="40256"/>
                    </a:cubicBezTo>
                    <a:cubicBezTo>
                      <a:pt x="85174" y="40256"/>
                      <a:pt x="87121" y="39283"/>
                      <a:pt x="87121" y="39283"/>
                    </a:cubicBezTo>
                    <a:cubicBezTo>
                      <a:pt x="87121" y="39283"/>
                      <a:pt x="88094" y="37336"/>
                      <a:pt x="89068" y="34415"/>
                    </a:cubicBezTo>
                    <a:cubicBezTo>
                      <a:pt x="90041" y="31495"/>
                      <a:pt x="90041" y="29548"/>
                      <a:pt x="90041" y="27602"/>
                    </a:cubicBezTo>
                    <a:cubicBezTo>
                      <a:pt x="91014" y="25655"/>
                      <a:pt x="91014" y="20788"/>
                      <a:pt x="91988" y="17868"/>
                    </a:cubicBezTo>
                    <a:cubicBezTo>
                      <a:pt x="92961" y="14947"/>
                      <a:pt x="93935" y="13974"/>
                      <a:pt x="94908" y="13001"/>
                    </a:cubicBezTo>
                    <a:cubicBezTo>
                      <a:pt x="95882" y="12027"/>
                      <a:pt x="97828" y="9107"/>
                      <a:pt x="99775" y="8134"/>
                    </a:cubicBezTo>
                    <a:cubicBezTo>
                      <a:pt x="104643" y="6187"/>
                      <a:pt x="107563" y="8134"/>
                      <a:pt x="112430" y="9107"/>
                    </a:cubicBezTo>
                    <a:cubicBezTo>
                      <a:pt x="114377" y="9107"/>
                      <a:pt x="116323" y="10080"/>
                      <a:pt x="117297" y="11054"/>
                    </a:cubicBezTo>
                    <a:cubicBezTo>
                      <a:pt x="118270" y="12027"/>
                      <a:pt x="118270" y="12027"/>
                      <a:pt x="118270" y="13001"/>
                    </a:cubicBezTo>
                    <a:cubicBezTo>
                      <a:pt x="118270" y="13974"/>
                      <a:pt x="118270" y="19814"/>
                      <a:pt x="116323" y="23708"/>
                    </a:cubicBezTo>
                    <a:cubicBezTo>
                      <a:pt x="116323" y="23708"/>
                      <a:pt x="116323" y="25655"/>
                      <a:pt x="116323" y="26628"/>
                    </a:cubicBezTo>
                    <a:cubicBezTo>
                      <a:pt x="116323" y="27602"/>
                      <a:pt x="117297" y="29548"/>
                      <a:pt x="117297" y="30522"/>
                    </a:cubicBezTo>
                    <a:cubicBezTo>
                      <a:pt x="117297" y="31495"/>
                      <a:pt x="118270" y="34415"/>
                      <a:pt x="119244" y="35389"/>
                    </a:cubicBezTo>
                    <a:cubicBezTo>
                      <a:pt x="119244" y="35389"/>
                      <a:pt x="119244" y="36362"/>
                      <a:pt x="119244" y="37336"/>
                    </a:cubicBezTo>
                    <a:cubicBezTo>
                      <a:pt x="119244" y="38309"/>
                      <a:pt x="120217" y="40256"/>
                      <a:pt x="121190" y="42203"/>
                    </a:cubicBezTo>
                    <a:cubicBezTo>
                      <a:pt x="122164" y="44150"/>
                      <a:pt x="123137" y="46096"/>
                      <a:pt x="124111" y="47070"/>
                    </a:cubicBezTo>
                    <a:cubicBezTo>
                      <a:pt x="124111" y="48043"/>
                      <a:pt x="125084" y="48043"/>
                      <a:pt x="126058" y="49017"/>
                    </a:cubicBezTo>
                    <a:cubicBezTo>
                      <a:pt x="127031" y="49990"/>
                      <a:pt x="127031" y="50964"/>
                      <a:pt x="127031" y="51937"/>
                    </a:cubicBezTo>
                    <a:cubicBezTo>
                      <a:pt x="127031" y="51937"/>
                      <a:pt x="127031" y="52910"/>
                      <a:pt x="127031" y="53884"/>
                    </a:cubicBezTo>
                    <a:cubicBezTo>
                      <a:pt x="127031" y="54857"/>
                      <a:pt x="127031" y="55831"/>
                      <a:pt x="127031" y="56804"/>
                    </a:cubicBezTo>
                    <a:cubicBezTo>
                      <a:pt x="127031" y="57777"/>
                      <a:pt x="127031" y="58751"/>
                      <a:pt x="128005" y="59724"/>
                    </a:cubicBezTo>
                    <a:cubicBezTo>
                      <a:pt x="128005" y="59724"/>
                      <a:pt x="129951" y="60698"/>
                      <a:pt x="130925" y="60698"/>
                    </a:cubicBezTo>
                    <a:cubicBezTo>
                      <a:pt x="133845" y="62644"/>
                      <a:pt x="137739" y="69458"/>
                      <a:pt x="137739" y="72378"/>
                    </a:cubicBezTo>
                    <a:cubicBezTo>
                      <a:pt x="137739" y="74325"/>
                      <a:pt x="134818" y="78219"/>
                      <a:pt x="133845" y="79192"/>
                    </a:cubicBezTo>
                    <a:cubicBezTo>
                      <a:pt x="132872" y="81139"/>
                      <a:pt x="130925" y="86979"/>
                      <a:pt x="129951" y="87953"/>
                    </a:cubicBezTo>
                    <a:cubicBezTo>
                      <a:pt x="128005" y="88926"/>
                      <a:pt x="125084" y="89900"/>
                      <a:pt x="123137" y="88926"/>
                    </a:cubicBezTo>
                    <a:cubicBezTo>
                      <a:pt x="122164" y="87953"/>
                      <a:pt x="120217" y="86006"/>
                      <a:pt x="120217" y="86006"/>
                    </a:cubicBezTo>
                    <a:lnTo>
                      <a:pt x="116323" y="85033"/>
                    </a:lnTo>
                    <a:lnTo>
                      <a:pt x="113403" y="86006"/>
                    </a:lnTo>
                    <a:cubicBezTo>
                      <a:pt x="113403" y="86006"/>
                      <a:pt x="113403" y="85033"/>
                      <a:pt x="113403" y="83086"/>
                    </a:cubicBezTo>
                    <a:cubicBezTo>
                      <a:pt x="113403" y="82112"/>
                      <a:pt x="114377" y="80166"/>
                      <a:pt x="113403" y="77245"/>
                    </a:cubicBezTo>
                    <a:cubicBezTo>
                      <a:pt x="113403" y="74325"/>
                      <a:pt x="111456" y="67511"/>
                      <a:pt x="109510" y="63618"/>
                    </a:cubicBezTo>
                    <a:cubicBezTo>
                      <a:pt x="109510" y="63618"/>
                      <a:pt x="108536" y="58751"/>
                      <a:pt x="107563" y="55831"/>
                    </a:cubicBezTo>
                    <a:cubicBezTo>
                      <a:pt x="106589" y="51937"/>
                      <a:pt x="103669" y="47070"/>
                      <a:pt x="103669" y="45123"/>
                    </a:cubicBezTo>
                    <a:cubicBezTo>
                      <a:pt x="103669" y="42203"/>
                      <a:pt x="103669" y="39283"/>
                      <a:pt x="103669" y="38309"/>
                    </a:cubicBezTo>
                    <a:cubicBezTo>
                      <a:pt x="103669" y="37336"/>
                      <a:pt x="103669" y="32469"/>
                      <a:pt x="101722" y="29548"/>
                    </a:cubicBezTo>
                    <a:cubicBezTo>
                      <a:pt x="99775" y="26628"/>
                      <a:pt x="98802" y="26628"/>
                      <a:pt x="97828" y="26628"/>
                    </a:cubicBezTo>
                    <a:cubicBezTo>
                      <a:pt x="96855" y="26628"/>
                      <a:pt x="95882" y="28575"/>
                      <a:pt x="95882" y="30522"/>
                    </a:cubicBezTo>
                    <a:cubicBezTo>
                      <a:pt x="95882" y="32469"/>
                      <a:pt x="92961" y="36362"/>
                      <a:pt x="94908" y="42203"/>
                    </a:cubicBezTo>
                    <a:cubicBezTo>
                      <a:pt x="94908" y="42203"/>
                      <a:pt x="95882" y="45123"/>
                      <a:pt x="96855" y="45123"/>
                    </a:cubicBezTo>
                    <a:cubicBezTo>
                      <a:pt x="97828" y="45123"/>
                      <a:pt x="99775" y="46096"/>
                      <a:pt x="100749" y="47070"/>
                    </a:cubicBezTo>
                    <a:cubicBezTo>
                      <a:pt x="100749" y="48043"/>
                      <a:pt x="102696" y="51937"/>
                      <a:pt x="102696" y="52910"/>
                    </a:cubicBezTo>
                    <a:cubicBezTo>
                      <a:pt x="102696" y="53884"/>
                      <a:pt x="102696" y="57777"/>
                      <a:pt x="101722" y="58751"/>
                    </a:cubicBezTo>
                    <a:cubicBezTo>
                      <a:pt x="100749" y="59724"/>
                      <a:pt x="98802" y="59724"/>
                      <a:pt x="96855" y="58751"/>
                    </a:cubicBezTo>
                    <a:cubicBezTo>
                      <a:pt x="94908" y="57777"/>
                      <a:pt x="92961" y="59724"/>
                      <a:pt x="91988" y="57777"/>
                    </a:cubicBezTo>
                    <a:cubicBezTo>
                      <a:pt x="91014" y="56804"/>
                      <a:pt x="89068" y="55831"/>
                      <a:pt x="88094" y="53884"/>
                    </a:cubicBezTo>
                    <a:cubicBezTo>
                      <a:pt x="87121" y="50964"/>
                      <a:pt x="87121" y="50964"/>
                      <a:pt x="87121" y="49017"/>
                    </a:cubicBezTo>
                    <a:cubicBezTo>
                      <a:pt x="87121" y="47070"/>
                      <a:pt x="85174" y="45123"/>
                      <a:pt x="85174" y="44150"/>
                    </a:cubicBezTo>
                    <a:cubicBezTo>
                      <a:pt x="84201" y="43176"/>
                      <a:pt x="83227" y="44150"/>
                      <a:pt x="83227" y="44150"/>
                    </a:cubicBezTo>
                    <a:cubicBezTo>
                      <a:pt x="83227" y="44150"/>
                      <a:pt x="83227" y="48043"/>
                      <a:pt x="82254" y="49017"/>
                    </a:cubicBezTo>
                    <a:cubicBezTo>
                      <a:pt x="81280" y="49990"/>
                      <a:pt x="82254" y="53884"/>
                      <a:pt x="83227" y="56804"/>
                    </a:cubicBezTo>
                    <a:cubicBezTo>
                      <a:pt x="84201" y="59724"/>
                      <a:pt x="83227" y="61671"/>
                      <a:pt x="84201" y="63618"/>
                    </a:cubicBezTo>
                    <a:cubicBezTo>
                      <a:pt x="84201" y="65565"/>
                      <a:pt x="87121" y="70432"/>
                      <a:pt x="87121" y="72378"/>
                    </a:cubicBezTo>
                    <a:cubicBezTo>
                      <a:pt x="88094" y="73352"/>
                      <a:pt x="92961" y="82112"/>
                      <a:pt x="91988" y="85033"/>
                    </a:cubicBezTo>
                    <a:cubicBezTo>
                      <a:pt x="91014" y="87953"/>
                      <a:pt x="91014" y="90873"/>
                      <a:pt x="90041" y="93793"/>
                    </a:cubicBezTo>
                    <a:cubicBezTo>
                      <a:pt x="89068" y="95740"/>
                      <a:pt x="83227" y="97687"/>
                      <a:pt x="83227" y="97687"/>
                    </a:cubicBezTo>
                    <a:cubicBezTo>
                      <a:pt x="83227" y="97687"/>
                      <a:pt x="79334" y="96714"/>
                      <a:pt x="78360" y="92820"/>
                    </a:cubicBezTo>
                    <a:cubicBezTo>
                      <a:pt x="76413" y="88926"/>
                      <a:pt x="74466" y="86006"/>
                      <a:pt x="74466" y="83086"/>
                    </a:cubicBezTo>
                    <a:cubicBezTo>
                      <a:pt x="74466" y="81139"/>
                      <a:pt x="73493" y="76272"/>
                      <a:pt x="73493" y="74325"/>
                    </a:cubicBezTo>
                    <a:cubicBezTo>
                      <a:pt x="73493" y="72378"/>
                      <a:pt x="73493" y="67511"/>
                      <a:pt x="73493" y="65565"/>
                    </a:cubicBezTo>
                    <a:cubicBezTo>
                      <a:pt x="73493" y="63618"/>
                      <a:pt x="74466" y="59724"/>
                      <a:pt x="74466" y="58751"/>
                    </a:cubicBezTo>
                    <a:cubicBezTo>
                      <a:pt x="74466" y="56804"/>
                      <a:pt x="73493" y="53884"/>
                      <a:pt x="72520" y="53884"/>
                    </a:cubicBezTo>
                    <a:cubicBezTo>
                      <a:pt x="72520" y="53884"/>
                      <a:pt x="70573" y="54857"/>
                      <a:pt x="70573" y="58751"/>
                    </a:cubicBezTo>
                    <a:cubicBezTo>
                      <a:pt x="70573" y="62644"/>
                      <a:pt x="69599" y="64591"/>
                      <a:pt x="69599" y="66538"/>
                    </a:cubicBezTo>
                    <a:cubicBezTo>
                      <a:pt x="69599" y="68485"/>
                      <a:pt x="67652" y="71405"/>
                      <a:pt x="64732" y="71405"/>
                    </a:cubicBezTo>
                    <a:cubicBezTo>
                      <a:pt x="64732" y="71405"/>
                      <a:pt x="61812" y="71405"/>
                      <a:pt x="60839" y="72378"/>
                    </a:cubicBezTo>
                    <a:cubicBezTo>
                      <a:pt x="59865" y="73352"/>
                      <a:pt x="59865" y="76272"/>
                      <a:pt x="60839" y="78219"/>
                    </a:cubicBezTo>
                    <a:cubicBezTo>
                      <a:pt x="60839" y="79192"/>
                      <a:pt x="65706" y="91847"/>
                      <a:pt x="65706" y="95740"/>
                    </a:cubicBezTo>
                    <a:cubicBezTo>
                      <a:pt x="65706" y="99634"/>
                      <a:pt x="62785" y="112288"/>
                      <a:pt x="60839" y="115209"/>
                    </a:cubicBezTo>
                    <a:cubicBezTo>
                      <a:pt x="60839" y="115209"/>
                      <a:pt x="56945" y="118129"/>
                      <a:pt x="54998" y="120076"/>
                    </a:cubicBezTo>
                    <a:cubicBezTo>
                      <a:pt x="53051" y="122022"/>
                      <a:pt x="51104" y="120076"/>
                      <a:pt x="51104" y="120076"/>
                    </a:cubicBezTo>
                    <a:cubicBezTo>
                      <a:pt x="51104" y="120076"/>
                      <a:pt x="45264" y="118129"/>
                      <a:pt x="44290" y="117155"/>
                    </a:cubicBezTo>
                    <a:cubicBezTo>
                      <a:pt x="43317" y="116182"/>
                      <a:pt x="42343" y="114235"/>
                      <a:pt x="41370" y="113262"/>
                    </a:cubicBezTo>
                    <a:cubicBezTo>
                      <a:pt x="39423" y="111315"/>
                      <a:pt x="40397" y="110342"/>
                      <a:pt x="41370" y="109368"/>
                    </a:cubicBezTo>
                    <a:cubicBezTo>
                      <a:pt x="42343" y="108395"/>
                      <a:pt x="45264" y="105474"/>
                      <a:pt x="45264" y="105474"/>
                    </a:cubicBezTo>
                    <a:cubicBezTo>
                      <a:pt x="45264" y="105474"/>
                      <a:pt x="50131" y="94767"/>
                      <a:pt x="49158" y="89900"/>
                    </a:cubicBezTo>
                    <a:cubicBezTo>
                      <a:pt x="48184" y="85033"/>
                      <a:pt x="49158" y="76272"/>
                      <a:pt x="47211" y="73352"/>
                    </a:cubicBezTo>
                    <a:cubicBezTo>
                      <a:pt x="45264" y="70432"/>
                      <a:pt x="43317" y="66538"/>
                      <a:pt x="41370" y="67511"/>
                    </a:cubicBezTo>
                    <a:cubicBezTo>
                      <a:pt x="39423" y="67511"/>
                      <a:pt x="38450" y="68485"/>
                      <a:pt x="37476" y="69458"/>
                    </a:cubicBezTo>
                    <a:cubicBezTo>
                      <a:pt x="37476" y="69458"/>
                      <a:pt x="36503" y="70432"/>
                      <a:pt x="36503" y="71405"/>
                    </a:cubicBezTo>
                    <a:cubicBezTo>
                      <a:pt x="36503" y="71405"/>
                      <a:pt x="36503" y="71405"/>
                      <a:pt x="36503" y="71405"/>
                    </a:cubicBezTo>
                    <a:cubicBezTo>
                      <a:pt x="36503" y="72378"/>
                      <a:pt x="35530" y="74325"/>
                      <a:pt x="35530" y="74325"/>
                    </a:cubicBezTo>
                    <a:cubicBezTo>
                      <a:pt x="35530" y="74325"/>
                      <a:pt x="35530" y="77245"/>
                      <a:pt x="35530" y="78219"/>
                    </a:cubicBezTo>
                    <a:cubicBezTo>
                      <a:pt x="35530" y="79192"/>
                      <a:pt x="36503" y="83086"/>
                      <a:pt x="37476" y="85033"/>
                    </a:cubicBezTo>
                    <a:cubicBezTo>
                      <a:pt x="38450" y="86006"/>
                      <a:pt x="39423" y="88926"/>
                      <a:pt x="39423" y="89900"/>
                    </a:cubicBezTo>
                    <a:cubicBezTo>
                      <a:pt x="39423" y="90873"/>
                      <a:pt x="38450" y="90873"/>
                      <a:pt x="38450" y="91847"/>
                    </a:cubicBezTo>
                    <a:cubicBezTo>
                      <a:pt x="34556" y="95740"/>
                      <a:pt x="35530" y="101581"/>
                      <a:pt x="28716" y="97687"/>
                    </a:cubicBezTo>
                    <a:cubicBezTo>
                      <a:pt x="26769" y="96714"/>
                      <a:pt x="23849" y="95740"/>
                      <a:pt x="23849" y="95740"/>
                    </a:cubicBezTo>
                    <a:cubicBezTo>
                      <a:pt x="23849" y="95740"/>
                      <a:pt x="22875" y="94767"/>
                      <a:pt x="19955" y="90873"/>
                    </a:cubicBezTo>
                    <a:cubicBezTo>
                      <a:pt x="16061" y="84059"/>
                      <a:pt x="20928" y="86979"/>
                      <a:pt x="19955" y="83086"/>
                    </a:cubicBezTo>
                    <a:cubicBezTo>
                      <a:pt x="19955" y="82112"/>
                      <a:pt x="19955" y="80166"/>
                      <a:pt x="18981" y="78219"/>
                    </a:cubicBezTo>
                    <a:cubicBezTo>
                      <a:pt x="18981" y="77245"/>
                      <a:pt x="18008" y="76272"/>
                      <a:pt x="17035" y="76272"/>
                    </a:cubicBezTo>
                    <a:cubicBezTo>
                      <a:pt x="9247" y="75299"/>
                      <a:pt x="8274" y="75299"/>
                      <a:pt x="7301" y="743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4" name="任意多边形: 形状 43"/>
              <p:cNvSpPr/>
              <p:nvPr/>
            </p:nvSpPr>
            <p:spPr>
              <a:xfrm>
                <a:off x="8793794" y="5783399"/>
                <a:ext cx="155747" cy="136277"/>
              </a:xfrm>
              <a:custGeom>
                <a:avLst/>
                <a:gdLst>
                  <a:gd name="connsiteX0" fmla="*/ 121594 w 155747"/>
                  <a:gd name="connsiteY0" fmla="*/ 70572 h 136277"/>
                  <a:gd name="connsiteX1" fmla="*/ 121594 w 155747"/>
                  <a:gd name="connsiteY1" fmla="*/ 65705 h 136277"/>
                  <a:gd name="connsiteX2" fmla="*/ 125488 w 155747"/>
                  <a:gd name="connsiteY2" fmla="*/ 63758 h 136277"/>
                  <a:gd name="connsiteX3" fmla="*/ 132302 w 155747"/>
                  <a:gd name="connsiteY3" fmla="*/ 58891 h 136277"/>
                  <a:gd name="connsiteX4" fmla="*/ 132302 w 155747"/>
                  <a:gd name="connsiteY4" fmla="*/ 54998 h 136277"/>
                  <a:gd name="connsiteX5" fmla="*/ 124514 w 155747"/>
                  <a:gd name="connsiteY5" fmla="*/ 46237 h 136277"/>
                  <a:gd name="connsiteX6" fmla="*/ 122567 w 155747"/>
                  <a:gd name="connsiteY6" fmla="*/ 46237 h 136277"/>
                  <a:gd name="connsiteX7" fmla="*/ 121594 w 155747"/>
                  <a:gd name="connsiteY7" fmla="*/ 46237 h 136277"/>
                  <a:gd name="connsiteX8" fmla="*/ 121594 w 155747"/>
                  <a:gd name="connsiteY8" fmla="*/ 36503 h 136277"/>
                  <a:gd name="connsiteX9" fmla="*/ 122567 w 155747"/>
                  <a:gd name="connsiteY9" fmla="*/ 32609 h 136277"/>
                  <a:gd name="connsiteX10" fmla="*/ 121594 w 155747"/>
                  <a:gd name="connsiteY10" fmla="*/ 31636 h 136277"/>
                  <a:gd name="connsiteX11" fmla="*/ 121594 w 155747"/>
                  <a:gd name="connsiteY11" fmla="*/ 15088 h 136277"/>
                  <a:gd name="connsiteX12" fmla="*/ 123541 w 155747"/>
                  <a:gd name="connsiteY12" fmla="*/ 17035 h 136277"/>
                  <a:gd name="connsiteX13" fmla="*/ 128408 w 155747"/>
                  <a:gd name="connsiteY13" fmla="*/ 18008 h 136277"/>
                  <a:gd name="connsiteX14" fmla="*/ 133275 w 155747"/>
                  <a:gd name="connsiteY14" fmla="*/ 17035 h 136277"/>
                  <a:gd name="connsiteX15" fmla="*/ 137169 w 155747"/>
                  <a:gd name="connsiteY15" fmla="*/ 15088 h 136277"/>
                  <a:gd name="connsiteX16" fmla="*/ 142036 w 155747"/>
                  <a:gd name="connsiteY16" fmla="*/ 11194 h 136277"/>
                  <a:gd name="connsiteX17" fmla="*/ 143009 w 155747"/>
                  <a:gd name="connsiteY17" fmla="*/ 10221 h 136277"/>
                  <a:gd name="connsiteX18" fmla="*/ 144956 w 155747"/>
                  <a:gd name="connsiteY18" fmla="*/ 11194 h 136277"/>
                  <a:gd name="connsiteX19" fmla="*/ 144956 w 155747"/>
                  <a:gd name="connsiteY19" fmla="*/ 12168 h 136277"/>
                  <a:gd name="connsiteX20" fmla="*/ 144956 w 155747"/>
                  <a:gd name="connsiteY20" fmla="*/ 14115 h 136277"/>
                  <a:gd name="connsiteX21" fmla="*/ 145929 w 155747"/>
                  <a:gd name="connsiteY21" fmla="*/ 19955 h 136277"/>
                  <a:gd name="connsiteX22" fmla="*/ 145929 w 155747"/>
                  <a:gd name="connsiteY22" fmla="*/ 23849 h 136277"/>
                  <a:gd name="connsiteX23" fmla="*/ 143983 w 155747"/>
                  <a:gd name="connsiteY23" fmla="*/ 26769 h 136277"/>
                  <a:gd name="connsiteX24" fmla="*/ 139115 w 155747"/>
                  <a:gd name="connsiteY24" fmla="*/ 30662 h 136277"/>
                  <a:gd name="connsiteX25" fmla="*/ 136195 w 155747"/>
                  <a:gd name="connsiteY25" fmla="*/ 33583 h 136277"/>
                  <a:gd name="connsiteX26" fmla="*/ 136195 w 155747"/>
                  <a:gd name="connsiteY26" fmla="*/ 34556 h 136277"/>
                  <a:gd name="connsiteX27" fmla="*/ 136195 w 155747"/>
                  <a:gd name="connsiteY27" fmla="*/ 34556 h 136277"/>
                  <a:gd name="connsiteX28" fmla="*/ 138142 w 155747"/>
                  <a:gd name="connsiteY28" fmla="*/ 37476 h 136277"/>
                  <a:gd name="connsiteX29" fmla="*/ 136195 w 155747"/>
                  <a:gd name="connsiteY29" fmla="*/ 42343 h 136277"/>
                  <a:gd name="connsiteX30" fmla="*/ 137169 w 155747"/>
                  <a:gd name="connsiteY30" fmla="*/ 50130 h 136277"/>
                  <a:gd name="connsiteX31" fmla="*/ 144956 w 155747"/>
                  <a:gd name="connsiteY31" fmla="*/ 53051 h 136277"/>
                  <a:gd name="connsiteX32" fmla="*/ 148850 w 155747"/>
                  <a:gd name="connsiteY32" fmla="*/ 54024 h 136277"/>
                  <a:gd name="connsiteX33" fmla="*/ 151770 w 155747"/>
                  <a:gd name="connsiteY33" fmla="*/ 54998 h 136277"/>
                  <a:gd name="connsiteX34" fmla="*/ 152743 w 155747"/>
                  <a:gd name="connsiteY34" fmla="*/ 61812 h 136277"/>
                  <a:gd name="connsiteX35" fmla="*/ 149823 w 155747"/>
                  <a:gd name="connsiteY35" fmla="*/ 67652 h 136277"/>
                  <a:gd name="connsiteX36" fmla="*/ 143009 w 155747"/>
                  <a:gd name="connsiteY36" fmla="*/ 67652 h 136277"/>
                  <a:gd name="connsiteX37" fmla="*/ 124514 w 155747"/>
                  <a:gd name="connsiteY37" fmla="*/ 69599 h 136277"/>
                  <a:gd name="connsiteX38" fmla="*/ 119647 w 155747"/>
                  <a:gd name="connsiteY38" fmla="*/ 68625 h 136277"/>
                  <a:gd name="connsiteX39" fmla="*/ 121594 w 155747"/>
                  <a:gd name="connsiteY39" fmla="*/ 70572 h 136277"/>
                  <a:gd name="connsiteX40" fmla="*/ 58322 w 155747"/>
                  <a:gd name="connsiteY40" fmla="*/ 105615 h 136277"/>
                  <a:gd name="connsiteX41" fmla="*/ 60268 w 155747"/>
                  <a:gd name="connsiteY41" fmla="*/ 104641 h 136277"/>
                  <a:gd name="connsiteX42" fmla="*/ 66109 w 155747"/>
                  <a:gd name="connsiteY42" fmla="*/ 105615 h 136277"/>
                  <a:gd name="connsiteX43" fmla="*/ 70976 w 155747"/>
                  <a:gd name="connsiteY43" fmla="*/ 104641 h 136277"/>
                  <a:gd name="connsiteX44" fmla="*/ 72923 w 155747"/>
                  <a:gd name="connsiteY44" fmla="*/ 101721 h 136277"/>
                  <a:gd name="connsiteX45" fmla="*/ 71950 w 155747"/>
                  <a:gd name="connsiteY45" fmla="*/ 98801 h 136277"/>
                  <a:gd name="connsiteX46" fmla="*/ 74870 w 155747"/>
                  <a:gd name="connsiteY46" fmla="*/ 92960 h 136277"/>
                  <a:gd name="connsiteX47" fmla="*/ 71950 w 155747"/>
                  <a:gd name="connsiteY47" fmla="*/ 88093 h 136277"/>
                  <a:gd name="connsiteX48" fmla="*/ 64162 w 155747"/>
                  <a:gd name="connsiteY48" fmla="*/ 83226 h 136277"/>
                  <a:gd name="connsiteX49" fmla="*/ 57348 w 155747"/>
                  <a:gd name="connsiteY49" fmla="*/ 80306 h 136277"/>
                  <a:gd name="connsiteX50" fmla="*/ 57348 w 155747"/>
                  <a:gd name="connsiteY50" fmla="*/ 105615 h 136277"/>
                  <a:gd name="connsiteX51" fmla="*/ 58322 w 155747"/>
                  <a:gd name="connsiteY51" fmla="*/ 105615 h 136277"/>
                  <a:gd name="connsiteX52" fmla="*/ 121594 w 155747"/>
                  <a:gd name="connsiteY52" fmla="*/ 16061 h 136277"/>
                  <a:gd name="connsiteX53" fmla="*/ 121594 w 155747"/>
                  <a:gd name="connsiteY53" fmla="*/ 32609 h 136277"/>
                  <a:gd name="connsiteX54" fmla="*/ 118674 w 155747"/>
                  <a:gd name="connsiteY54" fmla="*/ 31636 h 136277"/>
                  <a:gd name="connsiteX55" fmla="*/ 111860 w 155747"/>
                  <a:gd name="connsiteY55" fmla="*/ 29689 h 136277"/>
                  <a:gd name="connsiteX56" fmla="*/ 106993 w 155747"/>
                  <a:gd name="connsiteY56" fmla="*/ 28716 h 136277"/>
                  <a:gd name="connsiteX57" fmla="*/ 101152 w 155747"/>
                  <a:gd name="connsiteY57" fmla="*/ 27742 h 136277"/>
                  <a:gd name="connsiteX58" fmla="*/ 111860 w 155747"/>
                  <a:gd name="connsiteY58" fmla="*/ 25795 h 136277"/>
                  <a:gd name="connsiteX59" fmla="*/ 118674 w 155747"/>
                  <a:gd name="connsiteY59" fmla="*/ 21902 h 136277"/>
                  <a:gd name="connsiteX60" fmla="*/ 118674 w 155747"/>
                  <a:gd name="connsiteY60" fmla="*/ 18982 h 136277"/>
                  <a:gd name="connsiteX61" fmla="*/ 117700 w 155747"/>
                  <a:gd name="connsiteY61" fmla="*/ 15088 h 136277"/>
                  <a:gd name="connsiteX62" fmla="*/ 117700 w 155747"/>
                  <a:gd name="connsiteY62" fmla="*/ 13141 h 136277"/>
                  <a:gd name="connsiteX63" fmla="*/ 117700 w 155747"/>
                  <a:gd name="connsiteY63" fmla="*/ 12168 h 136277"/>
                  <a:gd name="connsiteX64" fmla="*/ 119647 w 155747"/>
                  <a:gd name="connsiteY64" fmla="*/ 13141 h 136277"/>
                  <a:gd name="connsiteX65" fmla="*/ 121594 w 155747"/>
                  <a:gd name="connsiteY65" fmla="*/ 16061 h 136277"/>
                  <a:gd name="connsiteX66" fmla="*/ 121594 w 155747"/>
                  <a:gd name="connsiteY66" fmla="*/ 16061 h 136277"/>
                  <a:gd name="connsiteX67" fmla="*/ 121594 w 155747"/>
                  <a:gd name="connsiteY67" fmla="*/ 37476 h 136277"/>
                  <a:gd name="connsiteX68" fmla="*/ 121594 w 155747"/>
                  <a:gd name="connsiteY68" fmla="*/ 47210 h 136277"/>
                  <a:gd name="connsiteX69" fmla="*/ 109913 w 155747"/>
                  <a:gd name="connsiteY69" fmla="*/ 49157 h 136277"/>
                  <a:gd name="connsiteX70" fmla="*/ 109913 w 155747"/>
                  <a:gd name="connsiteY70" fmla="*/ 51104 h 136277"/>
                  <a:gd name="connsiteX71" fmla="*/ 110886 w 155747"/>
                  <a:gd name="connsiteY71" fmla="*/ 56944 h 136277"/>
                  <a:gd name="connsiteX72" fmla="*/ 109913 w 155747"/>
                  <a:gd name="connsiteY72" fmla="*/ 61812 h 136277"/>
                  <a:gd name="connsiteX73" fmla="*/ 115753 w 155747"/>
                  <a:gd name="connsiteY73" fmla="*/ 63758 h 136277"/>
                  <a:gd name="connsiteX74" fmla="*/ 120621 w 155747"/>
                  <a:gd name="connsiteY74" fmla="*/ 65705 h 136277"/>
                  <a:gd name="connsiteX75" fmla="*/ 121594 w 155747"/>
                  <a:gd name="connsiteY75" fmla="*/ 65705 h 136277"/>
                  <a:gd name="connsiteX76" fmla="*/ 121594 w 155747"/>
                  <a:gd name="connsiteY76" fmla="*/ 70572 h 136277"/>
                  <a:gd name="connsiteX77" fmla="*/ 121594 w 155747"/>
                  <a:gd name="connsiteY77" fmla="*/ 70572 h 136277"/>
                  <a:gd name="connsiteX78" fmla="*/ 117700 w 155747"/>
                  <a:gd name="connsiteY78" fmla="*/ 78359 h 136277"/>
                  <a:gd name="connsiteX79" fmla="*/ 110886 w 155747"/>
                  <a:gd name="connsiteY79" fmla="*/ 80306 h 136277"/>
                  <a:gd name="connsiteX80" fmla="*/ 106993 w 155747"/>
                  <a:gd name="connsiteY80" fmla="*/ 77386 h 136277"/>
                  <a:gd name="connsiteX81" fmla="*/ 106019 w 155747"/>
                  <a:gd name="connsiteY81" fmla="*/ 83226 h 136277"/>
                  <a:gd name="connsiteX82" fmla="*/ 102126 w 155747"/>
                  <a:gd name="connsiteY82" fmla="*/ 94907 h 136277"/>
                  <a:gd name="connsiteX83" fmla="*/ 96285 w 155747"/>
                  <a:gd name="connsiteY83" fmla="*/ 96854 h 136277"/>
                  <a:gd name="connsiteX84" fmla="*/ 89471 w 155747"/>
                  <a:gd name="connsiteY84" fmla="*/ 92960 h 136277"/>
                  <a:gd name="connsiteX85" fmla="*/ 81684 w 155747"/>
                  <a:gd name="connsiteY85" fmla="*/ 82253 h 136277"/>
                  <a:gd name="connsiteX86" fmla="*/ 84604 w 155747"/>
                  <a:gd name="connsiteY86" fmla="*/ 82253 h 136277"/>
                  <a:gd name="connsiteX87" fmla="*/ 92391 w 155747"/>
                  <a:gd name="connsiteY87" fmla="*/ 84200 h 136277"/>
                  <a:gd name="connsiteX88" fmla="*/ 97259 w 155747"/>
                  <a:gd name="connsiteY88" fmla="*/ 81280 h 136277"/>
                  <a:gd name="connsiteX89" fmla="*/ 96285 w 155747"/>
                  <a:gd name="connsiteY89" fmla="*/ 77386 h 136277"/>
                  <a:gd name="connsiteX90" fmla="*/ 92391 w 155747"/>
                  <a:gd name="connsiteY90" fmla="*/ 76413 h 136277"/>
                  <a:gd name="connsiteX91" fmla="*/ 83631 w 155747"/>
                  <a:gd name="connsiteY91" fmla="*/ 76413 h 136277"/>
                  <a:gd name="connsiteX92" fmla="*/ 74870 w 155747"/>
                  <a:gd name="connsiteY92" fmla="*/ 72519 h 136277"/>
                  <a:gd name="connsiteX93" fmla="*/ 67082 w 155747"/>
                  <a:gd name="connsiteY93" fmla="*/ 72519 h 136277"/>
                  <a:gd name="connsiteX94" fmla="*/ 59295 w 155747"/>
                  <a:gd name="connsiteY94" fmla="*/ 70572 h 136277"/>
                  <a:gd name="connsiteX95" fmla="*/ 59295 w 155747"/>
                  <a:gd name="connsiteY95" fmla="*/ 54024 h 136277"/>
                  <a:gd name="connsiteX96" fmla="*/ 75843 w 155747"/>
                  <a:gd name="connsiteY96" fmla="*/ 62785 h 136277"/>
                  <a:gd name="connsiteX97" fmla="*/ 81684 w 155747"/>
                  <a:gd name="connsiteY97" fmla="*/ 64732 h 136277"/>
                  <a:gd name="connsiteX98" fmla="*/ 89471 w 155747"/>
                  <a:gd name="connsiteY98" fmla="*/ 69599 h 136277"/>
                  <a:gd name="connsiteX99" fmla="*/ 93365 w 155747"/>
                  <a:gd name="connsiteY99" fmla="*/ 72519 h 136277"/>
                  <a:gd name="connsiteX100" fmla="*/ 99205 w 155747"/>
                  <a:gd name="connsiteY100" fmla="*/ 74466 h 136277"/>
                  <a:gd name="connsiteX101" fmla="*/ 103099 w 155747"/>
                  <a:gd name="connsiteY101" fmla="*/ 74466 h 136277"/>
                  <a:gd name="connsiteX102" fmla="*/ 106993 w 155747"/>
                  <a:gd name="connsiteY102" fmla="*/ 73492 h 136277"/>
                  <a:gd name="connsiteX103" fmla="*/ 107966 w 155747"/>
                  <a:gd name="connsiteY103" fmla="*/ 70572 h 136277"/>
                  <a:gd name="connsiteX104" fmla="*/ 106019 w 155747"/>
                  <a:gd name="connsiteY104" fmla="*/ 64732 h 136277"/>
                  <a:gd name="connsiteX105" fmla="*/ 103099 w 155747"/>
                  <a:gd name="connsiteY105" fmla="*/ 61812 h 136277"/>
                  <a:gd name="connsiteX106" fmla="*/ 100179 w 155747"/>
                  <a:gd name="connsiteY106" fmla="*/ 62785 h 136277"/>
                  <a:gd name="connsiteX107" fmla="*/ 100179 w 155747"/>
                  <a:gd name="connsiteY107" fmla="*/ 60838 h 136277"/>
                  <a:gd name="connsiteX108" fmla="*/ 97259 w 155747"/>
                  <a:gd name="connsiteY108" fmla="*/ 53051 h 136277"/>
                  <a:gd name="connsiteX109" fmla="*/ 95312 w 155747"/>
                  <a:gd name="connsiteY109" fmla="*/ 52077 h 136277"/>
                  <a:gd name="connsiteX110" fmla="*/ 90444 w 155747"/>
                  <a:gd name="connsiteY110" fmla="*/ 51104 h 136277"/>
                  <a:gd name="connsiteX111" fmla="*/ 86551 w 155747"/>
                  <a:gd name="connsiteY111" fmla="*/ 50130 h 136277"/>
                  <a:gd name="connsiteX112" fmla="*/ 82657 w 155747"/>
                  <a:gd name="connsiteY112" fmla="*/ 49157 h 136277"/>
                  <a:gd name="connsiteX113" fmla="*/ 81684 w 155747"/>
                  <a:gd name="connsiteY113" fmla="*/ 49157 h 136277"/>
                  <a:gd name="connsiteX114" fmla="*/ 77790 w 155747"/>
                  <a:gd name="connsiteY114" fmla="*/ 48184 h 136277"/>
                  <a:gd name="connsiteX115" fmla="*/ 72923 w 155747"/>
                  <a:gd name="connsiteY115" fmla="*/ 47210 h 136277"/>
                  <a:gd name="connsiteX116" fmla="*/ 74870 w 155747"/>
                  <a:gd name="connsiteY116" fmla="*/ 43317 h 136277"/>
                  <a:gd name="connsiteX117" fmla="*/ 78764 w 155747"/>
                  <a:gd name="connsiteY117" fmla="*/ 36503 h 136277"/>
                  <a:gd name="connsiteX118" fmla="*/ 92391 w 155747"/>
                  <a:gd name="connsiteY118" fmla="*/ 22875 h 136277"/>
                  <a:gd name="connsiteX119" fmla="*/ 104072 w 155747"/>
                  <a:gd name="connsiteY119" fmla="*/ 10221 h 136277"/>
                  <a:gd name="connsiteX120" fmla="*/ 105046 w 155747"/>
                  <a:gd name="connsiteY120" fmla="*/ 11194 h 136277"/>
                  <a:gd name="connsiteX121" fmla="*/ 105046 w 155747"/>
                  <a:gd name="connsiteY121" fmla="*/ 12168 h 136277"/>
                  <a:gd name="connsiteX122" fmla="*/ 104072 w 155747"/>
                  <a:gd name="connsiteY122" fmla="*/ 15088 h 136277"/>
                  <a:gd name="connsiteX123" fmla="*/ 103099 w 155747"/>
                  <a:gd name="connsiteY123" fmla="*/ 17035 h 136277"/>
                  <a:gd name="connsiteX124" fmla="*/ 97259 w 155747"/>
                  <a:gd name="connsiteY124" fmla="*/ 23849 h 136277"/>
                  <a:gd name="connsiteX125" fmla="*/ 87524 w 155747"/>
                  <a:gd name="connsiteY125" fmla="*/ 38450 h 136277"/>
                  <a:gd name="connsiteX126" fmla="*/ 85577 w 155747"/>
                  <a:gd name="connsiteY126" fmla="*/ 41370 h 136277"/>
                  <a:gd name="connsiteX127" fmla="*/ 83631 w 155747"/>
                  <a:gd name="connsiteY127" fmla="*/ 44290 h 136277"/>
                  <a:gd name="connsiteX128" fmla="*/ 82657 w 155747"/>
                  <a:gd name="connsiteY128" fmla="*/ 47210 h 136277"/>
                  <a:gd name="connsiteX129" fmla="*/ 83631 w 155747"/>
                  <a:gd name="connsiteY129" fmla="*/ 48184 h 136277"/>
                  <a:gd name="connsiteX130" fmla="*/ 91418 w 155747"/>
                  <a:gd name="connsiteY130" fmla="*/ 48184 h 136277"/>
                  <a:gd name="connsiteX131" fmla="*/ 99205 w 155747"/>
                  <a:gd name="connsiteY131" fmla="*/ 45263 h 136277"/>
                  <a:gd name="connsiteX132" fmla="*/ 99205 w 155747"/>
                  <a:gd name="connsiteY132" fmla="*/ 39423 h 136277"/>
                  <a:gd name="connsiteX133" fmla="*/ 101152 w 155747"/>
                  <a:gd name="connsiteY133" fmla="*/ 36503 h 136277"/>
                  <a:gd name="connsiteX134" fmla="*/ 103099 w 155747"/>
                  <a:gd name="connsiteY134" fmla="*/ 39423 h 136277"/>
                  <a:gd name="connsiteX135" fmla="*/ 106019 w 155747"/>
                  <a:gd name="connsiteY135" fmla="*/ 45263 h 136277"/>
                  <a:gd name="connsiteX136" fmla="*/ 117700 w 155747"/>
                  <a:gd name="connsiteY136" fmla="*/ 42343 h 136277"/>
                  <a:gd name="connsiteX137" fmla="*/ 121594 w 155747"/>
                  <a:gd name="connsiteY137" fmla="*/ 37476 h 136277"/>
                  <a:gd name="connsiteX138" fmla="*/ 121594 w 155747"/>
                  <a:gd name="connsiteY138" fmla="*/ 37476 h 136277"/>
                  <a:gd name="connsiteX139" fmla="*/ 121594 w 155747"/>
                  <a:gd name="connsiteY139" fmla="*/ 37476 h 136277"/>
                  <a:gd name="connsiteX140" fmla="*/ 58322 w 155747"/>
                  <a:gd name="connsiteY140" fmla="*/ 39423 h 136277"/>
                  <a:gd name="connsiteX141" fmla="*/ 59295 w 155747"/>
                  <a:gd name="connsiteY141" fmla="*/ 38450 h 136277"/>
                  <a:gd name="connsiteX142" fmla="*/ 65136 w 155747"/>
                  <a:gd name="connsiteY142" fmla="*/ 34556 h 136277"/>
                  <a:gd name="connsiteX143" fmla="*/ 69029 w 155747"/>
                  <a:gd name="connsiteY143" fmla="*/ 30662 h 136277"/>
                  <a:gd name="connsiteX144" fmla="*/ 74870 w 155747"/>
                  <a:gd name="connsiteY144" fmla="*/ 24822 h 136277"/>
                  <a:gd name="connsiteX145" fmla="*/ 77790 w 155747"/>
                  <a:gd name="connsiteY145" fmla="*/ 21902 h 136277"/>
                  <a:gd name="connsiteX146" fmla="*/ 76817 w 155747"/>
                  <a:gd name="connsiteY146" fmla="*/ 18008 h 136277"/>
                  <a:gd name="connsiteX147" fmla="*/ 76817 w 155747"/>
                  <a:gd name="connsiteY147" fmla="*/ 8274 h 136277"/>
                  <a:gd name="connsiteX148" fmla="*/ 76817 w 155747"/>
                  <a:gd name="connsiteY148" fmla="*/ 7301 h 136277"/>
                  <a:gd name="connsiteX149" fmla="*/ 74870 w 155747"/>
                  <a:gd name="connsiteY149" fmla="*/ 9248 h 136277"/>
                  <a:gd name="connsiteX150" fmla="*/ 70976 w 155747"/>
                  <a:gd name="connsiteY150" fmla="*/ 15088 h 136277"/>
                  <a:gd name="connsiteX151" fmla="*/ 69029 w 155747"/>
                  <a:gd name="connsiteY151" fmla="*/ 19955 h 136277"/>
                  <a:gd name="connsiteX152" fmla="*/ 64162 w 155747"/>
                  <a:gd name="connsiteY152" fmla="*/ 25795 h 136277"/>
                  <a:gd name="connsiteX153" fmla="*/ 61242 w 155747"/>
                  <a:gd name="connsiteY153" fmla="*/ 31636 h 136277"/>
                  <a:gd name="connsiteX154" fmla="*/ 59295 w 155747"/>
                  <a:gd name="connsiteY154" fmla="*/ 35529 h 136277"/>
                  <a:gd name="connsiteX155" fmla="*/ 59295 w 155747"/>
                  <a:gd name="connsiteY155" fmla="*/ 39423 h 136277"/>
                  <a:gd name="connsiteX156" fmla="*/ 23279 w 155747"/>
                  <a:gd name="connsiteY156" fmla="*/ 87120 h 136277"/>
                  <a:gd name="connsiteX157" fmla="*/ 33013 w 155747"/>
                  <a:gd name="connsiteY157" fmla="*/ 88093 h 136277"/>
                  <a:gd name="connsiteX158" fmla="*/ 43720 w 155747"/>
                  <a:gd name="connsiteY158" fmla="*/ 92960 h 136277"/>
                  <a:gd name="connsiteX159" fmla="*/ 40800 w 155747"/>
                  <a:gd name="connsiteY159" fmla="*/ 99774 h 136277"/>
                  <a:gd name="connsiteX160" fmla="*/ 34960 w 155747"/>
                  <a:gd name="connsiteY160" fmla="*/ 107562 h 136277"/>
                  <a:gd name="connsiteX161" fmla="*/ 30093 w 155747"/>
                  <a:gd name="connsiteY161" fmla="*/ 110482 h 136277"/>
                  <a:gd name="connsiteX162" fmla="*/ 22305 w 155747"/>
                  <a:gd name="connsiteY162" fmla="*/ 106588 h 136277"/>
                  <a:gd name="connsiteX163" fmla="*/ 12571 w 155747"/>
                  <a:gd name="connsiteY163" fmla="*/ 98801 h 136277"/>
                  <a:gd name="connsiteX164" fmla="*/ 7704 w 155747"/>
                  <a:gd name="connsiteY164" fmla="*/ 92960 h 136277"/>
                  <a:gd name="connsiteX165" fmla="*/ 8677 w 155747"/>
                  <a:gd name="connsiteY165" fmla="*/ 98801 h 136277"/>
                  <a:gd name="connsiteX166" fmla="*/ 14518 w 155747"/>
                  <a:gd name="connsiteY166" fmla="*/ 108535 h 136277"/>
                  <a:gd name="connsiteX167" fmla="*/ 16465 w 155747"/>
                  <a:gd name="connsiteY167" fmla="*/ 114376 h 136277"/>
                  <a:gd name="connsiteX168" fmla="*/ 18412 w 155747"/>
                  <a:gd name="connsiteY168" fmla="*/ 126057 h 136277"/>
                  <a:gd name="connsiteX169" fmla="*/ 25226 w 155747"/>
                  <a:gd name="connsiteY169" fmla="*/ 130924 h 136277"/>
                  <a:gd name="connsiteX170" fmla="*/ 32039 w 155747"/>
                  <a:gd name="connsiteY170" fmla="*/ 130924 h 136277"/>
                  <a:gd name="connsiteX171" fmla="*/ 46641 w 155747"/>
                  <a:gd name="connsiteY171" fmla="*/ 126057 h 136277"/>
                  <a:gd name="connsiteX172" fmla="*/ 53455 w 155747"/>
                  <a:gd name="connsiteY172" fmla="*/ 115349 h 136277"/>
                  <a:gd name="connsiteX173" fmla="*/ 59295 w 155747"/>
                  <a:gd name="connsiteY173" fmla="*/ 105615 h 136277"/>
                  <a:gd name="connsiteX174" fmla="*/ 59295 w 155747"/>
                  <a:gd name="connsiteY174" fmla="*/ 80306 h 136277"/>
                  <a:gd name="connsiteX175" fmla="*/ 49561 w 155747"/>
                  <a:gd name="connsiteY175" fmla="*/ 76413 h 136277"/>
                  <a:gd name="connsiteX176" fmla="*/ 28146 w 155747"/>
                  <a:gd name="connsiteY176" fmla="*/ 67652 h 136277"/>
                  <a:gd name="connsiteX177" fmla="*/ 19385 w 155747"/>
                  <a:gd name="connsiteY177" fmla="*/ 63758 h 136277"/>
                  <a:gd name="connsiteX178" fmla="*/ 10624 w 155747"/>
                  <a:gd name="connsiteY178" fmla="*/ 57918 h 136277"/>
                  <a:gd name="connsiteX179" fmla="*/ 9651 w 155747"/>
                  <a:gd name="connsiteY179" fmla="*/ 59865 h 136277"/>
                  <a:gd name="connsiteX180" fmla="*/ 9651 w 155747"/>
                  <a:gd name="connsiteY180" fmla="*/ 68625 h 136277"/>
                  <a:gd name="connsiteX181" fmla="*/ 15491 w 155747"/>
                  <a:gd name="connsiteY181" fmla="*/ 84200 h 136277"/>
                  <a:gd name="connsiteX182" fmla="*/ 23279 w 155747"/>
                  <a:gd name="connsiteY182" fmla="*/ 87120 h 136277"/>
                  <a:gd name="connsiteX183" fmla="*/ 23279 w 155747"/>
                  <a:gd name="connsiteY183" fmla="*/ 87120 h 136277"/>
                  <a:gd name="connsiteX184" fmla="*/ 58322 w 155747"/>
                  <a:gd name="connsiteY184" fmla="*/ 36503 h 136277"/>
                  <a:gd name="connsiteX185" fmla="*/ 58322 w 155747"/>
                  <a:gd name="connsiteY185" fmla="*/ 39423 h 136277"/>
                  <a:gd name="connsiteX186" fmla="*/ 57348 w 155747"/>
                  <a:gd name="connsiteY186" fmla="*/ 38450 h 136277"/>
                  <a:gd name="connsiteX187" fmla="*/ 58322 w 155747"/>
                  <a:gd name="connsiteY187" fmla="*/ 36503 h 136277"/>
                  <a:gd name="connsiteX188" fmla="*/ 58322 w 155747"/>
                  <a:gd name="connsiteY188" fmla="*/ 36503 h 136277"/>
                  <a:gd name="connsiteX189" fmla="*/ 58322 w 155747"/>
                  <a:gd name="connsiteY189" fmla="*/ 36503 h 136277"/>
                  <a:gd name="connsiteX190" fmla="*/ 58322 w 155747"/>
                  <a:gd name="connsiteY190" fmla="*/ 53051 h 136277"/>
                  <a:gd name="connsiteX191" fmla="*/ 58322 w 155747"/>
                  <a:gd name="connsiteY191" fmla="*/ 69599 h 136277"/>
                  <a:gd name="connsiteX192" fmla="*/ 52481 w 155747"/>
                  <a:gd name="connsiteY192" fmla="*/ 67652 h 136277"/>
                  <a:gd name="connsiteX193" fmla="*/ 41774 w 155747"/>
                  <a:gd name="connsiteY193" fmla="*/ 60838 h 136277"/>
                  <a:gd name="connsiteX194" fmla="*/ 40800 w 155747"/>
                  <a:gd name="connsiteY194" fmla="*/ 57918 h 136277"/>
                  <a:gd name="connsiteX195" fmla="*/ 41774 w 155747"/>
                  <a:gd name="connsiteY195" fmla="*/ 53051 h 136277"/>
                  <a:gd name="connsiteX196" fmla="*/ 46641 w 155747"/>
                  <a:gd name="connsiteY196" fmla="*/ 46237 h 136277"/>
                  <a:gd name="connsiteX197" fmla="*/ 55401 w 155747"/>
                  <a:gd name="connsiteY197" fmla="*/ 51104 h 136277"/>
                  <a:gd name="connsiteX198" fmla="*/ 58322 w 155747"/>
                  <a:gd name="connsiteY198" fmla="*/ 53051 h 13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55747" h="136277">
                    <a:moveTo>
                      <a:pt x="121594" y="70572"/>
                    </a:moveTo>
                    <a:lnTo>
                      <a:pt x="121594" y="65705"/>
                    </a:lnTo>
                    <a:cubicBezTo>
                      <a:pt x="122567" y="65705"/>
                      <a:pt x="124514" y="64732"/>
                      <a:pt x="125488" y="63758"/>
                    </a:cubicBezTo>
                    <a:cubicBezTo>
                      <a:pt x="128408" y="62785"/>
                      <a:pt x="131328" y="60838"/>
                      <a:pt x="132302" y="58891"/>
                    </a:cubicBezTo>
                    <a:cubicBezTo>
                      <a:pt x="133275" y="57918"/>
                      <a:pt x="134248" y="55971"/>
                      <a:pt x="132302" y="54998"/>
                    </a:cubicBezTo>
                    <a:lnTo>
                      <a:pt x="124514" y="46237"/>
                    </a:lnTo>
                    <a:cubicBezTo>
                      <a:pt x="124514" y="46237"/>
                      <a:pt x="124514" y="45263"/>
                      <a:pt x="122567" y="46237"/>
                    </a:cubicBezTo>
                    <a:lnTo>
                      <a:pt x="121594" y="46237"/>
                    </a:lnTo>
                    <a:lnTo>
                      <a:pt x="121594" y="36503"/>
                    </a:lnTo>
                    <a:cubicBezTo>
                      <a:pt x="122567" y="35529"/>
                      <a:pt x="123541" y="34556"/>
                      <a:pt x="122567" y="32609"/>
                    </a:cubicBezTo>
                    <a:cubicBezTo>
                      <a:pt x="122567" y="32609"/>
                      <a:pt x="122567" y="32609"/>
                      <a:pt x="121594" y="31636"/>
                    </a:cubicBezTo>
                    <a:lnTo>
                      <a:pt x="121594" y="15088"/>
                    </a:lnTo>
                    <a:cubicBezTo>
                      <a:pt x="122567" y="16061"/>
                      <a:pt x="123541" y="17035"/>
                      <a:pt x="123541" y="17035"/>
                    </a:cubicBezTo>
                    <a:cubicBezTo>
                      <a:pt x="124514" y="18008"/>
                      <a:pt x="127435" y="18008"/>
                      <a:pt x="128408" y="18008"/>
                    </a:cubicBezTo>
                    <a:cubicBezTo>
                      <a:pt x="129381" y="18008"/>
                      <a:pt x="131328" y="18008"/>
                      <a:pt x="133275" y="17035"/>
                    </a:cubicBezTo>
                    <a:cubicBezTo>
                      <a:pt x="135222" y="16061"/>
                      <a:pt x="136195" y="15088"/>
                      <a:pt x="137169" y="15088"/>
                    </a:cubicBezTo>
                    <a:cubicBezTo>
                      <a:pt x="139115" y="15088"/>
                      <a:pt x="141062" y="12168"/>
                      <a:pt x="142036" y="11194"/>
                    </a:cubicBezTo>
                    <a:cubicBezTo>
                      <a:pt x="142036" y="11194"/>
                      <a:pt x="143009" y="10221"/>
                      <a:pt x="143009" y="10221"/>
                    </a:cubicBezTo>
                    <a:cubicBezTo>
                      <a:pt x="143983" y="9248"/>
                      <a:pt x="144956" y="9248"/>
                      <a:pt x="144956" y="11194"/>
                    </a:cubicBezTo>
                    <a:cubicBezTo>
                      <a:pt x="144956" y="11194"/>
                      <a:pt x="144956" y="12168"/>
                      <a:pt x="144956" y="12168"/>
                    </a:cubicBezTo>
                    <a:cubicBezTo>
                      <a:pt x="144956" y="13141"/>
                      <a:pt x="144956" y="13141"/>
                      <a:pt x="144956" y="14115"/>
                    </a:cubicBezTo>
                    <a:cubicBezTo>
                      <a:pt x="144956" y="16061"/>
                      <a:pt x="145929" y="18008"/>
                      <a:pt x="145929" y="19955"/>
                    </a:cubicBezTo>
                    <a:cubicBezTo>
                      <a:pt x="146903" y="21902"/>
                      <a:pt x="145929" y="23849"/>
                      <a:pt x="145929" y="23849"/>
                    </a:cubicBezTo>
                    <a:cubicBezTo>
                      <a:pt x="145929" y="23849"/>
                      <a:pt x="144956" y="24822"/>
                      <a:pt x="143983" y="26769"/>
                    </a:cubicBezTo>
                    <a:cubicBezTo>
                      <a:pt x="143009" y="28716"/>
                      <a:pt x="141062" y="29689"/>
                      <a:pt x="139115" y="30662"/>
                    </a:cubicBezTo>
                    <a:cubicBezTo>
                      <a:pt x="138142" y="31636"/>
                      <a:pt x="137169" y="32609"/>
                      <a:pt x="136195" y="33583"/>
                    </a:cubicBezTo>
                    <a:cubicBezTo>
                      <a:pt x="136195" y="33583"/>
                      <a:pt x="136195" y="33583"/>
                      <a:pt x="136195" y="34556"/>
                    </a:cubicBezTo>
                    <a:cubicBezTo>
                      <a:pt x="136195" y="34556"/>
                      <a:pt x="136195" y="34556"/>
                      <a:pt x="136195" y="34556"/>
                    </a:cubicBezTo>
                    <a:lnTo>
                      <a:pt x="138142" y="37476"/>
                    </a:lnTo>
                    <a:cubicBezTo>
                      <a:pt x="140089" y="40396"/>
                      <a:pt x="139115" y="40396"/>
                      <a:pt x="136195" y="42343"/>
                    </a:cubicBezTo>
                    <a:cubicBezTo>
                      <a:pt x="133275" y="45263"/>
                      <a:pt x="131328" y="49157"/>
                      <a:pt x="137169" y="50130"/>
                    </a:cubicBezTo>
                    <a:cubicBezTo>
                      <a:pt x="138142" y="50130"/>
                      <a:pt x="142036" y="52077"/>
                      <a:pt x="144956" y="53051"/>
                    </a:cubicBezTo>
                    <a:cubicBezTo>
                      <a:pt x="146903" y="53051"/>
                      <a:pt x="147876" y="54024"/>
                      <a:pt x="148850" y="54024"/>
                    </a:cubicBezTo>
                    <a:cubicBezTo>
                      <a:pt x="149823" y="54024"/>
                      <a:pt x="150797" y="54998"/>
                      <a:pt x="151770" y="54998"/>
                    </a:cubicBezTo>
                    <a:cubicBezTo>
                      <a:pt x="155664" y="57918"/>
                      <a:pt x="152743" y="56944"/>
                      <a:pt x="152743" y="61812"/>
                    </a:cubicBezTo>
                    <a:cubicBezTo>
                      <a:pt x="152743" y="63758"/>
                      <a:pt x="150797" y="67652"/>
                      <a:pt x="149823" y="67652"/>
                    </a:cubicBezTo>
                    <a:cubicBezTo>
                      <a:pt x="148850" y="67652"/>
                      <a:pt x="144956" y="68625"/>
                      <a:pt x="143009" y="67652"/>
                    </a:cubicBezTo>
                    <a:cubicBezTo>
                      <a:pt x="142036" y="67652"/>
                      <a:pt x="127435" y="68625"/>
                      <a:pt x="124514" y="69599"/>
                    </a:cubicBezTo>
                    <a:cubicBezTo>
                      <a:pt x="122567" y="69599"/>
                      <a:pt x="120621" y="69599"/>
                      <a:pt x="119647" y="68625"/>
                    </a:cubicBezTo>
                    <a:cubicBezTo>
                      <a:pt x="122567" y="70572"/>
                      <a:pt x="122567" y="70572"/>
                      <a:pt x="121594" y="70572"/>
                    </a:cubicBezTo>
                    <a:close/>
                    <a:moveTo>
                      <a:pt x="58322" y="105615"/>
                    </a:moveTo>
                    <a:cubicBezTo>
                      <a:pt x="59295" y="104641"/>
                      <a:pt x="60268" y="104641"/>
                      <a:pt x="60268" y="104641"/>
                    </a:cubicBezTo>
                    <a:cubicBezTo>
                      <a:pt x="60268" y="104641"/>
                      <a:pt x="64162" y="105615"/>
                      <a:pt x="66109" y="105615"/>
                    </a:cubicBezTo>
                    <a:cubicBezTo>
                      <a:pt x="68056" y="105615"/>
                      <a:pt x="70003" y="105615"/>
                      <a:pt x="70976" y="104641"/>
                    </a:cubicBezTo>
                    <a:cubicBezTo>
                      <a:pt x="71950" y="104641"/>
                      <a:pt x="72923" y="102694"/>
                      <a:pt x="72923" y="101721"/>
                    </a:cubicBezTo>
                    <a:cubicBezTo>
                      <a:pt x="73897" y="100748"/>
                      <a:pt x="72923" y="99774"/>
                      <a:pt x="71950" y="98801"/>
                    </a:cubicBezTo>
                    <a:cubicBezTo>
                      <a:pt x="70976" y="96854"/>
                      <a:pt x="72923" y="95881"/>
                      <a:pt x="74870" y="92960"/>
                    </a:cubicBezTo>
                    <a:cubicBezTo>
                      <a:pt x="74870" y="92960"/>
                      <a:pt x="73897" y="90040"/>
                      <a:pt x="71950" y="88093"/>
                    </a:cubicBezTo>
                    <a:cubicBezTo>
                      <a:pt x="70003" y="86147"/>
                      <a:pt x="69029" y="84200"/>
                      <a:pt x="64162" y="83226"/>
                    </a:cubicBezTo>
                    <a:cubicBezTo>
                      <a:pt x="62215" y="82253"/>
                      <a:pt x="59295" y="81280"/>
                      <a:pt x="57348" y="80306"/>
                    </a:cubicBezTo>
                    <a:lnTo>
                      <a:pt x="57348" y="105615"/>
                    </a:lnTo>
                    <a:lnTo>
                      <a:pt x="58322" y="105615"/>
                    </a:lnTo>
                    <a:close/>
                    <a:moveTo>
                      <a:pt x="121594" y="16061"/>
                    </a:moveTo>
                    <a:lnTo>
                      <a:pt x="121594" y="32609"/>
                    </a:lnTo>
                    <a:cubicBezTo>
                      <a:pt x="120621" y="32609"/>
                      <a:pt x="120621" y="31636"/>
                      <a:pt x="118674" y="31636"/>
                    </a:cubicBezTo>
                    <a:cubicBezTo>
                      <a:pt x="116727" y="31636"/>
                      <a:pt x="112833" y="30662"/>
                      <a:pt x="111860" y="29689"/>
                    </a:cubicBezTo>
                    <a:cubicBezTo>
                      <a:pt x="110886" y="28716"/>
                      <a:pt x="109913" y="28716"/>
                      <a:pt x="106993" y="28716"/>
                    </a:cubicBezTo>
                    <a:cubicBezTo>
                      <a:pt x="105046" y="28716"/>
                      <a:pt x="102126" y="29689"/>
                      <a:pt x="101152" y="27742"/>
                    </a:cubicBezTo>
                    <a:cubicBezTo>
                      <a:pt x="101152" y="27742"/>
                      <a:pt x="108939" y="27742"/>
                      <a:pt x="111860" y="25795"/>
                    </a:cubicBezTo>
                    <a:cubicBezTo>
                      <a:pt x="114780" y="24822"/>
                      <a:pt x="118674" y="23849"/>
                      <a:pt x="118674" y="21902"/>
                    </a:cubicBezTo>
                    <a:cubicBezTo>
                      <a:pt x="119647" y="20928"/>
                      <a:pt x="118674" y="19955"/>
                      <a:pt x="118674" y="18982"/>
                    </a:cubicBezTo>
                    <a:cubicBezTo>
                      <a:pt x="118674" y="18008"/>
                      <a:pt x="118674" y="17035"/>
                      <a:pt x="117700" y="15088"/>
                    </a:cubicBezTo>
                    <a:lnTo>
                      <a:pt x="117700" y="13141"/>
                    </a:lnTo>
                    <a:cubicBezTo>
                      <a:pt x="117700" y="13141"/>
                      <a:pt x="117700" y="12168"/>
                      <a:pt x="117700" y="12168"/>
                    </a:cubicBezTo>
                    <a:cubicBezTo>
                      <a:pt x="117700" y="12168"/>
                      <a:pt x="118674" y="12168"/>
                      <a:pt x="119647" y="13141"/>
                    </a:cubicBezTo>
                    <a:cubicBezTo>
                      <a:pt x="120621" y="15088"/>
                      <a:pt x="121594" y="16061"/>
                      <a:pt x="121594" y="16061"/>
                    </a:cubicBezTo>
                    <a:lnTo>
                      <a:pt x="121594" y="16061"/>
                    </a:lnTo>
                    <a:close/>
                    <a:moveTo>
                      <a:pt x="121594" y="37476"/>
                    </a:moveTo>
                    <a:lnTo>
                      <a:pt x="121594" y="47210"/>
                    </a:lnTo>
                    <a:cubicBezTo>
                      <a:pt x="116727" y="48184"/>
                      <a:pt x="110886" y="48184"/>
                      <a:pt x="109913" y="49157"/>
                    </a:cubicBezTo>
                    <a:cubicBezTo>
                      <a:pt x="108939" y="49157"/>
                      <a:pt x="109913" y="51104"/>
                      <a:pt x="109913" y="51104"/>
                    </a:cubicBezTo>
                    <a:cubicBezTo>
                      <a:pt x="109913" y="53051"/>
                      <a:pt x="110886" y="55971"/>
                      <a:pt x="110886" y="56944"/>
                    </a:cubicBezTo>
                    <a:cubicBezTo>
                      <a:pt x="110886" y="57918"/>
                      <a:pt x="109913" y="60838"/>
                      <a:pt x="109913" y="61812"/>
                    </a:cubicBezTo>
                    <a:cubicBezTo>
                      <a:pt x="109913" y="62785"/>
                      <a:pt x="115753" y="63758"/>
                      <a:pt x="115753" y="63758"/>
                    </a:cubicBezTo>
                    <a:cubicBezTo>
                      <a:pt x="116727" y="63758"/>
                      <a:pt x="118674" y="65705"/>
                      <a:pt x="120621" y="65705"/>
                    </a:cubicBezTo>
                    <a:cubicBezTo>
                      <a:pt x="120621" y="65705"/>
                      <a:pt x="121594" y="65705"/>
                      <a:pt x="121594" y="65705"/>
                    </a:cubicBezTo>
                    <a:lnTo>
                      <a:pt x="121594" y="70572"/>
                    </a:lnTo>
                    <a:lnTo>
                      <a:pt x="121594" y="70572"/>
                    </a:lnTo>
                    <a:cubicBezTo>
                      <a:pt x="116727" y="71546"/>
                      <a:pt x="120621" y="73492"/>
                      <a:pt x="117700" y="78359"/>
                    </a:cubicBezTo>
                    <a:cubicBezTo>
                      <a:pt x="116727" y="80306"/>
                      <a:pt x="113806" y="82253"/>
                      <a:pt x="110886" y="80306"/>
                    </a:cubicBezTo>
                    <a:cubicBezTo>
                      <a:pt x="109913" y="79333"/>
                      <a:pt x="106993" y="77386"/>
                      <a:pt x="106993" y="77386"/>
                    </a:cubicBezTo>
                    <a:cubicBezTo>
                      <a:pt x="105046" y="78359"/>
                      <a:pt x="105046" y="79333"/>
                      <a:pt x="106019" y="83226"/>
                    </a:cubicBezTo>
                    <a:cubicBezTo>
                      <a:pt x="106019" y="85173"/>
                      <a:pt x="103099" y="93934"/>
                      <a:pt x="102126" y="94907"/>
                    </a:cubicBezTo>
                    <a:cubicBezTo>
                      <a:pt x="101152" y="96854"/>
                      <a:pt x="100179" y="97827"/>
                      <a:pt x="96285" y="96854"/>
                    </a:cubicBezTo>
                    <a:cubicBezTo>
                      <a:pt x="91418" y="95881"/>
                      <a:pt x="91418" y="94907"/>
                      <a:pt x="89471" y="92960"/>
                    </a:cubicBezTo>
                    <a:cubicBezTo>
                      <a:pt x="88498" y="91987"/>
                      <a:pt x="81684" y="83226"/>
                      <a:pt x="81684" y="82253"/>
                    </a:cubicBezTo>
                    <a:cubicBezTo>
                      <a:pt x="80710" y="81280"/>
                      <a:pt x="84604" y="82253"/>
                      <a:pt x="84604" y="82253"/>
                    </a:cubicBezTo>
                    <a:cubicBezTo>
                      <a:pt x="84604" y="82253"/>
                      <a:pt x="90444" y="84200"/>
                      <a:pt x="92391" y="84200"/>
                    </a:cubicBezTo>
                    <a:cubicBezTo>
                      <a:pt x="94338" y="84200"/>
                      <a:pt x="97259" y="82253"/>
                      <a:pt x="97259" y="81280"/>
                    </a:cubicBezTo>
                    <a:cubicBezTo>
                      <a:pt x="97259" y="80306"/>
                      <a:pt x="96285" y="78359"/>
                      <a:pt x="96285" y="77386"/>
                    </a:cubicBezTo>
                    <a:cubicBezTo>
                      <a:pt x="95312" y="76413"/>
                      <a:pt x="92391" y="76413"/>
                      <a:pt x="92391" y="76413"/>
                    </a:cubicBezTo>
                    <a:cubicBezTo>
                      <a:pt x="92391" y="76413"/>
                      <a:pt x="85577" y="76413"/>
                      <a:pt x="83631" y="76413"/>
                    </a:cubicBezTo>
                    <a:cubicBezTo>
                      <a:pt x="82657" y="76413"/>
                      <a:pt x="79737" y="73492"/>
                      <a:pt x="74870" y="72519"/>
                    </a:cubicBezTo>
                    <a:cubicBezTo>
                      <a:pt x="72923" y="71546"/>
                      <a:pt x="70003" y="72519"/>
                      <a:pt x="67082" y="72519"/>
                    </a:cubicBezTo>
                    <a:cubicBezTo>
                      <a:pt x="67082" y="72519"/>
                      <a:pt x="63189" y="71546"/>
                      <a:pt x="59295" y="70572"/>
                    </a:cubicBezTo>
                    <a:lnTo>
                      <a:pt x="59295" y="54024"/>
                    </a:lnTo>
                    <a:cubicBezTo>
                      <a:pt x="64162" y="56944"/>
                      <a:pt x="70976" y="60838"/>
                      <a:pt x="75843" y="62785"/>
                    </a:cubicBezTo>
                    <a:cubicBezTo>
                      <a:pt x="77790" y="63758"/>
                      <a:pt x="79737" y="63758"/>
                      <a:pt x="81684" y="64732"/>
                    </a:cubicBezTo>
                    <a:cubicBezTo>
                      <a:pt x="84604" y="66679"/>
                      <a:pt x="87524" y="67652"/>
                      <a:pt x="89471" y="69599"/>
                    </a:cubicBezTo>
                    <a:cubicBezTo>
                      <a:pt x="91418" y="70572"/>
                      <a:pt x="92391" y="71546"/>
                      <a:pt x="93365" y="72519"/>
                    </a:cubicBezTo>
                    <a:cubicBezTo>
                      <a:pt x="94338" y="73492"/>
                      <a:pt x="97259" y="74466"/>
                      <a:pt x="99205" y="74466"/>
                    </a:cubicBezTo>
                    <a:cubicBezTo>
                      <a:pt x="100179" y="74466"/>
                      <a:pt x="101152" y="74466"/>
                      <a:pt x="103099" y="74466"/>
                    </a:cubicBezTo>
                    <a:cubicBezTo>
                      <a:pt x="104072" y="74466"/>
                      <a:pt x="106019" y="74466"/>
                      <a:pt x="106993" y="73492"/>
                    </a:cubicBezTo>
                    <a:cubicBezTo>
                      <a:pt x="107966" y="72519"/>
                      <a:pt x="107966" y="71546"/>
                      <a:pt x="107966" y="70572"/>
                    </a:cubicBezTo>
                    <a:cubicBezTo>
                      <a:pt x="107966" y="68625"/>
                      <a:pt x="107966" y="67652"/>
                      <a:pt x="106019" y="64732"/>
                    </a:cubicBezTo>
                    <a:cubicBezTo>
                      <a:pt x="105046" y="63758"/>
                      <a:pt x="104072" y="61812"/>
                      <a:pt x="103099" y="61812"/>
                    </a:cubicBezTo>
                    <a:cubicBezTo>
                      <a:pt x="102126" y="61812"/>
                      <a:pt x="100179" y="62785"/>
                      <a:pt x="100179" y="62785"/>
                    </a:cubicBezTo>
                    <a:cubicBezTo>
                      <a:pt x="99205" y="61812"/>
                      <a:pt x="100179" y="60838"/>
                      <a:pt x="100179" y="60838"/>
                    </a:cubicBezTo>
                    <a:cubicBezTo>
                      <a:pt x="100179" y="60838"/>
                      <a:pt x="100179" y="55971"/>
                      <a:pt x="97259" y="53051"/>
                    </a:cubicBezTo>
                    <a:cubicBezTo>
                      <a:pt x="96285" y="52077"/>
                      <a:pt x="96285" y="52077"/>
                      <a:pt x="95312" y="52077"/>
                    </a:cubicBezTo>
                    <a:cubicBezTo>
                      <a:pt x="94338" y="52077"/>
                      <a:pt x="92391" y="52077"/>
                      <a:pt x="90444" y="51104"/>
                    </a:cubicBezTo>
                    <a:cubicBezTo>
                      <a:pt x="88498" y="51104"/>
                      <a:pt x="86551" y="50130"/>
                      <a:pt x="86551" y="50130"/>
                    </a:cubicBezTo>
                    <a:lnTo>
                      <a:pt x="82657" y="49157"/>
                    </a:lnTo>
                    <a:cubicBezTo>
                      <a:pt x="82657" y="49157"/>
                      <a:pt x="81684" y="49157"/>
                      <a:pt x="81684" y="49157"/>
                    </a:cubicBezTo>
                    <a:cubicBezTo>
                      <a:pt x="80710" y="49157"/>
                      <a:pt x="79737" y="48184"/>
                      <a:pt x="77790" y="48184"/>
                    </a:cubicBezTo>
                    <a:cubicBezTo>
                      <a:pt x="73897" y="48184"/>
                      <a:pt x="72923" y="48184"/>
                      <a:pt x="72923" y="47210"/>
                    </a:cubicBezTo>
                    <a:cubicBezTo>
                      <a:pt x="72923" y="46237"/>
                      <a:pt x="73897" y="45263"/>
                      <a:pt x="74870" y="43317"/>
                    </a:cubicBezTo>
                    <a:cubicBezTo>
                      <a:pt x="76817" y="41370"/>
                      <a:pt x="77790" y="37476"/>
                      <a:pt x="78764" y="36503"/>
                    </a:cubicBezTo>
                    <a:cubicBezTo>
                      <a:pt x="79737" y="35529"/>
                      <a:pt x="89471" y="24822"/>
                      <a:pt x="92391" y="22875"/>
                    </a:cubicBezTo>
                    <a:cubicBezTo>
                      <a:pt x="95312" y="20928"/>
                      <a:pt x="104072" y="10221"/>
                      <a:pt x="104072" y="10221"/>
                    </a:cubicBezTo>
                    <a:lnTo>
                      <a:pt x="105046" y="11194"/>
                    </a:lnTo>
                    <a:lnTo>
                      <a:pt x="105046" y="12168"/>
                    </a:lnTo>
                    <a:cubicBezTo>
                      <a:pt x="105046" y="12168"/>
                      <a:pt x="105046" y="15088"/>
                      <a:pt x="104072" y="15088"/>
                    </a:cubicBezTo>
                    <a:cubicBezTo>
                      <a:pt x="104072" y="15088"/>
                      <a:pt x="104072" y="16061"/>
                      <a:pt x="103099" y="17035"/>
                    </a:cubicBezTo>
                    <a:cubicBezTo>
                      <a:pt x="101152" y="18982"/>
                      <a:pt x="98232" y="21902"/>
                      <a:pt x="97259" y="23849"/>
                    </a:cubicBezTo>
                    <a:cubicBezTo>
                      <a:pt x="95312" y="25795"/>
                      <a:pt x="88498" y="36503"/>
                      <a:pt x="87524" y="38450"/>
                    </a:cubicBezTo>
                    <a:cubicBezTo>
                      <a:pt x="87524" y="39423"/>
                      <a:pt x="86551" y="40396"/>
                      <a:pt x="85577" y="41370"/>
                    </a:cubicBezTo>
                    <a:cubicBezTo>
                      <a:pt x="84604" y="42343"/>
                      <a:pt x="83631" y="43317"/>
                      <a:pt x="83631" y="44290"/>
                    </a:cubicBezTo>
                    <a:cubicBezTo>
                      <a:pt x="83631" y="45263"/>
                      <a:pt x="83631" y="46237"/>
                      <a:pt x="82657" y="47210"/>
                    </a:cubicBezTo>
                    <a:cubicBezTo>
                      <a:pt x="82657" y="48184"/>
                      <a:pt x="83631" y="48184"/>
                      <a:pt x="83631" y="48184"/>
                    </a:cubicBezTo>
                    <a:cubicBezTo>
                      <a:pt x="85577" y="48184"/>
                      <a:pt x="89471" y="48184"/>
                      <a:pt x="91418" y="48184"/>
                    </a:cubicBezTo>
                    <a:cubicBezTo>
                      <a:pt x="93365" y="48184"/>
                      <a:pt x="98232" y="46237"/>
                      <a:pt x="99205" y="45263"/>
                    </a:cubicBezTo>
                    <a:cubicBezTo>
                      <a:pt x="99205" y="45263"/>
                      <a:pt x="99205" y="40396"/>
                      <a:pt x="99205" y="39423"/>
                    </a:cubicBezTo>
                    <a:cubicBezTo>
                      <a:pt x="99205" y="37476"/>
                      <a:pt x="98232" y="37476"/>
                      <a:pt x="101152" y="36503"/>
                    </a:cubicBezTo>
                    <a:cubicBezTo>
                      <a:pt x="102126" y="36503"/>
                      <a:pt x="103099" y="39423"/>
                      <a:pt x="103099" y="39423"/>
                    </a:cubicBezTo>
                    <a:cubicBezTo>
                      <a:pt x="103099" y="39423"/>
                      <a:pt x="105046" y="44290"/>
                      <a:pt x="106019" y="45263"/>
                    </a:cubicBezTo>
                    <a:cubicBezTo>
                      <a:pt x="107966" y="46237"/>
                      <a:pt x="113806" y="43317"/>
                      <a:pt x="117700" y="42343"/>
                    </a:cubicBezTo>
                    <a:cubicBezTo>
                      <a:pt x="118674" y="39423"/>
                      <a:pt x="121594" y="38450"/>
                      <a:pt x="121594" y="37476"/>
                    </a:cubicBezTo>
                    <a:cubicBezTo>
                      <a:pt x="121594" y="38450"/>
                      <a:pt x="121594" y="38450"/>
                      <a:pt x="121594" y="37476"/>
                    </a:cubicBezTo>
                    <a:lnTo>
                      <a:pt x="121594" y="37476"/>
                    </a:lnTo>
                    <a:close/>
                    <a:moveTo>
                      <a:pt x="58322" y="39423"/>
                    </a:moveTo>
                    <a:cubicBezTo>
                      <a:pt x="58322" y="39423"/>
                      <a:pt x="59295" y="39423"/>
                      <a:pt x="59295" y="38450"/>
                    </a:cubicBezTo>
                    <a:cubicBezTo>
                      <a:pt x="61242" y="37476"/>
                      <a:pt x="63189" y="35529"/>
                      <a:pt x="65136" y="34556"/>
                    </a:cubicBezTo>
                    <a:cubicBezTo>
                      <a:pt x="67082" y="32609"/>
                      <a:pt x="68056" y="31636"/>
                      <a:pt x="69029" y="30662"/>
                    </a:cubicBezTo>
                    <a:cubicBezTo>
                      <a:pt x="70003" y="29689"/>
                      <a:pt x="72923" y="26769"/>
                      <a:pt x="74870" y="24822"/>
                    </a:cubicBezTo>
                    <a:cubicBezTo>
                      <a:pt x="75843" y="23849"/>
                      <a:pt x="76817" y="22875"/>
                      <a:pt x="77790" y="21902"/>
                    </a:cubicBezTo>
                    <a:cubicBezTo>
                      <a:pt x="78764" y="20928"/>
                      <a:pt x="76817" y="18982"/>
                      <a:pt x="76817" y="18008"/>
                    </a:cubicBezTo>
                    <a:cubicBezTo>
                      <a:pt x="76817" y="17035"/>
                      <a:pt x="76817" y="10221"/>
                      <a:pt x="76817" y="8274"/>
                    </a:cubicBezTo>
                    <a:cubicBezTo>
                      <a:pt x="76817" y="8274"/>
                      <a:pt x="76817" y="7301"/>
                      <a:pt x="76817" y="7301"/>
                    </a:cubicBezTo>
                    <a:cubicBezTo>
                      <a:pt x="76817" y="7301"/>
                      <a:pt x="75843" y="8274"/>
                      <a:pt x="74870" y="9248"/>
                    </a:cubicBezTo>
                    <a:cubicBezTo>
                      <a:pt x="72923" y="11194"/>
                      <a:pt x="70976" y="14115"/>
                      <a:pt x="70976" y="15088"/>
                    </a:cubicBezTo>
                    <a:cubicBezTo>
                      <a:pt x="70003" y="17035"/>
                      <a:pt x="70003" y="18008"/>
                      <a:pt x="69029" y="19955"/>
                    </a:cubicBezTo>
                    <a:cubicBezTo>
                      <a:pt x="68056" y="21902"/>
                      <a:pt x="65136" y="23849"/>
                      <a:pt x="64162" y="25795"/>
                    </a:cubicBezTo>
                    <a:cubicBezTo>
                      <a:pt x="63189" y="27742"/>
                      <a:pt x="62215" y="29689"/>
                      <a:pt x="61242" y="31636"/>
                    </a:cubicBezTo>
                    <a:cubicBezTo>
                      <a:pt x="60268" y="32609"/>
                      <a:pt x="60268" y="33583"/>
                      <a:pt x="59295" y="35529"/>
                    </a:cubicBezTo>
                    <a:lnTo>
                      <a:pt x="59295" y="39423"/>
                    </a:lnTo>
                    <a:close/>
                    <a:moveTo>
                      <a:pt x="23279" y="87120"/>
                    </a:moveTo>
                    <a:cubicBezTo>
                      <a:pt x="25226" y="87120"/>
                      <a:pt x="30093" y="87120"/>
                      <a:pt x="33013" y="88093"/>
                    </a:cubicBezTo>
                    <a:cubicBezTo>
                      <a:pt x="35933" y="88093"/>
                      <a:pt x="40800" y="89067"/>
                      <a:pt x="43720" y="92960"/>
                    </a:cubicBezTo>
                    <a:cubicBezTo>
                      <a:pt x="43720" y="92960"/>
                      <a:pt x="41774" y="97827"/>
                      <a:pt x="40800" y="99774"/>
                    </a:cubicBezTo>
                    <a:cubicBezTo>
                      <a:pt x="39827" y="101721"/>
                      <a:pt x="39827" y="104641"/>
                      <a:pt x="34960" y="107562"/>
                    </a:cubicBezTo>
                    <a:cubicBezTo>
                      <a:pt x="30093" y="111455"/>
                      <a:pt x="30093" y="110482"/>
                      <a:pt x="30093" y="110482"/>
                    </a:cubicBezTo>
                    <a:cubicBezTo>
                      <a:pt x="30093" y="110482"/>
                      <a:pt x="28146" y="110482"/>
                      <a:pt x="22305" y="106588"/>
                    </a:cubicBezTo>
                    <a:cubicBezTo>
                      <a:pt x="16465" y="102694"/>
                      <a:pt x="14518" y="101721"/>
                      <a:pt x="12571" y="98801"/>
                    </a:cubicBezTo>
                    <a:cubicBezTo>
                      <a:pt x="9651" y="96854"/>
                      <a:pt x="7704" y="92960"/>
                      <a:pt x="7704" y="92960"/>
                    </a:cubicBezTo>
                    <a:cubicBezTo>
                      <a:pt x="6730" y="96854"/>
                      <a:pt x="7704" y="95881"/>
                      <a:pt x="8677" y="98801"/>
                    </a:cubicBezTo>
                    <a:cubicBezTo>
                      <a:pt x="9651" y="100748"/>
                      <a:pt x="13544" y="106588"/>
                      <a:pt x="14518" y="108535"/>
                    </a:cubicBezTo>
                    <a:cubicBezTo>
                      <a:pt x="15491" y="110482"/>
                      <a:pt x="16465" y="112429"/>
                      <a:pt x="16465" y="114376"/>
                    </a:cubicBezTo>
                    <a:cubicBezTo>
                      <a:pt x="16465" y="116322"/>
                      <a:pt x="16465" y="122163"/>
                      <a:pt x="18412" y="126057"/>
                    </a:cubicBezTo>
                    <a:cubicBezTo>
                      <a:pt x="18412" y="126057"/>
                      <a:pt x="23279" y="130924"/>
                      <a:pt x="25226" y="130924"/>
                    </a:cubicBezTo>
                    <a:cubicBezTo>
                      <a:pt x="27172" y="130924"/>
                      <a:pt x="32039" y="130924"/>
                      <a:pt x="32039" y="130924"/>
                    </a:cubicBezTo>
                    <a:cubicBezTo>
                      <a:pt x="32039" y="130924"/>
                      <a:pt x="41774" y="130924"/>
                      <a:pt x="46641" y="126057"/>
                    </a:cubicBezTo>
                    <a:cubicBezTo>
                      <a:pt x="50534" y="120216"/>
                      <a:pt x="50534" y="119243"/>
                      <a:pt x="53455" y="115349"/>
                    </a:cubicBezTo>
                    <a:cubicBezTo>
                      <a:pt x="55401" y="112429"/>
                      <a:pt x="57348" y="107562"/>
                      <a:pt x="59295" y="105615"/>
                    </a:cubicBezTo>
                    <a:lnTo>
                      <a:pt x="59295" y="80306"/>
                    </a:lnTo>
                    <a:cubicBezTo>
                      <a:pt x="56375" y="79333"/>
                      <a:pt x="53455" y="77386"/>
                      <a:pt x="49561" y="76413"/>
                    </a:cubicBezTo>
                    <a:cubicBezTo>
                      <a:pt x="41774" y="73492"/>
                      <a:pt x="33013" y="70572"/>
                      <a:pt x="28146" y="67652"/>
                    </a:cubicBezTo>
                    <a:cubicBezTo>
                      <a:pt x="28146" y="67652"/>
                      <a:pt x="23279" y="66679"/>
                      <a:pt x="19385" y="63758"/>
                    </a:cubicBezTo>
                    <a:cubicBezTo>
                      <a:pt x="16465" y="60838"/>
                      <a:pt x="15491" y="55971"/>
                      <a:pt x="10624" y="57918"/>
                    </a:cubicBezTo>
                    <a:cubicBezTo>
                      <a:pt x="9651" y="57918"/>
                      <a:pt x="9651" y="59865"/>
                      <a:pt x="9651" y="59865"/>
                    </a:cubicBezTo>
                    <a:cubicBezTo>
                      <a:pt x="9651" y="59865"/>
                      <a:pt x="8677" y="65705"/>
                      <a:pt x="9651" y="68625"/>
                    </a:cubicBezTo>
                    <a:cubicBezTo>
                      <a:pt x="11597" y="74466"/>
                      <a:pt x="8677" y="81280"/>
                      <a:pt x="15491" y="84200"/>
                    </a:cubicBezTo>
                    <a:cubicBezTo>
                      <a:pt x="18412" y="85173"/>
                      <a:pt x="21332" y="87120"/>
                      <a:pt x="23279" y="87120"/>
                    </a:cubicBezTo>
                    <a:lnTo>
                      <a:pt x="23279" y="87120"/>
                    </a:lnTo>
                    <a:close/>
                    <a:moveTo>
                      <a:pt x="58322" y="36503"/>
                    </a:moveTo>
                    <a:lnTo>
                      <a:pt x="58322" y="39423"/>
                    </a:lnTo>
                    <a:cubicBezTo>
                      <a:pt x="58322" y="39423"/>
                      <a:pt x="57348" y="39423"/>
                      <a:pt x="57348" y="38450"/>
                    </a:cubicBezTo>
                    <a:cubicBezTo>
                      <a:pt x="58322" y="38450"/>
                      <a:pt x="58322" y="37476"/>
                      <a:pt x="58322" y="36503"/>
                    </a:cubicBezTo>
                    <a:lnTo>
                      <a:pt x="58322" y="36503"/>
                    </a:lnTo>
                    <a:lnTo>
                      <a:pt x="58322" y="36503"/>
                    </a:lnTo>
                    <a:close/>
                    <a:moveTo>
                      <a:pt x="58322" y="53051"/>
                    </a:moveTo>
                    <a:lnTo>
                      <a:pt x="58322" y="69599"/>
                    </a:lnTo>
                    <a:cubicBezTo>
                      <a:pt x="56375" y="68625"/>
                      <a:pt x="53455" y="67652"/>
                      <a:pt x="52481" y="67652"/>
                    </a:cubicBezTo>
                    <a:cubicBezTo>
                      <a:pt x="50534" y="66679"/>
                      <a:pt x="41774" y="60838"/>
                      <a:pt x="41774" y="60838"/>
                    </a:cubicBezTo>
                    <a:cubicBezTo>
                      <a:pt x="41774" y="60838"/>
                      <a:pt x="39827" y="58891"/>
                      <a:pt x="40800" y="57918"/>
                    </a:cubicBezTo>
                    <a:cubicBezTo>
                      <a:pt x="40800" y="56944"/>
                      <a:pt x="40800" y="54998"/>
                      <a:pt x="41774" y="53051"/>
                    </a:cubicBezTo>
                    <a:cubicBezTo>
                      <a:pt x="41774" y="51104"/>
                      <a:pt x="43720" y="46237"/>
                      <a:pt x="46641" y="46237"/>
                    </a:cubicBezTo>
                    <a:cubicBezTo>
                      <a:pt x="46641" y="46237"/>
                      <a:pt x="53455" y="50130"/>
                      <a:pt x="55401" y="51104"/>
                    </a:cubicBezTo>
                    <a:cubicBezTo>
                      <a:pt x="55401" y="51104"/>
                      <a:pt x="57348" y="52077"/>
                      <a:pt x="58322" y="53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5" name="任意多边形: 形状 44"/>
              <p:cNvSpPr/>
              <p:nvPr/>
            </p:nvSpPr>
            <p:spPr>
              <a:xfrm>
                <a:off x="7854415" y="5768798"/>
                <a:ext cx="175215" cy="155745"/>
              </a:xfrm>
              <a:custGeom>
                <a:avLst/>
                <a:gdLst>
                  <a:gd name="connsiteX0" fmla="*/ 122597 w 175215"/>
                  <a:gd name="connsiteY0" fmla="*/ 95881 h 155745"/>
                  <a:gd name="connsiteX1" fmla="*/ 122597 w 175215"/>
                  <a:gd name="connsiteY1" fmla="*/ 84200 h 155745"/>
                  <a:gd name="connsiteX2" fmla="*/ 133304 w 175215"/>
                  <a:gd name="connsiteY2" fmla="*/ 86147 h 155745"/>
                  <a:gd name="connsiteX3" fmla="*/ 138171 w 175215"/>
                  <a:gd name="connsiteY3" fmla="*/ 91014 h 155745"/>
                  <a:gd name="connsiteX4" fmla="*/ 138171 w 175215"/>
                  <a:gd name="connsiteY4" fmla="*/ 95881 h 155745"/>
                  <a:gd name="connsiteX5" fmla="*/ 133304 w 175215"/>
                  <a:gd name="connsiteY5" fmla="*/ 101721 h 155745"/>
                  <a:gd name="connsiteX6" fmla="*/ 128437 w 175215"/>
                  <a:gd name="connsiteY6" fmla="*/ 98801 h 155745"/>
                  <a:gd name="connsiteX7" fmla="*/ 122597 w 175215"/>
                  <a:gd name="connsiteY7" fmla="*/ 95881 h 155745"/>
                  <a:gd name="connsiteX8" fmla="*/ 122597 w 175215"/>
                  <a:gd name="connsiteY8" fmla="*/ 95881 h 155745"/>
                  <a:gd name="connsiteX9" fmla="*/ 122597 w 175215"/>
                  <a:gd name="connsiteY9" fmla="*/ 65705 h 155745"/>
                  <a:gd name="connsiteX10" fmla="*/ 132331 w 175215"/>
                  <a:gd name="connsiteY10" fmla="*/ 72519 h 155745"/>
                  <a:gd name="connsiteX11" fmla="*/ 151799 w 175215"/>
                  <a:gd name="connsiteY11" fmla="*/ 89067 h 155745"/>
                  <a:gd name="connsiteX12" fmla="*/ 153746 w 175215"/>
                  <a:gd name="connsiteY12" fmla="*/ 91014 h 155745"/>
                  <a:gd name="connsiteX13" fmla="*/ 151799 w 175215"/>
                  <a:gd name="connsiteY13" fmla="*/ 93934 h 155745"/>
                  <a:gd name="connsiteX14" fmla="*/ 147906 w 175215"/>
                  <a:gd name="connsiteY14" fmla="*/ 95881 h 155745"/>
                  <a:gd name="connsiteX15" fmla="*/ 144012 w 175215"/>
                  <a:gd name="connsiteY15" fmla="*/ 96854 h 155745"/>
                  <a:gd name="connsiteX16" fmla="*/ 141092 w 175215"/>
                  <a:gd name="connsiteY16" fmla="*/ 100748 h 155745"/>
                  <a:gd name="connsiteX17" fmla="*/ 138171 w 175215"/>
                  <a:gd name="connsiteY17" fmla="*/ 104641 h 155745"/>
                  <a:gd name="connsiteX18" fmla="*/ 141092 w 175215"/>
                  <a:gd name="connsiteY18" fmla="*/ 106588 h 155745"/>
                  <a:gd name="connsiteX19" fmla="*/ 142065 w 175215"/>
                  <a:gd name="connsiteY19" fmla="*/ 106588 h 155745"/>
                  <a:gd name="connsiteX20" fmla="*/ 152773 w 175215"/>
                  <a:gd name="connsiteY20" fmla="*/ 107562 h 155745"/>
                  <a:gd name="connsiteX21" fmla="*/ 160560 w 175215"/>
                  <a:gd name="connsiteY21" fmla="*/ 108535 h 155745"/>
                  <a:gd name="connsiteX22" fmla="*/ 164454 w 175215"/>
                  <a:gd name="connsiteY22" fmla="*/ 109508 h 155745"/>
                  <a:gd name="connsiteX23" fmla="*/ 168347 w 175215"/>
                  <a:gd name="connsiteY23" fmla="*/ 110482 h 155745"/>
                  <a:gd name="connsiteX24" fmla="*/ 170294 w 175215"/>
                  <a:gd name="connsiteY24" fmla="*/ 109508 h 155745"/>
                  <a:gd name="connsiteX25" fmla="*/ 173215 w 175215"/>
                  <a:gd name="connsiteY25" fmla="*/ 104641 h 155745"/>
                  <a:gd name="connsiteX26" fmla="*/ 175161 w 175215"/>
                  <a:gd name="connsiteY26" fmla="*/ 98801 h 155745"/>
                  <a:gd name="connsiteX27" fmla="*/ 175161 w 175215"/>
                  <a:gd name="connsiteY27" fmla="*/ 94907 h 155745"/>
                  <a:gd name="connsiteX28" fmla="*/ 169321 w 175215"/>
                  <a:gd name="connsiteY28" fmla="*/ 90040 h 155745"/>
                  <a:gd name="connsiteX29" fmla="*/ 160560 w 175215"/>
                  <a:gd name="connsiteY29" fmla="*/ 83226 h 155745"/>
                  <a:gd name="connsiteX30" fmla="*/ 137198 w 175215"/>
                  <a:gd name="connsiteY30" fmla="*/ 66679 h 155745"/>
                  <a:gd name="connsiteX31" fmla="*/ 124544 w 175215"/>
                  <a:gd name="connsiteY31" fmla="*/ 56944 h 155745"/>
                  <a:gd name="connsiteX32" fmla="*/ 122597 w 175215"/>
                  <a:gd name="connsiteY32" fmla="*/ 54998 h 155745"/>
                  <a:gd name="connsiteX33" fmla="*/ 122597 w 175215"/>
                  <a:gd name="connsiteY33" fmla="*/ 65705 h 155745"/>
                  <a:gd name="connsiteX34" fmla="*/ 72952 w 175215"/>
                  <a:gd name="connsiteY34" fmla="*/ 152338 h 155745"/>
                  <a:gd name="connsiteX35" fmla="*/ 76846 w 175215"/>
                  <a:gd name="connsiteY35" fmla="*/ 153312 h 155745"/>
                  <a:gd name="connsiteX36" fmla="*/ 84633 w 175215"/>
                  <a:gd name="connsiteY36" fmla="*/ 151365 h 155745"/>
                  <a:gd name="connsiteX37" fmla="*/ 89500 w 175215"/>
                  <a:gd name="connsiteY37" fmla="*/ 146498 h 155745"/>
                  <a:gd name="connsiteX38" fmla="*/ 84633 w 175215"/>
                  <a:gd name="connsiteY38" fmla="*/ 141631 h 155745"/>
                  <a:gd name="connsiteX39" fmla="*/ 72952 w 175215"/>
                  <a:gd name="connsiteY39" fmla="*/ 134817 h 155745"/>
                  <a:gd name="connsiteX40" fmla="*/ 72952 w 175215"/>
                  <a:gd name="connsiteY40" fmla="*/ 152338 h 155745"/>
                  <a:gd name="connsiteX41" fmla="*/ 72952 w 175215"/>
                  <a:gd name="connsiteY41" fmla="*/ 152338 h 155745"/>
                  <a:gd name="connsiteX42" fmla="*/ 122597 w 175215"/>
                  <a:gd name="connsiteY42" fmla="*/ 55971 h 155745"/>
                  <a:gd name="connsiteX43" fmla="*/ 122597 w 175215"/>
                  <a:gd name="connsiteY43" fmla="*/ 65705 h 155745"/>
                  <a:gd name="connsiteX44" fmla="*/ 113836 w 175215"/>
                  <a:gd name="connsiteY44" fmla="*/ 59865 h 155745"/>
                  <a:gd name="connsiteX45" fmla="*/ 106049 w 175215"/>
                  <a:gd name="connsiteY45" fmla="*/ 54024 h 155745"/>
                  <a:gd name="connsiteX46" fmla="*/ 93394 w 175215"/>
                  <a:gd name="connsiteY46" fmla="*/ 42343 h 155745"/>
                  <a:gd name="connsiteX47" fmla="*/ 80740 w 175215"/>
                  <a:gd name="connsiteY47" fmla="*/ 29689 h 155745"/>
                  <a:gd name="connsiteX48" fmla="*/ 76846 w 175215"/>
                  <a:gd name="connsiteY48" fmla="*/ 24822 h 155745"/>
                  <a:gd name="connsiteX49" fmla="*/ 73926 w 175215"/>
                  <a:gd name="connsiteY49" fmla="*/ 23849 h 155745"/>
                  <a:gd name="connsiteX50" fmla="*/ 71979 w 175215"/>
                  <a:gd name="connsiteY50" fmla="*/ 27742 h 155745"/>
                  <a:gd name="connsiteX51" fmla="*/ 71979 w 175215"/>
                  <a:gd name="connsiteY51" fmla="*/ 27742 h 155745"/>
                  <a:gd name="connsiteX52" fmla="*/ 71979 w 175215"/>
                  <a:gd name="connsiteY52" fmla="*/ 11194 h 155745"/>
                  <a:gd name="connsiteX53" fmla="*/ 73926 w 175215"/>
                  <a:gd name="connsiteY53" fmla="*/ 11194 h 155745"/>
                  <a:gd name="connsiteX54" fmla="*/ 76846 w 175215"/>
                  <a:gd name="connsiteY54" fmla="*/ 13141 h 155745"/>
                  <a:gd name="connsiteX55" fmla="*/ 78793 w 175215"/>
                  <a:gd name="connsiteY55" fmla="*/ 17035 h 155745"/>
                  <a:gd name="connsiteX56" fmla="*/ 85607 w 175215"/>
                  <a:gd name="connsiteY56" fmla="*/ 26769 h 155745"/>
                  <a:gd name="connsiteX57" fmla="*/ 113836 w 175215"/>
                  <a:gd name="connsiteY57" fmla="*/ 52077 h 155745"/>
                  <a:gd name="connsiteX58" fmla="*/ 122597 w 175215"/>
                  <a:gd name="connsiteY58" fmla="*/ 55971 h 155745"/>
                  <a:gd name="connsiteX59" fmla="*/ 122597 w 175215"/>
                  <a:gd name="connsiteY59" fmla="*/ 55971 h 155745"/>
                  <a:gd name="connsiteX60" fmla="*/ 122597 w 175215"/>
                  <a:gd name="connsiteY60" fmla="*/ 84200 h 155745"/>
                  <a:gd name="connsiteX61" fmla="*/ 122597 w 175215"/>
                  <a:gd name="connsiteY61" fmla="*/ 95881 h 155745"/>
                  <a:gd name="connsiteX62" fmla="*/ 116756 w 175215"/>
                  <a:gd name="connsiteY62" fmla="*/ 91987 h 155745"/>
                  <a:gd name="connsiteX63" fmla="*/ 112863 w 175215"/>
                  <a:gd name="connsiteY63" fmla="*/ 90040 h 155745"/>
                  <a:gd name="connsiteX64" fmla="*/ 107996 w 175215"/>
                  <a:gd name="connsiteY64" fmla="*/ 86147 h 155745"/>
                  <a:gd name="connsiteX65" fmla="*/ 107996 w 175215"/>
                  <a:gd name="connsiteY65" fmla="*/ 85173 h 155745"/>
                  <a:gd name="connsiteX66" fmla="*/ 107996 w 175215"/>
                  <a:gd name="connsiteY66" fmla="*/ 84200 h 155745"/>
                  <a:gd name="connsiteX67" fmla="*/ 110916 w 175215"/>
                  <a:gd name="connsiteY67" fmla="*/ 83226 h 155745"/>
                  <a:gd name="connsiteX68" fmla="*/ 113836 w 175215"/>
                  <a:gd name="connsiteY68" fmla="*/ 82253 h 155745"/>
                  <a:gd name="connsiteX69" fmla="*/ 117730 w 175215"/>
                  <a:gd name="connsiteY69" fmla="*/ 83226 h 155745"/>
                  <a:gd name="connsiteX70" fmla="*/ 122597 w 175215"/>
                  <a:gd name="connsiteY70" fmla="*/ 84200 h 155745"/>
                  <a:gd name="connsiteX71" fmla="*/ 122597 w 175215"/>
                  <a:gd name="connsiteY71" fmla="*/ 84200 h 155745"/>
                  <a:gd name="connsiteX72" fmla="*/ 72952 w 175215"/>
                  <a:gd name="connsiteY72" fmla="*/ 108535 h 155745"/>
                  <a:gd name="connsiteX73" fmla="*/ 74899 w 175215"/>
                  <a:gd name="connsiteY73" fmla="*/ 107562 h 155745"/>
                  <a:gd name="connsiteX74" fmla="*/ 75873 w 175215"/>
                  <a:gd name="connsiteY74" fmla="*/ 104641 h 155745"/>
                  <a:gd name="connsiteX75" fmla="*/ 75873 w 175215"/>
                  <a:gd name="connsiteY75" fmla="*/ 96854 h 155745"/>
                  <a:gd name="connsiteX76" fmla="*/ 76846 w 175215"/>
                  <a:gd name="connsiteY76" fmla="*/ 91014 h 155745"/>
                  <a:gd name="connsiteX77" fmla="*/ 77820 w 175215"/>
                  <a:gd name="connsiteY77" fmla="*/ 92960 h 155745"/>
                  <a:gd name="connsiteX78" fmla="*/ 79766 w 175215"/>
                  <a:gd name="connsiteY78" fmla="*/ 99774 h 155745"/>
                  <a:gd name="connsiteX79" fmla="*/ 78793 w 175215"/>
                  <a:gd name="connsiteY79" fmla="*/ 107562 h 155745"/>
                  <a:gd name="connsiteX80" fmla="*/ 82687 w 175215"/>
                  <a:gd name="connsiteY80" fmla="*/ 113402 h 155745"/>
                  <a:gd name="connsiteX81" fmla="*/ 88527 w 175215"/>
                  <a:gd name="connsiteY81" fmla="*/ 111455 h 155745"/>
                  <a:gd name="connsiteX82" fmla="*/ 87554 w 175215"/>
                  <a:gd name="connsiteY82" fmla="*/ 108535 h 155745"/>
                  <a:gd name="connsiteX83" fmla="*/ 87554 w 175215"/>
                  <a:gd name="connsiteY83" fmla="*/ 105615 h 155745"/>
                  <a:gd name="connsiteX84" fmla="*/ 89500 w 175215"/>
                  <a:gd name="connsiteY84" fmla="*/ 104641 h 155745"/>
                  <a:gd name="connsiteX85" fmla="*/ 96314 w 175215"/>
                  <a:gd name="connsiteY85" fmla="*/ 109508 h 155745"/>
                  <a:gd name="connsiteX86" fmla="*/ 97288 w 175215"/>
                  <a:gd name="connsiteY86" fmla="*/ 113402 h 155745"/>
                  <a:gd name="connsiteX87" fmla="*/ 98261 w 175215"/>
                  <a:gd name="connsiteY87" fmla="*/ 120216 h 155745"/>
                  <a:gd name="connsiteX88" fmla="*/ 99235 w 175215"/>
                  <a:gd name="connsiteY88" fmla="*/ 126057 h 155745"/>
                  <a:gd name="connsiteX89" fmla="*/ 101182 w 175215"/>
                  <a:gd name="connsiteY89" fmla="*/ 128977 h 155745"/>
                  <a:gd name="connsiteX90" fmla="*/ 104102 w 175215"/>
                  <a:gd name="connsiteY90" fmla="*/ 128977 h 155745"/>
                  <a:gd name="connsiteX91" fmla="*/ 106049 w 175215"/>
                  <a:gd name="connsiteY91" fmla="*/ 128977 h 155745"/>
                  <a:gd name="connsiteX92" fmla="*/ 107996 w 175215"/>
                  <a:gd name="connsiteY92" fmla="*/ 127030 h 155745"/>
                  <a:gd name="connsiteX93" fmla="*/ 106049 w 175215"/>
                  <a:gd name="connsiteY93" fmla="*/ 120216 h 155745"/>
                  <a:gd name="connsiteX94" fmla="*/ 103129 w 175215"/>
                  <a:gd name="connsiteY94" fmla="*/ 116322 h 155745"/>
                  <a:gd name="connsiteX95" fmla="*/ 104102 w 175215"/>
                  <a:gd name="connsiteY95" fmla="*/ 113402 h 155745"/>
                  <a:gd name="connsiteX96" fmla="*/ 105075 w 175215"/>
                  <a:gd name="connsiteY96" fmla="*/ 113402 h 155745"/>
                  <a:gd name="connsiteX97" fmla="*/ 108969 w 175215"/>
                  <a:gd name="connsiteY97" fmla="*/ 116322 h 155745"/>
                  <a:gd name="connsiteX98" fmla="*/ 115783 w 175215"/>
                  <a:gd name="connsiteY98" fmla="*/ 119243 h 155745"/>
                  <a:gd name="connsiteX99" fmla="*/ 121623 w 175215"/>
                  <a:gd name="connsiteY99" fmla="*/ 115349 h 155745"/>
                  <a:gd name="connsiteX100" fmla="*/ 116756 w 175215"/>
                  <a:gd name="connsiteY100" fmla="*/ 102694 h 155745"/>
                  <a:gd name="connsiteX101" fmla="*/ 106049 w 175215"/>
                  <a:gd name="connsiteY101" fmla="*/ 96854 h 155745"/>
                  <a:gd name="connsiteX102" fmla="*/ 98261 w 175215"/>
                  <a:gd name="connsiteY102" fmla="*/ 91014 h 155745"/>
                  <a:gd name="connsiteX103" fmla="*/ 92421 w 175215"/>
                  <a:gd name="connsiteY103" fmla="*/ 74466 h 155745"/>
                  <a:gd name="connsiteX104" fmla="*/ 92421 w 175215"/>
                  <a:gd name="connsiteY104" fmla="*/ 69599 h 155745"/>
                  <a:gd name="connsiteX105" fmla="*/ 90474 w 175215"/>
                  <a:gd name="connsiteY105" fmla="*/ 67652 h 155745"/>
                  <a:gd name="connsiteX106" fmla="*/ 84633 w 175215"/>
                  <a:gd name="connsiteY106" fmla="*/ 69599 h 155745"/>
                  <a:gd name="connsiteX107" fmla="*/ 81713 w 175215"/>
                  <a:gd name="connsiteY107" fmla="*/ 69599 h 155745"/>
                  <a:gd name="connsiteX108" fmla="*/ 79766 w 175215"/>
                  <a:gd name="connsiteY108" fmla="*/ 64732 h 155745"/>
                  <a:gd name="connsiteX109" fmla="*/ 77820 w 175215"/>
                  <a:gd name="connsiteY109" fmla="*/ 54998 h 155745"/>
                  <a:gd name="connsiteX110" fmla="*/ 75873 w 175215"/>
                  <a:gd name="connsiteY110" fmla="*/ 53051 h 155745"/>
                  <a:gd name="connsiteX111" fmla="*/ 73926 w 175215"/>
                  <a:gd name="connsiteY111" fmla="*/ 53051 h 155745"/>
                  <a:gd name="connsiteX112" fmla="*/ 72952 w 175215"/>
                  <a:gd name="connsiteY112" fmla="*/ 55971 h 155745"/>
                  <a:gd name="connsiteX113" fmla="*/ 72952 w 175215"/>
                  <a:gd name="connsiteY113" fmla="*/ 108535 h 155745"/>
                  <a:gd name="connsiteX114" fmla="*/ 56404 w 175215"/>
                  <a:gd name="connsiteY114" fmla="*/ 118269 h 155745"/>
                  <a:gd name="connsiteX115" fmla="*/ 57378 w 175215"/>
                  <a:gd name="connsiteY115" fmla="*/ 127030 h 155745"/>
                  <a:gd name="connsiteX116" fmla="*/ 62245 w 175215"/>
                  <a:gd name="connsiteY116" fmla="*/ 132870 h 155745"/>
                  <a:gd name="connsiteX117" fmla="*/ 66138 w 175215"/>
                  <a:gd name="connsiteY117" fmla="*/ 141631 h 155745"/>
                  <a:gd name="connsiteX118" fmla="*/ 68085 w 175215"/>
                  <a:gd name="connsiteY118" fmla="*/ 143578 h 155745"/>
                  <a:gd name="connsiteX119" fmla="*/ 69059 w 175215"/>
                  <a:gd name="connsiteY119" fmla="*/ 146498 h 155745"/>
                  <a:gd name="connsiteX120" fmla="*/ 71006 w 175215"/>
                  <a:gd name="connsiteY120" fmla="*/ 148445 h 155745"/>
                  <a:gd name="connsiteX121" fmla="*/ 71979 w 175215"/>
                  <a:gd name="connsiteY121" fmla="*/ 151365 h 155745"/>
                  <a:gd name="connsiteX122" fmla="*/ 71979 w 175215"/>
                  <a:gd name="connsiteY122" fmla="*/ 151365 h 155745"/>
                  <a:gd name="connsiteX123" fmla="*/ 71979 w 175215"/>
                  <a:gd name="connsiteY123" fmla="*/ 133844 h 155745"/>
                  <a:gd name="connsiteX124" fmla="*/ 69059 w 175215"/>
                  <a:gd name="connsiteY124" fmla="*/ 131897 h 155745"/>
                  <a:gd name="connsiteX125" fmla="*/ 59325 w 175215"/>
                  <a:gd name="connsiteY125" fmla="*/ 122163 h 155745"/>
                  <a:gd name="connsiteX126" fmla="*/ 56404 w 175215"/>
                  <a:gd name="connsiteY126" fmla="*/ 118269 h 155745"/>
                  <a:gd name="connsiteX127" fmla="*/ 56404 w 175215"/>
                  <a:gd name="connsiteY127" fmla="*/ 118269 h 155745"/>
                  <a:gd name="connsiteX128" fmla="*/ 72952 w 175215"/>
                  <a:gd name="connsiteY128" fmla="*/ 10221 h 155745"/>
                  <a:gd name="connsiteX129" fmla="*/ 72952 w 175215"/>
                  <a:gd name="connsiteY129" fmla="*/ 26769 h 155745"/>
                  <a:gd name="connsiteX130" fmla="*/ 69059 w 175215"/>
                  <a:gd name="connsiteY130" fmla="*/ 28716 h 155745"/>
                  <a:gd name="connsiteX131" fmla="*/ 66138 w 175215"/>
                  <a:gd name="connsiteY131" fmla="*/ 38450 h 155745"/>
                  <a:gd name="connsiteX132" fmla="*/ 67112 w 175215"/>
                  <a:gd name="connsiteY132" fmla="*/ 47210 h 155745"/>
                  <a:gd name="connsiteX133" fmla="*/ 64192 w 175215"/>
                  <a:gd name="connsiteY133" fmla="*/ 53051 h 155745"/>
                  <a:gd name="connsiteX134" fmla="*/ 62245 w 175215"/>
                  <a:gd name="connsiteY134" fmla="*/ 53051 h 155745"/>
                  <a:gd name="connsiteX135" fmla="*/ 58351 w 175215"/>
                  <a:gd name="connsiteY135" fmla="*/ 54998 h 155745"/>
                  <a:gd name="connsiteX136" fmla="*/ 57378 w 175215"/>
                  <a:gd name="connsiteY136" fmla="*/ 62785 h 155745"/>
                  <a:gd name="connsiteX137" fmla="*/ 58351 w 175215"/>
                  <a:gd name="connsiteY137" fmla="*/ 65705 h 155745"/>
                  <a:gd name="connsiteX138" fmla="*/ 62245 w 175215"/>
                  <a:gd name="connsiteY138" fmla="*/ 61812 h 155745"/>
                  <a:gd name="connsiteX139" fmla="*/ 72952 w 175215"/>
                  <a:gd name="connsiteY139" fmla="*/ 58891 h 155745"/>
                  <a:gd name="connsiteX140" fmla="*/ 74899 w 175215"/>
                  <a:gd name="connsiteY140" fmla="*/ 55971 h 155745"/>
                  <a:gd name="connsiteX141" fmla="*/ 74899 w 175215"/>
                  <a:gd name="connsiteY141" fmla="*/ 107562 h 155745"/>
                  <a:gd name="connsiteX142" fmla="*/ 71006 w 175215"/>
                  <a:gd name="connsiteY142" fmla="*/ 107562 h 155745"/>
                  <a:gd name="connsiteX143" fmla="*/ 62245 w 175215"/>
                  <a:gd name="connsiteY143" fmla="*/ 108535 h 155745"/>
                  <a:gd name="connsiteX144" fmla="*/ 60298 w 175215"/>
                  <a:gd name="connsiteY144" fmla="*/ 104641 h 155745"/>
                  <a:gd name="connsiteX145" fmla="*/ 63218 w 175215"/>
                  <a:gd name="connsiteY145" fmla="*/ 96854 h 155745"/>
                  <a:gd name="connsiteX146" fmla="*/ 65165 w 175215"/>
                  <a:gd name="connsiteY146" fmla="*/ 86147 h 155745"/>
                  <a:gd name="connsiteX147" fmla="*/ 66138 w 175215"/>
                  <a:gd name="connsiteY147" fmla="*/ 75439 h 155745"/>
                  <a:gd name="connsiteX148" fmla="*/ 66138 w 175215"/>
                  <a:gd name="connsiteY148" fmla="*/ 72519 h 155745"/>
                  <a:gd name="connsiteX149" fmla="*/ 62245 w 175215"/>
                  <a:gd name="connsiteY149" fmla="*/ 68625 h 155745"/>
                  <a:gd name="connsiteX150" fmla="*/ 59325 w 175215"/>
                  <a:gd name="connsiteY150" fmla="*/ 70572 h 155745"/>
                  <a:gd name="connsiteX151" fmla="*/ 53484 w 175215"/>
                  <a:gd name="connsiteY151" fmla="*/ 80306 h 155745"/>
                  <a:gd name="connsiteX152" fmla="*/ 50564 w 175215"/>
                  <a:gd name="connsiteY152" fmla="*/ 86147 h 155745"/>
                  <a:gd name="connsiteX153" fmla="*/ 47644 w 175215"/>
                  <a:gd name="connsiteY153" fmla="*/ 89067 h 155745"/>
                  <a:gd name="connsiteX154" fmla="*/ 44723 w 175215"/>
                  <a:gd name="connsiteY154" fmla="*/ 92960 h 155745"/>
                  <a:gd name="connsiteX155" fmla="*/ 36936 w 175215"/>
                  <a:gd name="connsiteY155" fmla="*/ 94907 h 155745"/>
                  <a:gd name="connsiteX156" fmla="*/ 39856 w 175215"/>
                  <a:gd name="connsiteY156" fmla="*/ 89067 h 155745"/>
                  <a:gd name="connsiteX157" fmla="*/ 42776 w 175215"/>
                  <a:gd name="connsiteY157" fmla="*/ 83226 h 155745"/>
                  <a:gd name="connsiteX158" fmla="*/ 42776 w 175215"/>
                  <a:gd name="connsiteY158" fmla="*/ 82253 h 155745"/>
                  <a:gd name="connsiteX159" fmla="*/ 42776 w 175215"/>
                  <a:gd name="connsiteY159" fmla="*/ 80306 h 155745"/>
                  <a:gd name="connsiteX160" fmla="*/ 43750 w 175215"/>
                  <a:gd name="connsiteY160" fmla="*/ 79333 h 155745"/>
                  <a:gd name="connsiteX161" fmla="*/ 44723 w 175215"/>
                  <a:gd name="connsiteY161" fmla="*/ 77386 h 155745"/>
                  <a:gd name="connsiteX162" fmla="*/ 44723 w 175215"/>
                  <a:gd name="connsiteY162" fmla="*/ 73492 h 155745"/>
                  <a:gd name="connsiteX163" fmla="*/ 44723 w 175215"/>
                  <a:gd name="connsiteY163" fmla="*/ 69599 h 155745"/>
                  <a:gd name="connsiteX164" fmla="*/ 43750 w 175215"/>
                  <a:gd name="connsiteY164" fmla="*/ 66679 h 155745"/>
                  <a:gd name="connsiteX165" fmla="*/ 40829 w 175215"/>
                  <a:gd name="connsiteY165" fmla="*/ 46237 h 155745"/>
                  <a:gd name="connsiteX166" fmla="*/ 38883 w 175215"/>
                  <a:gd name="connsiteY166" fmla="*/ 42343 h 155745"/>
                  <a:gd name="connsiteX167" fmla="*/ 37909 w 175215"/>
                  <a:gd name="connsiteY167" fmla="*/ 38450 h 155745"/>
                  <a:gd name="connsiteX168" fmla="*/ 36936 w 175215"/>
                  <a:gd name="connsiteY168" fmla="*/ 27742 h 155745"/>
                  <a:gd name="connsiteX169" fmla="*/ 35962 w 175215"/>
                  <a:gd name="connsiteY169" fmla="*/ 24822 h 155745"/>
                  <a:gd name="connsiteX170" fmla="*/ 35962 w 175215"/>
                  <a:gd name="connsiteY170" fmla="*/ 8274 h 155745"/>
                  <a:gd name="connsiteX171" fmla="*/ 35962 w 175215"/>
                  <a:gd name="connsiteY171" fmla="*/ 8274 h 155745"/>
                  <a:gd name="connsiteX172" fmla="*/ 41803 w 175215"/>
                  <a:gd name="connsiteY172" fmla="*/ 8274 h 155745"/>
                  <a:gd name="connsiteX173" fmla="*/ 45697 w 175215"/>
                  <a:gd name="connsiteY173" fmla="*/ 11194 h 155745"/>
                  <a:gd name="connsiteX174" fmla="*/ 50564 w 175215"/>
                  <a:gd name="connsiteY174" fmla="*/ 12168 h 155745"/>
                  <a:gd name="connsiteX175" fmla="*/ 54458 w 175215"/>
                  <a:gd name="connsiteY175" fmla="*/ 10221 h 155745"/>
                  <a:gd name="connsiteX176" fmla="*/ 57378 w 175215"/>
                  <a:gd name="connsiteY176" fmla="*/ 10221 h 155745"/>
                  <a:gd name="connsiteX177" fmla="*/ 57378 w 175215"/>
                  <a:gd name="connsiteY177" fmla="*/ 13141 h 155745"/>
                  <a:gd name="connsiteX178" fmla="*/ 56404 w 175215"/>
                  <a:gd name="connsiteY178" fmla="*/ 15088 h 155745"/>
                  <a:gd name="connsiteX179" fmla="*/ 55431 w 175215"/>
                  <a:gd name="connsiteY179" fmla="*/ 17035 h 155745"/>
                  <a:gd name="connsiteX180" fmla="*/ 48617 w 175215"/>
                  <a:gd name="connsiteY180" fmla="*/ 37476 h 155745"/>
                  <a:gd name="connsiteX181" fmla="*/ 48617 w 175215"/>
                  <a:gd name="connsiteY181" fmla="*/ 44290 h 155745"/>
                  <a:gd name="connsiteX182" fmla="*/ 48617 w 175215"/>
                  <a:gd name="connsiteY182" fmla="*/ 50130 h 155745"/>
                  <a:gd name="connsiteX183" fmla="*/ 48617 w 175215"/>
                  <a:gd name="connsiteY183" fmla="*/ 57918 h 155745"/>
                  <a:gd name="connsiteX184" fmla="*/ 49590 w 175215"/>
                  <a:gd name="connsiteY184" fmla="*/ 60838 h 155745"/>
                  <a:gd name="connsiteX185" fmla="*/ 49590 w 175215"/>
                  <a:gd name="connsiteY185" fmla="*/ 64732 h 155745"/>
                  <a:gd name="connsiteX186" fmla="*/ 49590 w 175215"/>
                  <a:gd name="connsiteY186" fmla="*/ 68625 h 155745"/>
                  <a:gd name="connsiteX187" fmla="*/ 48617 w 175215"/>
                  <a:gd name="connsiteY187" fmla="*/ 73492 h 155745"/>
                  <a:gd name="connsiteX188" fmla="*/ 47644 w 175215"/>
                  <a:gd name="connsiteY188" fmla="*/ 77386 h 155745"/>
                  <a:gd name="connsiteX189" fmla="*/ 47644 w 175215"/>
                  <a:gd name="connsiteY189" fmla="*/ 79333 h 155745"/>
                  <a:gd name="connsiteX190" fmla="*/ 48617 w 175215"/>
                  <a:gd name="connsiteY190" fmla="*/ 81280 h 155745"/>
                  <a:gd name="connsiteX191" fmla="*/ 49590 w 175215"/>
                  <a:gd name="connsiteY191" fmla="*/ 81280 h 155745"/>
                  <a:gd name="connsiteX192" fmla="*/ 53484 w 175215"/>
                  <a:gd name="connsiteY192" fmla="*/ 69599 h 155745"/>
                  <a:gd name="connsiteX193" fmla="*/ 55431 w 175215"/>
                  <a:gd name="connsiteY193" fmla="*/ 57918 h 155745"/>
                  <a:gd name="connsiteX194" fmla="*/ 55431 w 175215"/>
                  <a:gd name="connsiteY194" fmla="*/ 50130 h 155745"/>
                  <a:gd name="connsiteX195" fmla="*/ 56404 w 175215"/>
                  <a:gd name="connsiteY195" fmla="*/ 48184 h 155745"/>
                  <a:gd name="connsiteX196" fmla="*/ 58351 w 175215"/>
                  <a:gd name="connsiteY196" fmla="*/ 48184 h 155745"/>
                  <a:gd name="connsiteX197" fmla="*/ 59325 w 175215"/>
                  <a:gd name="connsiteY197" fmla="*/ 49157 h 155745"/>
                  <a:gd name="connsiteX198" fmla="*/ 63218 w 175215"/>
                  <a:gd name="connsiteY198" fmla="*/ 49157 h 155745"/>
                  <a:gd name="connsiteX199" fmla="*/ 64192 w 175215"/>
                  <a:gd name="connsiteY199" fmla="*/ 45263 h 155745"/>
                  <a:gd name="connsiteX200" fmla="*/ 64192 w 175215"/>
                  <a:gd name="connsiteY200" fmla="*/ 34556 h 155745"/>
                  <a:gd name="connsiteX201" fmla="*/ 66138 w 175215"/>
                  <a:gd name="connsiteY201" fmla="*/ 28716 h 155745"/>
                  <a:gd name="connsiteX202" fmla="*/ 69059 w 175215"/>
                  <a:gd name="connsiteY202" fmla="*/ 23849 h 155745"/>
                  <a:gd name="connsiteX203" fmla="*/ 72952 w 175215"/>
                  <a:gd name="connsiteY203" fmla="*/ 15088 h 155745"/>
                  <a:gd name="connsiteX204" fmla="*/ 72952 w 175215"/>
                  <a:gd name="connsiteY204" fmla="*/ 10221 h 155745"/>
                  <a:gd name="connsiteX205" fmla="*/ 72952 w 175215"/>
                  <a:gd name="connsiteY205" fmla="*/ 10221 h 155745"/>
                  <a:gd name="connsiteX206" fmla="*/ 34016 w 175215"/>
                  <a:gd name="connsiteY206" fmla="*/ 70572 h 155745"/>
                  <a:gd name="connsiteX207" fmla="*/ 36936 w 175215"/>
                  <a:gd name="connsiteY207" fmla="*/ 68625 h 155745"/>
                  <a:gd name="connsiteX208" fmla="*/ 35962 w 175215"/>
                  <a:gd name="connsiteY208" fmla="*/ 62785 h 155745"/>
                  <a:gd name="connsiteX209" fmla="*/ 34989 w 175215"/>
                  <a:gd name="connsiteY209" fmla="*/ 60838 h 155745"/>
                  <a:gd name="connsiteX210" fmla="*/ 34989 w 175215"/>
                  <a:gd name="connsiteY210" fmla="*/ 70572 h 155745"/>
                  <a:gd name="connsiteX211" fmla="*/ 34016 w 175215"/>
                  <a:gd name="connsiteY211" fmla="*/ 70572 h 155745"/>
                  <a:gd name="connsiteX212" fmla="*/ 34016 w 175215"/>
                  <a:gd name="connsiteY212" fmla="*/ 58891 h 155745"/>
                  <a:gd name="connsiteX213" fmla="*/ 34989 w 175215"/>
                  <a:gd name="connsiteY213" fmla="*/ 56944 h 155745"/>
                  <a:gd name="connsiteX214" fmla="*/ 34016 w 175215"/>
                  <a:gd name="connsiteY214" fmla="*/ 54998 h 155745"/>
                  <a:gd name="connsiteX215" fmla="*/ 34016 w 175215"/>
                  <a:gd name="connsiteY215" fmla="*/ 58891 h 155745"/>
                  <a:gd name="connsiteX216" fmla="*/ 34016 w 175215"/>
                  <a:gd name="connsiteY216" fmla="*/ 8274 h 155745"/>
                  <a:gd name="connsiteX217" fmla="*/ 34016 w 175215"/>
                  <a:gd name="connsiteY217" fmla="*/ 24822 h 155745"/>
                  <a:gd name="connsiteX218" fmla="*/ 32069 w 175215"/>
                  <a:gd name="connsiteY218" fmla="*/ 17035 h 155745"/>
                  <a:gd name="connsiteX219" fmla="*/ 31095 w 175215"/>
                  <a:gd name="connsiteY219" fmla="*/ 11194 h 155745"/>
                  <a:gd name="connsiteX220" fmla="*/ 31095 w 175215"/>
                  <a:gd name="connsiteY220" fmla="*/ 7301 h 155745"/>
                  <a:gd name="connsiteX221" fmla="*/ 34016 w 175215"/>
                  <a:gd name="connsiteY221" fmla="*/ 8274 h 155745"/>
                  <a:gd name="connsiteX222" fmla="*/ 34016 w 175215"/>
                  <a:gd name="connsiteY222" fmla="*/ 8274 h 155745"/>
                  <a:gd name="connsiteX223" fmla="*/ 34016 w 175215"/>
                  <a:gd name="connsiteY223" fmla="*/ 54998 h 155745"/>
                  <a:gd name="connsiteX224" fmla="*/ 34016 w 175215"/>
                  <a:gd name="connsiteY224" fmla="*/ 58891 h 155745"/>
                  <a:gd name="connsiteX225" fmla="*/ 34016 w 175215"/>
                  <a:gd name="connsiteY225" fmla="*/ 59865 h 155745"/>
                  <a:gd name="connsiteX226" fmla="*/ 34016 w 175215"/>
                  <a:gd name="connsiteY226" fmla="*/ 59865 h 155745"/>
                  <a:gd name="connsiteX227" fmla="*/ 34016 w 175215"/>
                  <a:gd name="connsiteY227" fmla="*/ 69599 h 155745"/>
                  <a:gd name="connsiteX228" fmla="*/ 33042 w 175215"/>
                  <a:gd name="connsiteY228" fmla="*/ 70572 h 155745"/>
                  <a:gd name="connsiteX229" fmla="*/ 32069 w 175215"/>
                  <a:gd name="connsiteY229" fmla="*/ 77386 h 155745"/>
                  <a:gd name="connsiteX230" fmla="*/ 32069 w 175215"/>
                  <a:gd name="connsiteY230" fmla="*/ 86147 h 155745"/>
                  <a:gd name="connsiteX231" fmla="*/ 32069 w 175215"/>
                  <a:gd name="connsiteY231" fmla="*/ 90040 h 155745"/>
                  <a:gd name="connsiteX232" fmla="*/ 29149 w 175215"/>
                  <a:gd name="connsiteY232" fmla="*/ 91987 h 155745"/>
                  <a:gd name="connsiteX233" fmla="*/ 24282 w 175215"/>
                  <a:gd name="connsiteY233" fmla="*/ 91987 h 155745"/>
                  <a:gd name="connsiteX234" fmla="*/ 22335 w 175215"/>
                  <a:gd name="connsiteY234" fmla="*/ 91987 h 155745"/>
                  <a:gd name="connsiteX235" fmla="*/ 17467 w 175215"/>
                  <a:gd name="connsiteY235" fmla="*/ 91987 h 155745"/>
                  <a:gd name="connsiteX236" fmla="*/ 14547 w 175215"/>
                  <a:gd name="connsiteY236" fmla="*/ 92960 h 155745"/>
                  <a:gd name="connsiteX237" fmla="*/ 13574 w 175215"/>
                  <a:gd name="connsiteY237" fmla="*/ 89067 h 155745"/>
                  <a:gd name="connsiteX238" fmla="*/ 16494 w 175215"/>
                  <a:gd name="connsiteY238" fmla="*/ 83226 h 155745"/>
                  <a:gd name="connsiteX239" fmla="*/ 17467 w 175215"/>
                  <a:gd name="connsiteY239" fmla="*/ 78359 h 155745"/>
                  <a:gd name="connsiteX240" fmla="*/ 18441 w 175215"/>
                  <a:gd name="connsiteY240" fmla="*/ 72519 h 155745"/>
                  <a:gd name="connsiteX241" fmla="*/ 18441 w 175215"/>
                  <a:gd name="connsiteY241" fmla="*/ 69599 h 155745"/>
                  <a:gd name="connsiteX242" fmla="*/ 18441 w 175215"/>
                  <a:gd name="connsiteY242" fmla="*/ 65705 h 155745"/>
                  <a:gd name="connsiteX243" fmla="*/ 15521 w 175215"/>
                  <a:gd name="connsiteY243" fmla="*/ 63758 h 155745"/>
                  <a:gd name="connsiteX244" fmla="*/ 15521 w 175215"/>
                  <a:gd name="connsiteY244" fmla="*/ 63758 h 155745"/>
                  <a:gd name="connsiteX245" fmla="*/ 13574 w 175215"/>
                  <a:gd name="connsiteY245" fmla="*/ 62785 h 155745"/>
                  <a:gd name="connsiteX246" fmla="*/ 7733 w 175215"/>
                  <a:gd name="connsiteY246" fmla="*/ 58891 h 155745"/>
                  <a:gd name="connsiteX247" fmla="*/ 7733 w 175215"/>
                  <a:gd name="connsiteY247" fmla="*/ 54998 h 155745"/>
                  <a:gd name="connsiteX248" fmla="*/ 9680 w 175215"/>
                  <a:gd name="connsiteY248" fmla="*/ 53051 h 155745"/>
                  <a:gd name="connsiteX249" fmla="*/ 15521 w 175215"/>
                  <a:gd name="connsiteY249" fmla="*/ 53051 h 155745"/>
                  <a:gd name="connsiteX250" fmla="*/ 19414 w 175215"/>
                  <a:gd name="connsiteY250" fmla="*/ 52077 h 155745"/>
                  <a:gd name="connsiteX251" fmla="*/ 25255 w 175215"/>
                  <a:gd name="connsiteY251" fmla="*/ 52077 h 155745"/>
                  <a:gd name="connsiteX252" fmla="*/ 28175 w 175215"/>
                  <a:gd name="connsiteY252" fmla="*/ 54024 h 155745"/>
                  <a:gd name="connsiteX253" fmla="*/ 29149 w 175215"/>
                  <a:gd name="connsiteY253" fmla="*/ 54024 h 155745"/>
                  <a:gd name="connsiteX254" fmla="*/ 32069 w 175215"/>
                  <a:gd name="connsiteY254" fmla="*/ 54998 h 155745"/>
                  <a:gd name="connsiteX255" fmla="*/ 34016 w 175215"/>
                  <a:gd name="connsiteY255" fmla="*/ 54998 h 15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175215" h="155745">
                    <a:moveTo>
                      <a:pt x="122597" y="95881"/>
                    </a:moveTo>
                    <a:lnTo>
                      <a:pt x="122597" y="84200"/>
                    </a:lnTo>
                    <a:cubicBezTo>
                      <a:pt x="126491" y="84200"/>
                      <a:pt x="129411" y="84200"/>
                      <a:pt x="133304" y="86147"/>
                    </a:cubicBezTo>
                    <a:cubicBezTo>
                      <a:pt x="133304" y="86147"/>
                      <a:pt x="137198" y="88093"/>
                      <a:pt x="138171" y="91014"/>
                    </a:cubicBezTo>
                    <a:cubicBezTo>
                      <a:pt x="139145" y="93934"/>
                      <a:pt x="138171" y="94907"/>
                      <a:pt x="138171" y="95881"/>
                    </a:cubicBezTo>
                    <a:cubicBezTo>
                      <a:pt x="138171" y="96854"/>
                      <a:pt x="133304" y="101721"/>
                      <a:pt x="133304" y="101721"/>
                    </a:cubicBezTo>
                    <a:cubicBezTo>
                      <a:pt x="133304" y="101721"/>
                      <a:pt x="130384" y="100748"/>
                      <a:pt x="128437" y="98801"/>
                    </a:cubicBezTo>
                    <a:cubicBezTo>
                      <a:pt x="127464" y="98801"/>
                      <a:pt x="125517" y="96854"/>
                      <a:pt x="122597" y="95881"/>
                    </a:cubicBezTo>
                    <a:lnTo>
                      <a:pt x="122597" y="95881"/>
                    </a:lnTo>
                    <a:close/>
                    <a:moveTo>
                      <a:pt x="122597" y="65705"/>
                    </a:moveTo>
                    <a:cubicBezTo>
                      <a:pt x="126491" y="68625"/>
                      <a:pt x="130384" y="71546"/>
                      <a:pt x="132331" y="72519"/>
                    </a:cubicBezTo>
                    <a:cubicBezTo>
                      <a:pt x="136225" y="75439"/>
                      <a:pt x="151799" y="89067"/>
                      <a:pt x="151799" y="89067"/>
                    </a:cubicBezTo>
                    <a:cubicBezTo>
                      <a:pt x="152773" y="90040"/>
                      <a:pt x="153746" y="90040"/>
                      <a:pt x="153746" y="91014"/>
                    </a:cubicBezTo>
                    <a:cubicBezTo>
                      <a:pt x="153746" y="92960"/>
                      <a:pt x="151799" y="92960"/>
                      <a:pt x="151799" y="93934"/>
                    </a:cubicBezTo>
                    <a:cubicBezTo>
                      <a:pt x="150826" y="94907"/>
                      <a:pt x="149853" y="94907"/>
                      <a:pt x="147906" y="95881"/>
                    </a:cubicBezTo>
                    <a:cubicBezTo>
                      <a:pt x="145959" y="95881"/>
                      <a:pt x="144985" y="95881"/>
                      <a:pt x="144012" y="96854"/>
                    </a:cubicBezTo>
                    <a:cubicBezTo>
                      <a:pt x="143038" y="97827"/>
                      <a:pt x="142065" y="98801"/>
                      <a:pt x="141092" y="100748"/>
                    </a:cubicBezTo>
                    <a:cubicBezTo>
                      <a:pt x="140118" y="102694"/>
                      <a:pt x="138171" y="104641"/>
                      <a:pt x="138171" y="104641"/>
                    </a:cubicBezTo>
                    <a:cubicBezTo>
                      <a:pt x="138171" y="105615"/>
                      <a:pt x="140118" y="106588"/>
                      <a:pt x="141092" y="106588"/>
                    </a:cubicBezTo>
                    <a:cubicBezTo>
                      <a:pt x="141092" y="106588"/>
                      <a:pt x="142065" y="106588"/>
                      <a:pt x="142065" y="106588"/>
                    </a:cubicBezTo>
                    <a:cubicBezTo>
                      <a:pt x="143038" y="106588"/>
                      <a:pt x="145959" y="106588"/>
                      <a:pt x="152773" y="107562"/>
                    </a:cubicBezTo>
                    <a:cubicBezTo>
                      <a:pt x="155693" y="107562"/>
                      <a:pt x="158613" y="108535"/>
                      <a:pt x="160560" y="108535"/>
                    </a:cubicBezTo>
                    <a:cubicBezTo>
                      <a:pt x="162507" y="108535"/>
                      <a:pt x="163480" y="109508"/>
                      <a:pt x="164454" y="109508"/>
                    </a:cubicBezTo>
                    <a:cubicBezTo>
                      <a:pt x="165427" y="110482"/>
                      <a:pt x="167374" y="110482"/>
                      <a:pt x="168347" y="110482"/>
                    </a:cubicBezTo>
                    <a:cubicBezTo>
                      <a:pt x="169321" y="110482"/>
                      <a:pt x="170294" y="110482"/>
                      <a:pt x="170294" y="109508"/>
                    </a:cubicBezTo>
                    <a:cubicBezTo>
                      <a:pt x="171268" y="108535"/>
                      <a:pt x="173215" y="105615"/>
                      <a:pt x="173215" y="104641"/>
                    </a:cubicBezTo>
                    <a:cubicBezTo>
                      <a:pt x="173215" y="103668"/>
                      <a:pt x="174188" y="101721"/>
                      <a:pt x="175161" y="98801"/>
                    </a:cubicBezTo>
                    <a:cubicBezTo>
                      <a:pt x="175161" y="97827"/>
                      <a:pt x="176135" y="95881"/>
                      <a:pt x="175161" y="94907"/>
                    </a:cubicBezTo>
                    <a:cubicBezTo>
                      <a:pt x="174188" y="93934"/>
                      <a:pt x="170294" y="91014"/>
                      <a:pt x="169321" y="90040"/>
                    </a:cubicBezTo>
                    <a:cubicBezTo>
                      <a:pt x="168347" y="89067"/>
                      <a:pt x="162507" y="85173"/>
                      <a:pt x="160560" y="83226"/>
                    </a:cubicBezTo>
                    <a:cubicBezTo>
                      <a:pt x="158613" y="81280"/>
                      <a:pt x="138171" y="66679"/>
                      <a:pt x="137198" y="66679"/>
                    </a:cubicBezTo>
                    <a:cubicBezTo>
                      <a:pt x="136225" y="66679"/>
                      <a:pt x="125517" y="57918"/>
                      <a:pt x="124544" y="56944"/>
                    </a:cubicBezTo>
                    <a:cubicBezTo>
                      <a:pt x="124544" y="56944"/>
                      <a:pt x="123570" y="55971"/>
                      <a:pt x="122597" y="54998"/>
                    </a:cubicBezTo>
                    <a:lnTo>
                      <a:pt x="122597" y="65705"/>
                    </a:lnTo>
                    <a:close/>
                    <a:moveTo>
                      <a:pt x="72952" y="152338"/>
                    </a:moveTo>
                    <a:cubicBezTo>
                      <a:pt x="73926" y="153312"/>
                      <a:pt x="75873" y="154285"/>
                      <a:pt x="76846" y="153312"/>
                    </a:cubicBezTo>
                    <a:cubicBezTo>
                      <a:pt x="77820" y="152338"/>
                      <a:pt x="80740" y="151365"/>
                      <a:pt x="84633" y="151365"/>
                    </a:cubicBezTo>
                    <a:cubicBezTo>
                      <a:pt x="86580" y="151365"/>
                      <a:pt x="90474" y="147471"/>
                      <a:pt x="89500" y="146498"/>
                    </a:cubicBezTo>
                    <a:cubicBezTo>
                      <a:pt x="88527" y="145525"/>
                      <a:pt x="87554" y="143578"/>
                      <a:pt x="84633" y="141631"/>
                    </a:cubicBezTo>
                    <a:cubicBezTo>
                      <a:pt x="82687" y="140658"/>
                      <a:pt x="76846" y="137737"/>
                      <a:pt x="72952" y="134817"/>
                    </a:cubicBezTo>
                    <a:lnTo>
                      <a:pt x="72952" y="152338"/>
                    </a:lnTo>
                    <a:lnTo>
                      <a:pt x="72952" y="152338"/>
                    </a:lnTo>
                    <a:close/>
                    <a:moveTo>
                      <a:pt x="122597" y="55971"/>
                    </a:moveTo>
                    <a:lnTo>
                      <a:pt x="122597" y="65705"/>
                    </a:lnTo>
                    <a:cubicBezTo>
                      <a:pt x="119676" y="63758"/>
                      <a:pt x="116756" y="61812"/>
                      <a:pt x="113836" y="59865"/>
                    </a:cubicBezTo>
                    <a:cubicBezTo>
                      <a:pt x="110916" y="56944"/>
                      <a:pt x="107996" y="54998"/>
                      <a:pt x="106049" y="54024"/>
                    </a:cubicBezTo>
                    <a:cubicBezTo>
                      <a:pt x="102155" y="50130"/>
                      <a:pt x="94368" y="43317"/>
                      <a:pt x="93394" y="42343"/>
                    </a:cubicBezTo>
                    <a:cubicBezTo>
                      <a:pt x="92421" y="40396"/>
                      <a:pt x="82687" y="32609"/>
                      <a:pt x="80740" y="29689"/>
                    </a:cubicBezTo>
                    <a:cubicBezTo>
                      <a:pt x="78793" y="26769"/>
                      <a:pt x="77820" y="25795"/>
                      <a:pt x="76846" y="24822"/>
                    </a:cubicBezTo>
                    <a:cubicBezTo>
                      <a:pt x="75873" y="22875"/>
                      <a:pt x="73926" y="22875"/>
                      <a:pt x="73926" y="23849"/>
                    </a:cubicBezTo>
                    <a:cubicBezTo>
                      <a:pt x="73926" y="25795"/>
                      <a:pt x="72952" y="26769"/>
                      <a:pt x="71979" y="27742"/>
                    </a:cubicBezTo>
                    <a:lnTo>
                      <a:pt x="71979" y="27742"/>
                    </a:lnTo>
                    <a:lnTo>
                      <a:pt x="71979" y="11194"/>
                    </a:lnTo>
                    <a:cubicBezTo>
                      <a:pt x="72952" y="11194"/>
                      <a:pt x="72952" y="10221"/>
                      <a:pt x="73926" y="11194"/>
                    </a:cubicBezTo>
                    <a:cubicBezTo>
                      <a:pt x="73926" y="11194"/>
                      <a:pt x="75873" y="12168"/>
                      <a:pt x="76846" y="13141"/>
                    </a:cubicBezTo>
                    <a:cubicBezTo>
                      <a:pt x="76846" y="14115"/>
                      <a:pt x="77820" y="16061"/>
                      <a:pt x="78793" y="17035"/>
                    </a:cubicBezTo>
                    <a:cubicBezTo>
                      <a:pt x="79766" y="18008"/>
                      <a:pt x="83660" y="23849"/>
                      <a:pt x="85607" y="26769"/>
                    </a:cubicBezTo>
                    <a:cubicBezTo>
                      <a:pt x="87554" y="28716"/>
                      <a:pt x="108969" y="49157"/>
                      <a:pt x="113836" y="52077"/>
                    </a:cubicBezTo>
                    <a:cubicBezTo>
                      <a:pt x="118703" y="52077"/>
                      <a:pt x="121623" y="54998"/>
                      <a:pt x="122597" y="55971"/>
                    </a:cubicBezTo>
                    <a:lnTo>
                      <a:pt x="122597" y="55971"/>
                    </a:lnTo>
                    <a:close/>
                    <a:moveTo>
                      <a:pt x="122597" y="84200"/>
                    </a:moveTo>
                    <a:lnTo>
                      <a:pt x="122597" y="95881"/>
                    </a:lnTo>
                    <a:cubicBezTo>
                      <a:pt x="119676" y="93934"/>
                      <a:pt x="116756" y="92960"/>
                      <a:pt x="116756" y="91987"/>
                    </a:cubicBezTo>
                    <a:cubicBezTo>
                      <a:pt x="116756" y="91987"/>
                      <a:pt x="113836" y="91014"/>
                      <a:pt x="112863" y="90040"/>
                    </a:cubicBezTo>
                    <a:cubicBezTo>
                      <a:pt x="110916" y="89067"/>
                      <a:pt x="108969" y="87120"/>
                      <a:pt x="107996" y="86147"/>
                    </a:cubicBezTo>
                    <a:lnTo>
                      <a:pt x="107996" y="85173"/>
                    </a:lnTo>
                    <a:lnTo>
                      <a:pt x="107996" y="84200"/>
                    </a:lnTo>
                    <a:cubicBezTo>
                      <a:pt x="107996" y="83226"/>
                      <a:pt x="108969" y="84200"/>
                      <a:pt x="110916" y="83226"/>
                    </a:cubicBezTo>
                    <a:cubicBezTo>
                      <a:pt x="111889" y="83226"/>
                      <a:pt x="112863" y="82253"/>
                      <a:pt x="113836" y="82253"/>
                    </a:cubicBezTo>
                    <a:cubicBezTo>
                      <a:pt x="114809" y="82253"/>
                      <a:pt x="115783" y="83226"/>
                      <a:pt x="117730" y="83226"/>
                    </a:cubicBezTo>
                    <a:cubicBezTo>
                      <a:pt x="119676" y="84200"/>
                      <a:pt x="121623" y="84200"/>
                      <a:pt x="122597" y="84200"/>
                    </a:cubicBezTo>
                    <a:lnTo>
                      <a:pt x="122597" y="84200"/>
                    </a:lnTo>
                    <a:close/>
                    <a:moveTo>
                      <a:pt x="72952" y="108535"/>
                    </a:moveTo>
                    <a:cubicBezTo>
                      <a:pt x="73926" y="108535"/>
                      <a:pt x="73926" y="107562"/>
                      <a:pt x="74899" y="107562"/>
                    </a:cubicBezTo>
                    <a:cubicBezTo>
                      <a:pt x="75873" y="107562"/>
                      <a:pt x="75873" y="105615"/>
                      <a:pt x="75873" y="104641"/>
                    </a:cubicBezTo>
                    <a:cubicBezTo>
                      <a:pt x="76846" y="102694"/>
                      <a:pt x="75873" y="99774"/>
                      <a:pt x="75873" y="96854"/>
                    </a:cubicBezTo>
                    <a:cubicBezTo>
                      <a:pt x="75873" y="94907"/>
                      <a:pt x="76846" y="91014"/>
                      <a:pt x="76846" y="91014"/>
                    </a:cubicBezTo>
                    <a:cubicBezTo>
                      <a:pt x="76846" y="91014"/>
                      <a:pt x="76846" y="91014"/>
                      <a:pt x="77820" y="92960"/>
                    </a:cubicBezTo>
                    <a:cubicBezTo>
                      <a:pt x="78793" y="93934"/>
                      <a:pt x="79766" y="96854"/>
                      <a:pt x="79766" y="99774"/>
                    </a:cubicBezTo>
                    <a:cubicBezTo>
                      <a:pt x="79766" y="103668"/>
                      <a:pt x="78793" y="107562"/>
                      <a:pt x="78793" y="107562"/>
                    </a:cubicBezTo>
                    <a:cubicBezTo>
                      <a:pt x="78793" y="110482"/>
                      <a:pt x="80740" y="112429"/>
                      <a:pt x="82687" y="113402"/>
                    </a:cubicBezTo>
                    <a:cubicBezTo>
                      <a:pt x="84633" y="114376"/>
                      <a:pt x="88527" y="112429"/>
                      <a:pt x="88527" y="111455"/>
                    </a:cubicBezTo>
                    <a:cubicBezTo>
                      <a:pt x="89500" y="110482"/>
                      <a:pt x="88527" y="109508"/>
                      <a:pt x="87554" y="108535"/>
                    </a:cubicBezTo>
                    <a:cubicBezTo>
                      <a:pt x="86580" y="107562"/>
                      <a:pt x="86580" y="106588"/>
                      <a:pt x="87554" y="105615"/>
                    </a:cubicBezTo>
                    <a:cubicBezTo>
                      <a:pt x="88527" y="104641"/>
                      <a:pt x="89500" y="104641"/>
                      <a:pt x="89500" y="104641"/>
                    </a:cubicBezTo>
                    <a:cubicBezTo>
                      <a:pt x="90474" y="105615"/>
                      <a:pt x="95341" y="108535"/>
                      <a:pt x="96314" y="109508"/>
                    </a:cubicBezTo>
                    <a:cubicBezTo>
                      <a:pt x="97288" y="110482"/>
                      <a:pt x="97288" y="112429"/>
                      <a:pt x="97288" y="113402"/>
                    </a:cubicBezTo>
                    <a:cubicBezTo>
                      <a:pt x="97288" y="114376"/>
                      <a:pt x="97288" y="116322"/>
                      <a:pt x="98261" y="120216"/>
                    </a:cubicBezTo>
                    <a:cubicBezTo>
                      <a:pt x="98261" y="123136"/>
                      <a:pt x="99235" y="126057"/>
                      <a:pt x="99235" y="126057"/>
                    </a:cubicBezTo>
                    <a:cubicBezTo>
                      <a:pt x="99235" y="128003"/>
                      <a:pt x="100208" y="128977"/>
                      <a:pt x="101182" y="128977"/>
                    </a:cubicBezTo>
                    <a:cubicBezTo>
                      <a:pt x="102155" y="128977"/>
                      <a:pt x="103129" y="128977"/>
                      <a:pt x="104102" y="128977"/>
                    </a:cubicBezTo>
                    <a:cubicBezTo>
                      <a:pt x="105075" y="128977"/>
                      <a:pt x="106049" y="128977"/>
                      <a:pt x="106049" y="128977"/>
                    </a:cubicBezTo>
                    <a:cubicBezTo>
                      <a:pt x="107022" y="128977"/>
                      <a:pt x="107022" y="128003"/>
                      <a:pt x="107996" y="127030"/>
                    </a:cubicBezTo>
                    <a:cubicBezTo>
                      <a:pt x="107996" y="125083"/>
                      <a:pt x="107022" y="121189"/>
                      <a:pt x="106049" y="120216"/>
                    </a:cubicBezTo>
                    <a:cubicBezTo>
                      <a:pt x="105075" y="119243"/>
                      <a:pt x="104102" y="117296"/>
                      <a:pt x="103129" y="116322"/>
                    </a:cubicBezTo>
                    <a:cubicBezTo>
                      <a:pt x="103129" y="115349"/>
                      <a:pt x="103129" y="114376"/>
                      <a:pt x="104102" y="113402"/>
                    </a:cubicBezTo>
                    <a:cubicBezTo>
                      <a:pt x="104102" y="112429"/>
                      <a:pt x="104102" y="112429"/>
                      <a:pt x="105075" y="113402"/>
                    </a:cubicBezTo>
                    <a:cubicBezTo>
                      <a:pt x="106049" y="113402"/>
                      <a:pt x="107022" y="114376"/>
                      <a:pt x="108969" y="116322"/>
                    </a:cubicBezTo>
                    <a:cubicBezTo>
                      <a:pt x="112863" y="119243"/>
                      <a:pt x="115783" y="119243"/>
                      <a:pt x="115783" y="119243"/>
                    </a:cubicBezTo>
                    <a:cubicBezTo>
                      <a:pt x="121623" y="120216"/>
                      <a:pt x="121623" y="115349"/>
                      <a:pt x="121623" y="115349"/>
                    </a:cubicBezTo>
                    <a:cubicBezTo>
                      <a:pt x="122597" y="105615"/>
                      <a:pt x="116756" y="103668"/>
                      <a:pt x="116756" y="102694"/>
                    </a:cubicBezTo>
                    <a:cubicBezTo>
                      <a:pt x="115783" y="101721"/>
                      <a:pt x="113836" y="100748"/>
                      <a:pt x="106049" y="96854"/>
                    </a:cubicBezTo>
                    <a:cubicBezTo>
                      <a:pt x="98261" y="92960"/>
                      <a:pt x="98261" y="91014"/>
                      <a:pt x="98261" y="91014"/>
                    </a:cubicBezTo>
                    <a:cubicBezTo>
                      <a:pt x="95341" y="86147"/>
                      <a:pt x="92421" y="75439"/>
                      <a:pt x="92421" y="74466"/>
                    </a:cubicBezTo>
                    <a:cubicBezTo>
                      <a:pt x="92421" y="73492"/>
                      <a:pt x="92421" y="70572"/>
                      <a:pt x="92421" y="69599"/>
                    </a:cubicBezTo>
                    <a:cubicBezTo>
                      <a:pt x="92421" y="68625"/>
                      <a:pt x="90474" y="67652"/>
                      <a:pt x="90474" y="67652"/>
                    </a:cubicBezTo>
                    <a:cubicBezTo>
                      <a:pt x="86580" y="65705"/>
                      <a:pt x="85607" y="67652"/>
                      <a:pt x="84633" y="69599"/>
                    </a:cubicBezTo>
                    <a:cubicBezTo>
                      <a:pt x="83660" y="70572"/>
                      <a:pt x="82687" y="70572"/>
                      <a:pt x="81713" y="69599"/>
                    </a:cubicBezTo>
                    <a:cubicBezTo>
                      <a:pt x="80740" y="68625"/>
                      <a:pt x="79766" y="67652"/>
                      <a:pt x="79766" y="64732"/>
                    </a:cubicBezTo>
                    <a:cubicBezTo>
                      <a:pt x="79766" y="61812"/>
                      <a:pt x="77820" y="55971"/>
                      <a:pt x="77820" y="54998"/>
                    </a:cubicBezTo>
                    <a:cubicBezTo>
                      <a:pt x="77820" y="54024"/>
                      <a:pt x="75873" y="53051"/>
                      <a:pt x="75873" y="53051"/>
                    </a:cubicBezTo>
                    <a:cubicBezTo>
                      <a:pt x="75873" y="53051"/>
                      <a:pt x="73926" y="52077"/>
                      <a:pt x="73926" y="53051"/>
                    </a:cubicBezTo>
                    <a:cubicBezTo>
                      <a:pt x="73926" y="54024"/>
                      <a:pt x="72952" y="54998"/>
                      <a:pt x="72952" y="55971"/>
                    </a:cubicBezTo>
                    <a:lnTo>
                      <a:pt x="72952" y="108535"/>
                    </a:lnTo>
                    <a:close/>
                    <a:moveTo>
                      <a:pt x="56404" y="118269"/>
                    </a:moveTo>
                    <a:cubicBezTo>
                      <a:pt x="56404" y="118269"/>
                      <a:pt x="55431" y="122163"/>
                      <a:pt x="57378" y="127030"/>
                    </a:cubicBezTo>
                    <a:cubicBezTo>
                      <a:pt x="58351" y="128977"/>
                      <a:pt x="61271" y="130924"/>
                      <a:pt x="62245" y="132870"/>
                    </a:cubicBezTo>
                    <a:cubicBezTo>
                      <a:pt x="63218" y="135791"/>
                      <a:pt x="64192" y="138711"/>
                      <a:pt x="66138" y="141631"/>
                    </a:cubicBezTo>
                    <a:cubicBezTo>
                      <a:pt x="66138" y="141631"/>
                      <a:pt x="67112" y="142604"/>
                      <a:pt x="68085" y="143578"/>
                    </a:cubicBezTo>
                    <a:cubicBezTo>
                      <a:pt x="68085" y="144551"/>
                      <a:pt x="68085" y="145525"/>
                      <a:pt x="69059" y="146498"/>
                    </a:cubicBezTo>
                    <a:cubicBezTo>
                      <a:pt x="69059" y="147471"/>
                      <a:pt x="71006" y="147471"/>
                      <a:pt x="71006" y="148445"/>
                    </a:cubicBezTo>
                    <a:cubicBezTo>
                      <a:pt x="71979" y="149418"/>
                      <a:pt x="71979" y="150392"/>
                      <a:pt x="71979" y="151365"/>
                    </a:cubicBezTo>
                    <a:lnTo>
                      <a:pt x="71979" y="151365"/>
                    </a:lnTo>
                    <a:lnTo>
                      <a:pt x="71979" y="133844"/>
                    </a:lnTo>
                    <a:cubicBezTo>
                      <a:pt x="71006" y="132870"/>
                      <a:pt x="70032" y="131897"/>
                      <a:pt x="69059" y="131897"/>
                    </a:cubicBezTo>
                    <a:cubicBezTo>
                      <a:pt x="64192" y="128003"/>
                      <a:pt x="61271" y="124110"/>
                      <a:pt x="59325" y="122163"/>
                    </a:cubicBezTo>
                    <a:cubicBezTo>
                      <a:pt x="58351" y="121189"/>
                      <a:pt x="56404" y="118269"/>
                      <a:pt x="56404" y="118269"/>
                    </a:cubicBezTo>
                    <a:lnTo>
                      <a:pt x="56404" y="118269"/>
                    </a:lnTo>
                    <a:close/>
                    <a:moveTo>
                      <a:pt x="72952" y="10221"/>
                    </a:moveTo>
                    <a:lnTo>
                      <a:pt x="72952" y="26769"/>
                    </a:lnTo>
                    <a:cubicBezTo>
                      <a:pt x="71006" y="27742"/>
                      <a:pt x="69059" y="28716"/>
                      <a:pt x="69059" y="28716"/>
                    </a:cubicBezTo>
                    <a:cubicBezTo>
                      <a:pt x="68085" y="29689"/>
                      <a:pt x="66138" y="37476"/>
                      <a:pt x="66138" y="38450"/>
                    </a:cubicBezTo>
                    <a:cubicBezTo>
                      <a:pt x="66138" y="39423"/>
                      <a:pt x="68085" y="45263"/>
                      <a:pt x="67112" y="47210"/>
                    </a:cubicBezTo>
                    <a:cubicBezTo>
                      <a:pt x="66138" y="49157"/>
                      <a:pt x="65165" y="52077"/>
                      <a:pt x="64192" y="53051"/>
                    </a:cubicBezTo>
                    <a:cubicBezTo>
                      <a:pt x="64192" y="53051"/>
                      <a:pt x="63218" y="53051"/>
                      <a:pt x="62245" y="53051"/>
                    </a:cubicBezTo>
                    <a:cubicBezTo>
                      <a:pt x="61271" y="53051"/>
                      <a:pt x="59325" y="53051"/>
                      <a:pt x="58351" y="54998"/>
                    </a:cubicBezTo>
                    <a:cubicBezTo>
                      <a:pt x="57378" y="55971"/>
                      <a:pt x="57378" y="60838"/>
                      <a:pt x="57378" y="62785"/>
                    </a:cubicBezTo>
                    <a:cubicBezTo>
                      <a:pt x="57378" y="63758"/>
                      <a:pt x="58351" y="65705"/>
                      <a:pt x="58351" y="65705"/>
                    </a:cubicBezTo>
                    <a:cubicBezTo>
                      <a:pt x="58351" y="65705"/>
                      <a:pt x="61271" y="62785"/>
                      <a:pt x="62245" y="61812"/>
                    </a:cubicBezTo>
                    <a:cubicBezTo>
                      <a:pt x="67112" y="55971"/>
                      <a:pt x="66138" y="56944"/>
                      <a:pt x="72952" y="58891"/>
                    </a:cubicBezTo>
                    <a:cubicBezTo>
                      <a:pt x="72952" y="58891"/>
                      <a:pt x="73926" y="57918"/>
                      <a:pt x="74899" y="55971"/>
                    </a:cubicBezTo>
                    <a:lnTo>
                      <a:pt x="74899" y="107562"/>
                    </a:lnTo>
                    <a:cubicBezTo>
                      <a:pt x="73926" y="107562"/>
                      <a:pt x="72952" y="107562"/>
                      <a:pt x="71006" y="107562"/>
                    </a:cubicBezTo>
                    <a:cubicBezTo>
                      <a:pt x="67112" y="107562"/>
                      <a:pt x="65165" y="109508"/>
                      <a:pt x="62245" y="108535"/>
                    </a:cubicBezTo>
                    <a:cubicBezTo>
                      <a:pt x="59325" y="107562"/>
                      <a:pt x="60298" y="106588"/>
                      <a:pt x="60298" y="104641"/>
                    </a:cubicBezTo>
                    <a:cubicBezTo>
                      <a:pt x="60298" y="102694"/>
                      <a:pt x="63218" y="98801"/>
                      <a:pt x="63218" y="96854"/>
                    </a:cubicBezTo>
                    <a:cubicBezTo>
                      <a:pt x="63218" y="94907"/>
                      <a:pt x="65165" y="90040"/>
                      <a:pt x="65165" y="86147"/>
                    </a:cubicBezTo>
                    <a:cubicBezTo>
                      <a:pt x="65165" y="83226"/>
                      <a:pt x="66138" y="77386"/>
                      <a:pt x="66138" y="75439"/>
                    </a:cubicBezTo>
                    <a:cubicBezTo>
                      <a:pt x="66138" y="73492"/>
                      <a:pt x="66138" y="72519"/>
                      <a:pt x="66138" y="72519"/>
                    </a:cubicBezTo>
                    <a:lnTo>
                      <a:pt x="62245" y="68625"/>
                    </a:lnTo>
                    <a:cubicBezTo>
                      <a:pt x="62245" y="68625"/>
                      <a:pt x="61271" y="68625"/>
                      <a:pt x="59325" y="70572"/>
                    </a:cubicBezTo>
                    <a:cubicBezTo>
                      <a:pt x="57378" y="72519"/>
                      <a:pt x="56404" y="71546"/>
                      <a:pt x="53484" y="80306"/>
                    </a:cubicBezTo>
                    <a:cubicBezTo>
                      <a:pt x="53484" y="80306"/>
                      <a:pt x="52511" y="84200"/>
                      <a:pt x="50564" y="86147"/>
                    </a:cubicBezTo>
                    <a:cubicBezTo>
                      <a:pt x="48617" y="88093"/>
                      <a:pt x="48617" y="88093"/>
                      <a:pt x="47644" y="89067"/>
                    </a:cubicBezTo>
                    <a:cubicBezTo>
                      <a:pt x="46670" y="90040"/>
                      <a:pt x="45697" y="91987"/>
                      <a:pt x="44723" y="92960"/>
                    </a:cubicBezTo>
                    <a:cubicBezTo>
                      <a:pt x="43750" y="93934"/>
                      <a:pt x="36936" y="94907"/>
                      <a:pt x="36936" y="94907"/>
                    </a:cubicBezTo>
                    <a:cubicBezTo>
                      <a:pt x="35962" y="94907"/>
                      <a:pt x="38883" y="91014"/>
                      <a:pt x="39856" y="89067"/>
                    </a:cubicBezTo>
                    <a:cubicBezTo>
                      <a:pt x="40829" y="87120"/>
                      <a:pt x="41803" y="84200"/>
                      <a:pt x="42776" y="83226"/>
                    </a:cubicBezTo>
                    <a:cubicBezTo>
                      <a:pt x="42776" y="83226"/>
                      <a:pt x="42776" y="82253"/>
                      <a:pt x="42776" y="82253"/>
                    </a:cubicBezTo>
                    <a:cubicBezTo>
                      <a:pt x="42776" y="81280"/>
                      <a:pt x="42776" y="81280"/>
                      <a:pt x="42776" y="80306"/>
                    </a:cubicBezTo>
                    <a:cubicBezTo>
                      <a:pt x="42776" y="80306"/>
                      <a:pt x="42776" y="79333"/>
                      <a:pt x="43750" y="79333"/>
                    </a:cubicBezTo>
                    <a:cubicBezTo>
                      <a:pt x="43750" y="79333"/>
                      <a:pt x="44723" y="78359"/>
                      <a:pt x="44723" y="77386"/>
                    </a:cubicBezTo>
                    <a:cubicBezTo>
                      <a:pt x="44723" y="75439"/>
                      <a:pt x="44723" y="74466"/>
                      <a:pt x="44723" y="73492"/>
                    </a:cubicBezTo>
                    <a:cubicBezTo>
                      <a:pt x="44723" y="72519"/>
                      <a:pt x="44723" y="70572"/>
                      <a:pt x="44723" y="69599"/>
                    </a:cubicBezTo>
                    <a:cubicBezTo>
                      <a:pt x="44723" y="68625"/>
                      <a:pt x="43750" y="67652"/>
                      <a:pt x="43750" y="66679"/>
                    </a:cubicBezTo>
                    <a:cubicBezTo>
                      <a:pt x="42776" y="61812"/>
                      <a:pt x="41803" y="54024"/>
                      <a:pt x="40829" y="46237"/>
                    </a:cubicBezTo>
                    <a:cubicBezTo>
                      <a:pt x="40829" y="45263"/>
                      <a:pt x="39856" y="43317"/>
                      <a:pt x="38883" y="42343"/>
                    </a:cubicBezTo>
                    <a:cubicBezTo>
                      <a:pt x="38883" y="41370"/>
                      <a:pt x="37909" y="39423"/>
                      <a:pt x="37909" y="38450"/>
                    </a:cubicBezTo>
                    <a:cubicBezTo>
                      <a:pt x="36936" y="33583"/>
                      <a:pt x="36936" y="30662"/>
                      <a:pt x="36936" y="27742"/>
                    </a:cubicBezTo>
                    <a:lnTo>
                      <a:pt x="35962" y="24822"/>
                    </a:lnTo>
                    <a:lnTo>
                      <a:pt x="35962" y="8274"/>
                    </a:lnTo>
                    <a:lnTo>
                      <a:pt x="35962" y="8274"/>
                    </a:lnTo>
                    <a:cubicBezTo>
                      <a:pt x="35962" y="8274"/>
                      <a:pt x="39856" y="8274"/>
                      <a:pt x="41803" y="8274"/>
                    </a:cubicBezTo>
                    <a:cubicBezTo>
                      <a:pt x="43750" y="8274"/>
                      <a:pt x="44723" y="10221"/>
                      <a:pt x="45697" y="11194"/>
                    </a:cubicBezTo>
                    <a:cubicBezTo>
                      <a:pt x="46670" y="11194"/>
                      <a:pt x="48617" y="13141"/>
                      <a:pt x="50564" y="12168"/>
                    </a:cubicBezTo>
                    <a:cubicBezTo>
                      <a:pt x="52511" y="12168"/>
                      <a:pt x="53484" y="11194"/>
                      <a:pt x="54458" y="10221"/>
                    </a:cubicBezTo>
                    <a:cubicBezTo>
                      <a:pt x="54458" y="10221"/>
                      <a:pt x="56404" y="8274"/>
                      <a:pt x="57378" y="10221"/>
                    </a:cubicBezTo>
                    <a:cubicBezTo>
                      <a:pt x="58351" y="12168"/>
                      <a:pt x="58351" y="13141"/>
                      <a:pt x="57378" y="13141"/>
                    </a:cubicBezTo>
                    <a:cubicBezTo>
                      <a:pt x="56404" y="14115"/>
                      <a:pt x="56404" y="15088"/>
                      <a:pt x="56404" y="15088"/>
                    </a:cubicBezTo>
                    <a:cubicBezTo>
                      <a:pt x="56404" y="15088"/>
                      <a:pt x="55431" y="16061"/>
                      <a:pt x="55431" y="17035"/>
                    </a:cubicBezTo>
                    <a:cubicBezTo>
                      <a:pt x="53484" y="19955"/>
                      <a:pt x="48617" y="27742"/>
                      <a:pt x="48617" y="37476"/>
                    </a:cubicBezTo>
                    <a:cubicBezTo>
                      <a:pt x="48617" y="39423"/>
                      <a:pt x="48617" y="42343"/>
                      <a:pt x="48617" y="44290"/>
                    </a:cubicBezTo>
                    <a:cubicBezTo>
                      <a:pt x="48617" y="46237"/>
                      <a:pt x="48617" y="48184"/>
                      <a:pt x="48617" y="50130"/>
                    </a:cubicBezTo>
                    <a:cubicBezTo>
                      <a:pt x="48617" y="53051"/>
                      <a:pt x="48617" y="54998"/>
                      <a:pt x="48617" y="57918"/>
                    </a:cubicBezTo>
                    <a:cubicBezTo>
                      <a:pt x="48617" y="58891"/>
                      <a:pt x="49590" y="59865"/>
                      <a:pt x="49590" y="60838"/>
                    </a:cubicBezTo>
                    <a:cubicBezTo>
                      <a:pt x="49590" y="61812"/>
                      <a:pt x="49590" y="62785"/>
                      <a:pt x="49590" y="64732"/>
                    </a:cubicBezTo>
                    <a:cubicBezTo>
                      <a:pt x="49590" y="65705"/>
                      <a:pt x="49590" y="67652"/>
                      <a:pt x="49590" y="68625"/>
                    </a:cubicBezTo>
                    <a:cubicBezTo>
                      <a:pt x="49590" y="69599"/>
                      <a:pt x="49590" y="71546"/>
                      <a:pt x="48617" y="73492"/>
                    </a:cubicBezTo>
                    <a:cubicBezTo>
                      <a:pt x="48617" y="74466"/>
                      <a:pt x="47644" y="76413"/>
                      <a:pt x="47644" y="77386"/>
                    </a:cubicBezTo>
                    <a:cubicBezTo>
                      <a:pt x="47644" y="78359"/>
                      <a:pt x="47644" y="78359"/>
                      <a:pt x="47644" y="79333"/>
                    </a:cubicBezTo>
                    <a:cubicBezTo>
                      <a:pt x="47644" y="80306"/>
                      <a:pt x="47644" y="81280"/>
                      <a:pt x="48617" y="81280"/>
                    </a:cubicBezTo>
                    <a:cubicBezTo>
                      <a:pt x="49590" y="81280"/>
                      <a:pt x="49590" y="81280"/>
                      <a:pt x="49590" y="81280"/>
                    </a:cubicBezTo>
                    <a:cubicBezTo>
                      <a:pt x="50564" y="80306"/>
                      <a:pt x="52511" y="75439"/>
                      <a:pt x="53484" y="69599"/>
                    </a:cubicBezTo>
                    <a:cubicBezTo>
                      <a:pt x="54458" y="62785"/>
                      <a:pt x="55431" y="57918"/>
                      <a:pt x="55431" y="57918"/>
                    </a:cubicBezTo>
                    <a:cubicBezTo>
                      <a:pt x="55431" y="57918"/>
                      <a:pt x="56404" y="52077"/>
                      <a:pt x="55431" y="50130"/>
                    </a:cubicBezTo>
                    <a:cubicBezTo>
                      <a:pt x="55431" y="48184"/>
                      <a:pt x="56404" y="48184"/>
                      <a:pt x="56404" y="48184"/>
                    </a:cubicBezTo>
                    <a:cubicBezTo>
                      <a:pt x="56404" y="48184"/>
                      <a:pt x="58351" y="48184"/>
                      <a:pt x="58351" y="48184"/>
                    </a:cubicBezTo>
                    <a:cubicBezTo>
                      <a:pt x="58351" y="49157"/>
                      <a:pt x="59325" y="49157"/>
                      <a:pt x="59325" y="49157"/>
                    </a:cubicBezTo>
                    <a:cubicBezTo>
                      <a:pt x="59325" y="49157"/>
                      <a:pt x="62245" y="50130"/>
                      <a:pt x="63218" y="49157"/>
                    </a:cubicBezTo>
                    <a:cubicBezTo>
                      <a:pt x="64192" y="48184"/>
                      <a:pt x="64192" y="46237"/>
                      <a:pt x="64192" y="45263"/>
                    </a:cubicBezTo>
                    <a:cubicBezTo>
                      <a:pt x="64192" y="43317"/>
                      <a:pt x="64192" y="37476"/>
                      <a:pt x="64192" y="34556"/>
                    </a:cubicBezTo>
                    <a:cubicBezTo>
                      <a:pt x="64192" y="32609"/>
                      <a:pt x="65165" y="30662"/>
                      <a:pt x="66138" y="28716"/>
                    </a:cubicBezTo>
                    <a:cubicBezTo>
                      <a:pt x="67112" y="26769"/>
                      <a:pt x="68085" y="25795"/>
                      <a:pt x="69059" y="23849"/>
                    </a:cubicBezTo>
                    <a:cubicBezTo>
                      <a:pt x="71006" y="19955"/>
                      <a:pt x="71006" y="18008"/>
                      <a:pt x="72952" y="15088"/>
                    </a:cubicBezTo>
                    <a:cubicBezTo>
                      <a:pt x="71979" y="13141"/>
                      <a:pt x="71979" y="11194"/>
                      <a:pt x="72952" y="10221"/>
                    </a:cubicBezTo>
                    <a:lnTo>
                      <a:pt x="72952" y="10221"/>
                    </a:lnTo>
                    <a:close/>
                    <a:moveTo>
                      <a:pt x="34016" y="70572"/>
                    </a:moveTo>
                    <a:cubicBezTo>
                      <a:pt x="34989" y="69599"/>
                      <a:pt x="35962" y="69599"/>
                      <a:pt x="36936" y="68625"/>
                    </a:cubicBezTo>
                    <a:cubicBezTo>
                      <a:pt x="36936" y="67652"/>
                      <a:pt x="35962" y="64732"/>
                      <a:pt x="35962" y="62785"/>
                    </a:cubicBezTo>
                    <a:cubicBezTo>
                      <a:pt x="35962" y="61812"/>
                      <a:pt x="34989" y="61812"/>
                      <a:pt x="34989" y="60838"/>
                    </a:cubicBezTo>
                    <a:lnTo>
                      <a:pt x="34989" y="70572"/>
                    </a:lnTo>
                    <a:lnTo>
                      <a:pt x="34016" y="70572"/>
                    </a:lnTo>
                    <a:close/>
                    <a:moveTo>
                      <a:pt x="34016" y="58891"/>
                    </a:moveTo>
                    <a:cubicBezTo>
                      <a:pt x="34016" y="57918"/>
                      <a:pt x="34989" y="57918"/>
                      <a:pt x="34989" y="56944"/>
                    </a:cubicBezTo>
                    <a:cubicBezTo>
                      <a:pt x="34989" y="55971"/>
                      <a:pt x="34989" y="55971"/>
                      <a:pt x="34016" y="54998"/>
                    </a:cubicBezTo>
                    <a:lnTo>
                      <a:pt x="34016" y="58891"/>
                    </a:lnTo>
                    <a:close/>
                    <a:moveTo>
                      <a:pt x="34016" y="8274"/>
                    </a:moveTo>
                    <a:lnTo>
                      <a:pt x="34016" y="24822"/>
                    </a:lnTo>
                    <a:cubicBezTo>
                      <a:pt x="33042" y="20928"/>
                      <a:pt x="33042" y="18008"/>
                      <a:pt x="32069" y="17035"/>
                    </a:cubicBezTo>
                    <a:cubicBezTo>
                      <a:pt x="32069" y="15088"/>
                      <a:pt x="32069" y="12168"/>
                      <a:pt x="31095" y="11194"/>
                    </a:cubicBezTo>
                    <a:cubicBezTo>
                      <a:pt x="30122" y="10221"/>
                      <a:pt x="31095" y="8274"/>
                      <a:pt x="31095" y="7301"/>
                    </a:cubicBezTo>
                    <a:cubicBezTo>
                      <a:pt x="32069" y="7301"/>
                      <a:pt x="33042" y="7301"/>
                      <a:pt x="34016" y="8274"/>
                    </a:cubicBezTo>
                    <a:lnTo>
                      <a:pt x="34016" y="8274"/>
                    </a:lnTo>
                    <a:close/>
                    <a:moveTo>
                      <a:pt x="34016" y="54998"/>
                    </a:moveTo>
                    <a:lnTo>
                      <a:pt x="34016" y="58891"/>
                    </a:lnTo>
                    <a:cubicBezTo>
                      <a:pt x="34016" y="58891"/>
                      <a:pt x="34016" y="59865"/>
                      <a:pt x="34016" y="59865"/>
                    </a:cubicBezTo>
                    <a:cubicBezTo>
                      <a:pt x="34016" y="59865"/>
                      <a:pt x="34016" y="59865"/>
                      <a:pt x="34016" y="59865"/>
                    </a:cubicBezTo>
                    <a:lnTo>
                      <a:pt x="34016" y="69599"/>
                    </a:lnTo>
                    <a:cubicBezTo>
                      <a:pt x="34016" y="69599"/>
                      <a:pt x="33042" y="70572"/>
                      <a:pt x="33042" y="70572"/>
                    </a:cubicBezTo>
                    <a:cubicBezTo>
                      <a:pt x="32069" y="72519"/>
                      <a:pt x="32069" y="74466"/>
                      <a:pt x="32069" y="77386"/>
                    </a:cubicBezTo>
                    <a:cubicBezTo>
                      <a:pt x="32069" y="80306"/>
                      <a:pt x="31095" y="86147"/>
                      <a:pt x="32069" y="86147"/>
                    </a:cubicBezTo>
                    <a:cubicBezTo>
                      <a:pt x="32069" y="87120"/>
                      <a:pt x="32069" y="89067"/>
                      <a:pt x="32069" y="90040"/>
                    </a:cubicBezTo>
                    <a:cubicBezTo>
                      <a:pt x="32069" y="91014"/>
                      <a:pt x="31095" y="91987"/>
                      <a:pt x="29149" y="91987"/>
                    </a:cubicBezTo>
                    <a:cubicBezTo>
                      <a:pt x="28175" y="91987"/>
                      <a:pt x="25255" y="91987"/>
                      <a:pt x="24282" y="91987"/>
                    </a:cubicBezTo>
                    <a:cubicBezTo>
                      <a:pt x="23308" y="91987"/>
                      <a:pt x="22335" y="91987"/>
                      <a:pt x="22335" y="91987"/>
                    </a:cubicBezTo>
                    <a:cubicBezTo>
                      <a:pt x="20388" y="92960"/>
                      <a:pt x="18441" y="91987"/>
                      <a:pt x="17467" y="91987"/>
                    </a:cubicBezTo>
                    <a:cubicBezTo>
                      <a:pt x="16494" y="91987"/>
                      <a:pt x="15521" y="92960"/>
                      <a:pt x="14547" y="92960"/>
                    </a:cubicBezTo>
                    <a:cubicBezTo>
                      <a:pt x="13574" y="92960"/>
                      <a:pt x="13574" y="90040"/>
                      <a:pt x="13574" y="89067"/>
                    </a:cubicBezTo>
                    <a:cubicBezTo>
                      <a:pt x="14547" y="87120"/>
                      <a:pt x="15521" y="86147"/>
                      <a:pt x="16494" y="83226"/>
                    </a:cubicBezTo>
                    <a:cubicBezTo>
                      <a:pt x="17467" y="81280"/>
                      <a:pt x="17467" y="80306"/>
                      <a:pt x="17467" y="78359"/>
                    </a:cubicBezTo>
                    <a:cubicBezTo>
                      <a:pt x="18441" y="76413"/>
                      <a:pt x="18441" y="74466"/>
                      <a:pt x="18441" y="72519"/>
                    </a:cubicBezTo>
                    <a:cubicBezTo>
                      <a:pt x="18441" y="72519"/>
                      <a:pt x="18441" y="71546"/>
                      <a:pt x="18441" y="69599"/>
                    </a:cubicBezTo>
                    <a:cubicBezTo>
                      <a:pt x="18441" y="68625"/>
                      <a:pt x="19414" y="66679"/>
                      <a:pt x="18441" y="65705"/>
                    </a:cubicBezTo>
                    <a:cubicBezTo>
                      <a:pt x="18441" y="64732"/>
                      <a:pt x="16494" y="64732"/>
                      <a:pt x="15521" y="63758"/>
                    </a:cubicBezTo>
                    <a:cubicBezTo>
                      <a:pt x="15521" y="63758"/>
                      <a:pt x="15521" y="63758"/>
                      <a:pt x="15521" y="63758"/>
                    </a:cubicBezTo>
                    <a:cubicBezTo>
                      <a:pt x="15521" y="63758"/>
                      <a:pt x="14547" y="63758"/>
                      <a:pt x="13574" y="62785"/>
                    </a:cubicBezTo>
                    <a:cubicBezTo>
                      <a:pt x="11627" y="60838"/>
                      <a:pt x="8707" y="60838"/>
                      <a:pt x="7733" y="58891"/>
                    </a:cubicBezTo>
                    <a:cubicBezTo>
                      <a:pt x="6760" y="57918"/>
                      <a:pt x="7733" y="55971"/>
                      <a:pt x="7733" y="54998"/>
                    </a:cubicBezTo>
                    <a:cubicBezTo>
                      <a:pt x="7733" y="54024"/>
                      <a:pt x="7733" y="53051"/>
                      <a:pt x="9680" y="53051"/>
                    </a:cubicBezTo>
                    <a:cubicBezTo>
                      <a:pt x="10654" y="53051"/>
                      <a:pt x="14547" y="53051"/>
                      <a:pt x="15521" y="53051"/>
                    </a:cubicBezTo>
                    <a:cubicBezTo>
                      <a:pt x="16494" y="53051"/>
                      <a:pt x="18441" y="52077"/>
                      <a:pt x="19414" y="52077"/>
                    </a:cubicBezTo>
                    <a:cubicBezTo>
                      <a:pt x="20388" y="52077"/>
                      <a:pt x="24282" y="51104"/>
                      <a:pt x="25255" y="52077"/>
                    </a:cubicBezTo>
                    <a:cubicBezTo>
                      <a:pt x="25255" y="52077"/>
                      <a:pt x="27202" y="53051"/>
                      <a:pt x="28175" y="54024"/>
                    </a:cubicBezTo>
                    <a:cubicBezTo>
                      <a:pt x="29149" y="54024"/>
                      <a:pt x="29149" y="53051"/>
                      <a:pt x="29149" y="54024"/>
                    </a:cubicBezTo>
                    <a:cubicBezTo>
                      <a:pt x="30122" y="54024"/>
                      <a:pt x="31095" y="54024"/>
                      <a:pt x="32069" y="54998"/>
                    </a:cubicBezTo>
                    <a:cubicBezTo>
                      <a:pt x="32069" y="54998"/>
                      <a:pt x="33042" y="54998"/>
                      <a:pt x="34016" y="549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6" name="任意多边形: 形状 45"/>
              <p:cNvSpPr/>
              <p:nvPr/>
            </p:nvSpPr>
            <p:spPr>
              <a:xfrm>
                <a:off x="8530971" y="5593584"/>
                <a:ext cx="146013" cy="146011"/>
              </a:xfrm>
              <a:custGeom>
                <a:avLst/>
                <a:gdLst>
                  <a:gd name="connsiteX0" fmla="*/ 109913 w 146012"/>
                  <a:gd name="connsiteY0" fmla="*/ 100748 h 146011"/>
                  <a:gd name="connsiteX1" fmla="*/ 112833 w 146012"/>
                  <a:gd name="connsiteY1" fmla="*/ 107562 h 146011"/>
                  <a:gd name="connsiteX2" fmla="*/ 117700 w 146012"/>
                  <a:gd name="connsiteY2" fmla="*/ 112429 h 146011"/>
                  <a:gd name="connsiteX3" fmla="*/ 119647 w 146012"/>
                  <a:gd name="connsiteY3" fmla="*/ 119243 h 146011"/>
                  <a:gd name="connsiteX4" fmla="*/ 121594 w 146012"/>
                  <a:gd name="connsiteY4" fmla="*/ 124110 h 146011"/>
                  <a:gd name="connsiteX5" fmla="*/ 121594 w 146012"/>
                  <a:gd name="connsiteY5" fmla="*/ 138711 h 146011"/>
                  <a:gd name="connsiteX6" fmla="*/ 116727 w 146012"/>
                  <a:gd name="connsiteY6" fmla="*/ 138711 h 146011"/>
                  <a:gd name="connsiteX7" fmla="*/ 110886 w 146012"/>
                  <a:gd name="connsiteY7" fmla="*/ 139684 h 146011"/>
                  <a:gd name="connsiteX8" fmla="*/ 110886 w 146012"/>
                  <a:gd name="connsiteY8" fmla="*/ 100748 h 146011"/>
                  <a:gd name="connsiteX9" fmla="*/ 109913 w 146012"/>
                  <a:gd name="connsiteY9" fmla="*/ 100748 h 146011"/>
                  <a:gd name="connsiteX10" fmla="*/ 109913 w 146012"/>
                  <a:gd name="connsiteY10" fmla="*/ 65705 h 146011"/>
                  <a:gd name="connsiteX11" fmla="*/ 109913 w 146012"/>
                  <a:gd name="connsiteY11" fmla="*/ 57918 h 146011"/>
                  <a:gd name="connsiteX12" fmla="*/ 114780 w 146012"/>
                  <a:gd name="connsiteY12" fmla="*/ 57918 h 146011"/>
                  <a:gd name="connsiteX13" fmla="*/ 120621 w 146012"/>
                  <a:gd name="connsiteY13" fmla="*/ 56944 h 146011"/>
                  <a:gd name="connsiteX14" fmla="*/ 124514 w 146012"/>
                  <a:gd name="connsiteY14" fmla="*/ 54998 h 146011"/>
                  <a:gd name="connsiteX15" fmla="*/ 127435 w 146012"/>
                  <a:gd name="connsiteY15" fmla="*/ 54998 h 146011"/>
                  <a:gd name="connsiteX16" fmla="*/ 130355 w 146012"/>
                  <a:gd name="connsiteY16" fmla="*/ 54998 h 146011"/>
                  <a:gd name="connsiteX17" fmla="*/ 132302 w 146012"/>
                  <a:gd name="connsiteY17" fmla="*/ 54024 h 146011"/>
                  <a:gd name="connsiteX18" fmla="*/ 133275 w 146012"/>
                  <a:gd name="connsiteY18" fmla="*/ 52077 h 146011"/>
                  <a:gd name="connsiteX19" fmla="*/ 132302 w 146012"/>
                  <a:gd name="connsiteY19" fmla="*/ 50130 h 146011"/>
                  <a:gd name="connsiteX20" fmla="*/ 131328 w 146012"/>
                  <a:gd name="connsiteY20" fmla="*/ 48184 h 146011"/>
                  <a:gd name="connsiteX21" fmla="*/ 131328 w 146012"/>
                  <a:gd name="connsiteY21" fmla="*/ 47210 h 146011"/>
                  <a:gd name="connsiteX22" fmla="*/ 131328 w 146012"/>
                  <a:gd name="connsiteY22" fmla="*/ 47210 h 146011"/>
                  <a:gd name="connsiteX23" fmla="*/ 132302 w 146012"/>
                  <a:gd name="connsiteY23" fmla="*/ 47210 h 146011"/>
                  <a:gd name="connsiteX24" fmla="*/ 135222 w 146012"/>
                  <a:gd name="connsiteY24" fmla="*/ 50130 h 146011"/>
                  <a:gd name="connsiteX25" fmla="*/ 139115 w 146012"/>
                  <a:gd name="connsiteY25" fmla="*/ 55971 h 146011"/>
                  <a:gd name="connsiteX26" fmla="*/ 137169 w 146012"/>
                  <a:gd name="connsiteY26" fmla="*/ 58891 h 146011"/>
                  <a:gd name="connsiteX27" fmla="*/ 130355 w 146012"/>
                  <a:gd name="connsiteY27" fmla="*/ 59865 h 146011"/>
                  <a:gd name="connsiteX28" fmla="*/ 127435 w 146012"/>
                  <a:gd name="connsiteY28" fmla="*/ 60838 h 146011"/>
                  <a:gd name="connsiteX29" fmla="*/ 122567 w 146012"/>
                  <a:gd name="connsiteY29" fmla="*/ 62785 h 146011"/>
                  <a:gd name="connsiteX30" fmla="*/ 117700 w 146012"/>
                  <a:gd name="connsiteY30" fmla="*/ 66679 h 146011"/>
                  <a:gd name="connsiteX31" fmla="*/ 109913 w 146012"/>
                  <a:gd name="connsiteY31" fmla="*/ 65705 h 146011"/>
                  <a:gd name="connsiteX32" fmla="*/ 109913 w 146012"/>
                  <a:gd name="connsiteY32" fmla="*/ 65705 h 146011"/>
                  <a:gd name="connsiteX33" fmla="*/ 109913 w 146012"/>
                  <a:gd name="connsiteY33" fmla="*/ 47210 h 146011"/>
                  <a:gd name="connsiteX34" fmla="*/ 114780 w 146012"/>
                  <a:gd name="connsiteY34" fmla="*/ 44290 h 146011"/>
                  <a:gd name="connsiteX35" fmla="*/ 116727 w 146012"/>
                  <a:gd name="connsiteY35" fmla="*/ 39423 h 146011"/>
                  <a:gd name="connsiteX36" fmla="*/ 119647 w 146012"/>
                  <a:gd name="connsiteY36" fmla="*/ 35529 h 146011"/>
                  <a:gd name="connsiteX37" fmla="*/ 120621 w 146012"/>
                  <a:gd name="connsiteY37" fmla="*/ 28716 h 146011"/>
                  <a:gd name="connsiteX38" fmla="*/ 113806 w 146012"/>
                  <a:gd name="connsiteY38" fmla="*/ 16061 h 146011"/>
                  <a:gd name="connsiteX39" fmla="*/ 109913 w 146012"/>
                  <a:gd name="connsiteY39" fmla="*/ 8274 h 146011"/>
                  <a:gd name="connsiteX40" fmla="*/ 108939 w 146012"/>
                  <a:gd name="connsiteY40" fmla="*/ 7301 h 146011"/>
                  <a:gd name="connsiteX41" fmla="*/ 107966 w 146012"/>
                  <a:gd name="connsiteY41" fmla="*/ 7301 h 146011"/>
                  <a:gd name="connsiteX42" fmla="*/ 107966 w 146012"/>
                  <a:gd name="connsiteY42" fmla="*/ 47210 h 146011"/>
                  <a:gd name="connsiteX43" fmla="*/ 105046 w 146012"/>
                  <a:gd name="connsiteY43" fmla="*/ 95881 h 146011"/>
                  <a:gd name="connsiteX44" fmla="*/ 108939 w 146012"/>
                  <a:gd name="connsiteY44" fmla="*/ 98801 h 146011"/>
                  <a:gd name="connsiteX45" fmla="*/ 109913 w 146012"/>
                  <a:gd name="connsiteY45" fmla="*/ 100748 h 146011"/>
                  <a:gd name="connsiteX46" fmla="*/ 109913 w 146012"/>
                  <a:gd name="connsiteY46" fmla="*/ 138711 h 146011"/>
                  <a:gd name="connsiteX47" fmla="*/ 107966 w 146012"/>
                  <a:gd name="connsiteY47" fmla="*/ 138711 h 146011"/>
                  <a:gd name="connsiteX48" fmla="*/ 101152 w 146012"/>
                  <a:gd name="connsiteY48" fmla="*/ 140658 h 146011"/>
                  <a:gd name="connsiteX49" fmla="*/ 98232 w 146012"/>
                  <a:gd name="connsiteY49" fmla="*/ 136764 h 146011"/>
                  <a:gd name="connsiteX50" fmla="*/ 103099 w 146012"/>
                  <a:gd name="connsiteY50" fmla="*/ 119243 h 146011"/>
                  <a:gd name="connsiteX51" fmla="*/ 105046 w 146012"/>
                  <a:gd name="connsiteY51" fmla="*/ 95881 h 146011"/>
                  <a:gd name="connsiteX52" fmla="*/ 105046 w 146012"/>
                  <a:gd name="connsiteY52" fmla="*/ 95881 h 146011"/>
                  <a:gd name="connsiteX53" fmla="*/ 109913 w 146012"/>
                  <a:gd name="connsiteY53" fmla="*/ 8274 h 146011"/>
                  <a:gd name="connsiteX54" fmla="*/ 109913 w 146012"/>
                  <a:gd name="connsiteY54" fmla="*/ 8274 h 146011"/>
                  <a:gd name="connsiteX55" fmla="*/ 107966 w 146012"/>
                  <a:gd name="connsiteY55" fmla="*/ 8274 h 146011"/>
                  <a:gd name="connsiteX56" fmla="*/ 103099 w 146012"/>
                  <a:gd name="connsiteY56" fmla="*/ 11194 h 146011"/>
                  <a:gd name="connsiteX57" fmla="*/ 102126 w 146012"/>
                  <a:gd name="connsiteY57" fmla="*/ 16061 h 146011"/>
                  <a:gd name="connsiteX58" fmla="*/ 102126 w 146012"/>
                  <a:gd name="connsiteY58" fmla="*/ 25795 h 146011"/>
                  <a:gd name="connsiteX59" fmla="*/ 97259 w 146012"/>
                  <a:gd name="connsiteY59" fmla="*/ 37476 h 146011"/>
                  <a:gd name="connsiteX60" fmla="*/ 86551 w 146012"/>
                  <a:gd name="connsiteY60" fmla="*/ 54024 h 146011"/>
                  <a:gd name="connsiteX61" fmla="*/ 77790 w 146012"/>
                  <a:gd name="connsiteY61" fmla="*/ 57918 h 146011"/>
                  <a:gd name="connsiteX62" fmla="*/ 65136 w 146012"/>
                  <a:gd name="connsiteY62" fmla="*/ 57918 h 146011"/>
                  <a:gd name="connsiteX63" fmla="*/ 36906 w 146012"/>
                  <a:gd name="connsiteY63" fmla="*/ 54998 h 146011"/>
                  <a:gd name="connsiteX64" fmla="*/ 31066 w 146012"/>
                  <a:gd name="connsiteY64" fmla="*/ 52077 h 146011"/>
                  <a:gd name="connsiteX65" fmla="*/ 27172 w 146012"/>
                  <a:gd name="connsiteY65" fmla="*/ 54024 h 146011"/>
                  <a:gd name="connsiteX66" fmla="*/ 25226 w 146012"/>
                  <a:gd name="connsiteY66" fmla="*/ 55971 h 146011"/>
                  <a:gd name="connsiteX67" fmla="*/ 28146 w 146012"/>
                  <a:gd name="connsiteY67" fmla="*/ 65705 h 146011"/>
                  <a:gd name="connsiteX68" fmla="*/ 33986 w 146012"/>
                  <a:gd name="connsiteY68" fmla="*/ 74466 h 146011"/>
                  <a:gd name="connsiteX69" fmla="*/ 45667 w 146012"/>
                  <a:gd name="connsiteY69" fmla="*/ 74466 h 146011"/>
                  <a:gd name="connsiteX70" fmla="*/ 55401 w 146012"/>
                  <a:gd name="connsiteY70" fmla="*/ 73492 h 146011"/>
                  <a:gd name="connsiteX71" fmla="*/ 70003 w 146012"/>
                  <a:gd name="connsiteY71" fmla="*/ 71546 h 146011"/>
                  <a:gd name="connsiteX72" fmla="*/ 71950 w 146012"/>
                  <a:gd name="connsiteY72" fmla="*/ 73492 h 146011"/>
                  <a:gd name="connsiteX73" fmla="*/ 62215 w 146012"/>
                  <a:gd name="connsiteY73" fmla="*/ 83226 h 146011"/>
                  <a:gd name="connsiteX74" fmla="*/ 44694 w 146012"/>
                  <a:gd name="connsiteY74" fmla="*/ 89067 h 146011"/>
                  <a:gd name="connsiteX75" fmla="*/ 28146 w 146012"/>
                  <a:gd name="connsiteY75" fmla="*/ 91987 h 146011"/>
                  <a:gd name="connsiteX76" fmla="*/ 12571 w 146012"/>
                  <a:gd name="connsiteY76" fmla="*/ 93934 h 146011"/>
                  <a:gd name="connsiteX77" fmla="*/ 8677 w 146012"/>
                  <a:gd name="connsiteY77" fmla="*/ 92960 h 146011"/>
                  <a:gd name="connsiteX78" fmla="*/ 7704 w 146012"/>
                  <a:gd name="connsiteY78" fmla="*/ 94907 h 146011"/>
                  <a:gd name="connsiteX79" fmla="*/ 21332 w 146012"/>
                  <a:gd name="connsiteY79" fmla="*/ 97827 h 146011"/>
                  <a:gd name="connsiteX80" fmla="*/ 36906 w 146012"/>
                  <a:gd name="connsiteY80" fmla="*/ 102694 h 146011"/>
                  <a:gd name="connsiteX81" fmla="*/ 51508 w 146012"/>
                  <a:gd name="connsiteY81" fmla="*/ 103668 h 146011"/>
                  <a:gd name="connsiteX82" fmla="*/ 58322 w 146012"/>
                  <a:gd name="connsiteY82" fmla="*/ 101721 h 146011"/>
                  <a:gd name="connsiteX83" fmla="*/ 65136 w 146012"/>
                  <a:gd name="connsiteY83" fmla="*/ 100748 h 146011"/>
                  <a:gd name="connsiteX84" fmla="*/ 74870 w 146012"/>
                  <a:gd name="connsiteY84" fmla="*/ 95881 h 146011"/>
                  <a:gd name="connsiteX85" fmla="*/ 78764 w 146012"/>
                  <a:gd name="connsiteY85" fmla="*/ 90040 h 146011"/>
                  <a:gd name="connsiteX86" fmla="*/ 84604 w 146012"/>
                  <a:gd name="connsiteY86" fmla="*/ 81280 h 146011"/>
                  <a:gd name="connsiteX87" fmla="*/ 90444 w 146012"/>
                  <a:gd name="connsiteY87" fmla="*/ 73492 h 146011"/>
                  <a:gd name="connsiteX88" fmla="*/ 96285 w 146012"/>
                  <a:gd name="connsiteY88" fmla="*/ 69599 h 146011"/>
                  <a:gd name="connsiteX89" fmla="*/ 101152 w 146012"/>
                  <a:gd name="connsiteY89" fmla="*/ 65705 h 146011"/>
                  <a:gd name="connsiteX90" fmla="*/ 108939 w 146012"/>
                  <a:gd name="connsiteY90" fmla="*/ 61812 h 146011"/>
                  <a:gd name="connsiteX91" fmla="*/ 112833 w 146012"/>
                  <a:gd name="connsiteY91" fmla="*/ 60838 h 146011"/>
                  <a:gd name="connsiteX92" fmla="*/ 112833 w 146012"/>
                  <a:gd name="connsiteY92" fmla="*/ 53051 h 146011"/>
                  <a:gd name="connsiteX93" fmla="*/ 110886 w 146012"/>
                  <a:gd name="connsiteY93" fmla="*/ 53051 h 146011"/>
                  <a:gd name="connsiteX94" fmla="*/ 107966 w 146012"/>
                  <a:gd name="connsiteY94" fmla="*/ 53051 h 146011"/>
                  <a:gd name="connsiteX95" fmla="*/ 108939 w 146012"/>
                  <a:gd name="connsiteY95" fmla="*/ 50130 h 146011"/>
                  <a:gd name="connsiteX96" fmla="*/ 110886 w 146012"/>
                  <a:gd name="connsiteY96" fmla="*/ 45263 h 146011"/>
                  <a:gd name="connsiteX97" fmla="*/ 112833 w 146012"/>
                  <a:gd name="connsiteY97" fmla="*/ 43317 h 146011"/>
                  <a:gd name="connsiteX98" fmla="*/ 112833 w 146012"/>
                  <a:gd name="connsiteY98" fmla="*/ 8274 h 14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46012" h="146011">
                    <a:moveTo>
                      <a:pt x="109913" y="100748"/>
                    </a:moveTo>
                    <a:cubicBezTo>
                      <a:pt x="110886" y="102694"/>
                      <a:pt x="111860" y="106588"/>
                      <a:pt x="112833" y="107562"/>
                    </a:cubicBezTo>
                    <a:cubicBezTo>
                      <a:pt x="112833" y="108535"/>
                      <a:pt x="115753" y="109508"/>
                      <a:pt x="117700" y="112429"/>
                    </a:cubicBezTo>
                    <a:cubicBezTo>
                      <a:pt x="118674" y="114376"/>
                      <a:pt x="118674" y="117296"/>
                      <a:pt x="119647" y="119243"/>
                    </a:cubicBezTo>
                    <a:cubicBezTo>
                      <a:pt x="119647" y="121189"/>
                      <a:pt x="121594" y="123136"/>
                      <a:pt x="121594" y="124110"/>
                    </a:cubicBezTo>
                    <a:cubicBezTo>
                      <a:pt x="122567" y="128003"/>
                      <a:pt x="123541" y="137737"/>
                      <a:pt x="121594" y="138711"/>
                    </a:cubicBezTo>
                    <a:cubicBezTo>
                      <a:pt x="120621" y="138711"/>
                      <a:pt x="118674" y="137737"/>
                      <a:pt x="116727" y="138711"/>
                    </a:cubicBezTo>
                    <a:cubicBezTo>
                      <a:pt x="114780" y="138711"/>
                      <a:pt x="112833" y="139684"/>
                      <a:pt x="110886" y="139684"/>
                    </a:cubicBezTo>
                    <a:lnTo>
                      <a:pt x="110886" y="100748"/>
                    </a:lnTo>
                    <a:lnTo>
                      <a:pt x="109913" y="100748"/>
                    </a:lnTo>
                    <a:close/>
                    <a:moveTo>
                      <a:pt x="109913" y="65705"/>
                    </a:moveTo>
                    <a:lnTo>
                      <a:pt x="109913" y="57918"/>
                    </a:lnTo>
                    <a:cubicBezTo>
                      <a:pt x="111860" y="57918"/>
                      <a:pt x="113806" y="57918"/>
                      <a:pt x="114780" y="57918"/>
                    </a:cubicBezTo>
                    <a:cubicBezTo>
                      <a:pt x="115753" y="57918"/>
                      <a:pt x="118674" y="57918"/>
                      <a:pt x="120621" y="56944"/>
                    </a:cubicBezTo>
                    <a:cubicBezTo>
                      <a:pt x="122567" y="56944"/>
                      <a:pt x="123541" y="54998"/>
                      <a:pt x="124514" y="54998"/>
                    </a:cubicBezTo>
                    <a:cubicBezTo>
                      <a:pt x="125488" y="54998"/>
                      <a:pt x="126461" y="54998"/>
                      <a:pt x="127435" y="54998"/>
                    </a:cubicBezTo>
                    <a:cubicBezTo>
                      <a:pt x="128408" y="54998"/>
                      <a:pt x="129381" y="54998"/>
                      <a:pt x="130355" y="54998"/>
                    </a:cubicBezTo>
                    <a:cubicBezTo>
                      <a:pt x="131328" y="54998"/>
                      <a:pt x="131328" y="54024"/>
                      <a:pt x="132302" y="54024"/>
                    </a:cubicBezTo>
                    <a:cubicBezTo>
                      <a:pt x="133275" y="53051"/>
                      <a:pt x="133275" y="52077"/>
                      <a:pt x="133275" y="52077"/>
                    </a:cubicBezTo>
                    <a:cubicBezTo>
                      <a:pt x="133275" y="52077"/>
                      <a:pt x="133275" y="51104"/>
                      <a:pt x="132302" y="50130"/>
                    </a:cubicBezTo>
                    <a:cubicBezTo>
                      <a:pt x="132302" y="49157"/>
                      <a:pt x="132302" y="49157"/>
                      <a:pt x="131328" y="48184"/>
                    </a:cubicBezTo>
                    <a:cubicBezTo>
                      <a:pt x="131328" y="48184"/>
                      <a:pt x="131328" y="48184"/>
                      <a:pt x="131328" y="47210"/>
                    </a:cubicBezTo>
                    <a:lnTo>
                      <a:pt x="131328" y="47210"/>
                    </a:lnTo>
                    <a:cubicBezTo>
                      <a:pt x="131328" y="47210"/>
                      <a:pt x="131328" y="47210"/>
                      <a:pt x="132302" y="47210"/>
                    </a:cubicBezTo>
                    <a:cubicBezTo>
                      <a:pt x="133275" y="47210"/>
                      <a:pt x="135222" y="49157"/>
                      <a:pt x="135222" y="50130"/>
                    </a:cubicBezTo>
                    <a:cubicBezTo>
                      <a:pt x="136195" y="51104"/>
                      <a:pt x="138142" y="54998"/>
                      <a:pt x="139115" y="55971"/>
                    </a:cubicBezTo>
                    <a:cubicBezTo>
                      <a:pt x="139115" y="56944"/>
                      <a:pt x="138142" y="57918"/>
                      <a:pt x="137169" y="58891"/>
                    </a:cubicBezTo>
                    <a:cubicBezTo>
                      <a:pt x="136195" y="58891"/>
                      <a:pt x="133275" y="58891"/>
                      <a:pt x="130355" y="59865"/>
                    </a:cubicBezTo>
                    <a:cubicBezTo>
                      <a:pt x="129381" y="59865"/>
                      <a:pt x="127435" y="59865"/>
                      <a:pt x="127435" y="60838"/>
                    </a:cubicBezTo>
                    <a:cubicBezTo>
                      <a:pt x="126461" y="61812"/>
                      <a:pt x="124514" y="61812"/>
                      <a:pt x="122567" y="62785"/>
                    </a:cubicBezTo>
                    <a:cubicBezTo>
                      <a:pt x="120621" y="63758"/>
                      <a:pt x="119647" y="65705"/>
                      <a:pt x="117700" y="66679"/>
                    </a:cubicBezTo>
                    <a:cubicBezTo>
                      <a:pt x="114780" y="64732"/>
                      <a:pt x="111860" y="65705"/>
                      <a:pt x="109913" y="65705"/>
                    </a:cubicBezTo>
                    <a:lnTo>
                      <a:pt x="109913" y="65705"/>
                    </a:lnTo>
                    <a:close/>
                    <a:moveTo>
                      <a:pt x="109913" y="47210"/>
                    </a:moveTo>
                    <a:cubicBezTo>
                      <a:pt x="111860" y="46237"/>
                      <a:pt x="113806" y="44290"/>
                      <a:pt x="114780" y="44290"/>
                    </a:cubicBezTo>
                    <a:cubicBezTo>
                      <a:pt x="116727" y="43317"/>
                      <a:pt x="115753" y="41370"/>
                      <a:pt x="116727" y="39423"/>
                    </a:cubicBezTo>
                    <a:cubicBezTo>
                      <a:pt x="117700" y="37476"/>
                      <a:pt x="119647" y="35529"/>
                      <a:pt x="119647" y="35529"/>
                    </a:cubicBezTo>
                    <a:cubicBezTo>
                      <a:pt x="121594" y="32609"/>
                      <a:pt x="120621" y="29689"/>
                      <a:pt x="120621" y="28716"/>
                    </a:cubicBezTo>
                    <a:cubicBezTo>
                      <a:pt x="120621" y="26769"/>
                      <a:pt x="115753" y="18982"/>
                      <a:pt x="113806" y="16061"/>
                    </a:cubicBezTo>
                    <a:cubicBezTo>
                      <a:pt x="111860" y="13141"/>
                      <a:pt x="110886" y="9248"/>
                      <a:pt x="109913" y="8274"/>
                    </a:cubicBezTo>
                    <a:cubicBezTo>
                      <a:pt x="109913" y="8274"/>
                      <a:pt x="109913" y="7301"/>
                      <a:pt x="108939" y="7301"/>
                    </a:cubicBezTo>
                    <a:cubicBezTo>
                      <a:pt x="108939" y="7301"/>
                      <a:pt x="108939" y="7301"/>
                      <a:pt x="107966" y="7301"/>
                    </a:cubicBezTo>
                    <a:lnTo>
                      <a:pt x="107966" y="47210"/>
                    </a:lnTo>
                    <a:close/>
                    <a:moveTo>
                      <a:pt x="105046" y="95881"/>
                    </a:moveTo>
                    <a:cubicBezTo>
                      <a:pt x="105046" y="95881"/>
                      <a:pt x="107966" y="97827"/>
                      <a:pt x="108939" y="98801"/>
                    </a:cubicBezTo>
                    <a:cubicBezTo>
                      <a:pt x="108939" y="98801"/>
                      <a:pt x="109913" y="99774"/>
                      <a:pt x="109913" y="100748"/>
                    </a:cubicBezTo>
                    <a:lnTo>
                      <a:pt x="109913" y="138711"/>
                    </a:lnTo>
                    <a:lnTo>
                      <a:pt x="107966" y="138711"/>
                    </a:lnTo>
                    <a:cubicBezTo>
                      <a:pt x="105046" y="138711"/>
                      <a:pt x="103099" y="140658"/>
                      <a:pt x="101152" y="140658"/>
                    </a:cubicBezTo>
                    <a:cubicBezTo>
                      <a:pt x="99205" y="139684"/>
                      <a:pt x="98232" y="139684"/>
                      <a:pt x="98232" y="136764"/>
                    </a:cubicBezTo>
                    <a:cubicBezTo>
                      <a:pt x="98232" y="134817"/>
                      <a:pt x="103099" y="124110"/>
                      <a:pt x="103099" y="119243"/>
                    </a:cubicBezTo>
                    <a:cubicBezTo>
                      <a:pt x="104072" y="108535"/>
                      <a:pt x="105046" y="99774"/>
                      <a:pt x="105046" y="95881"/>
                    </a:cubicBezTo>
                    <a:lnTo>
                      <a:pt x="105046" y="95881"/>
                    </a:lnTo>
                    <a:close/>
                    <a:moveTo>
                      <a:pt x="109913" y="8274"/>
                    </a:moveTo>
                    <a:cubicBezTo>
                      <a:pt x="109913" y="8274"/>
                      <a:pt x="108939" y="8274"/>
                      <a:pt x="109913" y="8274"/>
                    </a:cubicBezTo>
                    <a:cubicBezTo>
                      <a:pt x="108939" y="8274"/>
                      <a:pt x="107966" y="8274"/>
                      <a:pt x="107966" y="8274"/>
                    </a:cubicBezTo>
                    <a:cubicBezTo>
                      <a:pt x="106993" y="9248"/>
                      <a:pt x="104072" y="9248"/>
                      <a:pt x="103099" y="11194"/>
                    </a:cubicBezTo>
                    <a:cubicBezTo>
                      <a:pt x="101152" y="12168"/>
                      <a:pt x="102126" y="16061"/>
                      <a:pt x="102126" y="16061"/>
                    </a:cubicBezTo>
                    <a:cubicBezTo>
                      <a:pt x="103099" y="19955"/>
                      <a:pt x="102126" y="23849"/>
                      <a:pt x="102126" y="25795"/>
                    </a:cubicBezTo>
                    <a:cubicBezTo>
                      <a:pt x="101152" y="27742"/>
                      <a:pt x="99205" y="33583"/>
                      <a:pt x="97259" y="37476"/>
                    </a:cubicBezTo>
                    <a:cubicBezTo>
                      <a:pt x="95312" y="41370"/>
                      <a:pt x="89471" y="50130"/>
                      <a:pt x="86551" y="54024"/>
                    </a:cubicBezTo>
                    <a:cubicBezTo>
                      <a:pt x="83631" y="57918"/>
                      <a:pt x="79737" y="56944"/>
                      <a:pt x="77790" y="57918"/>
                    </a:cubicBezTo>
                    <a:cubicBezTo>
                      <a:pt x="75843" y="57918"/>
                      <a:pt x="72923" y="57918"/>
                      <a:pt x="65136" y="57918"/>
                    </a:cubicBezTo>
                    <a:cubicBezTo>
                      <a:pt x="57348" y="57918"/>
                      <a:pt x="39827" y="54998"/>
                      <a:pt x="36906" y="54998"/>
                    </a:cubicBezTo>
                    <a:cubicBezTo>
                      <a:pt x="34960" y="54998"/>
                      <a:pt x="33013" y="52077"/>
                      <a:pt x="31066" y="52077"/>
                    </a:cubicBezTo>
                    <a:cubicBezTo>
                      <a:pt x="29119" y="51104"/>
                      <a:pt x="28146" y="53051"/>
                      <a:pt x="27172" y="54024"/>
                    </a:cubicBezTo>
                    <a:cubicBezTo>
                      <a:pt x="26199" y="54998"/>
                      <a:pt x="25226" y="54998"/>
                      <a:pt x="25226" y="55971"/>
                    </a:cubicBezTo>
                    <a:cubicBezTo>
                      <a:pt x="25226" y="58891"/>
                      <a:pt x="27172" y="62785"/>
                      <a:pt x="28146" y="65705"/>
                    </a:cubicBezTo>
                    <a:cubicBezTo>
                      <a:pt x="30093" y="69599"/>
                      <a:pt x="31066" y="72519"/>
                      <a:pt x="33986" y="74466"/>
                    </a:cubicBezTo>
                    <a:cubicBezTo>
                      <a:pt x="36906" y="76413"/>
                      <a:pt x="39827" y="75439"/>
                      <a:pt x="45667" y="74466"/>
                    </a:cubicBezTo>
                    <a:cubicBezTo>
                      <a:pt x="50534" y="73492"/>
                      <a:pt x="52481" y="73492"/>
                      <a:pt x="55401" y="73492"/>
                    </a:cubicBezTo>
                    <a:cubicBezTo>
                      <a:pt x="58322" y="73492"/>
                      <a:pt x="67082" y="71546"/>
                      <a:pt x="70003" y="71546"/>
                    </a:cubicBezTo>
                    <a:cubicBezTo>
                      <a:pt x="71950" y="71546"/>
                      <a:pt x="71950" y="73492"/>
                      <a:pt x="71950" y="73492"/>
                    </a:cubicBezTo>
                    <a:cubicBezTo>
                      <a:pt x="70976" y="75439"/>
                      <a:pt x="66109" y="81280"/>
                      <a:pt x="62215" y="83226"/>
                    </a:cubicBezTo>
                    <a:cubicBezTo>
                      <a:pt x="58322" y="85173"/>
                      <a:pt x="48588" y="87120"/>
                      <a:pt x="44694" y="89067"/>
                    </a:cubicBezTo>
                    <a:cubicBezTo>
                      <a:pt x="40800" y="91014"/>
                      <a:pt x="33986" y="91987"/>
                      <a:pt x="28146" y="91987"/>
                    </a:cubicBezTo>
                    <a:cubicBezTo>
                      <a:pt x="22305" y="92960"/>
                      <a:pt x="14518" y="93934"/>
                      <a:pt x="12571" y="93934"/>
                    </a:cubicBezTo>
                    <a:cubicBezTo>
                      <a:pt x="10624" y="93934"/>
                      <a:pt x="9651" y="93934"/>
                      <a:pt x="8677" y="92960"/>
                    </a:cubicBezTo>
                    <a:cubicBezTo>
                      <a:pt x="7704" y="92960"/>
                      <a:pt x="6730" y="94907"/>
                      <a:pt x="7704" y="94907"/>
                    </a:cubicBezTo>
                    <a:cubicBezTo>
                      <a:pt x="9651" y="94907"/>
                      <a:pt x="16465" y="96854"/>
                      <a:pt x="21332" y="97827"/>
                    </a:cubicBezTo>
                    <a:cubicBezTo>
                      <a:pt x="26199" y="98801"/>
                      <a:pt x="28146" y="99774"/>
                      <a:pt x="36906" y="102694"/>
                    </a:cubicBezTo>
                    <a:cubicBezTo>
                      <a:pt x="45667" y="105615"/>
                      <a:pt x="49561" y="104641"/>
                      <a:pt x="51508" y="103668"/>
                    </a:cubicBezTo>
                    <a:cubicBezTo>
                      <a:pt x="53455" y="102694"/>
                      <a:pt x="56375" y="102694"/>
                      <a:pt x="58322" y="101721"/>
                    </a:cubicBezTo>
                    <a:cubicBezTo>
                      <a:pt x="60268" y="100748"/>
                      <a:pt x="65136" y="100748"/>
                      <a:pt x="65136" y="100748"/>
                    </a:cubicBezTo>
                    <a:cubicBezTo>
                      <a:pt x="70003" y="100748"/>
                      <a:pt x="73897" y="97827"/>
                      <a:pt x="74870" y="95881"/>
                    </a:cubicBezTo>
                    <a:cubicBezTo>
                      <a:pt x="76817" y="93934"/>
                      <a:pt x="78764" y="91987"/>
                      <a:pt x="78764" y="90040"/>
                    </a:cubicBezTo>
                    <a:cubicBezTo>
                      <a:pt x="79737" y="89067"/>
                      <a:pt x="82657" y="83226"/>
                      <a:pt x="84604" y="81280"/>
                    </a:cubicBezTo>
                    <a:cubicBezTo>
                      <a:pt x="86551" y="79333"/>
                      <a:pt x="89471" y="74466"/>
                      <a:pt x="90444" y="73492"/>
                    </a:cubicBezTo>
                    <a:cubicBezTo>
                      <a:pt x="91418" y="72519"/>
                      <a:pt x="94338" y="70572"/>
                      <a:pt x="96285" y="69599"/>
                    </a:cubicBezTo>
                    <a:cubicBezTo>
                      <a:pt x="97259" y="69599"/>
                      <a:pt x="98232" y="66679"/>
                      <a:pt x="101152" y="65705"/>
                    </a:cubicBezTo>
                    <a:cubicBezTo>
                      <a:pt x="103099" y="63758"/>
                      <a:pt x="106993" y="62785"/>
                      <a:pt x="108939" y="61812"/>
                    </a:cubicBezTo>
                    <a:cubicBezTo>
                      <a:pt x="109913" y="61812"/>
                      <a:pt x="110886" y="61812"/>
                      <a:pt x="112833" y="60838"/>
                    </a:cubicBezTo>
                    <a:lnTo>
                      <a:pt x="112833" y="53051"/>
                    </a:lnTo>
                    <a:cubicBezTo>
                      <a:pt x="111860" y="53051"/>
                      <a:pt x="110886" y="53051"/>
                      <a:pt x="110886" y="53051"/>
                    </a:cubicBezTo>
                    <a:cubicBezTo>
                      <a:pt x="108939" y="53051"/>
                      <a:pt x="107966" y="53051"/>
                      <a:pt x="107966" y="53051"/>
                    </a:cubicBezTo>
                    <a:cubicBezTo>
                      <a:pt x="107966" y="53051"/>
                      <a:pt x="107966" y="51104"/>
                      <a:pt x="108939" y="50130"/>
                    </a:cubicBezTo>
                    <a:cubicBezTo>
                      <a:pt x="108939" y="49157"/>
                      <a:pt x="109913" y="47210"/>
                      <a:pt x="110886" y="45263"/>
                    </a:cubicBezTo>
                    <a:cubicBezTo>
                      <a:pt x="110886" y="44290"/>
                      <a:pt x="111860" y="44290"/>
                      <a:pt x="112833" y="43317"/>
                    </a:cubicBezTo>
                    <a:lnTo>
                      <a:pt x="112833" y="827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grpSp>
      <p:pic>
        <p:nvPicPr>
          <p:cNvPr id="48" name="图片 47"/>
          <p:cNvPicPr>
            <a:picLocks noChangeAspect="1"/>
          </p:cNvPicPr>
          <p:nvPr userDrawn="1"/>
        </p:nvPicPr>
        <p:blipFill>
          <a:blip r:embed="rId7" cstate="email">
            <a:alphaModFix amt="26000"/>
            <a:clrChange>
              <a:clrFrom>
                <a:srgbClr val="FFFEFC"/>
              </a:clrFrom>
              <a:clrTo>
                <a:srgbClr val="FFFEFC">
                  <a:alpha val="0"/>
                </a:srgbClr>
              </a:clrTo>
            </a:clrChange>
            <a:lum bright="70000" contrast="-70000"/>
          </a:blip>
          <a:stretch>
            <a:fillRect/>
          </a:stretch>
        </p:blipFill>
        <p:spPr>
          <a:xfrm>
            <a:off x="1506371" y="2051530"/>
            <a:ext cx="8900160" cy="1356178"/>
          </a:xfrm>
          <a:prstGeom prst="rect">
            <a:avLst/>
          </a:prstGeom>
        </p:spPr>
      </p:pic>
      <p:grpSp>
        <p:nvGrpSpPr>
          <p:cNvPr id="49" name="组合 48"/>
          <p:cNvGrpSpPr/>
          <p:nvPr userDrawn="1"/>
        </p:nvGrpSpPr>
        <p:grpSpPr>
          <a:xfrm>
            <a:off x="11346323" y="2009697"/>
            <a:ext cx="2225452" cy="2225452"/>
            <a:chOff x="3380880" y="-1242289"/>
            <a:chExt cx="2412272" cy="2412272"/>
          </a:xfrm>
        </p:grpSpPr>
        <p:sp>
          <p:nvSpPr>
            <p:cNvPr id="50"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rgbClr val="0B4E89">
                  <a:alpha val="1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1" name="任意多边形: 形状 50"/>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2" name="任意多边形: 形状 51"/>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3" name="任意多边形: 形状 52"/>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4" name="任意多边形: 形状 53"/>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grpSp>
        <p:nvGrpSpPr>
          <p:cNvPr id="55" name="组合 54"/>
          <p:cNvGrpSpPr/>
          <p:nvPr userDrawn="1"/>
        </p:nvGrpSpPr>
        <p:grpSpPr>
          <a:xfrm flipH="1">
            <a:off x="-1019748" y="2594619"/>
            <a:ext cx="1563708" cy="1563708"/>
            <a:chOff x="3380880" y="-1242289"/>
            <a:chExt cx="2412272" cy="2412272"/>
          </a:xfrm>
        </p:grpSpPr>
        <p:sp>
          <p:nvSpPr>
            <p:cNvPr id="56"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chemeClr val="bg1">
                  <a:alpha val="1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7" name="任意多边形: 形状 56"/>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8" name="任意多边形: 形状 57"/>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9" name="任意多边形: 形状 58"/>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60" name="任意多边形: 形状 59"/>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sp>
        <p:nvSpPr>
          <p:cNvPr id="2" name="标题 1"/>
          <p:cNvSpPr>
            <a:spLocks noGrp="1"/>
          </p:cNvSpPr>
          <p:nvPr>
            <p:ph type="ctrTitle" hasCustomPrompt="1"/>
          </p:nvPr>
        </p:nvSpPr>
        <p:spPr>
          <a:xfrm>
            <a:off x="1945352" y="3354619"/>
            <a:ext cx="7999578" cy="858203"/>
          </a:xfrm>
          <a:noFill/>
        </p:spPr>
        <p:txBody>
          <a:bodyPr lIns="0" rIns="0" anchor="b">
            <a:normAutofit/>
          </a:bodyPr>
          <a:lstStyle>
            <a:lvl1pPr algn="ctr">
              <a:defRPr sz="4800">
                <a:solidFill>
                  <a:srgbClr val="03477A"/>
                </a:solidFill>
              </a:defRPr>
            </a:lvl1pPr>
          </a:lstStyle>
          <a:p>
            <a:r>
              <a:rPr lang="zh-CN" altLang="en-US" dirty="0"/>
              <a:t>毕业论文答辩</a:t>
            </a:r>
            <a:r>
              <a:rPr lang="en-US" altLang="zh-CN" dirty="0"/>
              <a:t>PPT</a:t>
            </a:r>
            <a:r>
              <a:rPr lang="zh-CN" altLang="en-US" dirty="0"/>
              <a:t>模板</a:t>
            </a:r>
            <a:endParaRPr lang="zh-CN" altLang="en-US" dirty="0"/>
          </a:p>
        </p:txBody>
      </p:sp>
      <p:sp>
        <p:nvSpPr>
          <p:cNvPr id="3" name="副标题 2"/>
          <p:cNvSpPr>
            <a:spLocks noGrp="1"/>
          </p:cNvSpPr>
          <p:nvPr>
            <p:ph type="subTitle" idx="1" hasCustomPrompt="1"/>
          </p:nvPr>
        </p:nvSpPr>
        <p:spPr>
          <a:xfrm>
            <a:off x="1290320" y="4375885"/>
            <a:ext cx="9144000" cy="486410"/>
          </a:xfrm>
        </p:spPr>
        <p:txBody>
          <a:bodyPr lIns="0" rIns="0"/>
          <a:lstStyle>
            <a:lvl1pPr marL="0" indent="0" algn="ctr">
              <a:buNone/>
              <a:defRPr sz="2400">
                <a:solidFill>
                  <a:srgbClr val="045C9E"/>
                </a:solidFill>
                <a:latin typeface="方正宝黑体 简 Light" panose="02000400000000000000" charset="-122"/>
                <a:ea typeface="方正宝黑体 简 Light" panose="0200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此处输入你的相关辅助信息</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05061EE-6955-430E-A295-016C8C87759D}" type="datetimeFigureOut">
              <a:rPr kumimoji="0" lang="zh-CN" altLang="en-US" sz="1200" b="0" i="0" u="none" strike="noStrike" kern="1200" cap="none" spc="0" normalizeH="0" baseline="0" noProof="0" smtClean="0">
                <a:ln>
                  <a:noFill/>
                </a:ln>
                <a:solidFill>
                  <a:srgbClr val="03477A">
                    <a:tint val="75000"/>
                  </a:srgbClr>
                </a:solidFill>
                <a:effectLst/>
                <a:uLnTx/>
                <a:uFillTx/>
                <a:latin typeface="Arial" panose="020B0604020202090204"/>
                <a:ea typeface="微软雅黑" panose="020B0503020204020204" charset="-122"/>
                <a:cs typeface="+mn-cs"/>
              </a:rPr>
            </a:fld>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FF4E727-490F-4645-B419-15BDC91E9833}" type="slidenum">
              <a:rPr kumimoji="0" lang="zh-CN" altLang="en-US" sz="1200" b="0" i="0" u="none" strike="noStrike" kern="1200" cap="none" spc="0" normalizeH="0" baseline="0" noProof="0" smtClean="0">
                <a:ln>
                  <a:noFill/>
                </a:ln>
                <a:solidFill>
                  <a:srgbClr val="03477A">
                    <a:tint val="75000"/>
                  </a:srgbClr>
                </a:solidFill>
                <a:effectLst/>
                <a:uLnTx/>
                <a:uFillTx/>
                <a:latin typeface="Arial" panose="020B0604020202090204"/>
                <a:ea typeface="微软雅黑" panose="020B0503020204020204" charset="-122"/>
                <a:cs typeface="+mn-cs"/>
              </a:rPr>
            </a:fld>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74" name="文本占位符 73"/>
          <p:cNvSpPr>
            <a:spLocks noGrp="1"/>
          </p:cNvSpPr>
          <p:nvPr>
            <p:ph type="body" sz="quarter" idx="13" hasCustomPrompt="1"/>
          </p:nvPr>
        </p:nvSpPr>
        <p:spPr>
          <a:xfrm>
            <a:off x="3738563" y="5268087"/>
            <a:ext cx="4213225" cy="487362"/>
          </a:xfrm>
        </p:spPr>
        <p:txBody>
          <a:bodyPr/>
          <a:lstStyle>
            <a:lvl1pPr marL="0" indent="0" algn="ctr">
              <a:buFontTx/>
              <a:buNone/>
              <a:defRPr b="1">
                <a:solidFill>
                  <a:srgbClr val="045C9E"/>
                </a:solidFill>
              </a:defRPr>
            </a:lvl1pPr>
            <a:lvl2pPr marL="457200" indent="0" algn="ctr">
              <a:buFontTx/>
              <a:buNone/>
              <a:defRPr b="1"/>
            </a:lvl2pPr>
            <a:lvl3pPr marL="914400" indent="0" algn="ctr">
              <a:buFontTx/>
              <a:buNone/>
              <a:defRPr b="1"/>
            </a:lvl3pPr>
            <a:lvl4pPr marL="1371600" indent="0" algn="ctr">
              <a:buFontTx/>
              <a:buNone/>
              <a:defRPr b="1"/>
            </a:lvl4pPr>
            <a:lvl5pPr marL="1828800" indent="0" algn="ctr">
              <a:buFontTx/>
              <a:buNone/>
              <a:defRPr b="1"/>
            </a:lvl5pPr>
          </a:lstStyle>
          <a:p>
            <a:pPr lvl="0"/>
            <a:r>
              <a:rPr lang="zh-CN" altLang="en-US" dirty="0"/>
              <a:t>答辩人：设计奔</a:t>
            </a:r>
            <a:endParaRPr lang="zh-CN" altLang="en-US" dirty="0"/>
          </a:p>
        </p:txBody>
      </p:sp>
      <p:grpSp>
        <p:nvGrpSpPr>
          <p:cNvPr id="62" name="组合 61"/>
          <p:cNvGrpSpPr/>
          <p:nvPr userDrawn="1"/>
        </p:nvGrpSpPr>
        <p:grpSpPr>
          <a:xfrm>
            <a:off x="0" y="-1"/>
            <a:ext cx="12192000" cy="6858002"/>
            <a:chOff x="0" y="-1"/>
            <a:chExt cx="12192000" cy="6858002"/>
          </a:xfrm>
          <a:solidFill>
            <a:schemeClr val="bg1"/>
          </a:solidFill>
        </p:grpSpPr>
        <p:sp>
          <p:nvSpPr>
            <p:cNvPr id="63" name="图文框 62"/>
            <p:cNvSpPr/>
            <p:nvPr userDrawn="1"/>
          </p:nvSpPr>
          <p:spPr>
            <a:xfrm>
              <a:off x="0" y="-1"/>
              <a:ext cx="12192000" cy="6858001"/>
            </a:xfrm>
            <a:prstGeom prst="frame">
              <a:avLst>
                <a:gd name="adj1" fmla="val 138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64" name="矩形 63"/>
            <p:cNvSpPr/>
            <p:nvPr userDrawn="1"/>
          </p:nvSpPr>
          <p:spPr>
            <a:xfrm>
              <a:off x="10434320" y="6751321"/>
              <a:ext cx="1452880" cy="106680"/>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grpSp>
        <p:nvGrpSpPr>
          <p:cNvPr id="69" name="组合 68"/>
          <p:cNvGrpSpPr/>
          <p:nvPr userDrawn="1"/>
        </p:nvGrpSpPr>
        <p:grpSpPr>
          <a:xfrm>
            <a:off x="1057761" y="3641041"/>
            <a:ext cx="706198" cy="248114"/>
            <a:chOff x="3589259" y="1252012"/>
            <a:chExt cx="688643" cy="241947"/>
          </a:xfrm>
        </p:grpSpPr>
        <p:sp>
          <p:nvSpPr>
            <p:cNvPr id="70" name="L 形 69"/>
            <p:cNvSpPr/>
            <p:nvPr/>
          </p:nvSpPr>
          <p:spPr>
            <a:xfrm rot="2700000">
              <a:off x="3809875" y="1252012"/>
              <a:ext cx="241946" cy="241946"/>
            </a:xfrm>
            <a:prstGeom prst="corner">
              <a:avLst>
                <a:gd name="adj1" fmla="val 19039"/>
                <a:gd name="adj2" fmla="val 20272"/>
              </a:avLst>
            </a:prstGeom>
            <a:solidFill>
              <a:srgbClr val="06487E">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1" name="L 形 70"/>
            <p:cNvSpPr/>
            <p:nvPr/>
          </p:nvSpPr>
          <p:spPr>
            <a:xfrm rot="2700000">
              <a:off x="4035956" y="1252013"/>
              <a:ext cx="241946" cy="241946"/>
            </a:xfrm>
            <a:prstGeom prst="corner">
              <a:avLst>
                <a:gd name="adj1" fmla="val 19039"/>
                <a:gd name="adj2" fmla="val 20272"/>
              </a:avLst>
            </a:prstGeom>
            <a:solidFill>
              <a:srgbClr val="064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2" name="L 形 71"/>
            <p:cNvSpPr/>
            <p:nvPr/>
          </p:nvSpPr>
          <p:spPr>
            <a:xfrm rot="2700000">
              <a:off x="3589259" y="1252012"/>
              <a:ext cx="241946" cy="241946"/>
            </a:xfrm>
            <a:prstGeom prst="corner">
              <a:avLst>
                <a:gd name="adj1" fmla="val 19039"/>
                <a:gd name="adj2" fmla="val 20272"/>
              </a:avLst>
            </a:prstGeom>
            <a:solidFill>
              <a:srgbClr val="06487E">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grpSp>
        <p:nvGrpSpPr>
          <p:cNvPr id="73" name="组合 72"/>
          <p:cNvGrpSpPr/>
          <p:nvPr userDrawn="1"/>
        </p:nvGrpSpPr>
        <p:grpSpPr>
          <a:xfrm flipH="1">
            <a:off x="10250261" y="3641041"/>
            <a:ext cx="706198" cy="248114"/>
            <a:chOff x="3589259" y="1252012"/>
            <a:chExt cx="688643" cy="241947"/>
          </a:xfrm>
        </p:grpSpPr>
        <p:sp>
          <p:nvSpPr>
            <p:cNvPr id="75" name="L 形 74"/>
            <p:cNvSpPr/>
            <p:nvPr/>
          </p:nvSpPr>
          <p:spPr>
            <a:xfrm rot="2700000">
              <a:off x="3809875" y="1252012"/>
              <a:ext cx="241946" cy="241946"/>
            </a:xfrm>
            <a:prstGeom prst="corner">
              <a:avLst>
                <a:gd name="adj1" fmla="val 19039"/>
                <a:gd name="adj2" fmla="val 20272"/>
              </a:avLst>
            </a:prstGeom>
            <a:solidFill>
              <a:srgbClr val="06487E">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6" name="L 形 75"/>
            <p:cNvSpPr/>
            <p:nvPr/>
          </p:nvSpPr>
          <p:spPr>
            <a:xfrm rot="2700000">
              <a:off x="4035956" y="1252013"/>
              <a:ext cx="241946" cy="241946"/>
            </a:xfrm>
            <a:prstGeom prst="corner">
              <a:avLst>
                <a:gd name="adj1" fmla="val 19039"/>
                <a:gd name="adj2" fmla="val 20272"/>
              </a:avLst>
            </a:prstGeom>
            <a:solidFill>
              <a:srgbClr val="064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7" name="L 形 76"/>
            <p:cNvSpPr/>
            <p:nvPr/>
          </p:nvSpPr>
          <p:spPr>
            <a:xfrm rot="2700000">
              <a:off x="3589259" y="1252012"/>
              <a:ext cx="241946" cy="241946"/>
            </a:xfrm>
            <a:prstGeom prst="corner">
              <a:avLst>
                <a:gd name="adj1" fmla="val 19039"/>
                <a:gd name="adj2" fmla="val 20272"/>
              </a:avLst>
            </a:prstGeom>
            <a:solidFill>
              <a:srgbClr val="06487E">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pic>
        <p:nvPicPr>
          <p:cNvPr id="15" name="图片 14"/>
          <p:cNvPicPr>
            <a:picLocks noChangeAspect="1"/>
          </p:cNvPicPr>
          <p:nvPr userDrawn="1"/>
        </p:nvPicPr>
        <p:blipFill>
          <a:blip r:embed="rId8" cstate="email"/>
          <a:stretch>
            <a:fillRect/>
          </a:stretch>
        </p:blipFill>
        <p:spPr>
          <a:xfrm>
            <a:off x="9182622" y="284526"/>
            <a:ext cx="2847079" cy="384081"/>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5">
            <a:duotone>
              <a:schemeClr val="accent1">
                <a:shade val="45000"/>
                <a:satMod val="135000"/>
              </a:schemeClr>
              <a:prstClr val="white"/>
            </a:duotone>
          </a:blip>
          <a:srcRect r="8787"/>
          <a:stretch>
            <a:fillRect/>
          </a:stretch>
        </p:blipFill>
        <p:spPr>
          <a:xfrm>
            <a:off x="10906158" y="0"/>
            <a:ext cx="1272136" cy="504922"/>
          </a:xfrm>
          <a:prstGeom prst="rect">
            <a:avLst/>
          </a:prstGeom>
        </p:spPr>
      </p:pic>
      <p:sp>
        <p:nvSpPr>
          <p:cNvPr id="8" name="矩形 7"/>
          <p:cNvSpPr/>
          <p:nvPr/>
        </p:nvSpPr>
        <p:spPr>
          <a:xfrm>
            <a:off x="125413" y="684213"/>
            <a:ext cx="11941175" cy="19685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28" name="标题占位符 1"/>
          <p:cNvSpPr>
            <a:spLocks noGrp="1" noChangeArrowheads="1"/>
          </p:cNvSpPr>
          <p:nvPr>
            <p:ph type="title"/>
          </p:nvPr>
        </p:nvSpPr>
        <p:spPr bwMode="auto">
          <a:xfrm>
            <a:off x="1009650" y="39688"/>
            <a:ext cx="10515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9" name="文本占位符 2"/>
          <p:cNvSpPr>
            <a:spLocks noGrp="1" noChangeArrowheads="1"/>
          </p:cNvSpPr>
          <p:nvPr>
            <p:ph type="body" idx="1"/>
          </p:nvPr>
        </p:nvSpPr>
        <p:spPr bwMode="auto">
          <a:xfrm>
            <a:off x="157163" y="935038"/>
            <a:ext cx="11803062"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0" y="6661150"/>
            <a:ext cx="2743200" cy="196850"/>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150B0B5E-8B70-4858-A974-88708070E7F6}" type="datetimeFigureOut">
              <a:rPr lang="zh-CN" altLang="en-US"/>
            </a:fld>
            <a:endParaRPr lang="zh-CN" altLang="en-US"/>
          </a:p>
        </p:txBody>
      </p:sp>
      <p:sp>
        <p:nvSpPr>
          <p:cNvPr id="5" name="页脚占位符 4"/>
          <p:cNvSpPr>
            <a:spLocks noGrp="1"/>
          </p:cNvSpPr>
          <p:nvPr>
            <p:ph type="ftr" sz="quarter" idx="3"/>
          </p:nvPr>
        </p:nvSpPr>
        <p:spPr>
          <a:xfrm>
            <a:off x="4002088" y="6623050"/>
            <a:ext cx="4114800" cy="196850"/>
          </a:xfrm>
          <a:prstGeom prst="rect">
            <a:avLst/>
          </a:prstGeom>
        </p:spPr>
        <p:txBody>
          <a:bodyPr vert="horz" lIns="91440" tIns="45720" rIns="91440" bIns="45720" rtlCol="0" anchor="ctr"/>
          <a:lstStyle>
            <a:lvl1pPr algn="ctr" eaLnBrk="1" fontAlgn="auto" hangingPunct="1">
              <a:spcBef>
                <a:spcPts val="0"/>
              </a:spcBef>
              <a:spcAft>
                <a:spcPts val="0"/>
              </a:spcAft>
              <a:defRPr sz="1200" dirty="0">
                <a:solidFill>
                  <a:schemeClr val="tx1">
                    <a:tint val="75000"/>
                  </a:schemeClr>
                </a:solidFill>
                <a:latin typeface="+mn-lt"/>
                <a:ea typeface="+mn-ea"/>
              </a:defRPr>
            </a:lvl1pPr>
          </a:lstStyle>
          <a:p>
            <a:pPr>
              <a:defRPr/>
            </a:pPr>
            <a:r>
              <a:rPr lang="zh-CN" altLang="en-US"/>
              <a:t>兰州大学异步系统研究团队</a:t>
            </a:r>
            <a:endParaRPr lang="zh-CN" altLang="en-US"/>
          </a:p>
        </p:txBody>
      </p:sp>
      <p:sp>
        <p:nvSpPr>
          <p:cNvPr id="6" name="灯片编号占位符 5"/>
          <p:cNvSpPr>
            <a:spLocks noGrp="1"/>
          </p:cNvSpPr>
          <p:nvPr>
            <p:ph type="sldNum" sz="quarter" idx="4"/>
          </p:nvPr>
        </p:nvSpPr>
        <p:spPr>
          <a:xfrm>
            <a:off x="9323388" y="6623050"/>
            <a:ext cx="2743200" cy="196850"/>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fld id="{FD202E6D-B3BA-4EFA-8814-C0E2C58EDCBB}" type="slidenum">
              <a:rPr lang="zh-CN" altLang="en-US"/>
            </a:fld>
            <a:endParaRPr lang="zh-CN" altLang="en-US"/>
          </a:p>
        </p:txBody>
      </p:sp>
      <p:pic>
        <p:nvPicPr>
          <p:cNvPr id="1033" name="图片 6"/>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5250" y="26988"/>
            <a:ext cx="63817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rtl="0" eaLnBrk="1" fontAlgn="base" hangingPunct="1">
        <a:lnSpc>
          <a:spcPct val="90000"/>
        </a:lnSpc>
        <a:spcBef>
          <a:spcPct val="0"/>
        </a:spcBef>
        <a:spcAft>
          <a:spcPct val="0"/>
        </a:spcAft>
        <a:defRPr sz="3600" kern="1200">
          <a:solidFill>
            <a:schemeClr val="tx1"/>
          </a:solidFill>
          <a:latin typeface="楷体" panose="02010609060101010101" pitchFamily="49" charset="-122"/>
          <a:ea typeface="楷体" panose="02010609060101010101" pitchFamily="49" charset="-122"/>
          <a:cs typeface="+mj-cs"/>
        </a:defRPr>
      </a:lvl1pPr>
      <a:lvl2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2pPr>
      <a:lvl3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3pPr>
      <a:lvl4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4pPr>
      <a:lvl5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5pPr>
      <a:lvl6pPr marL="4572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6pPr>
      <a:lvl7pPr marL="9144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7pPr>
      <a:lvl8pPr marL="13716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8pPr>
      <a:lvl9pPr marL="18288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9pPr>
    </p:titleStyle>
    <p:bodyStyle>
      <a:lvl1pPr marL="228600" indent="-228600" algn="l" rtl="0" eaLnBrk="1" fontAlgn="base" hangingPunct="1">
        <a:lnSpc>
          <a:spcPct val="90000"/>
        </a:lnSpc>
        <a:spcBef>
          <a:spcPts val="1000"/>
        </a:spcBef>
        <a:spcAft>
          <a:spcPct val="0"/>
        </a:spcAft>
        <a:buFont typeface="Arial" panose="020B0604020202090204" pitchFamily="34" charset="0"/>
        <a:buChar char="•"/>
        <a:defRPr sz="2800" kern="1200">
          <a:solidFill>
            <a:schemeClr val="tx1"/>
          </a:solidFill>
          <a:latin typeface="仿宋" panose="02010609060101010101" pitchFamily="49" charset="-122"/>
          <a:ea typeface="仿宋" panose="02010609060101010101" pitchFamily="49" charset="-122"/>
          <a:cs typeface="+mn-cs"/>
        </a:defRPr>
      </a:lvl1pPr>
      <a:lvl2pPr marL="685800" indent="-228600" algn="l" rtl="0" eaLnBrk="1" fontAlgn="base" hangingPunct="1">
        <a:lnSpc>
          <a:spcPct val="90000"/>
        </a:lnSpc>
        <a:spcBef>
          <a:spcPts val="500"/>
        </a:spcBef>
        <a:spcAft>
          <a:spcPct val="0"/>
        </a:spcAft>
        <a:buFont typeface="Arial" panose="020B0604020202090204" pitchFamily="34" charset="0"/>
        <a:buChar char="•"/>
        <a:defRPr sz="2400" kern="1200">
          <a:solidFill>
            <a:schemeClr val="tx1"/>
          </a:solidFill>
          <a:latin typeface="仿宋" panose="02010609060101010101" pitchFamily="49" charset="-122"/>
          <a:ea typeface="仿宋" panose="02010609060101010101" pitchFamily="49" charset="-122"/>
          <a:cs typeface="+mn-cs"/>
        </a:defRPr>
      </a:lvl2pPr>
      <a:lvl3pPr marL="1143000" indent="-228600" algn="l" rtl="0" eaLnBrk="1" fontAlgn="base" hangingPunct="1">
        <a:lnSpc>
          <a:spcPct val="90000"/>
        </a:lnSpc>
        <a:spcBef>
          <a:spcPts val="500"/>
        </a:spcBef>
        <a:spcAft>
          <a:spcPct val="0"/>
        </a:spcAft>
        <a:buFont typeface="Arial" panose="020B0604020202090204" pitchFamily="34" charset="0"/>
        <a:buChar char="•"/>
        <a:defRPr sz="2000" kern="1200">
          <a:solidFill>
            <a:schemeClr val="tx1"/>
          </a:solidFill>
          <a:latin typeface="仿宋" panose="02010609060101010101" pitchFamily="49" charset="-122"/>
          <a:ea typeface="仿宋" panose="02010609060101010101" pitchFamily="49" charset="-122"/>
          <a:cs typeface="+mn-cs"/>
        </a:defRPr>
      </a:lvl3pPr>
      <a:lvl4pPr marL="16002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仿宋" panose="02010609060101010101" pitchFamily="49" charset="-122"/>
          <a:ea typeface="仿宋" panose="02010609060101010101" pitchFamily="49" charset="-122"/>
          <a:cs typeface="+mn-cs"/>
        </a:defRPr>
      </a:lvl4pPr>
      <a:lvl5pPr marL="20574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4.xml"/><Relationship Id="rId2" Type="http://schemas.openxmlformats.org/officeDocument/2006/relationships/image" Target="../media/image12.png"/><Relationship Id="rId1" Type="http://schemas.openxmlformats.org/officeDocument/2006/relationships/image" Target="../media/image11.emf"/></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7.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image" Target="../media/image14.jpeg"/><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image" Target="../media/image13.jpeg"/><Relationship Id="rId2" Type="http://schemas.openxmlformats.org/officeDocument/2006/relationships/tags" Target="../tags/tag22.xml"/><Relationship Id="rId13" Type="http://schemas.openxmlformats.org/officeDocument/2006/relationships/slideLayout" Target="../slideLayouts/slideLayout2.xml"/><Relationship Id="rId12" Type="http://schemas.openxmlformats.org/officeDocument/2006/relationships/tags" Target="../tags/tag29.xml"/><Relationship Id="rId11" Type="http://schemas.openxmlformats.org/officeDocument/2006/relationships/image" Target="../media/image15.jpeg"/><Relationship Id="rId10" Type="http://schemas.openxmlformats.org/officeDocument/2006/relationships/tags" Target="../tags/tag28.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9" Type="http://schemas.openxmlformats.org/officeDocument/2006/relationships/notesSlide" Target="../notesSlides/notesSlide7.xml"/><Relationship Id="rId18" Type="http://schemas.openxmlformats.org/officeDocument/2006/relationships/slideLayout" Target="../slideLayouts/slideLayout2.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image" Target="../media/image25.png"/><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7" Type="http://schemas.openxmlformats.org/officeDocument/2006/relationships/slideLayout" Target="../slideLayouts/slideLayout2.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8" Type="http://schemas.openxmlformats.org/officeDocument/2006/relationships/slideLayout" Target="../slideLayouts/slideLayout2.xml"/><Relationship Id="rId17" Type="http://schemas.openxmlformats.org/officeDocument/2006/relationships/tags" Target="../tags/tag84.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8.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12.png"/><Relationship Id="rId1"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871675" y="1269787"/>
            <a:ext cx="7999578" cy="858203"/>
          </a:xfrm>
          <a:noFill/>
        </p:spPr>
        <p:txBody>
          <a:bodyPr>
            <a:noAutofit/>
          </a:bodyPr>
          <a:lstStyle/>
          <a:p>
            <a:r>
              <a:rPr lang="zh-CN" altLang="en-US" sz="7200" dirty="0">
                <a:solidFill>
                  <a:schemeClr val="bg1">
                    <a:lumMod val="85000"/>
                  </a:schemeClr>
                </a:solidFill>
                <a:latin typeface="华文行楷" panose="02010800040101010101" pitchFamily="2" charset="-122"/>
                <a:ea typeface="华文行楷" panose="02010800040101010101" pitchFamily="2" charset="-122"/>
              </a:rPr>
              <a:t>兰州大学</a:t>
            </a:r>
            <a:endParaRPr lang="zh-CN" altLang="en-US" sz="7200" dirty="0">
              <a:solidFill>
                <a:schemeClr val="bg1">
                  <a:lumMod val="85000"/>
                </a:schemeClr>
              </a:solidFill>
              <a:latin typeface="华文行楷" panose="02010800040101010101" pitchFamily="2" charset="-122"/>
              <a:ea typeface="华文行楷" panose="02010800040101010101" pitchFamily="2" charset="-122"/>
            </a:endParaRPr>
          </a:p>
        </p:txBody>
      </p:sp>
      <p:sp>
        <p:nvSpPr>
          <p:cNvPr id="7" name="副标题 6"/>
          <p:cNvSpPr>
            <a:spLocks noGrp="1"/>
          </p:cNvSpPr>
          <p:nvPr>
            <p:ph type="subTitle" idx="1"/>
          </p:nvPr>
        </p:nvSpPr>
        <p:spPr>
          <a:xfrm>
            <a:off x="1711960" y="3509645"/>
            <a:ext cx="8604885" cy="816610"/>
          </a:xfrm>
        </p:spPr>
        <p:txBody>
          <a:bodyPr>
            <a:noAutofit/>
          </a:bodyPr>
          <a:lstStyle/>
          <a:p>
            <a:pPr defTabSz="543560">
              <a:lnSpc>
                <a:spcPct val="100000"/>
              </a:lnSpc>
              <a:defRPr sz="5580"/>
            </a:pPr>
            <a:r>
              <a:rPr lang="zh-CN" altLang="en-US" sz="3600" b="1" dirty="0">
                <a:solidFill>
                  <a:srgbClr val="0070C0"/>
                </a:solidFill>
                <a:latin typeface="华文楷体" panose="02010600040101010101" charset="-122"/>
                <a:ea typeface="华文楷体" panose="02010600040101010101" charset="-122"/>
                <a:sym typeface="+mn-ea"/>
              </a:rPr>
              <a:t>基于多</a:t>
            </a:r>
            <a:r>
              <a:rPr lang="zh-CN" altLang="en-US" sz="3600" b="1" dirty="0">
                <a:solidFill>
                  <a:srgbClr val="0070C0"/>
                </a:solidFill>
                <a:latin typeface="华文楷体" panose="02010600040101010101" charset="-122"/>
                <a:ea typeface="华文楷体" panose="02010600040101010101" charset="-122"/>
                <a:sym typeface="+mn-ea"/>
              </a:rPr>
              <a:t>前沿方法的张量计算驱动型稀疏矩阵求解系统设计</a:t>
            </a:r>
            <a:endParaRPr lang="zh-CN" altLang="en-US" sz="3600" b="1" dirty="0">
              <a:solidFill>
                <a:srgbClr val="0070C0"/>
              </a:solidFill>
              <a:latin typeface="华文楷体" panose="02010600040101010101" charset="-122"/>
              <a:ea typeface="华文楷体" panose="02010600040101010101" charset="-122"/>
              <a:sym typeface="+mn-ea"/>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51590" y="5930900"/>
            <a:ext cx="654050" cy="855345"/>
          </a:xfrm>
          <a:prstGeom prst="rect">
            <a:avLst/>
          </a:prstGeom>
        </p:spPr>
      </p:pic>
      <p:sp>
        <p:nvSpPr>
          <p:cNvPr id="3" name="矩形 2"/>
          <p:cNvSpPr/>
          <p:nvPr/>
        </p:nvSpPr>
        <p:spPr>
          <a:xfrm>
            <a:off x="211455" y="191770"/>
            <a:ext cx="1821180" cy="61722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266555" y="302895"/>
            <a:ext cx="2559685" cy="26289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0"/>
          <p:cNvSpPr/>
          <p:nvPr/>
        </p:nvSpPr>
        <p:spPr>
          <a:xfrm>
            <a:off x="3038204" y="5174792"/>
            <a:ext cx="297818" cy="400359"/>
          </a:xfrm>
          <a:custGeom>
            <a:avLst/>
            <a:gdLst/>
            <a:ahLst/>
            <a:cxnLst>
              <a:cxn ang="0">
                <a:pos x="wd2" y="hd2"/>
              </a:cxn>
              <a:cxn ang="5400000">
                <a:pos x="wd2" y="hd2"/>
              </a:cxn>
              <a:cxn ang="10800000">
                <a:pos x="wd2" y="hd2"/>
              </a:cxn>
              <a:cxn ang="16200000">
                <a:pos x="wd2" y="hd2"/>
              </a:cxn>
            </a:cxnLst>
            <a:rect l="0" t="0" r="r" b="b"/>
            <a:pathLst>
              <a:path w="21133" h="21600" extrusionOk="0">
                <a:moveTo>
                  <a:pt x="10533" y="8436"/>
                </a:moveTo>
                <a:cubicBezTo>
                  <a:pt x="12978" y="8436"/>
                  <a:pt x="15016" y="6518"/>
                  <a:pt x="15016" y="4218"/>
                </a:cubicBezTo>
                <a:cubicBezTo>
                  <a:pt x="15016" y="1917"/>
                  <a:pt x="12978" y="0"/>
                  <a:pt x="10533" y="0"/>
                </a:cubicBezTo>
                <a:cubicBezTo>
                  <a:pt x="8088" y="0"/>
                  <a:pt x="6050" y="1917"/>
                  <a:pt x="6050" y="4218"/>
                </a:cubicBezTo>
                <a:cubicBezTo>
                  <a:pt x="6050" y="6518"/>
                  <a:pt x="8088" y="8436"/>
                  <a:pt x="10533" y="8436"/>
                </a:cubicBezTo>
                <a:close/>
                <a:moveTo>
                  <a:pt x="20993" y="14954"/>
                </a:moveTo>
                <a:cubicBezTo>
                  <a:pt x="18005" y="10992"/>
                  <a:pt x="18005" y="10992"/>
                  <a:pt x="18005" y="10992"/>
                </a:cubicBezTo>
                <a:cubicBezTo>
                  <a:pt x="17733" y="12398"/>
                  <a:pt x="17326" y="13804"/>
                  <a:pt x="16782" y="15209"/>
                </a:cubicBezTo>
                <a:cubicBezTo>
                  <a:pt x="17190" y="15593"/>
                  <a:pt x="17190" y="15593"/>
                  <a:pt x="17190" y="15593"/>
                </a:cubicBezTo>
                <a:cubicBezTo>
                  <a:pt x="14880" y="16615"/>
                  <a:pt x="14880" y="16615"/>
                  <a:pt x="14880" y="16615"/>
                </a:cubicBezTo>
                <a:cubicBezTo>
                  <a:pt x="13929" y="16999"/>
                  <a:pt x="13658" y="18149"/>
                  <a:pt x="14201" y="18916"/>
                </a:cubicBezTo>
                <a:cubicBezTo>
                  <a:pt x="14609" y="19683"/>
                  <a:pt x="15831" y="19938"/>
                  <a:pt x="16646" y="19555"/>
                </a:cubicBezTo>
                <a:cubicBezTo>
                  <a:pt x="20178" y="18021"/>
                  <a:pt x="20178" y="18021"/>
                  <a:pt x="20178" y="18021"/>
                </a:cubicBezTo>
                <a:cubicBezTo>
                  <a:pt x="20858" y="17766"/>
                  <a:pt x="21401" y="15465"/>
                  <a:pt x="20993" y="14954"/>
                </a:cubicBezTo>
                <a:close/>
                <a:moveTo>
                  <a:pt x="13250" y="19555"/>
                </a:moveTo>
                <a:cubicBezTo>
                  <a:pt x="12163" y="19811"/>
                  <a:pt x="11076" y="20194"/>
                  <a:pt x="10669" y="20705"/>
                </a:cubicBezTo>
                <a:cubicBezTo>
                  <a:pt x="10805" y="18277"/>
                  <a:pt x="11076" y="15721"/>
                  <a:pt x="11212" y="13164"/>
                </a:cubicBezTo>
                <a:cubicBezTo>
                  <a:pt x="11484" y="12909"/>
                  <a:pt x="12027" y="12781"/>
                  <a:pt x="12435" y="12525"/>
                </a:cubicBezTo>
                <a:cubicBezTo>
                  <a:pt x="12978" y="12398"/>
                  <a:pt x="13386" y="12270"/>
                  <a:pt x="13929" y="12142"/>
                </a:cubicBezTo>
                <a:cubicBezTo>
                  <a:pt x="14337" y="11886"/>
                  <a:pt x="14880" y="11759"/>
                  <a:pt x="15288" y="11631"/>
                </a:cubicBezTo>
                <a:cubicBezTo>
                  <a:pt x="16239" y="11247"/>
                  <a:pt x="17054" y="10736"/>
                  <a:pt x="17597" y="10353"/>
                </a:cubicBezTo>
                <a:cubicBezTo>
                  <a:pt x="17461" y="10097"/>
                  <a:pt x="17190" y="9841"/>
                  <a:pt x="16918" y="9586"/>
                </a:cubicBezTo>
                <a:cubicBezTo>
                  <a:pt x="16782" y="9458"/>
                  <a:pt x="16782" y="9458"/>
                  <a:pt x="16646" y="9458"/>
                </a:cubicBezTo>
                <a:cubicBezTo>
                  <a:pt x="16239" y="9075"/>
                  <a:pt x="15695" y="8947"/>
                  <a:pt x="15016" y="8947"/>
                </a:cubicBezTo>
                <a:cubicBezTo>
                  <a:pt x="13386" y="8947"/>
                  <a:pt x="13386" y="8947"/>
                  <a:pt x="13386" y="8947"/>
                </a:cubicBezTo>
                <a:cubicBezTo>
                  <a:pt x="10533" y="10992"/>
                  <a:pt x="10533" y="10992"/>
                  <a:pt x="10533" y="10992"/>
                </a:cubicBezTo>
                <a:cubicBezTo>
                  <a:pt x="7816" y="8947"/>
                  <a:pt x="7816" y="8947"/>
                  <a:pt x="7816" y="8947"/>
                </a:cubicBezTo>
                <a:cubicBezTo>
                  <a:pt x="6186" y="8947"/>
                  <a:pt x="6186" y="8947"/>
                  <a:pt x="6186" y="8947"/>
                </a:cubicBezTo>
                <a:cubicBezTo>
                  <a:pt x="5507" y="8947"/>
                  <a:pt x="4963" y="9075"/>
                  <a:pt x="4420" y="9458"/>
                </a:cubicBezTo>
                <a:cubicBezTo>
                  <a:pt x="4420" y="9458"/>
                  <a:pt x="4284" y="9458"/>
                  <a:pt x="4284" y="9586"/>
                </a:cubicBezTo>
                <a:cubicBezTo>
                  <a:pt x="4012" y="9841"/>
                  <a:pt x="3741" y="10097"/>
                  <a:pt x="3605" y="10353"/>
                </a:cubicBezTo>
                <a:cubicBezTo>
                  <a:pt x="4148" y="10736"/>
                  <a:pt x="4963" y="11247"/>
                  <a:pt x="5914" y="11631"/>
                </a:cubicBezTo>
                <a:cubicBezTo>
                  <a:pt x="6322" y="11759"/>
                  <a:pt x="6865" y="11886"/>
                  <a:pt x="7273" y="12142"/>
                </a:cubicBezTo>
                <a:cubicBezTo>
                  <a:pt x="7816" y="12270"/>
                  <a:pt x="8224" y="12398"/>
                  <a:pt x="8631" y="12525"/>
                </a:cubicBezTo>
                <a:cubicBezTo>
                  <a:pt x="9175" y="12781"/>
                  <a:pt x="9582" y="12909"/>
                  <a:pt x="9990" y="13164"/>
                </a:cubicBezTo>
                <a:cubicBezTo>
                  <a:pt x="10126" y="15721"/>
                  <a:pt x="10261" y="18277"/>
                  <a:pt x="10397" y="20705"/>
                </a:cubicBezTo>
                <a:cubicBezTo>
                  <a:pt x="9990" y="20194"/>
                  <a:pt x="8903" y="19811"/>
                  <a:pt x="7816" y="19427"/>
                </a:cubicBezTo>
                <a:cubicBezTo>
                  <a:pt x="7273" y="20194"/>
                  <a:pt x="6458" y="20578"/>
                  <a:pt x="5643" y="20705"/>
                </a:cubicBezTo>
                <a:cubicBezTo>
                  <a:pt x="6593" y="20961"/>
                  <a:pt x="8495" y="21472"/>
                  <a:pt x="10533" y="21600"/>
                </a:cubicBezTo>
                <a:cubicBezTo>
                  <a:pt x="10669" y="21600"/>
                  <a:pt x="10669" y="21600"/>
                  <a:pt x="10669" y="21600"/>
                </a:cubicBezTo>
                <a:cubicBezTo>
                  <a:pt x="10669" y="21600"/>
                  <a:pt x="10669" y="21600"/>
                  <a:pt x="10669" y="21600"/>
                </a:cubicBezTo>
                <a:cubicBezTo>
                  <a:pt x="12707" y="21600"/>
                  <a:pt x="14609" y="20961"/>
                  <a:pt x="15559" y="20705"/>
                </a:cubicBezTo>
                <a:cubicBezTo>
                  <a:pt x="14609" y="20705"/>
                  <a:pt x="13793" y="20194"/>
                  <a:pt x="13250" y="19555"/>
                </a:cubicBezTo>
                <a:close/>
                <a:moveTo>
                  <a:pt x="7001" y="18916"/>
                </a:moveTo>
                <a:cubicBezTo>
                  <a:pt x="7409" y="18149"/>
                  <a:pt x="7137" y="16999"/>
                  <a:pt x="6322" y="16615"/>
                </a:cubicBezTo>
                <a:cubicBezTo>
                  <a:pt x="3876" y="15593"/>
                  <a:pt x="3876" y="15593"/>
                  <a:pt x="3876" y="15593"/>
                </a:cubicBezTo>
                <a:cubicBezTo>
                  <a:pt x="4284" y="15082"/>
                  <a:pt x="4284" y="15082"/>
                  <a:pt x="4284" y="15082"/>
                </a:cubicBezTo>
                <a:cubicBezTo>
                  <a:pt x="3876" y="13804"/>
                  <a:pt x="3469" y="12398"/>
                  <a:pt x="3061" y="10992"/>
                </a:cubicBezTo>
                <a:cubicBezTo>
                  <a:pt x="73" y="14954"/>
                  <a:pt x="73" y="14954"/>
                  <a:pt x="73" y="14954"/>
                </a:cubicBezTo>
                <a:cubicBezTo>
                  <a:pt x="-199" y="15465"/>
                  <a:pt x="344" y="17766"/>
                  <a:pt x="888" y="18021"/>
                </a:cubicBezTo>
                <a:cubicBezTo>
                  <a:pt x="4556" y="19555"/>
                  <a:pt x="4556" y="19555"/>
                  <a:pt x="4556" y="19555"/>
                </a:cubicBezTo>
                <a:cubicBezTo>
                  <a:pt x="5371" y="19938"/>
                  <a:pt x="6458" y="19683"/>
                  <a:pt x="7001" y="18916"/>
                </a:cubicBezTo>
                <a:close/>
              </a:path>
            </a:pathLst>
          </a:custGeom>
          <a:solidFill>
            <a:srgbClr val="0070C0"/>
          </a:solidFill>
          <a:ln w="12700" cap="flat">
            <a:noFill/>
            <a:miter lim="400000"/>
          </a:ln>
          <a:effectLst/>
        </p:spPr>
        <p:txBody>
          <a:bodyPr wrap="square" lIns="91439" tIns="91439" rIns="91439" bIns="91439" numCol="1" anchor="t">
            <a:noAutofit/>
          </a:bodyPr>
          <a:lstStyle/>
          <a:p>
            <a:endParaRPr sz="1600" dirty="0"/>
          </a:p>
        </p:txBody>
      </p:sp>
      <p:sp>
        <p:nvSpPr>
          <p:cNvPr id="18" name="Freeform 88"/>
          <p:cNvSpPr/>
          <p:nvPr/>
        </p:nvSpPr>
        <p:spPr>
          <a:xfrm>
            <a:off x="7201285" y="5161915"/>
            <a:ext cx="398928" cy="420029"/>
          </a:xfrm>
          <a:custGeom>
            <a:avLst/>
            <a:gdLst/>
            <a:ahLst/>
            <a:cxnLst>
              <a:cxn ang="0">
                <a:pos x="wd2" y="hd2"/>
              </a:cxn>
              <a:cxn ang="5400000">
                <a:pos x="wd2" y="hd2"/>
              </a:cxn>
              <a:cxn ang="10800000">
                <a:pos x="wd2" y="hd2"/>
              </a:cxn>
              <a:cxn ang="16200000">
                <a:pos x="wd2" y="hd2"/>
              </a:cxn>
            </a:cxnLst>
            <a:rect l="0" t="0" r="r" b="b"/>
            <a:pathLst>
              <a:path w="21535" h="21600" extrusionOk="0">
                <a:moveTo>
                  <a:pt x="20500" y="0"/>
                </a:moveTo>
                <a:cubicBezTo>
                  <a:pt x="12481" y="0"/>
                  <a:pt x="12481" y="0"/>
                  <a:pt x="12481" y="0"/>
                </a:cubicBezTo>
                <a:cubicBezTo>
                  <a:pt x="11964" y="0"/>
                  <a:pt x="11446" y="584"/>
                  <a:pt x="11446" y="1314"/>
                </a:cubicBezTo>
                <a:cubicBezTo>
                  <a:pt x="11446" y="7589"/>
                  <a:pt x="11446" y="7589"/>
                  <a:pt x="11446" y="7589"/>
                </a:cubicBezTo>
                <a:cubicBezTo>
                  <a:pt x="11964" y="6859"/>
                  <a:pt x="11964" y="6859"/>
                  <a:pt x="11964" y="6859"/>
                </a:cubicBezTo>
                <a:cubicBezTo>
                  <a:pt x="12222" y="6714"/>
                  <a:pt x="12481" y="6568"/>
                  <a:pt x="12740" y="6422"/>
                </a:cubicBezTo>
                <a:cubicBezTo>
                  <a:pt x="13645" y="2919"/>
                  <a:pt x="13645" y="2919"/>
                  <a:pt x="13645" y="2919"/>
                </a:cubicBezTo>
                <a:cubicBezTo>
                  <a:pt x="15327" y="3357"/>
                  <a:pt x="15327" y="3357"/>
                  <a:pt x="15327" y="3357"/>
                </a:cubicBezTo>
                <a:cubicBezTo>
                  <a:pt x="14421" y="7297"/>
                  <a:pt x="14421" y="7297"/>
                  <a:pt x="14421" y="7297"/>
                </a:cubicBezTo>
                <a:cubicBezTo>
                  <a:pt x="14680" y="7881"/>
                  <a:pt x="14680" y="8465"/>
                  <a:pt x="14292" y="9049"/>
                </a:cubicBezTo>
                <a:cubicBezTo>
                  <a:pt x="20500" y="9049"/>
                  <a:pt x="20500" y="9049"/>
                  <a:pt x="20500" y="9049"/>
                </a:cubicBezTo>
                <a:cubicBezTo>
                  <a:pt x="21018" y="9049"/>
                  <a:pt x="21535" y="8465"/>
                  <a:pt x="21535" y="7881"/>
                </a:cubicBezTo>
                <a:cubicBezTo>
                  <a:pt x="21535" y="1314"/>
                  <a:pt x="21535" y="1314"/>
                  <a:pt x="21535" y="1314"/>
                </a:cubicBezTo>
                <a:cubicBezTo>
                  <a:pt x="21535" y="584"/>
                  <a:pt x="21018" y="0"/>
                  <a:pt x="20500" y="0"/>
                </a:cubicBezTo>
                <a:close/>
                <a:moveTo>
                  <a:pt x="6402" y="6714"/>
                </a:moveTo>
                <a:cubicBezTo>
                  <a:pt x="7437" y="6714"/>
                  <a:pt x="8213" y="5692"/>
                  <a:pt x="8213" y="4524"/>
                </a:cubicBezTo>
                <a:cubicBezTo>
                  <a:pt x="8213" y="3357"/>
                  <a:pt x="7437" y="2481"/>
                  <a:pt x="6402" y="2481"/>
                </a:cubicBezTo>
                <a:cubicBezTo>
                  <a:pt x="5367" y="2481"/>
                  <a:pt x="4462" y="3357"/>
                  <a:pt x="4462" y="4524"/>
                </a:cubicBezTo>
                <a:cubicBezTo>
                  <a:pt x="4462" y="5692"/>
                  <a:pt x="5367" y="6714"/>
                  <a:pt x="6402" y="6714"/>
                </a:cubicBezTo>
                <a:close/>
                <a:moveTo>
                  <a:pt x="6661" y="20724"/>
                </a:moveTo>
                <a:cubicBezTo>
                  <a:pt x="6661" y="21308"/>
                  <a:pt x="7049" y="21600"/>
                  <a:pt x="7437" y="21600"/>
                </a:cubicBezTo>
                <a:cubicBezTo>
                  <a:pt x="7954" y="21600"/>
                  <a:pt x="8213" y="21308"/>
                  <a:pt x="8213" y="20724"/>
                </a:cubicBezTo>
                <a:cubicBezTo>
                  <a:pt x="8213" y="15616"/>
                  <a:pt x="8213" y="15616"/>
                  <a:pt x="8213" y="15616"/>
                </a:cubicBezTo>
                <a:cubicBezTo>
                  <a:pt x="6661" y="15616"/>
                  <a:pt x="6661" y="15616"/>
                  <a:pt x="6661" y="15616"/>
                </a:cubicBezTo>
                <a:lnTo>
                  <a:pt x="6661" y="20724"/>
                </a:lnTo>
                <a:close/>
                <a:moveTo>
                  <a:pt x="4462" y="20724"/>
                </a:moveTo>
                <a:cubicBezTo>
                  <a:pt x="4462" y="21308"/>
                  <a:pt x="4850" y="21600"/>
                  <a:pt x="5367" y="21600"/>
                </a:cubicBezTo>
                <a:cubicBezTo>
                  <a:pt x="5755" y="21600"/>
                  <a:pt x="6143" y="21308"/>
                  <a:pt x="6143" y="20724"/>
                </a:cubicBezTo>
                <a:cubicBezTo>
                  <a:pt x="6143" y="15616"/>
                  <a:pt x="6143" y="15616"/>
                  <a:pt x="6143" y="15616"/>
                </a:cubicBezTo>
                <a:cubicBezTo>
                  <a:pt x="4462" y="15616"/>
                  <a:pt x="4462" y="15616"/>
                  <a:pt x="4462" y="15616"/>
                </a:cubicBezTo>
                <a:lnTo>
                  <a:pt x="4462" y="20724"/>
                </a:lnTo>
                <a:close/>
                <a:moveTo>
                  <a:pt x="14551" y="4086"/>
                </a:moveTo>
                <a:cubicBezTo>
                  <a:pt x="14033" y="3941"/>
                  <a:pt x="14033" y="3941"/>
                  <a:pt x="14033" y="3941"/>
                </a:cubicBezTo>
                <a:cubicBezTo>
                  <a:pt x="13257" y="7297"/>
                  <a:pt x="13257" y="7297"/>
                  <a:pt x="13257" y="7297"/>
                </a:cubicBezTo>
                <a:cubicBezTo>
                  <a:pt x="12998" y="7297"/>
                  <a:pt x="12740" y="7297"/>
                  <a:pt x="12481" y="7589"/>
                </a:cubicBezTo>
                <a:cubicBezTo>
                  <a:pt x="10670" y="9632"/>
                  <a:pt x="10670" y="9632"/>
                  <a:pt x="10670" y="9632"/>
                </a:cubicBezTo>
                <a:cubicBezTo>
                  <a:pt x="8730" y="7443"/>
                  <a:pt x="8730" y="7443"/>
                  <a:pt x="8730" y="7443"/>
                </a:cubicBezTo>
                <a:cubicBezTo>
                  <a:pt x="8601" y="7297"/>
                  <a:pt x="7825" y="7297"/>
                  <a:pt x="7695" y="7297"/>
                </a:cubicBezTo>
                <a:cubicBezTo>
                  <a:pt x="7695" y="7297"/>
                  <a:pt x="7695" y="7297"/>
                  <a:pt x="7695" y="7297"/>
                </a:cubicBezTo>
                <a:cubicBezTo>
                  <a:pt x="6402" y="8465"/>
                  <a:pt x="6402" y="8465"/>
                  <a:pt x="6402" y="8465"/>
                </a:cubicBezTo>
                <a:cubicBezTo>
                  <a:pt x="5109" y="7297"/>
                  <a:pt x="5109" y="7297"/>
                  <a:pt x="5109" y="7297"/>
                </a:cubicBezTo>
                <a:cubicBezTo>
                  <a:pt x="5109" y="7297"/>
                  <a:pt x="5109" y="7297"/>
                  <a:pt x="5109" y="7297"/>
                </a:cubicBezTo>
                <a:cubicBezTo>
                  <a:pt x="4979" y="7297"/>
                  <a:pt x="4203" y="7297"/>
                  <a:pt x="3945" y="7589"/>
                </a:cubicBezTo>
                <a:cubicBezTo>
                  <a:pt x="194" y="11822"/>
                  <a:pt x="194" y="11822"/>
                  <a:pt x="194" y="11822"/>
                </a:cubicBezTo>
                <a:cubicBezTo>
                  <a:pt x="-65" y="12114"/>
                  <a:pt x="-65" y="12697"/>
                  <a:pt x="194" y="12989"/>
                </a:cubicBezTo>
                <a:cubicBezTo>
                  <a:pt x="582" y="13427"/>
                  <a:pt x="970" y="13427"/>
                  <a:pt x="1358" y="12989"/>
                </a:cubicBezTo>
                <a:cubicBezTo>
                  <a:pt x="3945" y="10070"/>
                  <a:pt x="3945" y="10070"/>
                  <a:pt x="3945" y="10070"/>
                </a:cubicBezTo>
                <a:cubicBezTo>
                  <a:pt x="3945" y="15032"/>
                  <a:pt x="3945" y="15032"/>
                  <a:pt x="3945" y="15032"/>
                </a:cubicBezTo>
                <a:cubicBezTo>
                  <a:pt x="8730" y="15032"/>
                  <a:pt x="8730" y="15032"/>
                  <a:pt x="8730" y="15032"/>
                </a:cubicBezTo>
                <a:cubicBezTo>
                  <a:pt x="8730" y="10070"/>
                  <a:pt x="8730" y="10070"/>
                  <a:pt x="8730" y="10070"/>
                </a:cubicBezTo>
                <a:cubicBezTo>
                  <a:pt x="9765" y="11238"/>
                  <a:pt x="9765" y="11238"/>
                  <a:pt x="9765" y="11238"/>
                </a:cubicBezTo>
                <a:cubicBezTo>
                  <a:pt x="10024" y="11384"/>
                  <a:pt x="11188" y="11530"/>
                  <a:pt x="11446" y="11238"/>
                </a:cubicBezTo>
                <a:cubicBezTo>
                  <a:pt x="13645" y="8757"/>
                  <a:pt x="13645" y="8757"/>
                  <a:pt x="13645" y="8757"/>
                </a:cubicBezTo>
                <a:cubicBezTo>
                  <a:pt x="13904" y="8465"/>
                  <a:pt x="13904" y="8027"/>
                  <a:pt x="13645" y="7735"/>
                </a:cubicBezTo>
                <a:lnTo>
                  <a:pt x="14551" y="4086"/>
                </a:lnTo>
                <a:close/>
                <a:moveTo>
                  <a:pt x="6402" y="13573"/>
                </a:moveTo>
                <a:cubicBezTo>
                  <a:pt x="5626" y="12405"/>
                  <a:pt x="5626" y="12405"/>
                  <a:pt x="5626" y="12405"/>
                </a:cubicBezTo>
                <a:cubicBezTo>
                  <a:pt x="6402" y="8757"/>
                  <a:pt x="6402" y="8757"/>
                  <a:pt x="6402" y="8757"/>
                </a:cubicBezTo>
                <a:cubicBezTo>
                  <a:pt x="7178" y="12405"/>
                  <a:pt x="7178" y="12405"/>
                  <a:pt x="7178" y="12405"/>
                </a:cubicBezTo>
                <a:lnTo>
                  <a:pt x="6402" y="13573"/>
                </a:lnTo>
                <a:close/>
              </a:path>
            </a:pathLst>
          </a:custGeom>
          <a:solidFill>
            <a:srgbClr val="0070C0"/>
          </a:solidFill>
          <a:ln w="12700" cap="flat">
            <a:noFill/>
            <a:miter lim="400000"/>
          </a:ln>
          <a:effectLst/>
        </p:spPr>
        <p:txBody>
          <a:bodyPr wrap="square" lIns="91439" tIns="91439" rIns="91439" bIns="91439" numCol="1" anchor="t">
            <a:noAutofit/>
          </a:bodyPr>
          <a:lstStyle/>
          <a:p>
            <a:endParaRPr sz="1600"/>
          </a:p>
        </p:txBody>
      </p:sp>
      <p:sp>
        <p:nvSpPr>
          <p:cNvPr id="2" name="文本框 1"/>
          <p:cNvSpPr txBox="1"/>
          <p:nvPr/>
        </p:nvSpPr>
        <p:spPr>
          <a:xfrm>
            <a:off x="3466497" y="5181834"/>
            <a:ext cx="1822222"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答辩人：黄渊</a:t>
            </a:r>
            <a:endParaRPr lang="zh-CN" altLang="en-US" sz="2000" b="1" dirty="0">
              <a:solidFill>
                <a:srgbClr val="0070C0"/>
              </a:solidFill>
              <a:latin typeface="华文楷体" panose="02010600040101010101" charset="-122"/>
              <a:ea typeface="华文楷体" panose="02010600040101010101" charset="-122"/>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455" y="5698703"/>
            <a:ext cx="967527" cy="967527"/>
          </a:xfrm>
          <a:prstGeom prst="rect">
            <a:avLst/>
          </a:prstGeom>
        </p:spPr>
      </p:pic>
      <p:sp>
        <p:nvSpPr>
          <p:cNvPr id="8" name="文本框 7"/>
          <p:cNvSpPr txBox="1"/>
          <p:nvPr/>
        </p:nvSpPr>
        <p:spPr>
          <a:xfrm>
            <a:off x="7724140" y="5181600"/>
            <a:ext cx="3275330" cy="398780"/>
          </a:xfrm>
          <a:prstGeom prst="rect">
            <a:avLst/>
          </a:prstGeom>
          <a:noFill/>
        </p:spPr>
        <p:txBody>
          <a:bodyPr wrap="square" rtlCol="0">
            <a:spAutoFit/>
          </a:bodyPr>
          <a:p>
            <a:r>
              <a:rPr lang="zh-CN" altLang="en-US" sz="2000" b="1" dirty="0">
                <a:solidFill>
                  <a:srgbClr val="0070C0"/>
                </a:solidFill>
                <a:latin typeface="华文楷体" panose="02010600040101010101" charset="-122"/>
                <a:ea typeface="华文楷体" panose="02010600040101010101" charset="-122"/>
              </a:rPr>
              <a:t>指导教师：冯晓琴</a:t>
            </a:r>
            <a:r>
              <a:rPr lang="en-US" altLang="zh-CN" sz="2000" b="1" dirty="0">
                <a:solidFill>
                  <a:srgbClr val="0070C0"/>
                </a:solidFill>
                <a:latin typeface="华文楷体" panose="02010600040101010101" charset="-122"/>
                <a:ea typeface="华文楷体" panose="02010600040101010101" charset="-122"/>
              </a:rPr>
              <a:t>   </a:t>
            </a:r>
            <a:r>
              <a:rPr lang="zh-CN" altLang="en-US" sz="2000" b="1" dirty="0">
                <a:solidFill>
                  <a:srgbClr val="0070C0"/>
                </a:solidFill>
                <a:latin typeface="华文楷体" panose="02010600040101010101" charset="-122"/>
                <a:ea typeface="华文楷体" panose="02010600040101010101" charset="-122"/>
              </a:rPr>
              <a:t>何安平</a:t>
            </a:r>
            <a:endParaRPr lang="zh-CN" altLang="en-US" sz="2000" b="1" dirty="0">
              <a:solidFill>
                <a:srgbClr val="0070C0"/>
              </a:solidFill>
              <a:latin typeface="华文楷体" panose="02010600040101010101" charset="-122"/>
              <a:ea typeface="华文楷体" panose="0201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0" y="3429000"/>
            <a:ext cx="12192000" cy="3429000"/>
          </a:xfrm>
          <a:prstGeom prst="rect">
            <a:avLst/>
          </a:prstGeom>
          <a:solidFill>
            <a:schemeClr val="accent5">
              <a:lumMod val="75000"/>
            </a:schemeClr>
          </a:solidFill>
          <a:ln w="19050">
            <a:no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1" name="矩形 30"/>
          <p:cNvSpPr/>
          <p:nvPr/>
        </p:nvSpPr>
        <p:spPr>
          <a:xfrm>
            <a:off x="701040" y="597919"/>
            <a:ext cx="10789920" cy="5759450"/>
          </a:xfrm>
          <a:prstGeom prst="rect">
            <a:avLst/>
          </a:prstGeom>
          <a:solidFill>
            <a:schemeClr val="bg1"/>
          </a:solidFill>
          <a:ln w="19050">
            <a:noFill/>
            <a:headEnd type="oval"/>
            <a:tailEnd type="oval"/>
          </a:ln>
          <a:effectLst>
            <a:outerShdw blurRad="190500" sx="102000" sy="102000" algn="ctr"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ongolian Baiti" panose="03000500000000000000" charset="0"/>
              <a:ea typeface="Mongolian Baiti" panose="03000500000000000000" charset="0"/>
              <a:cs typeface="+mn-cs"/>
            </a:endParaRPr>
          </a:p>
        </p:txBody>
      </p:sp>
      <p:sp>
        <p:nvSpPr>
          <p:cNvPr id="32" name="文本框 31"/>
          <p:cNvSpPr txBox="1"/>
          <p:nvPr/>
        </p:nvSpPr>
        <p:spPr>
          <a:xfrm>
            <a:off x="5138862" y="717446"/>
            <a:ext cx="1736086"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6000" b="1" dirty="0">
                <a:solidFill>
                  <a:srgbClr val="0780CF"/>
                </a:solidFill>
                <a:latin typeface="华文楷体" panose="02010600040101010101" charset="-122"/>
                <a:ea typeface="华文楷体" panose="02010600040101010101" charset="-122"/>
                <a:cs typeface="+mn-ea"/>
                <a:sym typeface="+mn-lt"/>
              </a:rPr>
              <a:t>目录</a:t>
            </a:r>
            <a:endParaRPr lang="en-US" altLang="zh-CN" sz="6000" b="1" dirty="0">
              <a:solidFill>
                <a:srgbClr val="0780CF"/>
              </a:solidFill>
              <a:latin typeface="华文楷体" panose="02010600040101010101" charset="-122"/>
              <a:ea typeface="华文楷体" panose="02010600040101010101" charset="-122"/>
              <a:cs typeface="+mn-ea"/>
              <a:sym typeface="+mn-lt"/>
            </a:endParaRPr>
          </a:p>
        </p:txBody>
      </p:sp>
      <p:sp>
        <p:nvSpPr>
          <p:cNvPr id="37" name="矩形 36"/>
          <p:cNvSpPr/>
          <p:nvPr/>
        </p:nvSpPr>
        <p:spPr>
          <a:xfrm>
            <a:off x="5369177" y="1613004"/>
            <a:ext cx="1453647" cy="224376"/>
          </a:xfrm>
          <a:prstGeom prst="rect">
            <a:avLst/>
          </a:prstGeom>
          <a:solidFill>
            <a:srgbClr val="2676D5"/>
          </a:solidFill>
          <a:ln w="19050">
            <a:solidFill>
              <a:srgbClr val="1C7887"/>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white"/>
                </a:solidFill>
                <a:effectLst/>
                <a:uLnTx/>
                <a:uFillTx/>
                <a:latin typeface="Times New Roman" panose="02020503050405090304" pitchFamily="18" charset="0"/>
                <a:ea typeface="Mongolian Baiti" panose="03000500000000000000" charset="0"/>
                <a:cs typeface="Times New Roman" panose="02020503050405090304" pitchFamily="18" charset="0"/>
              </a:rPr>
              <a:t>Contents</a:t>
            </a:r>
            <a:endParaRPr kumimoji="0" lang="zh-CN" altLang="en-US" sz="1200" b="1" i="0" u="none" strike="noStrike" kern="1200" cap="none" spc="0" normalizeH="0" baseline="0" noProof="0" dirty="0">
              <a:ln>
                <a:noFill/>
              </a:ln>
              <a:solidFill>
                <a:prstClr val="white"/>
              </a:solidFill>
              <a:effectLst/>
              <a:uLnTx/>
              <a:uFillTx/>
              <a:latin typeface="Times New Roman" panose="02020503050405090304" pitchFamily="18" charset="0"/>
              <a:ea typeface="Mongolian Baiti" panose="03000500000000000000" charset="0"/>
              <a:cs typeface="Times New Roman" panose="02020503050405090304" pitchFamily="18" charset="0"/>
            </a:endParaRPr>
          </a:p>
        </p:txBody>
      </p:sp>
      <p:sp>
        <p:nvSpPr>
          <p:cNvPr id="2" name="文本框 1"/>
          <p:cNvSpPr txBox="1"/>
          <p:nvPr>
            <p:custDataLst>
              <p:tags r:id="rId1"/>
            </p:custDataLst>
          </p:nvPr>
        </p:nvSpPr>
        <p:spPr>
          <a:xfrm>
            <a:off x="2304767" y="3049003"/>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课题</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背景</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41" name="直接连接符 40"/>
          <p:cNvCxnSpPr/>
          <p:nvPr>
            <p:custDataLst>
              <p:tags r:id="rId2"/>
            </p:custDataLst>
          </p:nvPr>
        </p:nvCxnSpPr>
        <p:spPr>
          <a:xfrm>
            <a:off x="2336684" y="3525120"/>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custDataLst>
              <p:tags r:id="rId3"/>
            </p:custDataLst>
          </p:nvPr>
        </p:nvSpPr>
        <p:spPr>
          <a:xfrm>
            <a:off x="2338306" y="4737138"/>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研究</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内容</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50" name="直接连接符 49"/>
          <p:cNvCxnSpPr/>
          <p:nvPr>
            <p:custDataLst>
              <p:tags r:id="rId4"/>
            </p:custDataLst>
          </p:nvPr>
        </p:nvCxnSpPr>
        <p:spPr>
          <a:xfrm>
            <a:off x="2336684" y="5212861"/>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文本框 64"/>
          <p:cNvSpPr txBox="1"/>
          <p:nvPr>
            <p:custDataLst>
              <p:tags r:id="rId5"/>
            </p:custDataLst>
          </p:nvPr>
        </p:nvSpPr>
        <p:spPr>
          <a:xfrm>
            <a:off x="7346190" y="3052138"/>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相关</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研究</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66" name="直接连接符 65"/>
          <p:cNvCxnSpPr/>
          <p:nvPr>
            <p:custDataLst>
              <p:tags r:id="rId6"/>
            </p:custDataLst>
          </p:nvPr>
        </p:nvCxnSpPr>
        <p:spPr>
          <a:xfrm>
            <a:off x="7405820" y="3525120"/>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01" name="组合 100"/>
          <p:cNvGrpSpPr/>
          <p:nvPr>
            <p:custDataLst>
              <p:tags r:id="rId7"/>
            </p:custDataLst>
          </p:nvPr>
        </p:nvGrpSpPr>
        <p:grpSpPr>
          <a:xfrm>
            <a:off x="6725082" y="2952183"/>
            <a:ext cx="626780" cy="572938"/>
            <a:chOff x="6725082" y="2952183"/>
            <a:chExt cx="626780" cy="572938"/>
          </a:xfrm>
        </p:grpSpPr>
        <p:sp>
          <p:nvSpPr>
            <p:cNvPr id="67" name="矩形 66"/>
            <p:cNvSpPr/>
            <p:nvPr>
              <p:custDataLst>
                <p:tags r:id="rId8"/>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68" name="文本框 67"/>
            <p:cNvSpPr txBox="1"/>
            <p:nvPr>
              <p:custDataLst>
                <p:tags r:id="rId9"/>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02</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sp>
        <p:nvSpPr>
          <p:cNvPr id="72" name="文本框 71"/>
          <p:cNvSpPr txBox="1"/>
          <p:nvPr>
            <p:custDataLst>
              <p:tags r:id="rId10"/>
            </p:custDataLst>
          </p:nvPr>
        </p:nvSpPr>
        <p:spPr>
          <a:xfrm>
            <a:off x="7384656" y="4738737"/>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进度</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安排</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73" name="直接连接符 72"/>
          <p:cNvCxnSpPr/>
          <p:nvPr>
            <p:custDataLst>
              <p:tags r:id="rId11"/>
            </p:custDataLst>
          </p:nvPr>
        </p:nvCxnSpPr>
        <p:spPr>
          <a:xfrm>
            <a:off x="7405820" y="5212861"/>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6725082" y="4765275"/>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nvGrpSpPr>
          <p:cNvPr id="76" name="组合 75"/>
          <p:cNvGrpSpPr/>
          <p:nvPr/>
        </p:nvGrpSpPr>
        <p:grpSpPr>
          <a:xfrm>
            <a:off x="950465" y="1039880"/>
            <a:ext cx="606905" cy="606905"/>
            <a:chOff x="457868" y="6063062"/>
            <a:chExt cx="606905" cy="606905"/>
          </a:xfrm>
        </p:grpSpPr>
        <p:sp>
          <p:nvSpPr>
            <p:cNvPr id="77" name="弧形 76"/>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78" name="弧形 77"/>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79" name="弧形 7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0" name="弧形 7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1" name="弧形 8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82" name="组合 81"/>
          <p:cNvGrpSpPr/>
          <p:nvPr/>
        </p:nvGrpSpPr>
        <p:grpSpPr>
          <a:xfrm rot="3912631">
            <a:off x="1636460" y="5307898"/>
            <a:ext cx="876413" cy="876413"/>
            <a:chOff x="457868" y="6063062"/>
            <a:chExt cx="606905" cy="606905"/>
          </a:xfrm>
        </p:grpSpPr>
        <p:sp>
          <p:nvSpPr>
            <p:cNvPr id="83" name="弧形 8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4" name="弧形 8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5" name="弧形 8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6" name="弧形 8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7" name="弧形 8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88" name="组合 87"/>
          <p:cNvGrpSpPr/>
          <p:nvPr/>
        </p:nvGrpSpPr>
        <p:grpSpPr>
          <a:xfrm rot="3912631">
            <a:off x="8442312" y="5312286"/>
            <a:ext cx="442745" cy="442745"/>
            <a:chOff x="457868" y="6063062"/>
            <a:chExt cx="606905" cy="606905"/>
          </a:xfrm>
        </p:grpSpPr>
        <p:sp>
          <p:nvSpPr>
            <p:cNvPr id="89" name="弧形 8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0" name="弧形 8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1" name="弧形 9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2" name="弧形 9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3" name="弧形 9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94" name="组合 93"/>
          <p:cNvGrpSpPr/>
          <p:nvPr/>
        </p:nvGrpSpPr>
        <p:grpSpPr>
          <a:xfrm rot="7062595">
            <a:off x="10606921" y="1870198"/>
            <a:ext cx="667218" cy="667218"/>
            <a:chOff x="457868" y="6063062"/>
            <a:chExt cx="606905" cy="606905"/>
          </a:xfrm>
        </p:grpSpPr>
        <p:sp>
          <p:nvSpPr>
            <p:cNvPr id="95" name="弧形 94"/>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6" name="弧形 9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7" name="弧形 96"/>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8" name="弧形 97"/>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9" name="弧形 98"/>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3" name="组合 52"/>
          <p:cNvGrpSpPr/>
          <p:nvPr>
            <p:custDataLst>
              <p:tags r:id="rId12"/>
            </p:custDataLst>
          </p:nvPr>
        </p:nvGrpSpPr>
        <p:grpSpPr>
          <a:xfrm>
            <a:off x="1682983" y="2981625"/>
            <a:ext cx="626780" cy="572938"/>
            <a:chOff x="6725082" y="2952183"/>
            <a:chExt cx="626780" cy="572938"/>
          </a:xfrm>
        </p:grpSpPr>
        <p:sp>
          <p:nvSpPr>
            <p:cNvPr id="54" name="矩形 53"/>
            <p:cNvSpPr/>
            <p:nvPr>
              <p:custDataLst>
                <p:tags r:id="rId13"/>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55" name="文本框 54"/>
            <p:cNvSpPr txBox="1"/>
            <p:nvPr>
              <p:custDataLst>
                <p:tags r:id="rId14"/>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01</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grpSp>
        <p:nvGrpSpPr>
          <p:cNvPr id="56" name="组合 55"/>
          <p:cNvGrpSpPr/>
          <p:nvPr>
            <p:custDataLst>
              <p:tags r:id="rId15"/>
            </p:custDataLst>
          </p:nvPr>
        </p:nvGrpSpPr>
        <p:grpSpPr>
          <a:xfrm>
            <a:off x="6752003" y="4637743"/>
            <a:ext cx="626780" cy="572938"/>
            <a:chOff x="6725082" y="2952183"/>
            <a:chExt cx="626780" cy="572938"/>
          </a:xfrm>
        </p:grpSpPr>
        <p:sp>
          <p:nvSpPr>
            <p:cNvPr id="57" name="矩形 56"/>
            <p:cNvSpPr/>
            <p:nvPr>
              <p:custDataLst>
                <p:tags r:id="rId16"/>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58" name="文本框 57"/>
            <p:cNvSpPr txBox="1"/>
            <p:nvPr>
              <p:custDataLst>
                <p:tags r:id="rId17"/>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04</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grpSp>
        <p:nvGrpSpPr>
          <p:cNvPr id="59" name="组合 58"/>
          <p:cNvGrpSpPr/>
          <p:nvPr>
            <p:custDataLst>
              <p:tags r:id="rId18"/>
            </p:custDataLst>
          </p:nvPr>
        </p:nvGrpSpPr>
        <p:grpSpPr>
          <a:xfrm>
            <a:off x="1669464" y="4656726"/>
            <a:ext cx="626780" cy="572938"/>
            <a:chOff x="6725082" y="2952183"/>
            <a:chExt cx="626780" cy="572938"/>
          </a:xfrm>
        </p:grpSpPr>
        <p:sp>
          <p:nvSpPr>
            <p:cNvPr id="60" name="矩形 59"/>
            <p:cNvSpPr/>
            <p:nvPr>
              <p:custDataLst>
                <p:tags r:id="rId19"/>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61" name="文本框 60"/>
            <p:cNvSpPr txBox="1"/>
            <p:nvPr>
              <p:custDataLst>
                <p:tags r:id="rId20"/>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03</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sp>
        <p:nvSpPr>
          <p:cNvPr id="3" name="灯片编号占位符 2"/>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a:t>
            </a: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课题背景</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01</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38100" dir="2700000" algn="tl">
                    <a:srgbClr val="000000">
                      <a:alpha val="43137"/>
                    </a:srgbClr>
                  </a:outerShdw>
                </a:effectLst>
              </a:rPr>
              <a:t>课题背景</a:t>
            </a:r>
            <a:r>
              <a:rPr lang="en-US" altLang="zh-CN" sz="2400" dirty="0"/>
              <a:t>——</a:t>
            </a:r>
            <a:r>
              <a:rPr lang="zh-CN" altLang="en-US" sz="2400" dirty="0"/>
              <a:t>矩阵</a:t>
            </a:r>
            <a:r>
              <a:rPr lang="zh-CN" altLang="en-US" sz="2400" dirty="0"/>
              <a:t>求解需求</a:t>
            </a:r>
            <a:endParaRPr lang="zh-CN" altLang="en-US" sz="2400" dirty="0"/>
          </a:p>
        </p:txBody>
      </p:sp>
      <p:sp>
        <p:nvSpPr>
          <p:cNvPr id="3" name="内容占位符 2"/>
          <p:cNvSpPr>
            <a:spLocks noGrp="1" noChangeArrowheads="1"/>
          </p:cNvSpPr>
          <p:nvPr>
            <p:ph idx="1"/>
          </p:nvPr>
        </p:nvSpPr>
        <p:spPr>
          <a:xfrm>
            <a:off x="200660" y="892810"/>
            <a:ext cx="11814810" cy="2802890"/>
          </a:xfrm>
        </p:spPr>
        <p:txBody>
          <a:bodyPr/>
          <a:lstStyle/>
          <a:p>
            <a:pPr marL="0" indent="0">
              <a:lnSpc>
                <a:spcPct val="100000"/>
              </a:lnSpc>
              <a:buNone/>
            </a:pPr>
            <a:r>
              <a:rPr lang="en-US" altLang="zh-CN" sz="1600" dirty="0"/>
              <a:t>    </a:t>
            </a:r>
            <a:endParaRPr lang="en-US" altLang="zh-CN" sz="2000" dirty="0"/>
          </a:p>
        </p:txBody>
      </p:sp>
      <p:sp>
        <p:nvSpPr>
          <p:cNvPr id="13" name="文本框 12"/>
          <p:cNvSpPr txBox="1"/>
          <p:nvPr/>
        </p:nvSpPr>
        <p:spPr>
          <a:xfrm>
            <a:off x="433705" y="1007110"/>
            <a:ext cx="11090910" cy="2861310"/>
          </a:xfrm>
          <a:prstGeom prst="rect">
            <a:avLst/>
          </a:prstGeom>
          <a:noFill/>
        </p:spPr>
        <p:txBody>
          <a:bodyPr wrap="square" rtlCol="0">
            <a:spAutoFit/>
          </a:bodyPr>
          <a:p>
            <a:pPr indent="0" fontAlgn="auto">
              <a:lnSpc>
                <a:spcPct val="150000"/>
              </a:lnSpc>
              <a:buFont typeface="Wingdings" panose="05000000000000000000" charset="0"/>
              <a:buNone/>
            </a:pPr>
            <a:r>
              <a:rPr lang="zh-CN" altLang="en-US">
                <a:latin typeface="仿宋" panose="02010609060101010101" pitchFamily="49" charset="-122"/>
                <a:ea typeface="仿宋" panose="02010609060101010101" pitchFamily="49" charset="-122"/>
                <a:cs typeface="仿宋" panose="02010609060101010101" pitchFamily="49" charset="-122"/>
              </a:rPr>
              <a:t>矩阵求解是现代计算的核心任务之一，尤其在科学计算领域，稀疏矩阵的高效求解直接决定了复杂系统的建模精度与计算效率。在计算流体力学（</a:t>
            </a:r>
            <a:r>
              <a:rPr lang="en-US" altLang="zh-CN">
                <a:latin typeface="仿宋" panose="02010609060101010101" pitchFamily="49" charset="-122"/>
                <a:ea typeface="仿宋" panose="02010609060101010101" pitchFamily="49" charset="-122"/>
                <a:cs typeface="仿宋" panose="02010609060101010101" pitchFamily="49" charset="-122"/>
              </a:rPr>
              <a:t>CFD</a:t>
            </a:r>
            <a:r>
              <a:rPr lang="zh-CN" altLang="en-US">
                <a:latin typeface="仿宋" panose="02010609060101010101" pitchFamily="49" charset="-122"/>
                <a:ea typeface="仿宋" panose="02010609060101010101" pitchFamily="49" charset="-122"/>
                <a:cs typeface="仿宋" panose="02010609060101010101" pitchFamily="49" charset="-122"/>
              </a:rPr>
              <a:t>）中，纳维</a:t>
            </a:r>
            <a:r>
              <a:rPr lang="en-US" altLang="zh-CN">
                <a:latin typeface="仿宋" panose="02010609060101010101" pitchFamily="49" charset="-122"/>
                <a:ea typeface="仿宋" panose="02010609060101010101" pitchFamily="49" charset="-122"/>
                <a:cs typeface="仿宋" panose="02010609060101010101" pitchFamily="49" charset="-122"/>
              </a:rPr>
              <a:t>-</a:t>
            </a:r>
            <a:r>
              <a:rPr lang="zh-CN" altLang="en-US">
                <a:latin typeface="仿宋" panose="02010609060101010101" pitchFamily="49" charset="-122"/>
                <a:ea typeface="仿宋" panose="02010609060101010101" pitchFamily="49" charset="-122"/>
                <a:cs typeface="仿宋" panose="02010609060101010101" pitchFamily="49" charset="-122"/>
              </a:rPr>
              <a:t>斯托克斯方程的离散化生成大规模稀疏矩阵；结构力学分析通过有限元法将连续体分解为网格单元，形成稀疏刚度矩阵；量子化学计算中，分子轨道的薛定谔方程离散后同样产生稀疏哈密顿矩阵。这些场景均要求在保持数值稳定性的同时，通过高效存储（如</a:t>
            </a:r>
            <a:r>
              <a:rPr lang="en-US" altLang="zh-CN">
                <a:latin typeface="仿宋" panose="02010609060101010101" pitchFamily="49" charset="-122"/>
                <a:ea typeface="仿宋" panose="02010609060101010101" pitchFamily="49" charset="-122"/>
                <a:cs typeface="仿宋" panose="02010609060101010101" pitchFamily="49" charset="-122"/>
              </a:rPr>
              <a:t>CSR/CSC</a:t>
            </a:r>
            <a:r>
              <a:rPr lang="zh-CN" altLang="en-US">
                <a:latin typeface="仿宋" panose="02010609060101010101" pitchFamily="49" charset="-122"/>
                <a:ea typeface="仿宋" panose="02010609060101010101" pitchFamily="49" charset="-122"/>
                <a:cs typeface="仿宋" panose="02010609060101010101" pitchFamily="49" charset="-122"/>
              </a:rPr>
              <a:t>格式）和专用算法（如稀疏</a:t>
            </a:r>
            <a:r>
              <a:rPr lang="en-US" altLang="zh-CN">
                <a:latin typeface="仿宋" panose="02010609060101010101" pitchFamily="49" charset="-122"/>
                <a:ea typeface="仿宋" panose="02010609060101010101" pitchFamily="49" charset="-122"/>
                <a:cs typeface="仿宋" panose="02010609060101010101" pitchFamily="49" charset="-122"/>
              </a:rPr>
              <a:t>LU</a:t>
            </a:r>
            <a:r>
              <a:rPr lang="zh-CN" altLang="en-US">
                <a:latin typeface="仿宋" panose="02010609060101010101" pitchFamily="49" charset="-122"/>
                <a:ea typeface="仿宋" panose="02010609060101010101" pitchFamily="49" charset="-122"/>
                <a:cs typeface="仿宋" panose="02010609060101010101" pitchFamily="49" charset="-122"/>
              </a:rPr>
              <a:t>分解、迭代法预条件技术）</a:t>
            </a:r>
            <a:r>
              <a:rPr lang="zh-CN" altLang="en-US">
                <a:latin typeface="仿宋" panose="02010609060101010101" pitchFamily="49" charset="-122"/>
                <a:ea typeface="仿宋" panose="02010609060101010101" pitchFamily="49" charset="-122"/>
                <a:cs typeface="仿宋" panose="02010609060101010101" pitchFamily="49" charset="-122"/>
              </a:rPr>
              <a:t>来突破计算瓶颈。</a:t>
            </a:r>
            <a:endParaRPr lang="zh-CN" altLang="en-US">
              <a:latin typeface="仿宋" panose="02010609060101010101" pitchFamily="49" charset="-122"/>
              <a:ea typeface="仿宋" panose="02010609060101010101" pitchFamily="49" charset="-122"/>
              <a:cs typeface="仿宋" panose="02010609060101010101" pitchFamily="49" charset="-122"/>
            </a:endParaRPr>
          </a:p>
          <a:p>
            <a:pPr indent="0" fontAlgn="auto">
              <a:lnSpc>
                <a:spcPct val="150000"/>
              </a:lnSpc>
              <a:buFont typeface="Wingdings" panose="05000000000000000000" charset="0"/>
              <a:buNone/>
            </a:pPr>
            <a:endParaRPr lang="en-US" altLang="zh-CN">
              <a:latin typeface="仿宋" panose="02010609060101010101" pitchFamily="49" charset="-122"/>
              <a:ea typeface="仿宋" panose="02010609060101010101" pitchFamily="49" charset="-122"/>
              <a:cs typeface="仿宋" panose="02010609060101010101" pitchFamily="49" charset="-122"/>
            </a:endParaRPr>
          </a:p>
          <a:p>
            <a:pPr indent="0">
              <a:buFont typeface="Wingdings" panose="05000000000000000000" charset="0"/>
              <a:buNone/>
            </a:pPr>
            <a:endParaRPr lang="zh-CN" altLang="en-US"/>
          </a:p>
        </p:txBody>
      </p:sp>
      <p:grpSp>
        <p:nvGrpSpPr>
          <p:cNvPr id="5" name="组合 4"/>
          <p:cNvGrpSpPr/>
          <p:nvPr>
            <p:custDataLst>
              <p:tags r:id="rId1"/>
            </p:custDataLst>
          </p:nvPr>
        </p:nvGrpSpPr>
        <p:grpSpPr>
          <a:xfrm>
            <a:off x="721360" y="3502025"/>
            <a:ext cx="3388995" cy="2884494"/>
            <a:chOff x="714" y="5837"/>
            <a:chExt cx="4765" cy="3556"/>
          </a:xfrm>
        </p:grpSpPr>
        <p:pic>
          <p:nvPicPr>
            <p:cNvPr id="25" name="图片 24"/>
            <p:cNvPicPr/>
            <p:nvPr>
              <p:custDataLst>
                <p:tags r:id="rId2"/>
              </p:custDataLst>
            </p:nvPr>
          </p:nvPicPr>
          <p:blipFill>
            <a:blip r:embed="rId3"/>
            <a:stretch>
              <a:fillRect/>
            </a:stretch>
          </p:blipFill>
          <p:spPr>
            <a:xfrm>
              <a:off x="714" y="5837"/>
              <a:ext cx="4765" cy="2684"/>
            </a:xfrm>
            <a:prstGeom prst="rect">
              <a:avLst/>
            </a:prstGeom>
          </p:spPr>
        </p:pic>
        <p:sp>
          <p:nvSpPr>
            <p:cNvPr id="35" name="文本框 34"/>
            <p:cNvSpPr txBox="1"/>
            <p:nvPr>
              <p:custDataLst>
                <p:tags r:id="rId4"/>
              </p:custDataLst>
            </p:nvPr>
          </p:nvSpPr>
          <p:spPr>
            <a:xfrm>
              <a:off x="1081" y="9015"/>
              <a:ext cx="3893" cy="378"/>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计算</a:t>
              </a:r>
              <a:r>
                <a:rPr lang="zh-CN" altLang="en-US" sz="1400" b="1" dirty="0">
                  <a:solidFill>
                    <a:srgbClr val="0072A9"/>
                  </a:solidFill>
                  <a:latin typeface="微软雅黑" panose="020B0503020204020204" charset="-122"/>
                  <a:ea typeface="微软雅黑" panose="020B0503020204020204" charset="-122"/>
                </a:rPr>
                <a:t>流体力学</a:t>
              </a:r>
              <a:endParaRPr lang="zh-CN" altLang="en-US" sz="1400" b="1" dirty="0">
                <a:solidFill>
                  <a:srgbClr val="0072A9"/>
                </a:solidFill>
                <a:latin typeface="微软雅黑" panose="020B0503020204020204" charset="-122"/>
                <a:ea typeface="微软雅黑" panose="020B0503020204020204" charset="-122"/>
              </a:endParaRPr>
            </a:p>
          </p:txBody>
        </p:sp>
      </p:grpSp>
      <p:grpSp>
        <p:nvGrpSpPr>
          <p:cNvPr id="6" name="组合 5"/>
          <p:cNvGrpSpPr/>
          <p:nvPr>
            <p:custDataLst>
              <p:tags r:id="rId5"/>
            </p:custDataLst>
          </p:nvPr>
        </p:nvGrpSpPr>
        <p:grpSpPr>
          <a:xfrm>
            <a:off x="4338955" y="3502025"/>
            <a:ext cx="3475990" cy="2814778"/>
            <a:chOff x="6764" y="5837"/>
            <a:chExt cx="4784" cy="3567"/>
          </a:xfrm>
        </p:grpSpPr>
        <p:sp>
          <p:nvSpPr>
            <p:cNvPr id="24" name="文本框 23"/>
            <p:cNvSpPr txBox="1"/>
            <p:nvPr>
              <p:custDataLst>
                <p:tags r:id="rId6"/>
              </p:custDataLst>
            </p:nvPr>
          </p:nvSpPr>
          <p:spPr>
            <a:xfrm>
              <a:off x="7344" y="9015"/>
              <a:ext cx="3893" cy="389"/>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引力波计算</a:t>
              </a:r>
              <a:endParaRPr lang="zh-CN" altLang="en-US" sz="1400" b="1" dirty="0">
                <a:solidFill>
                  <a:srgbClr val="0072A9"/>
                </a:solidFill>
                <a:latin typeface="微软雅黑" panose="020B0503020204020204" charset="-122"/>
                <a:ea typeface="微软雅黑" panose="020B0503020204020204" charset="-122"/>
              </a:endParaRPr>
            </a:p>
          </p:txBody>
        </p:sp>
        <p:pic>
          <p:nvPicPr>
            <p:cNvPr id="7" name="图片 6" descr="Black-hole-merger"/>
            <p:cNvPicPr>
              <a:picLocks noChangeAspect="1"/>
            </p:cNvPicPr>
            <p:nvPr>
              <p:custDataLst>
                <p:tags r:id="rId7"/>
              </p:custDataLst>
            </p:nvPr>
          </p:nvPicPr>
          <p:blipFill>
            <a:blip r:embed="rId8"/>
            <a:stretch>
              <a:fillRect/>
            </a:stretch>
          </p:blipFill>
          <p:spPr>
            <a:xfrm>
              <a:off x="6764" y="5837"/>
              <a:ext cx="4784" cy="2692"/>
            </a:xfrm>
            <a:prstGeom prst="rect">
              <a:avLst/>
            </a:prstGeom>
          </p:spPr>
        </p:pic>
      </p:grpSp>
      <p:grpSp>
        <p:nvGrpSpPr>
          <p:cNvPr id="9" name="组合 8"/>
          <p:cNvGrpSpPr/>
          <p:nvPr>
            <p:custDataLst>
              <p:tags r:id="rId9"/>
            </p:custDataLst>
          </p:nvPr>
        </p:nvGrpSpPr>
        <p:grpSpPr>
          <a:xfrm>
            <a:off x="8043545" y="3538220"/>
            <a:ext cx="3818255" cy="2779747"/>
            <a:chOff x="12605" y="5837"/>
            <a:chExt cx="5546" cy="3572"/>
          </a:xfrm>
        </p:grpSpPr>
        <p:pic>
          <p:nvPicPr>
            <p:cNvPr id="8" name="图片 7"/>
            <p:cNvPicPr/>
            <p:nvPr>
              <p:custDataLst>
                <p:tags r:id="rId10"/>
              </p:custDataLst>
            </p:nvPr>
          </p:nvPicPr>
          <p:blipFill>
            <a:blip r:embed="rId11"/>
            <a:stretch>
              <a:fillRect/>
            </a:stretch>
          </p:blipFill>
          <p:spPr>
            <a:xfrm>
              <a:off x="12605" y="5837"/>
              <a:ext cx="5546" cy="2683"/>
            </a:xfrm>
            <a:prstGeom prst="rect">
              <a:avLst/>
            </a:prstGeom>
          </p:spPr>
        </p:pic>
        <p:sp>
          <p:nvSpPr>
            <p:cNvPr id="10" name="文本框 9"/>
            <p:cNvSpPr txBox="1"/>
            <p:nvPr>
              <p:custDataLst>
                <p:tags r:id="rId12"/>
              </p:custDataLst>
            </p:nvPr>
          </p:nvSpPr>
          <p:spPr>
            <a:xfrm>
              <a:off x="13431" y="9015"/>
              <a:ext cx="3893" cy="394"/>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气候预测</a:t>
              </a:r>
              <a:endParaRPr lang="zh-CN" altLang="en-US" sz="1400" b="1" dirty="0">
                <a:solidFill>
                  <a:srgbClr val="0072A9"/>
                </a:solidFill>
                <a:latin typeface="微软雅黑" panose="020B0503020204020204" charset="-122"/>
                <a:ea typeface="微软雅黑" panose="020B050302020402020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38100" dir="2700000" algn="tl">
                    <a:srgbClr val="000000">
                      <a:alpha val="43137"/>
                    </a:srgbClr>
                  </a:outerShdw>
                </a:effectLst>
              </a:rPr>
              <a:t>课题背景</a:t>
            </a:r>
            <a:r>
              <a:rPr lang="en-US" altLang="zh-CN" sz="2400" dirty="0"/>
              <a:t>——</a:t>
            </a:r>
            <a:r>
              <a:rPr lang="en-US" altLang="zh-CN" sz="2400" dirty="0">
                <a:latin typeface="Times New Roman" panose="02020503050405090304" pitchFamily="18" charset="0"/>
                <a:cs typeface="Times New Roman" panose="02020503050405090304" pitchFamily="18" charset="0"/>
              </a:rPr>
              <a:t>TPU</a:t>
            </a:r>
            <a:r>
              <a:rPr lang="zh-CN" altLang="en-US" sz="2400" dirty="0">
                <a:latin typeface="Times New Roman" panose="02020503050405090304" pitchFamily="18" charset="0"/>
                <a:cs typeface="Times New Roman" panose="02020503050405090304" pitchFamily="18" charset="0"/>
              </a:rPr>
              <a:t>（张量处理器）阵列</a:t>
            </a:r>
            <a:endParaRPr lang="zh-CN" altLang="en-US" sz="2400" dirty="0">
              <a:latin typeface="Times New Roman" panose="02020503050405090304" pitchFamily="18" charset="0"/>
              <a:cs typeface="Times New Roman" panose="02020503050405090304" pitchFamily="18" charset="0"/>
            </a:endParaRPr>
          </a:p>
        </p:txBody>
      </p:sp>
      <p:sp>
        <p:nvSpPr>
          <p:cNvPr id="3" name="内容占位符 2"/>
          <p:cNvSpPr>
            <a:spLocks noGrp="1" noChangeArrowheads="1"/>
          </p:cNvSpPr>
          <p:nvPr>
            <p:ph idx="1"/>
          </p:nvPr>
        </p:nvSpPr>
        <p:spPr>
          <a:xfrm>
            <a:off x="200660" y="892810"/>
            <a:ext cx="11814810" cy="1698625"/>
          </a:xfrm>
        </p:spPr>
        <p:txBody>
          <a:bodyPr/>
          <a:lstStyle/>
          <a:p>
            <a:pPr marL="0" indent="0">
              <a:lnSpc>
                <a:spcPct val="100000"/>
              </a:lnSpc>
              <a:buNone/>
            </a:pPr>
            <a:r>
              <a:rPr lang="en-US" altLang="zh-CN" sz="2000" dirty="0"/>
              <a:t>    </a:t>
            </a:r>
            <a:r>
              <a:rPr lang="en-US" altLang="zh-CN" sz="2000">
                <a:sym typeface="+mn-ea"/>
              </a:rPr>
              <a:t>2016</a:t>
            </a:r>
            <a:r>
              <a:rPr lang="zh-CN" altLang="en-US" sz="2000">
                <a:sym typeface="+mn-ea"/>
              </a:rPr>
              <a:t>年，谷歌推出了张量处理器</a:t>
            </a:r>
            <a:r>
              <a:rPr lang="en-US" altLang="zh-CN" sz="2000">
                <a:sym typeface="+mn-ea"/>
              </a:rPr>
              <a:t>TPU</a:t>
            </a:r>
            <a:r>
              <a:rPr lang="zh-CN" altLang="en-US" sz="2000">
                <a:sym typeface="+mn-ea"/>
              </a:rPr>
              <a:t>（</a:t>
            </a:r>
            <a:r>
              <a:rPr lang="en-US" altLang="zh-CN" sz="2000">
                <a:sym typeface="+mn-ea"/>
              </a:rPr>
              <a:t>Tensor Processing Unit</a:t>
            </a:r>
            <a:r>
              <a:rPr lang="zh-CN" altLang="en-US" sz="2000">
                <a:sym typeface="+mn-ea"/>
              </a:rPr>
              <a:t>）</a:t>
            </a:r>
            <a:r>
              <a:rPr lang="en-US" altLang="zh-CN" sz="2000">
                <a:sym typeface="+mn-ea"/>
              </a:rPr>
              <a:t>,</a:t>
            </a:r>
            <a:r>
              <a:rPr lang="zh-CN" altLang="en-US" sz="2000" dirty="0">
                <a:sym typeface="+mn-ea"/>
              </a:rPr>
              <a:t>旨在</a:t>
            </a:r>
            <a:r>
              <a:rPr lang="en-US" altLang="zh-CN" sz="2000" dirty="0">
                <a:sym typeface="+mn-ea"/>
              </a:rPr>
              <a:t>提供高性能、低功耗和高效能的矩阵运算。</a:t>
            </a:r>
            <a:r>
              <a:rPr lang="zh-CN" altLang="en-US" sz="2000"/>
              <a:t>随后的日子里，谷歌陆续推出了</a:t>
            </a:r>
            <a:r>
              <a:rPr lang="en-US" altLang="zh-CN" sz="2000"/>
              <a:t>TPUv2</a:t>
            </a:r>
            <a:r>
              <a:rPr lang="zh-CN" altLang="en-US" sz="2000"/>
              <a:t>、</a:t>
            </a:r>
            <a:r>
              <a:rPr lang="en-US" altLang="zh-CN" sz="2000"/>
              <a:t>TPUv3</a:t>
            </a:r>
            <a:r>
              <a:rPr lang="zh-CN" altLang="en-US" sz="2000"/>
              <a:t>和</a:t>
            </a:r>
            <a:r>
              <a:rPr lang="en-US" altLang="zh-CN" sz="2000"/>
              <a:t>TPUv4</a:t>
            </a:r>
            <a:r>
              <a:rPr lang="zh-CN" altLang="en-US" sz="2000"/>
              <a:t>等多个迭代版本，并引入了</a:t>
            </a:r>
            <a:r>
              <a:rPr lang="en-US" altLang="zh-CN" sz="2000"/>
              <a:t>TPU Pod</a:t>
            </a:r>
            <a:r>
              <a:rPr lang="zh-CN" altLang="en-US" sz="2000"/>
              <a:t>的概念，即</a:t>
            </a:r>
            <a:r>
              <a:rPr lang="en-US" altLang="zh-CN" sz="2000"/>
              <a:t>TPU</a:t>
            </a:r>
            <a:r>
              <a:rPr lang="zh-CN" altLang="en-US" sz="2000"/>
              <a:t>计算集群。其中，</a:t>
            </a:r>
            <a:r>
              <a:rPr lang="en-US" altLang="zh-CN" sz="2000"/>
              <a:t>TPUv2</a:t>
            </a:r>
            <a:r>
              <a:rPr lang="zh-CN" altLang="en-US" sz="2000"/>
              <a:t>和</a:t>
            </a:r>
            <a:r>
              <a:rPr lang="en-US" altLang="zh-CN" sz="2000"/>
              <a:t>TPUv3</a:t>
            </a:r>
            <a:r>
              <a:rPr lang="zh-CN" altLang="en-US" sz="2000"/>
              <a:t>采用了</a:t>
            </a:r>
            <a:r>
              <a:rPr lang="en-US" altLang="zh-CN" sz="2000"/>
              <a:t>2D</a:t>
            </a:r>
            <a:r>
              <a:rPr lang="zh-CN" altLang="en-US" sz="2000"/>
              <a:t>环形网络（</a:t>
            </a:r>
            <a:r>
              <a:rPr lang="en-US" altLang="zh-CN" sz="2000"/>
              <a:t>2D torus</a:t>
            </a:r>
            <a:r>
              <a:rPr lang="zh-CN" altLang="en-US" sz="2000"/>
              <a:t>）拓扑结构，而</a:t>
            </a:r>
            <a:r>
              <a:rPr lang="en-US" altLang="zh-CN" sz="2000"/>
              <a:t>TPUv4</a:t>
            </a:r>
            <a:r>
              <a:rPr lang="zh-CN" altLang="en-US" sz="2000"/>
              <a:t>在此基础上进一步发展，采用了</a:t>
            </a:r>
            <a:r>
              <a:rPr lang="en-US" altLang="zh-CN" sz="2000"/>
              <a:t>3D</a:t>
            </a:r>
            <a:r>
              <a:rPr lang="zh-CN" altLang="en-US" sz="2000"/>
              <a:t>环形网络（</a:t>
            </a:r>
            <a:r>
              <a:rPr lang="en-US" altLang="zh-CN" sz="2000"/>
              <a:t>3D torus</a:t>
            </a:r>
            <a:r>
              <a:rPr lang="zh-CN" altLang="en-US" sz="2000"/>
              <a:t>）拓扑结构。每个</a:t>
            </a:r>
            <a:r>
              <a:rPr lang="en-US" altLang="zh-CN" sz="2000"/>
              <a:t>TPUv4 Pod</a:t>
            </a:r>
            <a:r>
              <a:rPr lang="zh-CN" altLang="en-US" sz="2000"/>
              <a:t>包含</a:t>
            </a:r>
            <a:r>
              <a:rPr lang="en-US" altLang="zh-CN" sz="2000"/>
              <a:t>4096</a:t>
            </a:r>
            <a:r>
              <a:rPr lang="zh-CN" altLang="en-US" sz="2000"/>
              <a:t>张</a:t>
            </a:r>
            <a:r>
              <a:rPr lang="en-US" altLang="zh-CN" sz="2000"/>
              <a:t>TPU</a:t>
            </a:r>
            <a:r>
              <a:rPr lang="zh-CN" altLang="en-US" sz="2000"/>
              <a:t>板卡，板卡之间通过</a:t>
            </a:r>
            <a:r>
              <a:rPr lang="en-US" altLang="zh-CN" sz="2000"/>
              <a:t>ICI</a:t>
            </a:r>
            <a:r>
              <a:rPr lang="zh-CN" altLang="en-US" sz="2000"/>
              <a:t>网络实现高效连接。</a:t>
            </a:r>
            <a:endParaRPr lang="zh-CN" altLang="en-US" sz="2000"/>
          </a:p>
        </p:txBody>
      </p:sp>
      <p:sp>
        <p:nvSpPr>
          <p:cNvPr id="5" name="文本框 4"/>
          <p:cNvSpPr txBox="1"/>
          <p:nvPr/>
        </p:nvSpPr>
        <p:spPr>
          <a:xfrm>
            <a:off x="718185" y="6031230"/>
            <a:ext cx="2472055" cy="306705"/>
          </a:xfrm>
          <a:prstGeom prst="rect">
            <a:avLst/>
          </a:prstGeom>
          <a:noFill/>
        </p:spPr>
        <p:txBody>
          <a:bodyPr wrap="square" rtlCol="0">
            <a:spAutoFit/>
          </a:bodyPr>
          <a:p>
            <a:pPr marL="0" lvl="1" algn="ctr">
              <a:spcBef>
                <a:spcPts val="1000"/>
              </a:spcBef>
              <a:spcAft>
                <a:spcPts val="450"/>
              </a:spcAft>
              <a:buClrTx/>
              <a:buSzTx/>
              <a:buFontTx/>
            </a:pPr>
            <a:r>
              <a:rPr lang="en-US" altLang="zh-CN" sz="1400" b="1" dirty="0">
                <a:solidFill>
                  <a:srgbClr val="0072A9"/>
                </a:solidFill>
                <a:latin typeface="微软雅黑" panose="020B0503020204020204" charset="-122"/>
                <a:ea typeface="微软雅黑" panose="020B0503020204020204" charset="-122"/>
              </a:rPr>
              <a:t>2D torus</a:t>
            </a:r>
            <a:r>
              <a:rPr lang="zh-CN" altLang="en-US" sz="1400" b="1" dirty="0">
                <a:solidFill>
                  <a:srgbClr val="0072A9"/>
                </a:solidFill>
                <a:latin typeface="微软雅黑" panose="020B0503020204020204" charset="-122"/>
                <a:ea typeface="微软雅黑" panose="020B0503020204020204" charset="-122"/>
              </a:rPr>
              <a:t>网络拓扑结构</a:t>
            </a:r>
            <a:endParaRPr lang="zh-CN" altLang="en-US" sz="1400" b="1" dirty="0">
              <a:solidFill>
                <a:srgbClr val="0072A9"/>
              </a:solidFill>
              <a:latin typeface="微软雅黑" panose="020B0503020204020204" charset="-122"/>
              <a:ea typeface="微软雅黑" panose="020B0503020204020204" charset="-122"/>
            </a:endParaRPr>
          </a:p>
        </p:txBody>
      </p:sp>
      <p:sp>
        <p:nvSpPr>
          <p:cNvPr id="9" name="文本框 8"/>
          <p:cNvSpPr txBox="1"/>
          <p:nvPr/>
        </p:nvSpPr>
        <p:spPr>
          <a:xfrm>
            <a:off x="4532630" y="6031230"/>
            <a:ext cx="2850515" cy="306705"/>
          </a:xfrm>
          <a:prstGeom prst="rect">
            <a:avLst/>
          </a:prstGeom>
          <a:noFill/>
        </p:spPr>
        <p:txBody>
          <a:bodyPr wrap="square" rtlCol="0">
            <a:spAutoFit/>
          </a:bodyPr>
          <a:p>
            <a:pPr marL="0" lvl="1" algn="ctr">
              <a:spcBef>
                <a:spcPts val="1000"/>
              </a:spcBef>
              <a:spcAft>
                <a:spcPts val="450"/>
              </a:spcAft>
              <a:buClrTx/>
              <a:buSzTx/>
              <a:buFontTx/>
            </a:pPr>
            <a:r>
              <a:rPr lang="en-US" altLang="zh-CN" sz="1400" b="1" dirty="0">
                <a:solidFill>
                  <a:srgbClr val="0072A9"/>
                </a:solidFill>
                <a:latin typeface="微软雅黑" panose="020B0503020204020204" charset="-122"/>
                <a:ea typeface="微软雅黑" panose="020B0503020204020204" charset="-122"/>
                <a:sym typeface="+mn-ea"/>
              </a:rPr>
              <a:t>3D torus</a:t>
            </a:r>
            <a:r>
              <a:rPr lang="zh-CN" altLang="en-US" sz="1400" b="1" dirty="0">
                <a:solidFill>
                  <a:srgbClr val="0072A9"/>
                </a:solidFill>
                <a:latin typeface="微软雅黑" panose="020B0503020204020204" charset="-122"/>
                <a:ea typeface="微软雅黑" panose="020B0503020204020204" charset="-122"/>
                <a:sym typeface="+mn-ea"/>
              </a:rPr>
              <a:t>网络拓扑结构</a:t>
            </a:r>
            <a:endParaRPr lang="zh-CN" altLang="en-US" sz="1400" b="1" dirty="0">
              <a:solidFill>
                <a:srgbClr val="0072A9"/>
              </a:solidFill>
              <a:latin typeface="微软雅黑" panose="020B0503020204020204" charset="-122"/>
              <a:ea typeface="微软雅黑" panose="020B0503020204020204" charset="-122"/>
            </a:endParaRPr>
          </a:p>
        </p:txBody>
      </p:sp>
      <p:sp>
        <p:nvSpPr>
          <p:cNvPr id="14" name="文本框 13"/>
          <p:cNvSpPr txBox="1"/>
          <p:nvPr/>
        </p:nvSpPr>
        <p:spPr>
          <a:xfrm>
            <a:off x="8522335" y="6031230"/>
            <a:ext cx="2850515" cy="306705"/>
          </a:xfrm>
          <a:prstGeom prst="rect">
            <a:avLst/>
          </a:prstGeom>
          <a:noFill/>
        </p:spPr>
        <p:txBody>
          <a:bodyPr wrap="square" rtlCol="0">
            <a:spAutoFit/>
          </a:bodyPr>
          <a:p>
            <a:pPr marL="0" lvl="1" algn="ctr">
              <a:spcBef>
                <a:spcPts val="1000"/>
              </a:spcBef>
              <a:spcAft>
                <a:spcPts val="450"/>
              </a:spcAft>
              <a:buClrTx/>
              <a:buSzTx/>
              <a:buFontTx/>
            </a:pPr>
            <a:r>
              <a:rPr lang="en-US" sz="1400" b="1" dirty="0">
                <a:solidFill>
                  <a:srgbClr val="0072A9"/>
                </a:solidFill>
                <a:latin typeface="微软雅黑" panose="020B0503020204020204" charset="-122"/>
                <a:ea typeface="微软雅黑" panose="020B0503020204020204" charset="-122"/>
                <a:sym typeface="+mn-ea"/>
              </a:rPr>
              <a:t>TPUv4 Pod</a:t>
            </a:r>
            <a:r>
              <a:rPr lang="zh-CN" altLang="en-US" sz="1400" b="1" dirty="0">
                <a:solidFill>
                  <a:srgbClr val="0072A9"/>
                </a:solidFill>
                <a:latin typeface="微软雅黑" panose="020B0503020204020204" charset="-122"/>
                <a:ea typeface="微软雅黑" panose="020B0503020204020204" charset="-122"/>
                <a:sym typeface="+mn-ea"/>
              </a:rPr>
              <a:t>部分结构图</a:t>
            </a:r>
            <a:endParaRPr lang="zh-CN" altLang="en-US" sz="1400" b="1" dirty="0">
              <a:solidFill>
                <a:srgbClr val="0072A9"/>
              </a:solidFill>
              <a:latin typeface="微软雅黑" panose="020B0503020204020204" charset="-122"/>
              <a:ea typeface="微软雅黑" panose="020B0503020204020204" charset="-122"/>
              <a:sym typeface="+mn-ea"/>
            </a:endParaRPr>
          </a:p>
        </p:txBody>
      </p:sp>
      <p:pic>
        <p:nvPicPr>
          <p:cNvPr id="15" name="图片 14"/>
          <p:cNvPicPr>
            <a:picLocks noChangeAspect="1"/>
          </p:cNvPicPr>
          <p:nvPr/>
        </p:nvPicPr>
        <p:blipFill>
          <a:blip r:embed="rId1"/>
          <a:stretch>
            <a:fillRect/>
          </a:stretch>
        </p:blipFill>
        <p:spPr>
          <a:xfrm>
            <a:off x="4004310" y="3089910"/>
            <a:ext cx="3499485" cy="2882265"/>
          </a:xfrm>
          <a:prstGeom prst="rect">
            <a:avLst/>
          </a:prstGeom>
        </p:spPr>
      </p:pic>
      <p:pic>
        <p:nvPicPr>
          <p:cNvPr id="16" name="图片 15"/>
          <p:cNvPicPr>
            <a:picLocks noChangeAspect="1"/>
          </p:cNvPicPr>
          <p:nvPr/>
        </p:nvPicPr>
        <p:blipFill>
          <a:blip r:embed="rId2"/>
          <a:srcRect l="49780"/>
          <a:stretch>
            <a:fillRect/>
          </a:stretch>
        </p:blipFill>
        <p:spPr>
          <a:xfrm>
            <a:off x="8077200" y="3536950"/>
            <a:ext cx="3938270" cy="2233295"/>
          </a:xfrm>
          <a:prstGeom prst="rect">
            <a:avLst/>
          </a:prstGeom>
        </p:spPr>
      </p:pic>
      <p:pic>
        <p:nvPicPr>
          <p:cNvPr id="17" name="图片 16"/>
          <p:cNvPicPr/>
          <p:nvPr/>
        </p:nvPicPr>
        <p:blipFill>
          <a:blip r:embed="rId3"/>
          <a:stretch>
            <a:fillRect/>
          </a:stretch>
        </p:blipFill>
        <p:spPr>
          <a:xfrm>
            <a:off x="508635" y="3141345"/>
            <a:ext cx="2967355" cy="25234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234315" y="1692275"/>
            <a:ext cx="2830830" cy="3342640"/>
          </a:xfrm>
          <a:prstGeom prst="roundRect">
            <a:avLst/>
          </a:prstGeom>
          <a:solidFill>
            <a:schemeClr val="accent1">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2" name="标题 1"/>
          <p:cNvSpPr>
            <a:spLocks noGrp="1"/>
          </p:cNvSpPr>
          <p:nvPr>
            <p:ph type="title"/>
          </p:nvPr>
        </p:nvSpPr>
        <p:spPr/>
        <p:txBody>
          <a:bodyPr/>
          <a:lstStyle/>
          <a:p>
            <a:r>
              <a:rPr lang="zh-CN" altLang="en-US" dirty="0">
                <a:ln w="0"/>
                <a:effectLst>
                  <a:outerShdw blurRad="38100" dist="38100" dir="2700000" algn="tl">
                    <a:srgbClr val="000000">
                      <a:alpha val="43137"/>
                    </a:srgbClr>
                  </a:outerShdw>
                </a:effectLst>
              </a:rPr>
              <a:t>课题背景</a:t>
            </a:r>
            <a:r>
              <a:rPr lang="en-US" altLang="zh-CN" sz="2400" dirty="0"/>
              <a:t>—— MUMPS</a:t>
            </a:r>
            <a:r>
              <a:rPr lang="zh-CN" altLang="en-US" sz="2400" dirty="0"/>
              <a:t>求解器</a:t>
            </a:r>
            <a:r>
              <a:rPr lang="en-US" altLang="zh-CN" sz="2400" dirty="0"/>
              <a:t> </a:t>
            </a:r>
            <a:r>
              <a:rPr lang="zh-CN" altLang="en-US" sz="2400" dirty="0"/>
              <a:t>分析</a:t>
            </a:r>
            <a:r>
              <a:rPr lang="en-US" altLang="zh-CN" sz="2400" dirty="0"/>
              <a:t>-</a:t>
            </a:r>
            <a:r>
              <a:rPr lang="zh-CN" altLang="en-US" sz="2400" dirty="0"/>
              <a:t>分解</a:t>
            </a:r>
            <a:r>
              <a:rPr lang="en-US" altLang="zh-CN" sz="2400" dirty="0"/>
              <a:t>-</a:t>
            </a:r>
            <a:r>
              <a:rPr lang="zh-CN" altLang="en-US" sz="2400" dirty="0"/>
              <a:t>求解三阶段框架</a:t>
            </a:r>
            <a:endParaRPr lang="zh-CN" altLang="en-US" sz="2400" dirty="0"/>
          </a:p>
        </p:txBody>
      </p:sp>
      <p:sp>
        <p:nvSpPr>
          <p:cNvPr id="31" name="标题"/>
          <p:cNvSpPr txBox="1"/>
          <p:nvPr>
            <p:custDataLst>
              <p:tags r:id="rId1"/>
            </p:custDataLst>
          </p:nvPr>
        </p:nvSpPr>
        <p:spPr>
          <a:xfrm>
            <a:off x="759143" y="1926591"/>
            <a:ext cx="1851660" cy="364490"/>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latin typeface="+mn-ea"/>
              </a:rPr>
              <a:t>分析阶段</a:t>
            </a:r>
            <a:endParaRPr lang="zh-CN" altLang="en-US" sz="1600" spc="300" dirty="0">
              <a:solidFill>
                <a:schemeClr val="tx1"/>
              </a:solidFill>
              <a:latin typeface="+mn-ea"/>
            </a:endParaRPr>
          </a:p>
        </p:txBody>
      </p:sp>
      <p:sp>
        <p:nvSpPr>
          <p:cNvPr id="32" name="正文"/>
          <p:cNvSpPr txBox="1"/>
          <p:nvPr>
            <p:custDataLst>
              <p:tags r:id="rId2"/>
            </p:custDataLst>
          </p:nvPr>
        </p:nvSpPr>
        <p:spPr>
          <a:xfrm>
            <a:off x="611505" y="2445385"/>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预处理步骤。它完全基于矩阵</a:t>
            </a:r>
            <a:r>
              <a:rPr lang="en-US" altLang="zh-CN" sz="1400">
                <a:sym typeface="+mn-ea"/>
              </a:rPr>
              <a:t> A </a:t>
            </a:r>
            <a:r>
              <a:rPr lang="zh-CN" altLang="en-US" sz="1400">
                <a:sym typeface="+mn-ea"/>
              </a:rPr>
              <a:t>的稀疏模式，该阶段的核心任务有两个：对矩阵重排和对分解后矩阵的非零因子预测</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7" name="圆角矩形 6"/>
          <p:cNvSpPr/>
          <p:nvPr/>
        </p:nvSpPr>
        <p:spPr>
          <a:xfrm>
            <a:off x="4512945" y="1692275"/>
            <a:ext cx="2830830" cy="3342640"/>
          </a:xfrm>
          <a:prstGeom prst="roundRect">
            <a:avLst/>
          </a:prstGeom>
          <a:solidFill>
            <a:schemeClr val="accent2">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9" name="标题"/>
          <p:cNvSpPr txBox="1"/>
          <p:nvPr>
            <p:custDataLst>
              <p:tags r:id="rId3"/>
            </p:custDataLst>
          </p:nvPr>
        </p:nvSpPr>
        <p:spPr>
          <a:xfrm>
            <a:off x="5001578" y="1926591"/>
            <a:ext cx="1851660" cy="364490"/>
          </a:xfrm>
          <a:prstGeom prst="rect">
            <a:avLst/>
          </a:prstGeom>
          <a:ln>
            <a:solidFill>
              <a:schemeClr val="accent2">
                <a:lumMod val="60000"/>
                <a:lumOff val="40000"/>
              </a:schemeClr>
            </a:solidFill>
          </a:ln>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effectLst>
                  <a:outerShdw blurRad="38100" dist="19050" dir="2700000" algn="tl" rotWithShape="0">
                    <a:schemeClr val="dk1">
                      <a:alpha val="40000"/>
                    </a:schemeClr>
                  </a:outerShdw>
                </a:effectLst>
                <a:latin typeface="+mn-ea"/>
              </a:rPr>
              <a:t>分解阶段</a:t>
            </a:r>
            <a:endParaRPr lang="zh-CN" altLang="en-US" sz="1600" spc="300" dirty="0">
              <a:solidFill>
                <a:schemeClr val="tx1"/>
              </a:solidFill>
              <a:effectLst>
                <a:outerShdw blurRad="38100" dist="19050" dir="2700000" algn="tl" rotWithShape="0">
                  <a:schemeClr val="dk1">
                    <a:alpha val="40000"/>
                  </a:schemeClr>
                </a:outerShdw>
              </a:effectLst>
              <a:latin typeface="+mn-ea"/>
            </a:endParaRPr>
          </a:p>
        </p:txBody>
      </p:sp>
      <p:sp>
        <p:nvSpPr>
          <p:cNvPr id="13" name="圆角矩形 12"/>
          <p:cNvSpPr/>
          <p:nvPr/>
        </p:nvSpPr>
        <p:spPr>
          <a:xfrm>
            <a:off x="9066530" y="1692275"/>
            <a:ext cx="2830830" cy="3342640"/>
          </a:xfrm>
          <a:prstGeom prst="roundRect">
            <a:avLst/>
          </a:prstGeom>
          <a:solidFill>
            <a:schemeClr val="accent1">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14" name="标题"/>
          <p:cNvSpPr txBox="1"/>
          <p:nvPr>
            <p:custDataLst>
              <p:tags r:id="rId4"/>
            </p:custDataLst>
          </p:nvPr>
        </p:nvSpPr>
        <p:spPr>
          <a:xfrm>
            <a:off x="9591358" y="1926591"/>
            <a:ext cx="1851660" cy="364490"/>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latin typeface="+mn-ea"/>
              </a:rPr>
              <a:t>求解阶段</a:t>
            </a:r>
            <a:endParaRPr lang="zh-CN" altLang="en-US" sz="1600" spc="300" dirty="0">
              <a:solidFill>
                <a:schemeClr val="tx1"/>
              </a:solidFill>
              <a:latin typeface="+mn-ea"/>
            </a:endParaRPr>
          </a:p>
        </p:txBody>
      </p:sp>
      <p:sp>
        <p:nvSpPr>
          <p:cNvPr id="16" name="正文"/>
          <p:cNvSpPr txBox="1"/>
          <p:nvPr>
            <p:custDataLst>
              <p:tags r:id="rId5"/>
            </p:custDataLst>
          </p:nvPr>
        </p:nvSpPr>
        <p:spPr>
          <a:xfrm>
            <a:off x="4927600" y="2445385"/>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求解器利用分析阶段得到的重排顺序和因子结构信息，对矩阵进行实际的数值分解，计算出三角因子</a:t>
            </a:r>
            <a:r>
              <a:rPr lang="en-US" altLang="zh-CN" sz="1400">
                <a:sym typeface="+mn-ea"/>
              </a:rPr>
              <a:t>L </a:t>
            </a:r>
            <a:r>
              <a:rPr lang="zh-CN" altLang="en-US" sz="1400">
                <a:sym typeface="+mn-ea"/>
              </a:rPr>
              <a:t>和</a:t>
            </a:r>
            <a:r>
              <a:rPr lang="en-US" altLang="zh-CN" sz="1400">
                <a:sym typeface="+mn-ea"/>
              </a:rPr>
              <a:t> U </a:t>
            </a:r>
            <a:r>
              <a:rPr lang="zh-CN" altLang="en-US" sz="1400">
                <a:sym typeface="+mn-ea"/>
              </a:rPr>
              <a:t>的所有非零元素的具体数值</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17" name="正文"/>
          <p:cNvSpPr txBox="1"/>
          <p:nvPr>
            <p:custDataLst>
              <p:tags r:id="rId6"/>
            </p:custDataLst>
          </p:nvPr>
        </p:nvSpPr>
        <p:spPr>
          <a:xfrm>
            <a:off x="9457055" y="2445385"/>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利用已计算出的三角因子</a:t>
            </a:r>
            <a:r>
              <a:rPr lang="en-US" altLang="zh-CN" sz="1400">
                <a:sym typeface="+mn-ea"/>
              </a:rPr>
              <a:t> L </a:t>
            </a:r>
            <a:r>
              <a:rPr lang="zh-CN" altLang="en-US" sz="1400">
                <a:sym typeface="+mn-ea"/>
              </a:rPr>
              <a:t>和</a:t>
            </a:r>
            <a:r>
              <a:rPr lang="en-US" altLang="zh-CN" sz="1400">
                <a:sym typeface="+mn-ea"/>
              </a:rPr>
              <a:t> U </a:t>
            </a:r>
            <a:r>
              <a:rPr lang="zh-CN" altLang="en-US" sz="1400">
                <a:sym typeface="+mn-ea"/>
              </a:rPr>
              <a:t>来求解方程组。对于给定的右端项向量</a:t>
            </a:r>
            <a:r>
              <a:rPr lang="en-US" altLang="zh-CN" sz="1400">
                <a:sym typeface="+mn-ea"/>
              </a:rPr>
              <a:t> b</a:t>
            </a:r>
            <a:r>
              <a:rPr lang="zh-CN" altLang="en-US" sz="1400">
                <a:sym typeface="+mn-ea"/>
              </a:rPr>
              <a:t>，通过前向和后向替换来计算解向量</a:t>
            </a:r>
            <a:r>
              <a:rPr lang="en-US" altLang="zh-CN" sz="1400">
                <a:sym typeface="+mn-ea"/>
              </a:rPr>
              <a:t> x</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3" name="右箭头 2"/>
          <p:cNvSpPr/>
          <p:nvPr/>
        </p:nvSpPr>
        <p:spPr>
          <a:xfrm>
            <a:off x="3187700" y="2880360"/>
            <a:ext cx="1202690" cy="728345"/>
          </a:xfrm>
          <a:prstGeom prst="rightArrow">
            <a:avLst/>
          </a:prstGeom>
          <a:solidFill>
            <a:schemeClr val="accent1">
              <a:lumMod val="40000"/>
              <a:lumOff val="60000"/>
            </a:schemeClr>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文本框 3"/>
          <p:cNvSpPr txBox="1"/>
          <p:nvPr/>
        </p:nvSpPr>
        <p:spPr>
          <a:xfrm>
            <a:off x="3257550" y="3060700"/>
            <a:ext cx="894080" cy="368300"/>
          </a:xfrm>
          <a:prstGeom prst="rect">
            <a:avLst/>
          </a:prstGeom>
          <a:noFill/>
        </p:spPr>
        <p:txBody>
          <a:bodyPr wrap="square" rtlCol="0">
            <a:spAutoFit/>
          </a:bodyPr>
          <a:p>
            <a:r>
              <a:rPr lang="zh-CN" altLang="en-US"/>
              <a:t>张量</a:t>
            </a:r>
            <a:r>
              <a:rPr lang="zh-CN" altLang="en-US"/>
              <a:t>化</a:t>
            </a:r>
            <a:endParaRPr lang="zh-CN" altLang="en-US"/>
          </a:p>
        </p:txBody>
      </p:sp>
      <p:sp>
        <p:nvSpPr>
          <p:cNvPr id="8" name="右箭头 7"/>
          <p:cNvSpPr/>
          <p:nvPr/>
        </p:nvSpPr>
        <p:spPr>
          <a:xfrm>
            <a:off x="7453630" y="2940050"/>
            <a:ext cx="1473835" cy="728345"/>
          </a:xfrm>
          <a:prstGeom prst="rightArrow">
            <a:avLst/>
          </a:prstGeom>
          <a:solidFill>
            <a:schemeClr val="accent1">
              <a:lumMod val="40000"/>
              <a:lumOff val="60000"/>
            </a:schemeClr>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文本框 9"/>
          <p:cNvSpPr txBox="1"/>
          <p:nvPr/>
        </p:nvSpPr>
        <p:spPr>
          <a:xfrm>
            <a:off x="7523480" y="3120390"/>
            <a:ext cx="1247140" cy="368300"/>
          </a:xfrm>
          <a:prstGeom prst="rect">
            <a:avLst/>
          </a:prstGeom>
          <a:noFill/>
        </p:spPr>
        <p:txBody>
          <a:bodyPr wrap="square" rtlCol="0">
            <a:spAutoFit/>
          </a:bodyPr>
          <a:p>
            <a:r>
              <a:rPr lang="en-US" altLang="zh-CN"/>
              <a:t>LU</a:t>
            </a:r>
            <a:r>
              <a:rPr lang="zh-CN" altLang="en-US"/>
              <a:t>因子</a:t>
            </a:r>
            <a:endParaRPr lang="zh-CN" altLang="en-US"/>
          </a:p>
        </p:txBody>
      </p:sp>
      <p:sp>
        <p:nvSpPr>
          <p:cNvPr id="11" name="圆角矩形 10"/>
          <p:cNvSpPr/>
          <p:nvPr/>
        </p:nvSpPr>
        <p:spPr>
          <a:xfrm>
            <a:off x="561340" y="5513705"/>
            <a:ext cx="10848340" cy="1036320"/>
          </a:xfrm>
          <a:prstGeom prst="roundRect">
            <a:avLst/>
          </a:prstGeom>
          <a:solidFill>
            <a:schemeClr val="bg2"/>
          </a:solidFill>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1226185" y="5701030"/>
            <a:ext cx="9832340" cy="521970"/>
          </a:xfrm>
          <a:prstGeom prst="rect">
            <a:avLst/>
          </a:prstGeom>
          <a:noFill/>
        </p:spPr>
        <p:txBody>
          <a:bodyPr wrap="square" rtlCol="0">
            <a:spAutoFit/>
          </a:bodyPr>
          <a:p>
            <a:pPr algn="ctr"/>
            <a:r>
              <a:rPr lang="zh-CN" altLang="en-US" sz="2800" b="1"/>
              <a:t>多</a:t>
            </a:r>
            <a:r>
              <a:rPr lang="zh-CN" altLang="en-US" sz="2800" b="1"/>
              <a:t>前沿方法</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3" grpId="1" animBg="1"/>
      <p:bldP spid="4" grpId="1"/>
      <p:bldP spid="8" grpId="0" bldLvl="0" animBg="1"/>
      <p:bldP spid="10" grpId="0"/>
      <p:bldP spid="8" grpId="1" animBg="1"/>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相关研究</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02</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4390" y="40005"/>
            <a:ext cx="10690860" cy="590550"/>
          </a:xfrm>
        </p:spPr>
        <p:txBody>
          <a:bodyPr/>
          <a:lstStyle/>
          <a:p>
            <a:r>
              <a:rPr lang="zh-CN" altLang="en-US" dirty="0">
                <a:effectLst>
                  <a:outerShdw blurRad="38100" dist="38100" dir="2700000" algn="tl">
                    <a:srgbClr val="000000">
                      <a:alpha val="43137"/>
                    </a:srgbClr>
                  </a:outerShdw>
                </a:effectLst>
                <a:sym typeface="+mn-ea"/>
              </a:rPr>
              <a:t>相关研究</a:t>
            </a:r>
            <a:endParaRPr lang="zh-CN" altLang="en-US" dirty="0">
              <a:effectLst>
                <a:outerShdw blurRad="38100" dist="38100" dir="2700000" algn="tl">
                  <a:srgbClr val="000000">
                    <a:alpha val="43137"/>
                  </a:srgbClr>
                </a:outerShdw>
              </a:effectLst>
              <a:sym typeface="+mn-ea"/>
            </a:endParaRPr>
          </a:p>
        </p:txBody>
      </p:sp>
      <p:grpSp>
        <p:nvGrpSpPr>
          <p:cNvPr id="41" name="组合 40"/>
          <p:cNvGrpSpPr/>
          <p:nvPr/>
        </p:nvGrpSpPr>
        <p:grpSpPr>
          <a:xfrm>
            <a:off x="322342" y="948426"/>
            <a:ext cx="5657850" cy="499110"/>
            <a:chOff x="2645777" y="1428360"/>
            <a:chExt cx="2204007" cy="914090"/>
          </a:xfrm>
        </p:grpSpPr>
        <p:sp>
          <p:nvSpPr>
            <p:cNvPr id="42" name="矩形 41"/>
            <p:cNvSpPr/>
            <p:nvPr/>
          </p:nvSpPr>
          <p:spPr>
            <a:xfrm>
              <a:off x="2645777" y="1428360"/>
              <a:ext cx="2138950" cy="914090"/>
            </a:xfrm>
            <a:prstGeom prst="rect">
              <a:avLst/>
            </a:prstGeom>
            <a:solidFill>
              <a:srgbClr val="071F65">
                <a:hueOff val="0"/>
                <a:satOff val="0"/>
                <a:lumOff val="0"/>
                <a:alphaOff val="0"/>
              </a:srgbClr>
            </a:solidFill>
            <a:ln w="12700" cap="flat" cmpd="sng" algn="ctr">
              <a:solidFill>
                <a:sysClr val="window" lastClr="FFFFFF">
                  <a:hueOff val="0"/>
                  <a:satOff val="0"/>
                  <a:lumOff val="0"/>
                  <a:alphaOff val="0"/>
                </a:sysClr>
              </a:solidFill>
              <a:prstDash val="solid"/>
              <a:miter lim="800000"/>
            </a:ln>
            <a:effectLst/>
          </p:spPr>
          <p:txBody>
            <a:bodyPr spcFirstLastPara="0" vert="horz" wrap="square" lIns="174764" tIns="174764" rIns="174764" bIns="174764" numCol="1" spcCol="1270" anchor="ctr" anchorCtr="0">
              <a:noAutofit/>
            </a:bodyPr>
            <a:p>
              <a:pPr marL="0" marR="0" lvl="0" indent="0" algn="ctr" defTabSz="1289050" eaLnBrk="1" fontAlgn="auto" latinLnBrk="0" hangingPunct="1">
                <a:lnSpc>
                  <a:spcPct val="90000"/>
                </a:lnSpc>
                <a:spcBef>
                  <a:spcPct val="0"/>
                </a:spcBef>
                <a:spcAft>
                  <a:spcPct val="35000"/>
                </a:spcAft>
                <a:buClrTx/>
                <a:buSzTx/>
                <a:buFontTx/>
                <a:buNone/>
                <a:defRPr/>
              </a:pPr>
              <a:endParaRPr kumimoji="0" lang="zh-CN" altLang="en-US" sz="2935" b="0" i="0" u="none" strike="noStrike" kern="0" cap="none" spc="0" normalizeH="0" baseline="0" noProof="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43" name="文本框 28"/>
            <p:cNvSpPr txBox="1"/>
            <p:nvPr/>
          </p:nvSpPr>
          <p:spPr>
            <a:xfrm>
              <a:off x="2645777" y="1520234"/>
              <a:ext cx="2204007" cy="730342"/>
            </a:xfrm>
            <a:prstGeom prst="rect">
              <a:avLst/>
            </a:prstGeom>
            <a:noFill/>
          </p:spPr>
          <p:txBody>
            <a:bodyPr wrap="square" rtlCol="0">
              <a:spAutoFit/>
            </a:bodyPr>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1</a:t>
              </a:r>
              <a:r>
                <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、稀疏矩阵直接法：多前沿</a:t>
              </a:r>
              <a:r>
                <a:rPr kumimoji="0" lang="en-US" altLang="zh-CN"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a:t>
              </a:r>
              <a:r>
                <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超节点</a:t>
              </a:r>
              <a:r>
                <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技术</a:t>
              </a:r>
              <a:endPar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endParaRPr>
            </a:p>
          </p:txBody>
        </p:sp>
      </p:grpSp>
      <p:sp>
        <p:nvSpPr>
          <p:cNvPr id="3" name="文本框 2"/>
          <p:cNvSpPr txBox="1"/>
          <p:nvPr/>
        </p:nvSpPr>
        <p:spPr>
          <a:xfrm>
            <a:off x="450850" y="1638300"/>
            <a:ext cx="11269980" cy="2168525"/>
          </a:xfrm>
          <a:prstGeom prst="rect">
            <a:avLst/>
          </a:prstGeom>
          <a:noFill/>
        </p:spPr>
        <p:txBody>
          <a:bodyPr wrap="square" rtlCol="0">
            <a:spAutoFit/>
          </a:bodyPr>
          <a:p>
            <a:pPr indent="0" fontAlgn="auto">
              <a:lnSpc>
                <a:spcPct val="150000"/>
              </a:lnSpc>
            </a:pPr>
            <a:r>
              <a:rPr lang="zh-CN" altLang="en-US">
                <a:latin typeface="仿宋" panose="02010609060101010101" pitchFamily="49" charset="-122"/>
                <a:ea typeface="仿宋" panose="02010609060101010101" pitchFamily="49" charset="-122"/>
                <a:cs typeface="仿宋" panose="02010609060101010101" pitchFamily="49" charset="-122"/>
                <a:sym typeface="+mn-ea"/>
              </a:rPr>
              <a:t>该方法是一种面向稀疏对称正定线性系统的高效直接求解策略，其核心在于将全局稀疏</a:t>
            </a:r>
            <a:r>
              <a:rPr lang="en-US" altLang="zh-CN">
                <a:latin typeface="仿宋" panose="02010609060101010101" pitchFamily="49" charset="-122"/>
                <a:ea typeface="仿宋" panose="02010609060101010101" pitchFamily="49" charset="-122"/>
                <a:cs typeface="仿宋" panose="02010609060101010101" pitchFamily="49" charset="-122"/>
                <a:sym typeface="+mn-ea"/>
              </a:rPr>
              <a:t>Cholesky</a:t>
            </a:r>
            <a:r>
              <a:rPr lang="zh-CN" altLang="en-US">
                <a:latin typeface="仿宋" panose="02010609060101010101" pitchFamily="49" charset="-122"/>
                <a:ea typeface="仿宋" panose="02010609060101010101" pitchFamily="49" charset="-122"/>
                <a:cs typeface="仿宋" panose="02010609060101010101" pitchFamily="49" charset="-122"/>
                <a:sym typeface="+mn-ea"/>
              </a:rPr>
              <a:t>分解重构为一系列局部稠密子矩阵的分块运算。算法以消去树（</a:t>
            </a:r>
            <a:r>
              <a:rPr lang="en-US" altLang="zh-CN">
                <a:latin typeface="仿宋" panose="02010609060101010101" pitchFamily="49" charset="-122"/>
                <a:ea typeface="仿宋" panose="02010609060101010101" pitchFamily="49" charset="-122"/>
                <a:cs typeface="仿宋" panose="02010609060101010101" pitchFamily="49" charset="-122"/>
                <a:sym typeface="+mn-ea"/>
              </a:rPr>
              <a:t>elimination tree</a:t>
            </a:r>
            <a:r>
              <a:rPr lang="zh-CN" altLang="en-US">
                <a:latin typeface="仿宋" panose="02010609060101010101" pitchFamily="49" charset="-122"/>
                <a:ea typeface="仿宋" panose="02010609060101010101" pitchFamily="49" charset="-122"/>
                <a:cs typeface="仿宋" panose="02010609060101010101" pitchFamily="49" charset="-122"/>
                <a:sym typeface="+mn-ea"/>
              </a:rPr>
              <a:t>）</a:t>
            </a:r>
            <a:r>
              <a:rPr lang="en-US" altLang="zh-CN">
                <a:latin typeface="仿宋" panose="02010609060101010101" pitchFamily="49" charset="-122"/>
                <a:ea typeface="仿宋" panose="02010609060101010101" pitchFamily="49" charset="-122"/>
                <a:cs typeface="仿宋" panose="02010609060101010101" pitchFamily="49" charset="-122"/>
                <a:sym typeface="+mn-ea"/>
              </a:rPr>
              <a:t> </a:t>
            </a:r>
            <a:r>
              <a:rPr lang="zh-CN" altLang="en-US">
                <a:latin typeface="仿宋" panose="02010609060101010101" pitchFamily="49" charset="-122"/>
                <a:ea typeface="仿宋" panose="02010609060101010101" pitchFamily="49" charset="-122"/>
                <a:cs typeface="仿宋" panose="02010609060101010101" pitchFamily="49" charset="-122"/>
                <a:sym typeface="+mn-ea"/>
              </a:rPr>
              <a:t>为拓扑指导，按后序遍历顺序组织波前（</a:t>
            </a:r>
            <a:r>
              <a:rPr lang="en-US" altLang="zh-CN">
                <a:latin typeface="仿宋" panose="02010609060101010101" pitchFamily="49" charset="-122"/>
                <a:ea typeface="仿宋" panose="02010609060101010101" pitchFamily="49" charset="-122"/>
                <a:cs typeface="仿宋" panose="02010609060101010101" pitchFamily="49" charset="-122"/>
                <a:sym typeface="+mn-ea"/>
              </a:rPr>
              <a:t>frontal</a:t>
            </a:r>
            <a:r>
              <a:rPr lang="zh-CN" altLang="en-US">
                <a:latin typeface="仿宋" panose="02010609060101010101" pitchFamily="49" charset="-122"/>
                <a:ea typeface="仿宋" panose="02010609060101010101" pitchFamily="49" charset="-122"/>
                <a:cs typeface="仿宋" panose="02010609060101010101" pitchFamily="49" charset="-122"/>
                <a:sym typeface="+mn-ea"/>
              </a:rPr>
              <a:t>）矩阵的构造与分解；通过更新矩阵（</a:t>
            </a:r>
            <a:r>
              <a:rPr lang="en-US" altLang="zh-CN">
                <a:latin typeface="仿宋" panose="02010609060101010101" pitchFamily="49" charset="-122"/>
                <a:ea typeface="仿宋" panose="02010609060101010101" pitchFamily="49" charset="-122"/>
                <a:cs typeface="仿宋" panose="02010609060101010101" pitchFamily="49" charset="-122"/>
                <a:sym typeface="+mn-ea"/>
              </a:rPr>
              <a:t>contribution blocks</a:t>
            </a:r>
            <a:r>
              <a:rPr lang="zh-CN" altLang="en-US">
                <a:latin typeface="仿宋" panose="02010609060101010101" pitchFamily="49" charset="-122"/>
                <a:ea typeface="仿宋" panose="02010609060101010101" pitchFamily="49" charset="-122"/>
                <a:cs typeface="仿宋" panose="02010609060101010101" pitchFamily="49" charset="-122"/>
                <a:sym typeface="+mn-ea"/>
              </a:rPr>
              <a:t>）</a:t>
            </a:r>
            <a:r>
              <a:rPr lang="en-US" altLang="zh-CN">
                <a:latin typeface="仿宋" panose="02010609060101010101" pitchFamily="49" charset="-122"/>
                <a:ea typeface="仿宋" panose="02010609060101010101" pitchFamily="49" charset="-122"/>
                <a:cs typeface="仿宋" panose="02010609060101010101" pitchFamily="49" charset="-122"/>
                <a:sym typeface="+mn-ea"/>
              </a:rPr>
              <a:t> </a:t>
            </a:r>
            <a:r>
              <a:rPr lang="zh-CN" altLang="en-US">
                <a:latin typeface="仿宋" panose="02010609060101010101" pitchFamily="49" charset="-122"/>
                <a:ea typeface="仿宋" panose="02010609060101010101" pitchFamily="49" charset="-122"/>
                <a:cs typeface="仿宋" panose="02010609060101010101" pitchFamily="49" charset="-122"/>
                <a:sym typeface="+mn-ea"/>
              </a:rPr>
              <a:t>在父子节点间传递</a:t>
            </a:r>
            <a:r>
              <a:rPr lang="en-US" altLang="zh-CN">
                <a:latin typeface="仿宋" panose="02010609060101010101" pitchFamily="49" charset="-122"/>
                <a:ea typeface="仿宋" panose="02010609060101010101" pitchFamily="49" charset="-122"/>
                <a:cs typeface="仿宋" panose="02010609060101010101" pitchFamily="49" charset="-122"/>
                <a:sym typeface="+mn-ea"/>
              </a:rPr>
              <a:t>Schur</a:t>
            </a:r>
            <a:r>
              <a:rPr lang="zh-CN" altLang="en-US">
                <a:latin typeface="仿宋" panose="02010609060101010101" pitchFamily="49" charset="-122"/>
                <a:ea typeface="仿宋" panose="02010609060101010101" pitchFamily="49" charset="-122"/>
                <a:cs typeface="仿宋" panose="02010609060101010101" pitchFamily="49" charset="-122"/>
                <a:sym typeface="+mn-ea"/>
              </a:rPr>
              <a:t>补信息，确保数值正确性；并引入超节点（</a:t>
            </a:r>
            <a:r>
              <a:rPr lang="en-US" altLang="zh-CN">
                <a:latin typeface="仿宋" panose="02010609060101010101" pitchFamily="49" charset="-122"/>
                <a:ea typeface="仿宋" panose="02010609060101010101" pitchFamily="49" charset="-122"/>
                <a:cs typeface="仿宋" panose="02010609060101010101" pitchFamily="49" charset="-122"/>
                <a:sym typeface="+mn-ea"/>
              </a:rPr>
              <a:t>supernode</a:t>
            </a:r>
            <a:r>
              <a:rPr lang="zh-CN" altLang="en-US">
                <a:latin typeface="仿宋" panose="02010609060101010101" pitchFamily="49" charset="-122"/>
                <a:ea typeface="仿宋" panose="02010609060101010101" pitchFamily="49" charset="-122"/>
                <a:cs typeface="仿宋" panose="02010609060101010101" pitchFamily="49" charset="-122"/>
                <a:sym typeface="+mn-ea"/>
              </a:rPr>
              <a:t>）</a:t>
            </a:r>
            <a:r>
              <a:rPr lang="en-US" altLang="zh-CN">
                <a:latin typeface="仿宋" panose="02010609060101010101" pitchFamily="49" charset="-122"/>
                <a:ea typeface="仿宋" panose="02010609060101010101" pitchFamily="49" charset="-122"/>
                <a:cs typeface="仿宋" panose="02010609060101010101" pitchFamily="49" charset="-122"/>
                <a:sym typeface="+mn-ea"/>
              </a:rPr>
              <a:t> </a:t>
            </a:r>
            <a:r>
              <a:rPr lang="zh-CN" altLang="en-US">
                <a:latin typeface="仿宋" panose="02010609060101010101" pitchFamily="49" charset="-122"/>
                <a:ea typeface="仿宋" panose="02010609060101010101" pitchFamily="49" charset="-122"/>
                <a:cs typeface="仿宋" panose="02010609060101010101" pitchFamily="49" charset="-122"/>
                <a:sym typeface="+mn-ea"/>
              </a:rPr>
              <a:t>结构，将具有相同消去模式的相邻列合并处理，从而提升</a:t>
            </a:r>
            <a:r>
              <a:rPr lang="en-US" altLang="zh-CN">
                <a:latin typeface="仿宋" panose="02010609060101010101" pitchFamily="49" charset="-122"/>
                <a:ea typeface="仿宋" panose="02010609060101010101" pitchFamily="49" charset="-122"/>
                <a:cs typeface="仿宋" panose="02010609060101010101" pitchFamily="49" charset="-122"/>
                <a:sym typeface="+mn-ea"/>
              </a:rPr>
              <a:t>BLAS-3</a:t>
            </a:r>
            <a:r>
              <a:rPr lang="zh-CN" altLang="en-US">
                <a:latin typeface="仿宋" panose="02010609060101010101" pitchFamily="49" charset="-122"/>
                <a:ea typeface="仿宋" panose="02010609060101010101" pitchFamily="49" charset="-122"/>
                <a:cs typeface="仿宋" panose="02010609060101010101" pitchFamily="49" charset="-122"/>
                <a:sym typeface="+mn-ea"/>
              </a:rPr>
              <a:t>级操作比例，优化缓存利用率与计算吞吐量</a:t>
            </a:r>
            <a:r>
              <a:rPr lang="zh-CN" altLang="en-US">
                <a:latin typeface="仿宋" panose="02010609060101010101" pitchFamily="49" charset="-122"/>
                <a:ea typeface="仿宋" panose="02010609060101010101" pitchFamily="49" charset="-122"/>
                <a:cs typeface="仿宋" panose="02010609060101010101" pitchFamily="49" charset="-122"/>
                <a:sym typeface="+mn-ea"/>
              </a:rPr>
              <a:t>。</a:t>
            </a:r>
            <a:endParaRPr lang="zh-CN" altLang="en-US">
              <a:latin typeface="仿宋" panose="02010609060101010101" pitchFamily="49" charset="-122"/>
              <a:ea typeface="仿宋" panose="02010609060101010101" pitchFamily="49" charset="-122"/>
              <a:cs typeface="仿宋" panose="02010609060101010101" pitchFamily="49" charset="-122"/>
            </a:endParaRPr>
          </a:p>
        </p:txBody>
      </p:sp>
      <p:pic>
        <p:nvPicPr>
          <p:cNvPr id="4" name="图片 3"/>
          <p:cNvPicPr>
            <a:picLocks noChangeAspect="1"/>
          </p:cNvPicPr>
          <p:nvPr/>
        </p:nvPicPr>
        <p:blipFill>
          <a:blip r:embed="rId1"/>
          <a:stretch>
            <a:fillRect/>
          </a:stretch>
        </p:blipFill>
        <p:spPr>
          <a:xfrm>
            <a:off x="2150110" y="3997325"/>
            <a:ext cx="3226435" cy="2216785"/>
          </a:xfrm>
          <a:prstGeom prst="rect">
            <a:avLst/>
          </a:prstGeom>
        </p:spPr>
      </p:pic>
      <p:pic>
        <p:nvPicPr>
          <p:cNvPr id="5" name="图片 4"/>
          <p:cNvPicPr>
            <a:picLocks noChangeAspect="1"/>
          </p:cNvPicPr>
          <p:nvPr/>
        </p:nvPicPr>
        <p:blipFill>
          <a:blip r:embed="rId2"/>
          <a:stretch>
            <a:fillRect/>
          </a:stretch>
        </p:blipFill>
        <p:spPr>
          <a:xfrm>
            <a:off x="7209790" y="3806825"/>
            <a:ext cx="2676525" cy="2291715"/>
          </a:xfrm>
          <a:prstGeom prst="rect">
            <a:avLst/>
          </a:prstGeom>
        </p:spPr>
      </p:pic>
      <p:sp>
        <p:nvSpPr>
          <p:cNvPr id="6" name="文本框 5"/>
          <p:cNvSpPr txBox="1"/>
          <p:nvPr/>
        </p:nvSpPr>
        <p:spPr>
          <a:xfrm>
            <a:off x="2651125" y="6195695"/>
            <a:ext cx="2640965" cy="368300"/>
          </a:xfrm>
          <a:prstGeom prst="rect">
            <a:avLst/>
          </a:prstGeom>
          <a:noFill/>
        </p:spPr>
        <p:txBody>
          <a:bodyPr wrap="square" rtlCol="0">
            <a:spAutoFit/>
          </a:bodyPr>
          <a:p>
            <a:pPr algn="ctr"/>
            <a:r>
              <a:rPr lang="zh-CN" altLang="en-US"/>
              <a:t>原矩阵</a:t>
            </a:r>
            <a:endParaRPr lang="zh-CN" altLang="en-US"/>
          </a:p>
        </p:txBody>
      </p:sp>
      <p:sp>
        <p:nvSpPr>
          <p:cNvPr id="8" name="文本框 7"/>
          <p:cNvSpPr txBox="1"/>
          <p:nvPr/>
        </p:nvSpPr>
        <p:spPr>
          <a:xfrm>
            <a:off x="7378065" y="6195695"/>
            <a:ext cx="2508250" cy="368300"/>
          </a:xfrm>
          <a:prstGeom prst="rect">
            <a:avLst/>
          </a:prstGeom>
          <a:noFill/>
        </p:spPr>
        <p:txBody>
          <a:bodyPr wrap="square" rtlCol="0">
            <a:spAutoFit/>
          </a:bodyPr>
          <a:p>
            <a:r>
              <a:rPr lang="zh-CN" altLang="en-US"/>
              <a:t>矩阵转换后的</a:t>
            </a:r>
            <a:r>
              <a:rPr lang="zh-CN" altLang="en-US"/>
              <a:t>消解树</a:t>
            </a: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4390" y="40005"/>
            <a:ext cx="10690860" cy="590550"/>
          </a:xfrm>
        </p:spPr>
        <p:txBody>
          <a:bodyPr/>
          <a:lstStyle/>
          <a:p>
            <a:r>
              <a:rPr lang="zh-CN" altLang="en-US" dirty="0">
                <a:effectLst>
                  <a:outerShdw blurRad="38100" dist="38100" dir="2700000" algn="tl">
                    <a:srgbClr val="000000">
                      <a:alpha val="43137"/>
                    </a:srgbClr>
                  </a:outerShdw>
                </a:effectLst>
                <a:sym typeface="+mn-ea"/>
              </a:rPr>
              <a:t>相关研究</a:t>
            </a:r>
            <a:endParaRPr lang="en-US" altLang="zh-CN" dirty="0">
              <a:effectLst>
                <a:outerShdw blurRad="38100" dist="38100" dir="2700000" algn="tl">
                  <a:srgbClr val="000000">
                    <a:alpha val="43137"/>
                  </a:srgbClr>
                </a:outerShdw>
              </a:effectLst>
              <a:sym typeface="+mn-ea"/>
            </a:endParaRPr>
          </a:p>
        </p:txBody>
      </p:sp>
      <p:grpSp>
        <p:nvGrpSpPr>
          <p:cNvPr id="41" name="组合 40"/>
          <p:cNvGrpSpPr/>
          <p:nvPr/>
        </p:nvGrpSpPr>
        <p:grpSpPr>
          <a:xfrm>
            <a:off x="155336" y="948426"/>
            <a:ext cx="5657850" cy="499110"/>
            <a:chOff x="2580720" y="1428360"/>
            <a:chExt cx="2204007" cy="914090"/>
          </a:xfrm>
        </p:grpSpPr>
        <p:sp>
          <p:nvSpPr>
            <p:cNvPr id="42" name="矩形 41"/>
            <p:cNvSpPr/>
            <p:nvPr/>
          </p:nvSpPr>
          <p:spPr>
            <a:xfrm>
              <a:off x="2645777" y="1428360"/>
              <a:ext cx="2138950" cy="914090"/>
            </a:xfrm>
            <a:prstGeom prst="rect">
              <a:avLst/>
            </a:prstGeom>
            <a:solidFill>
              <a:srgbClr val="071F65">
                <a:hueOff val="0"/>
                <a:satOff val="0"/>
                <a:lumOff val="0"/>
                <a:alphaOff val="0"/>
              </a:srgbClr>
            </a:solidFill>
            <a:ln w="12700" cap="flat" cmpd="sng" algn="ctr">
              <a:solidFill>
                <a:sysClr val="window" lastClr="FFFFFF">
                  <a:hueOff val="0"/>
                  <a:satOff val="0"/>
                  <a:lumOff val="0"/>
                  <a:alphaOff val="0"/>
                </a:sysClr>
              </a:solidFill>
              <a:prstDash val="solid"/>
              <a:miter lim="800000"/>
            </a:ln>
            <a:effectLst/>
          </p:spPr>
          <p:txBody>
            <a:bodyPr spcFirstLastPara="0" vert="horz" wrap="square" lIns="174764" tIns="174764" rIns="174764" bIns="174764" numCol="1" spcCol="1270" anchor="ctr" anchorCtr="0">
              <a:noAutofit/>
            </a:bodyPr>
            <a:p>
              <a:pPr marL="0" marR="0" lvl="0" indent="0" algn="ctr" defTabSz="1289050" eaLnBrk="1" fontAlgn="auto" latinLnBrk="0" hangingPunct="1">
                <a:lnSpc>
                  <a:spcPct val="90000"/>
                </a:lnSpc>
                <a:spcBef>
                  <a:spcPct val="0"/>
                </a:spcBef>
                <a:spcAft>
                  <a:spcPct val="35000"/>
                </a:spcAft>
                <a:buClrTx/>
                <a:buSzTx/>
                <a:buFontTx/>
                <a:buNone/>
                <a:defRPr/>
              </a:pPr>
              <a:endParaRPr kumimoji="0" lang="zh-CN" altLang="en-US" sz="2935" b="0" i="0" u="none" strike="noStrike" kern="0" cap="none" spc="0" normalizeH="0" baseline="0" noProof="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43" name="文本框 28"/>
            <p:cNvSpPr txBox="1"/>
            <p:nvPr/>
          </p:nvSpPr>
          <p:spPr>
            <a:xfrm>
              <a:off x="2580720" y="1520234"/>
              <a:ext cx="2204007" cy="730342"/>
            </a:xfrm>
            <a:prstGeom prst="rect">
              <a:avLst/>
            </a:prstGeom>
            <a:noFill/>
          </p:spPr>
          <p:txBody>
            <a:bodyPr wrap="square" rtlCol="0">
              <a:spAutoFit/>
            </a:bodyPr>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2</a:t>
              </a:r>
              <a:r>
                <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、稠密矩阵分解的异构加速研究</a:t>
              </a:r>
              <a:endPar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endParaRPr>
            </a:p>
          </p:txBody>
        </p:sp>
      </p:grpSp>
      <p:sp>
        <p:nvSpPr>
          <p:cNvPr id="6" name="文本框 5"/>
          <p:cNvSpPr txBox="1"/>
          <p:nvPr/>
        </p:nvSpPr>
        <p:spPr>
          <a:xfrm>
            <a:off x="322580" y="1606550"/>
            <a:ext cx="11327765" cy="4246245"/>
          </a:xfrm>
          <a:prstGeom prst="rect">
            <a:avLst/>
          </a:prstGeom>
          <a:noFill/>
        </p:spPr>
        <p:txBody>
          <a:bodyPr wrap="square" rtlCol="0">
            <a:spAutoFit/>
          </a:bodyPr>
          <a:p>
            <a:pPr indent="0" fontAlgn="auto">
              <a:lnSpc>
                <a:spcPct val="150000"/>
              </a:lnSpc>
            </a:pPr>
            <a:r>
              <a:rPr lang="zh-CN" altLang="en-US">
                <a:latin typeface="仿宋" panose="02010609060101010101" pitchFamily="49" charset="-122"/>
                <a:ea typeface="仿宋" panose="02010609060101010101" pitchFamily="49" charset="-122"/>
                <a:cs typeface="仿宋" panose="02010609060101010101" pitchFamily="49" charset="-122"/>
                <a:sym typeface="+mn-ea"/>
              </a:rPr>
              <a:t>传统稠密矩阵分解算法在中央处理器（</a:t>
            </a:r>
            <a:r>
              <a:rPr lang="en-US" altLang="zh-CN">
                <a:latin typeface="仿宋" panose="02010609060101010101" pitchFamily="49" charset="-122"/>
                <a:ea typeface="仿宋" panose="02010609060101010101" pitchFamily="49" charset="-122"/>
                <a:cs typeface="仿宋" panose="02010609060101010101" pitchFamily="49" charset="-122"/>
                <a:sym typeface="+mn-ea"/>
              </a:rPr>
              <a:t>CPU</a:t>
            </a:r>
            <a:r>
              <a:rPr lang="zh-CN" altLang="en-US">
                <a:latin typeface="仿宋" panose="02010609060101010101" pitchFamily="49" charset="-122"/>
                <a:ea typeface="仿宋" panose="02010609060101010101" pitchFamily="49" charset="-122"/>
                <a:cs typeface="仿宋" panose="02010609060101010101" pitchFamily="49" charset="-122"/>
                <a:sym typeface="+mn-ea"/>
              </a:rPr>
              <a:t>）上执行时，常面临并行度受限和内存带宽不足的问题，导致计算效率低下。随着高性能计算需求的增长，当前的研究趋势主要集中在以下几个方面以克服这些瓶颈：</a:t>
            </a:r>
            <a:endParaRPr lang="en-US" altLang="zh-CN">
              <a:latin typeface="仿宋" panose="02010609060101010101" pitchFamily="49" charset="-122"/>
              <a:ea typeface="仿宋" panose="02010609060101010101" pitchFamily="49" charset="-122"/>
              <a:cs typeface="仿宋" panose="02010609060101010101" pitchFamily="49" charset="-122"/>
              <a:sym typeface="+mn-ea"/>
            </a:endParaRPr>
          </a:p>
          <a:p>
            <a:pPr marL="285750" indent="-285750" fontAlgn="auto">
              <a:lnSpc>
                <a:spcPct val="150000"/>
              </a:lnSpc>
              <a:buFont typeface="Wingdings" panose="05000000000000000000" charset="0"/>
              <a:buChar char="l"/>
            </a:pPr>
            <a:r>
              <a:rPr lang="en-US" altLang="zh-CN" b="1">
                <a:latin typeface="仿宋" panose="02010609060101010101" pitchFamily="49" charset="-122"/>
                <a:ea typeface="仿宋" panose="02010609060101010101" pitchFamily="49" charset="-122"/>
                <a:cs typeface="仿宋" panose="02010609060101010101" pitchFamily="49" charset="-122"/>
                <a:sym typeface="+mn-ea"/>
              </a:rPr>
              <a:t>GPU</a:t>
            </a:r>
            <a:r>
              <a:rPr lang="zh-CN" altLang="en-US" b="1">
                <a:latin typeface="仿宋" panose="02010609060101010101" pitchFamily="49" charset="-122"/>
                <a:ea typeface="仿宋" panose="02010609060101010101" pitchFamily="49" charset="-122"/>
                <a:cs typeface="仿宋" panose="02010609060101010101" pitchFamily="49" charset="-122"/>
                <a:sym typeface="+mn-ea"/>
              </a:rPr>
              <a:t>加速计算</a:t>
            </a:r>
            <a:r>
              <a:rPr lang="zh-CN" altLang="en-US">
                <a:latin typeface="仿宋" panose="02010609060101010101" pitchFamily="49" charset="-122"/>
                <a:ea typeface="仿宋" panose="02010609060101010101" pitchFamily="49" charset="-122"/>
                <a:cs typeface="仿宋" panose="02010609060101010101" pitchFamily="49" charset="-122"/>
                <a:sym typeface="+mn-ea"/>
              </a:rPr>
              <a:t>：鉴于图形处理单元（</a:t>
            </a:r>
            <a:r>
              <a:rPr lang="en-US" altLang="zh-CN">
                <a:latin typeface="仿宋" panose="02010609060101010101" pitchFamily="49" charset="-122"/>
                <a:ea typeface="仿宋" panose="02010609060101010101" pitchFamily="49" charset="-122"/>
                <a:cs typeface="仿宋" panose="02010609060101010101" pitchFamily="49" charset="-122"/>
                <a:sym typeface="+mn-ea"/>
              </a:rPr>
              <a:t>GPU</a:t>
            </a:r>
            <a:r>
              <a:rPr lang="zh-CN" altLang="en-US">
                <a:latin typeface="仿宋" panose="02010609060101010101" pitchFamily="49" charset="-122"/>
                <a:ea typeface="仿宋" panose="02010609060101010101" pitchFamily="49" charset="-122"/>
                <a:cs typeface="仿宋" panose="02010609060101010101" pitchFamily="49" charset="-122"/>
                <a:sym typeface="+mn-ea"/>
              </a:rPr>
              <a:t>）具备卓越的并行计算能力和高内存带宽特性，研究者们致力于探索如何利用</a:t>
            </a:r>
            <a:r>
              <a:rPr lang="en-US" altLang="zh-CN">
                <a:latin typeface="仿宋" panose="02010609060101010101" pitchFamily="49" charset="-122"/>
                <a:ea typeface="仿宋" panose="02010609060101010101" pitchFamily="49" charset="-122"/>
                <a:cs typeface="仿宋" panose="02010609060101010101" pitchFamily="49" charset="-122"/>
                <a:sym typeface="+mn-ea"/>
              </a:rPr>
              <a:t>GPU</a:t>
            </a:r>
            <a:r>
              <a:rPr lang="zh-CN" altLang="en-US">
                <a:latin typeface="仿宋" panose="02010609060101010101" pitchFamily="49" charset="-122"/>
                <a:ea typeface="仿宋" panose="02010609060101010101" pitchFamily="49" charset="-122"/>
                <a:cs typeface="仿宋" panose="02010609060101010101" pitchFamily="49" charset="-122"/>
                <a:sym typeface="+mn-ea"/>
              </a:rPr>
              <a:t>来显著加快稠密矩阵分解过程。通过高效的任务分配和数据传输优化，实现计算性能的大幅提升。</a:t>
            </a:r>
            <a:endParaRPr lang="zh-CN" altLang="en-US">
              <a:latin typeface="仿宋" panose="02010609060101010101" pitchFamily="49" charset="-122"/>
              <a:ea typeface="仿宋" panose="02010609060101010101" pitchFamily="49" charset="-122"/>
              <a:cs typeface="仿宋" panose="02010609060101010101" pitchFamily="49" charset="-122"/>
              <a:sym typeface="+mn-ea"/>
            </a:endParaRPr>
          </a:p>
          <a:p>
            <a:pPr marL="285750" indent="-285750" fontAlgn="auto">
              <a:lnSpc>
                <a:spcPct val="150000"/>
              </a:lnSpc>
              <a:buFont typeface="Wingdings" panose="05000000000000000000" charset="0"/>
              <a:buChar char="l"/>
            </a:pPr>
            <a:r>
              <a:rPr lang="en-US" altLang="zh-CN" b="1">
                <a:latin typeface="仿宋" panose="02010609060101010101" pitchFamily="49" charset="-122"/>
                <a:ea typeface="仿宋" panose="02010609060101010101" pitchFamily="49" charset="-122"/>
                <a:cs typeface="仿宋" panose="02010609060101010101" pitchFamily="49" charset="-122"/>
                <a:sym typeface="+mn-ea"/>
              </a:rPr>
              <a:t>CPU</a:t>
            </a:r>
            <a:r>
              <a:rPr lang="zh-CN" altLang="en-US" b="1">
                <a:latin typeface="仿宋" panose="02010609060101010101" pitchFamily="49" charset="-122"/>
                <a:ea typeface="仿宋" panose="02010609060101010101" pitchFamily="49" charset="-122"/>
                <a:cs typeface="仿宋" panose="02010609060101010101" pitchFamily="49" charset="-122"/>
                <a:sym typeface="+mn-ea"/>
              </a:rPr>
              <a:t>与</a:t>
            </a:r>
            <a:r>
              <a:rPr lang="en-US" altLang="zh-CN" b="1">
                <a:latin typeface="仿宋" panose="02010609060101010101" pitchFamily="49" charset="-122"/>
                <a:ea typeface="仿宋" panose="02010609060101010101" pitchFamily="49" charset="-122"/>
                <a:cs typeface="仿宋" panose="02010609060101010101" pitchFamily="49" charset="-122"/>
                <a:sym typeface="+mn-ea"/>
              </a:rPr>
              <a:t>GPU</a:t>
            </a:r>
            <a:r>
              <a:rPr lang="zh-CN" altLang="en-US" b="1">
                <a:latin typeface="仿宋" panose="02010609060101010101" pitchFamily="49" charset="-122"/>
                <a:ea typeface="仿宋" panose="02010609060101010101" pitchFamily="49" charset="-122"/>
                <a:cs typeface="仿宋" panose="02010609060101010101" pitchFamily="49" charset="-122"/>
                <a:sym typeface="+mn-ea"/>
              </a:rPr>
              <a:t>协同计算（</a:t>
            </a:r>
            <a:r>
              <a:rPr lang="en-US" altLang="zh-CN" b="1">
                <a:latin typeface="仿宋" panose="02010609060101010101" pitchFamily="49" charset="-122"/>
                <a:ea typeface="仿宋" panose="02010609060101010101" pitchFamily="49" charset="-122"/>
                <a:cs typeface="仿宋" panose="02010609060101010101" pitchFamily="49" charset="-122"/>
                <a:sym typeface="+mn-ea"/>
              </a:rPr>
              <a:t>Hybrid</a:t>
            </a:r>
            <a:r>
              <a:rPr lang="zh-CN" altLang="en-US" b="1">
                <a:latin typeface="仿宋" panose="02010609060101010101" pitchFamily="49" charset="-122"/>
                <a:ea typeface="仿宋" panose="02010609060101010101" pitchFamily="49" charset="-122"/>
                <a:cs typeface="仿宋" panose="02010609060101010101" pitchFamily="49" charset="-122"/>
                <a:sym typeface="+mn-ea"/>
              </a:rPr>
              <a:t>策略）</a:t>
            </a:r>
            <a:r>
              <a:rPr lang="zh-CN" altLang="en-US">
                <a:latin typeface="仿宋" panose="02010609060101010101" pitchFamily="49" charset="-122"/>
                <a:ea typeface="仿宋" panose="02010609060101010101" pitchFamily="49" charset="-122"/>
                <a:cs typeface="仿宋" panose="02010609060101010101" pitchFamily="49" charset="-122"/>
                <a:sym typeface="+mn-ea"/>
              </a:rPr>
              <a:t>：为了充分利用</a:t>
            </a:r>
            <a:r>
              <a:rPr lang="en-US" altLang="zh-CN">
                <a:latin typeface="仿宋" panose="02010609060101010101" pitchFamily="49" charset="-122"/>
                <a:ea typeface="仿宋" panose="02010609060101010101" pitchFamily="49" charset="-122"/>
                <a:cs typeface="仿宋" panose="02010609060101010101" pitchFamily="49" charset="-122"/>
                <a:sym typeface="+mn-ea"/>
              </a:rPr>
              <a:t>CPU</a:t>
            </a:r>
            <a:r>
              <a:rPr lang="zh-CN" altLang="en-US">
                <a:latin typeface="仿宋" panose="02010609060101010101" pitchFamily="49" charset="-122"/>
                <a:ea typeface="仿宋" panose="02010609060101010101" pitchFamily="49" charset="-122"/>
                <a:cs typeface="仿宋" panose="02010609060101010101" pitchFamily="49" charset="-122"/>
                <a:sym typeface="+mn-ea"/>
              </a:rPr>
              <a:t>和</a:t>
            </a:r>
            <a:r>
              <a:rPr lang="en-US" altLang="zh-CN">
                <a:latin typeface="仿宋" panose="02010609060101010101" pitchFamily="49" charset="-122"/>
                <a:ea typeface="仿宋" panose="02010609060101010101" pitchFamily="49" charset="-122"/>
                <a:cs typeface="仿宋" panose="02010609060101010101" pitchFamily="49" charset="-122"/>
                <a:sym typeface="+mn-ea"/>
              </a:rPr>
              <a:t>GPU</a:t>
            </a:r>
            <a:r>
              <a:rPr lang="zh-CN" altLang="en-US">
                <a:latin typeface="仿宋" panose="02010609060101010101" pitchFamily="49" charset="-122"/>
                <a:ea typeface="仿宋" panose="02010609060101010101" pitchFamily="49" charset="-122"/>
                <a:cs typeface="仿宋" panose="02010609060101010101" pitchFamily="49" charset="-122"/>
                <a:sym typeface="+mn-ea"/>
              </a:rPr>
              <a:t>各自的优势，一种有效的策略是采用混合计算模式，即</a:t>
            </a:r>
            <a:r>
              <a:rPr lang="en-US" altLang="zh-CN">
                <a:latin typeface="仿宋" panose="02010609060101010101" pitchFamily="49" charset="-122"/>
                <a:ea typeface="仿宋" panose="02010609060101010101" pitchFamily="49" charset="-122"/>
                <a:cs typeface="仿宋" panose="02010609060101010101" pitchFamily="49" charset="-122"/>
                <a:sym typeface="+mn-ea"/>
              </a:rPr>
              <a:t>CPU+GPU</a:t>
            </a:r>
            <a:r>
              <a:rPr lang="zh-CN" altLang="en-US">
                <a:latin typeface="仿宋" panose="02010609060101010101" pitchFamily="49" charset="-122"/>
                <a:ea typeface="仿宋" panose="02010609060101010101" pitchFamily="49" charset="-122"/>
                <a:cs typeface="仿宋" panose="02010609060101010101" pitchFamily="49" charset="-122"/>
                <a:sym typeface="+mn-ea"/>
              </a:rPr>
              <a:t>协同工作。这种方法不仅能够平衡不同硬件间的任务负载，还可以根据具体应用场景灵活调整计算资源分配，从而达到性能最大化。</a:t>
            </a:r>
            <a:endParaRPr lang="zh-CN" altLang="en-US">
              <a:latin typeface="仿宋" panose="02010609060101010101" pitchFamily="49" charset="-122"/>
              <a:ea typeface="仿宋" panose="02010609060101010101" pitchFamily="49" charset="-122"/>
              <a:cs typeface="仿宋" panose="02010609060101010101" pitchFamily="49" charset="-122"/>
              <a:sym typeface="+mn-ea"/>
            </a:endParaRPr>
          </a:p>
          <a:p>
            <a:pPr marL="285750" indent="-285750" fontAlgn="auto">
              <a:lnSpc>
                <a:spcPct val="150000"/>
              </a:lnSpc>
              <a:buFont typeface="Wingdings" panose="05000000000000000000" charset="0"/>
              <a:buChar char="l"/>
            </a:pPr>
            <a:r>
              <a:rPr lang="zh-CN" altLang="en-US" b="1">
                <a:latin typeface="仿宋" panose="02010609060101010101" pitchFamily="49" charset="-122"/>
                <a:ea typeface="仿宋" panose="02010609060101010101" pitchFamily="49" charset="-122"/>
                <a:cs typeface="仿宋" panose="02010609060101010101" pitchFamily="49" charset="-122"/>
                <a:sym typeface="+mn-ea"/>
              </a:rPr>
              <a:t>任务图调度（</a:t>
            </a:r>
            <a:r>
              <a:rPr lang="en-US" altLang="zh-CN" b="1">
                <a:latin typeface="仿宋" panose="02010609060101010101" pitchFamily="49" charset="-122"/>
                <a:ea typeface="仿宋" panose="02010609060101010101" pitchFamily="49" charset="-122"/>
                <a:cs typeface="仿宋" panose="02010609060101010101" pitchFamily="49" charset="-122"/>
                <a:sym typeface="+mn-ea"/>
              </a:rPr>
              <a:t>DAG</a:t>
            </a:r>
            <a:r>
              <a:rPr lang="zh-CN" altLang="en-US" b="1">
                <a:latin typeface="仿宋" panose="02010609060101010101" pitchFamily="49" charset="-122"/>
                <a:ea typeface="仿宋" panose="02010609060101010101" pitchFamily="49" charset="-122"/>
                <a:cs typeface="仿宋" panose="02010609060101010101" pitchFamily="49" charset="-122"/>
                <a:sym typeface="+mn-ea"/>
              </a:rPr>
              <a:t>）与动态调度机制</a:t>
            </a:r>
            <a:r>
              <a:rPr lang="zh-CN" altLang="en-US">
                <a:latin typeface="仿宋" panose="02010609060101010101" pitchFamily="49" charset="-122"/>
                <a:ea typeface="仿宋" panose="02010609060101010101" pitchFamily="49" charset="-122"/>
                <a:cs typeface="仿宋" panose="02010609060101010101" pitchFamily="49" charset="-122"/>
                <a:sym typeface="+mn-ea"/>
              </a:rPr>
              <a:t>：为提高并行计算效率，引入任务依赖图（</a:t>
            </a:r>
            <a:r>
              <a:rPr lang="en-US" altLang="zh-CN">
                <a:latin typeface="仿宋" panose="02010609060101010101" pitchFamily="49" charset="-122"/>
                <a:ea typeface="仿宋" panose="02010609060101010101" pitchFamily="49" charset="-122"/>
                <a:cs typeface="仿宋" panose="02010609060101010101" pitchFamily="49" charset="-122"/>
                <a:sym typeface="+mn-ea"/>
              </a:rPr>
              <a:t>Directed Acyclic Graph, DAG</a:t>
            </a:r>
            <a:r>
              <a:rPr lang="zh-CN" altLang="en-US">
                <a:latin typeface="仿宋" panose="02010609060101010101" pitchFamily="49" charset="-122"/>
                <a:ea typeface="仿宋" panose="02010609060101010101" pitchFamily="49" charset="-122"/>
                <a:cs typeface="仿宋" panose="02010609060101010101" pitchFamily="49" charset="-122"/>
                <a:sym typeface="+mn-ea"/>
              </a:rPr>
              <a:t>）和动态调度机制成为重要方向。这些技术允许对复杂的矩阵分解任务进行细粒度划分，并基于实时运行状态智能地分配任务，减少等待时间，进一步提升整体计算效率和资源利用率。</a:t>
            </a:r>
            <a:endParaRPr lang="zh-CN" altLang="en-US">
              <a:latin typeface="仿宋" panose="02010609060101010101" pitchFamily="49" charset="-122"/>
              <a:ea typeface="仿宋" panose="02010609060101010101" pitchFamily="49" charset="-122"/>
              <a:cs typeface="仿宋" panose="02010609060101010101" pitchFamily="49" charset="-122"/>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4390" y="40005"/>
            <a:ext cx="10690860" cy="590550"/>
          </a:xfrm>
        </p:spPr>
        <p:txBody>
          <a:bodyPr/>
          <a:lstStyle/>
          <a:p>
            <a:r>
              <a:rPr lang="zh-CN" altLang="en-US" dirty="0">
                <a:effectLst>
                  <a:outerShdw blurRad="38100" dist="38100" dir="2700000" algn="tl">
                    <a:srgbClr val="000000">
                      <a:alpha val="43137"/>
                    </a:srgbClr>
                  </a:outerShdw>
                </a:effectLst>
                <a:sym typeface="+mn-ea"/>
              </a:rPr>
              <a:t>相关研究</a:t>
            </a:r>
            <a:endParaRPr lang="zh-CN" altLang="en-US" dirty="0">
              <a:effectLst>
                <a:outerShdw blurRad="38100" dist="38100" dir="2700000" algn="tl">
                  <a:srgbClr val="000000">
                    <a:alpha val="43137"/>
                  </a:srgbClr>
                </a:outerShdw>
              </a:effectLst>
              <a:sym typeface="+mn-ea"/>
            </a:endParaRPr>
          </a:p>
        </p:txBody>
      </p:sp>
      <p:grpSp>
        <p:nvGrpSpPr>
          <p:cNvPr id="41" name="组合 40"/>
          <p:cNvGrpSpPr/>
          <p:nvPr/>
        </p:nvGrpSpPr>
        <p:grpSpPr>
          <a:xfrm>
            <a:off x="155336" y="948426"/>
            <a:ext cx="5657850" cy="499110"/>
            <a:chOff x="2580720" y="1428360"/>
            <a:chExt cx="2204007" cy="914090"/>
          </a:xfrm>
        </p:grpSpPr>
        <p:sp>
          <p:nvSpPr>
            <p:cNvPr id="42" name="矩形 41"/>
            <p:cNvSpPr/>
            <p:nvPr/>
          </p:nvSpPr>
          <p:spPr>
            <a:xfrm>
              <a:off x="2645777" y="1428360"/>
              <a:ext cx="2138950" cy="914090"/>
            </a:xfrm>
            <a:prstGeom prst="rect">
              <a:avLst/>
            </a:prstGeom>
            <a:solidFill>
              <a:srgbClr val="071F65">
                <a:hueOff val="0"/>
                <a:satOff val="0"/>
                <a:lumOff val="0"/>
                <a:alphaOff val="0"/>
              </a:srgbClr>
            </a:solidFill>
            <a:ln w="12700" cap="flat" cmpd="sng" algn="ctr">
              <a:solidFill>
                <a:sysClr val="window" lastClr="FFFFFF">
                  <a:hueOff val="0"/>
                  <a:satOff val="0"/>
                  <a:lumOff val="0"/>
                  <a:alphaOff val="0"/>
                </a:sysClr>
              </a:solidFill>
              <a:prstDash val="solid"/>
              <a:miter lim="800000"/>
            </a:ln>
            <a:effectLst/>
          </p:spPr>
          <p:txBody>
            <a:bodyPr spcFirstLastPara="0" vert="horz" wrap="square" lIns="174764" tIns="174764" rIns="174764" bIns="174764" numCol="1" spcCol="1270" anchor="ctr" anchorCtr="0">
              <a:noAutofit/>
            </a:bodyPr>
            <a:p>
              <a:pPr marL="0" marR="0" lvl="0" indent="0" algn="ctr" defTabSz="1289050" eaLnBrk="1" fontAlgn="auto" latinLnBrk="0" hangingPunct="1">
                <a:lnSpc>
                  <a:spcPct val="90000"/>
                </a:lnSpc>
                <a:spcBef>
                  <a:spcPct val="0"/>
                </a:spcBef>
                <a:spcAft>
                  <a:spcPct val="35000"/>
                </a:spcAft>
                <a:buClrTx/>
                <a:buSzTx/>
                <a:buFontTx/>
                <a:buNone/>
                <a:defRPr/>
              </a:pPr>
              <a:endParaRPr kumimoji="0" lang="zh-CN" altLang="en-US" sz="2935" b="0" i="0" u="none" strike="noStrike" kern="0" cap="none" spc="0" normalizeH="0" baseline="0" noProof="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43" name="文本框 28"/>
            <p:cNvSpPr txBox="1"/>
            <p:nvPr/>
          </p:nvSpPr>
          <p:spPr>
            <a:xfrm>
              <a:off x="2580720" y="1520234"/>
              <a:ext cx="2204007" cy="730342"/>
            </a:xfrm>
            <a:prstGeom prst="rect">
              <a:avLst/>
            </a:prstGeom>
            <a:noFill/>
          </p:spPr>
          <p:txBody>
            <a:bodyPr wrap="square" rtlCol="0">
              <a:spAutoFit/>
            </a:bodyPr>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3</a:t>
              </a:r>
              <a:r>
                <a:rPr kumimoji="0" lang="zh-CN" altLang="en-US" sz="2000" b="1" i="0" u="none" strike="noStrike" kern="0" cap="none" spc="0" normalizeH="0" baseline="0" noProof="0" dirty="0">
                  <a:ln>
                    <a:noFill/>
                  </a:ln>
                  <a:solidFill>
                    <a:prstClr val="white"/>
                  </a:solidFill>
                  <a:effectLst/>
                  <a:uLnTx/>
                  <a:uFillTx/>
                  <a:latin typeface="仿宋" panose="02010609060101010101" pitchFamily="49" charset="-122"/>
                  <a:ea typeface="仿宋" panose="02010609060101010101" pitchFamily="49" charset="-122"/>
                </a:rPr>
                <a:t>、</a:t>
              </a:r>
              <a:r>
                <a:rPr lang="en-US" altLang="zh-CN" sz="2000" b="1">
                  <a:solidFill>
                    <a:schemeClr val="bg1"/>
                  </a:solidFill>
                  <a:latin typeface="仿宋" panose="02010609060101010101" pitchFamily="49" charset="-122"/>
                  <a:ea typeface="仿宋" panose="02010609060101010101" pitchFamily="49" charset="-122"/>
                  <a:cs typeface="仿宋" panose="02010609060101010101" pitchFamily="49" charset="-122"/>
                  <a:sym typeface="+mn-ea"/>
                </a:rPr>
                <a:t>TPU</a:t>
              </a:r>
              <a:r>
                <a:rPr lang="zh-CN" altLang="en-US" sz="2000" b="1">
                  <a:solidFill>
                    <a:schemeClr val="bg1"/>
                  </a:solidFill>
                  <a:latin typeface="仿宋" panose="02010609060101010101" pitchFamily="49" charset="-122"/>
                  <a:ea typeface="仿宋" panose="02010609060101010101" pitchFamily="49" charset="-122"/>
                  <a:cs typeface="仿宋" panose="02010609060101010101" pitchFamily="49" charset="-122"/>
                  <a:sym typeface="+mn-ea"/>
                </a:rPr>
                <a:t>加速大规模矩阵求解</a:t>
              </a:r>
              <a:endParaRPr kumimoji="0" lang="zh-CN" altLang="en-US" sz="2000" b="1" i="0" u="none" strike="noStrike" kern="0" cap="none" spc="0" normalizeH="0" baseline="0" noProof="0" dirty="0">
                <a:ln>
                  <a:noFill/>
                </a:ln>
                <a:solidFill>
                  <a:schemeClr val="bg1"/>
                </a:solidFill>
                <a:effectLst/>
                <a:uLnTx/>
                <a:uFillTx/>
                <a:latin typeface="仿宋" panose="02010609060101010101" pitchFamily="49" charset="-122"/>
                <a:ea typeface="仿宋" panose="02010609060101010101" pitchFamily="49" charset="-122"/>
                <a:cs typeface="仿宋" panose="02010609060101010101" pitchFamily="49" charset="-122"/>
                <a:sym typeface="+mn-ea"/>
              </a:endParaRPr>
            </a:p>
          </p:txBody>
        </p:sp>
      </p:grpSp>
      <p:sp>
        <p:nvSpPr>
          <p:cNvPr id="3" name="文本框 2"/>
          <p:cNvSpPr txBox="1"/>
          <p:nvPr/>
        </p:nvSpPr>
        <p:spPr>
          <a:xfrm>
            <a:off x="322580" y="1624965"/>
            <a:ext cx="6763385" cy="5077460"/>
          </a:xfrm>
          <a:prstGeom prst="rect">
            <a:avLst/>
          </a:prstGeom>
          <a:noFill/>
        </p:spPr>
        <p:txBody>
          <a:bodyPr wrap="square" rtlCol="0">
            <a:spAutoFit/>
          </a:bodyPr>
          <a:p>
            <a:pPr indent="0" fontAlgn="auto">
              <a:lnSpc>
                <a:spcPct val="150000"/>
              </a:lnSpc>
              <a:buFont typeface="Wingdings" panose="05000000000000000000" charset="0"/>
              <a:buNone/>
            </a:pPr>
            <a:r>
              <a:rPr lang="en-US" altLang="zh-CN">
                <a:latin typeface="仿宋" panose="02010609060101010101" pitchFamily="49" charset="-122"/>
                <a:ea typeface="仿宋" panose="02010609060101010101" pitchFamily="49" charset="-122"/>
                <a:cs typeface="仿宋" panose="02010609060101010101" pitchFamily="49" charset="-122"/>
              </a:rPr>
              <a:t>Google </a:t>
            </a:r>
            <a:r>
              <a:rPr lang="zh-CN" altLang="en-US">
                <a:latin typeface="仿宋" panose="02010609060101010101" pitchFamily="49" charset="-122"/>
                <a:ea typeface="仿宋" panose="02010609060101010101" pitchFamily="49" charset="-122"/>
                <a:cs typeface="仿宋" panose="02010609060101010101" pitchFamily="49" charset="-122"/>
              </a:rPr>
              <a:t>的第三代张量处理单元（</a:t>
            </a:r>
            <a:r>
              <a:rPr lang="en-US" altLang="zh-CN">
                <a:latin typeface="仿宋" panose="02010609060101010101" pitchFamily="49" charset="-122"/>
                <a:ea typeface="仿宋" panose="02010609060101010101" pitchFamily="49" charset="-122"/>
                <a:cs typeface="仿宋" panose="02010609060101010101" pitchFamily="49" charset="-122"/>
              </a:rPr>
              <a:t>TPU v3</a:t>
            </a:r>
            <a:r>
              <a:rPr lang="zh-CN" altLang="en-US">
                <a:latin typeface="仿宋" panose="02010609060101010101" pitchFamily="49" charset="-122"/>
                <a:ea typeface="仿宋" panose="02010609060101010101" pitchFamily="49" charset="-122"/>
                <a:cs typeface="仿宋" panose="02010609060101010101" pitchFamily="49" charset="-122"/>
              </a:rPr>
              <a:t>）被成功用于大规模稠密线性代数计算。针对</a:t>
            </a:r>
            <a:r>
              <a:rPr lang="en-US" altLang="zh-CN">
                <a:latin typeface="仿宋" panose="02010609060101010101" pitchFamily="49" charset="-122"/>
                <a:ea typeface="仿宋" panose="02010609060101010101" pitchFamily="49" charset="-122"/>
                <a:cs typeface="仿宋" panose="02010609060101010101" pitchFamily="49" charset="-122"/>
              </a:rPr>
              <a:t> QR </a:t>
            </a:r>
            <a:r>
              <a:rPr lang="zh-CN" altLang="en-US">
                <a:latin typeface="仿宋" panose="02010609060101010101" pitchFamily="49" charset="-122"/>
                <a:ea typeface="仿宋" panose="02010609060101010101" pitchFamily="49" charset="-122"/>
                <a:cs typeface="仿宋" panose="02010609060101010101" pitchFamily="49" charset="-122"/>
              </a:rPr>
              <a:t>分解，研究者对经典的</a:t>
            </a:r>
            <a:r>
              <a:rPr lang="en-US" altLang="zh-CN">
                <a:latin typeface="仿宋" panose="02010609060101010101" pitchFamily="49" charset="-122"/>
                <a:ea typeface="仿宋" panose="02010609060101010101" pitchFamily="49" charset="-122"/>
                <a:cs typeface="仿宋" panose="02010609060101010101" pitchFamily="49" charset="-122"/>
              </a:rPr>
              <a:t> CAQR</a:t>
            </a:r>
            <a:r>
              <a:rPr lang="zh-CN" altLang="en-US">
                <a:latin typeface="仿宋" panose="02010609060101010101" pitchFamily="49" charset="-122"/>
                <a:ea typeface="仿宋" panose="02010609060101010101" pitchFamily="49" charset="-122"/>
                <a:cs typeface="仿宋" panose="02010609060101010101" pitchFamily="49" charset="-122"/>
              </a:rPr>
              <a:t>算法进行了适配与优化，使其契合</a:t>
            </a:r>
            <a:r>
              <a:rPr lang="en-US" altLang="zh-CN">
                <a:latin typeface="仿宋" panose="02010609060101010101" pitchFamily="49" charset="-122"/>
                <a:ea typeface="仿宋" panose="02010609060101010101" pitchFamily="49" charset="-122"/>
                <a:cs typeface="仿宋" panose="02010609060101010101" pitchFamily="49" charset="-122"/>
              </a:rPr>
              <a:t> TPU </a:t>
            </a:r>
            <a:r>
              <a:rPr lang="zh-CN" altLang="en-US">
                <a:latin typeface="仿宋" panose="02010609060101010101" pitchFamily="49" charset="-122"/>
                <a:ea typeface="仿宋" panose="02010609060101010101" pitchFamily="49" charset="-122"/>
                <a:cs typeface="仿宋" panose="02010609060101010101" pitchFamily="49" charset="-122"/>
              </a:rPr>
              <a:t>多核二维环面互连架构的特点：通过</a:t>
            </a:r>
            <a:r>
              <a:rPr lang="en-US" altLang="zh-CN">
                <a:latin typeface="仿宋" panose="02010609060101010101" pitchFamily="49" charset="-122"/>
                <a:ea typeface="仿宋" panose="02010609060101010101" pitchFamily="49" charset="-122"/>
                <a:cs typeface="仿宋" panose="02010609060101010101" pitchFamily="49" charset="-122"/>
              </a:rPr>
              <a:t> TSQR</a:t>
            </a:r>
            <a:r>
              <a:rPr lang="zh-CN" altLang="en-US">
                <a:latin typeface="仿宋" panose="02010609060101010101" pitchFamily="49" charset="-122"/>
                <a:ea typeface="仿宋" panose="02010609060101010101" pitchFamily="49" charset="-122"/>
                <a:cs typeface="仿宋" panose="02010609060101010101" pitchFamily="49" charset="-122"/>
              </a:rPr>
              <a:t>实现列面板的分布式正交化，并利用大规模矩阵乘法主导计算流程，从而充分发挥</a:t>
            </a:r>
            <a:r>
              <a:rPr lang="en-US" altLang="zh-CN">
                <a:latin typeface="仿宋" panose="02010609060101010101" pitchFamily="49" charset="-122"/>
                <a:ea typeface="仿宋" panose="02010609060101010101" pitchFamily="49" charset="-122"/>
                <a:cs typeface="仿宋" panose="02010609060101010101" pitchFamily="49" charset="-122"/>
              </a:rPr>
              <a:t> TPU </a:t>
            </a:r>
            <a:r>
              <a:rPr lang="zh-CN" altLang="en-US">
                <a:latin typeface="仿宋" panose="02010609060101010101" pitchFamily="49" charset="-122"/>
                <a:ea typeface="仿宋" panose="02010609060101010101" pitchFamily="49" charset="-122"/>
                <a:cs typeface="仿宋" panose="02010609060101010101" pitchFamily="49" charset="-122"/>
              </a:rPr>
              <a:t>矩阵乘法单元的高吞吐优势。</a:t>
            </a:r>
            <a:endParaRPr lang="zh-CN" altLang="en-US">
              <a:latin typeface="仿宋" panose="02010609060101010101" pitchFamily="49" charset="-122"/>
              <a:ea typeface="仿宋" panose="02010609060101010101" pitchFamily="49" charset="-122"/>
              <a:cs typeface="仿宋" panose="02010609060101010101" pitchFamily="49" charset="-122"/>
            </a:endParaRPr>
          </a:p>
          <a:p>
            <a:pPr indent="0" fontAlgn="auto">
              <a:lnSpc>
                <a:spcPct val="150000"/>
              </a:lnSpc>
              <a:buFont typeface="Wingdings" panose="05000000000000000000" charset="0"/>
              <a:buNone/>
            </a:pPr>
            <a:endParaRPr lang="zh-CN" altLang="en-US">
              <a:latin typeface="仿宋" panose="02010609060101010101" pitchFamily="49" charset="-122"/>
              <a:ea typeface="仿宋" panose="02010609060101010101" pitchFamily="49" charset="-122"/>
              <a:cs typeface="仿宋" panose="02010609060101010101" pitchFamily="49" charset="-122"/>
            </a:endParaRPr>
          </a:p>
          <a:p>
            <a:pPr indent="0" fontAlgn="auto">
              <a:lnSpc>
                <a:spcPct val="150000"/>
              </a:lnSpc>
              <a:buFont typeface="Wingdings" panose="05000000000000000000" charset="0"/>
              <a:buNone/>
            </a:pPr>
            <a:r>
              <a:rPr lang="zh-CN" altLang="en-US">
                <a:latin typeface="仿宋" panose="02010609060101010101" pitchFamily="49" charset="-122"/>
                <a:ea typeface="仿宋" panose="02010609060101010101" pitchFamily="49" charset="-122"/>
                <a:cs typeface="仿宋" panose="02010609060101010101" pitchFamily="49" charset="-122"/>
              </a:rPr>
              <a:t>对于线性方程组求解，该工作采用</a:t>
            </a:r>
            <a:r>
              <a:rPr lang="en-US" altLang="zh-CN">
                <a:latin typeface="仿宋" panose="02010609060101010101" pitchFamily="49" charset="-122"/>
                <a:ea typeface="仿宋" panose="02010609060101010101" pitchFamily="49" charset="-122"/>
                <a:cs typeface="仿宋" panose="02010609060101010101" pitchFamily="49" charset="-122"/>
              </a:rPr>
              <a:t>“QR </a:t>
            </a:r>
            <a:r>
              <a:rPr lang="zh-CN" altLang="en-US">
                <a:latin typeface="仿宋" panose="02010609060101010101" pitchFamily="49" charset="-122"/>
                <a:ea typeface="仿宋" panose="02010609060101010101" pitchFamily="49" charset="-122"/>
                <a:cs typeface="仿宋" panose="02010609060101010101" pitchFamily="49" charset="-122"/>
              </a:rPr>
              <a:t>分解</a:t>
            </a:r>
            <a:r>
              <a:rPr lang="en-US" altLang="zh-CN">
                <a:latin typeface="仿宋" panose="02010609060101010101" pitchFamily="49" charset="-122"/>
                <a:ea typeface="仿宋" panose="02010609060101010101" pitchFamily="49" charset="-122"/>
                <a:cs typeface="仿宋" panose="02010609060101010101" pitchFamily="49" charset="-122"/>
              </a:rPr>
              <a:t> + </a:t>
            </a:r>
            <a:r>
              <a:rPr lang="zh-CN" altLang="en-US">
                <a:latin typeface="仿宋" panose="02010609060101010101" pitchFamily="49" charset="-122"/>
                <a:ea typeface="仿宋" panose="02010609060101010101" pitchFamily="49" charset="-122"/>
                <a:cs typeface="仿宋" panose="02010609060101010101" pitchFamily="49" charset="-122"/>
              </a:rPr>
              <a:t>三角回代</a:t>
            </a:r>
            <a:r>
              <a:rPr lang="en-US" altLang="zh-CN">
                <a:latin typeface="仿宋" panose="02010609060101010101" pitchFamily="49" charset="-122"/>
                <a:ea typeface="仿宋" panose="02010609060101010101" pitchFamily="49" charset="-122"/>
                <a:cs typeface="仿宋" panose="02010609060101010101" pitchFamily="49" charset="-122"/>
              </a:rPr>
              <a:t>”</a:t>
            </a:r>
            <a:r>
              <a:rPr lang="zh-CN" altLang="en-US">
                <a:latin typeface="仿宋" panose="02010609060101010101" pitchFamily="49" charset="-122"/>
                <a:ea typeface="仿宋" panose="02010609060101010101" pitchFamily="49" charset="-122"/>
                <a:cs typeface="仿宋" panose="02010609060101010101" pitchFamily="49" charset="-122"/>
              </a:rPr>
              <a:t>的两阶段策略。其中三角回代虽基于传统代换思想，但通过将上三角系统按块划分并映射至</a:t>
            </a:r>
            <a:r>
              <a:rPr lang="en-US" altLang="zh-CN">
                <a:latin typeface="仿宋" panose="02010609060101010101" pitchFamily="49" charset="-122"/>
                <a:ea typeface="仿宋" panose="02010609060101010101" pitchFamily="49" charset="-122"/>
                <a:cs typeface="仿宋" panose="02010609060101010101" pitchFamily="49" charset="-122"/>
              </a:rPr>
              <a:t> TPU </a:t>
            </a:r>
            <a:r>
              <a:rPr lang="zh-CN" altLang="en-US">
                <a:latin typeface="仿宋" panose="02010609060101010101" pitchFamily="49" charset="-122"/>
                <a:ea typeface="仿宋" panose="02010609060101010101" pitchFamily="49" charset="-122"/>
                <a:cs typeface="仿宋" panose="02010609060101010101" pitchFamily="49" charset="-122"/>
              </a:rPr>
              <a:t>核心网格，在多核环境下实现了有限但有效的并行化。尽管该步骤存在负载不均衡问题，其整体开销仍远低于</a:t>
            </a:r>
            <a:r>
              <a:rPr lang="en-US" altLang="zh-CN">
                <a:latin typeface="仿宋" panose="02010609060101010101" pitchFamily="49" charset="-122"/>
                <a:ea typeface="仿宋" panose="02010609060101010101" pitchFamily="49" charset="-122"/>
                <a:cs typeface="仿宋" panose="02010609060101010101" pitchFamily="49" charset="-122"/>
              </a:rPr>
              <a:t> QR </a:t>
            </a:r>
            <a:r>
              <a:rPr lang="zh-CN" altLang="en-US">
                <a:latin typeface="仿宋" panose="02010609060101010101" pitchFamily="49" charset="-122"/>
                <a:ea typeface="仿宋" panose="02010609060101010101" pitchFamily="49" charset="-122"/>
                <a:cs typeface="仿宋" panose="02010609060101010101" pitchFamily="49" charset="-122"/>
              </a:rPr>
              <a:t>分解阶段，因此在全规模下仍可实现高效的端到端求解</a:t>
            </a:r>
            <a:endParaRPr lang="zh-CN" altLang="en-US">
              <a:latin typeface="仿宋" panose="02010609060101010101" pitchFamily="49" charset="-122"/>
              <a:ea typeface="仿宋" panose="02010609060101010101" pitchFamily="49" charset="-122"/>
              <a:cs typeface="仿宋" panose="02010609060101010101" pitchFamily="49" charset="-122"/>
            </a:endParaRPr>
          </a:p>
        </p:txBody>
      </p:sp>
      <p:pic>
        <p:nvPicPr>
          <p:cNvPr id="4" name="图片 3"/>
          <p:cNvPicPr>
            <a:picLocks noChangeAspect="1"/>
          </p:cNvPicPr>
          <p:nvPr/>
        </p:nvPicPr>
        <p:blipFill>
          <a:blip r:embed="rId1"/>
          <a:stretch>
            <a:fillRect/>
          </a:stretch>
        </p:blipFill>
        <p:spPr>
          <a:xfrm>
            <a:off x="7416800" y="1624965"/>
            <a:ext cx="4591685" cy="4032250"/>
          </a:xfrm>
          <a:prstGeom prst="rect">
            <a:avLst/>
          </a:prstGeom>
        </p:spPr>
      </p:pic>
      <p:sp>
        <p:nvSpPr>
          <p:cNvPr id="7" name="文本框 6"/>
          <p:cNvSpPr txBox="1"/>
          <p:nvPr/>
        </p:nvSpPr>
        <p:spPr>
          <a:xfrm>
            <a:off x="7429500" y="5855335"/>
            <a:ext cx="4608830" cy="368300"/>
          </a:xfrm>
          <a:prstGeom prst="rect">
            <a:avLst/>
          </a:prstGeom>
          <a:noFill/>
        </p:spPr>
        <p:txBody>
          <a:bodyPr wrap="square" rtlCol="0">
            <a:spAutoFit/>
          </a:bodyPr>
          <a:p>
            <a:pPr algn="ctr"/>
            <a:r>
              <a:rPr lang="en-US" altLang="zh-CN"/>
              <a:t>CAQR</a:t>
            </a:r>
            <a:r>
              <a:rPr lang="zh-CN" altLang="en-US"/>
              <a:t>多核部署</a:t>
            </a:r>
            <a:r>
              <a:rPr lang="zh-CN" altLang="en-US"/>
              <a:t>示意图</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研究内容</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03</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custDataLst>
              <p:tags r:id="rId1"/>
            </p:custDataLst>
          </p:nvPr>
        </p:nvSpPr>
        <p:spPr/>
        <p:txBody>
          <a:bodyPr>
            <a:normAutofit/>
          </a:bodyPr>
          <a:lstStyle/>
          <a:p>
            <a:r>
              <a:rPr lang="zh-CN" altLang="en-US"/>
              <a:t>研究内容</a:t>
            </a:r>
            <a:endParaRPr lang="zh-CN" altLang="en-US"/>
          </a:p>
        </p:txBody>
      </p:sp>
      <p:sp useBgFill="1">
        <p:nvSpPr>
          <p:cNvPr id="5" name="Rectangle 41732_#color_#shadow_$dk1-788&amp;2007"/>
          <p:cNvSpPr/>
          <p:nvPr>
            <p:custDataLst>
              <p:tags r:id="rId2"/>
            </p:custDataLst>
          </p:nvPr>
        </p:nvSpPr>
        <p:spPr>
          <a:xfrm>
            <a:off x="998220" y="1430655"/>
            <a:ext cx="10195560" cy="1572260"/>
          </a:xfrm>
          <a:prstGeom prst="roundRect">
            <a:avLst/>
          </a:prstGeom>
          <a:effectLst>
            <a:outerShdw blurRad="508000" dist="76200" dir="5400000" algn="bl" rotWithShape="0">
              <a:schemeClr val="accent1">
                <a:alpha val="20000"/>
              </a:schemeClr>
            </a:outerShdw>
          </a:effectLst>
        </p:spPr>
        <p:txBody>
          <a:bodyPr/>
          <a:p>
            <a:endParaRPr lang="zh-CN" altLang="en-US">
              <a:solidFill>
                <a:schemeClr val="tx1"/>
              </a:solidFill>
            </a:endParaRPr>
          </a:p>
        </p:txBody>
      </p:sp>
      <p:sp useBgFill="1">
        <p:nvSpPr>
          <p:cNvPr id="6" name="Rectangle 41732_#color_#shadow_$dk1-788&amp;2007"/>
          <p:cNvSpPr/>
          <p:nvPr>
            <p:custDataLst>
              <p:tags r:id="rId3"/>
            </p:custDataLst>
          </p:nvPr>
        </p:nvSpPr>
        <p:spPr>
          <a:xfrm>
            <a:off x="998220" y="3111500"/>
            <a:ext cx="10195560" cy="1572260"/>
          </a:xfrm>
          <a:prstGeom prst="roundRect">
            <a:avLst/>
          </a:prstGeom>
          <a:effectLst>
            <a:outerShdw blurRad="508000" dist="76200" dir="5400000" algn="bl" rotWithShape="0">
              <a:schemeClr val="accent2">
                <a:alpha val="20000"/>
              </a:schemeClr>
            </a:outerShdw>
          </a:effectLst>
        </p:spPr>
        <p:txBody>
          <a:bodyPr/>
          <a:p>
            <a:endParaRPr lang="zh-CN" altLang="en-US">
              <a:solidFill>
                <a:schemeClr val="tx1"/>
              </a:solidFill>
            </a:endParaRPr>
          </a:p>
        </p:txBody>
      </p:sp>
      <p:sp useBgFill="1">
        <p:nvSpPr>
          <p:cNvPr id="8" name="Rectangle 41732_#color_#shadow_$dk1-788&amp;2007"/>
          <p:cNvSpPr/>
          <p:nvPr>
            <p:custDataLst>
              <p:tags r:id="rId4"/>
            </p:custDataLst>
          </p:nvPr>
        </p:nvSpPr>
        <p:spPr>
          <a:xfrm>
            <a:off x="998220" y="4791710"/>
            <a:ext cx="10195560" cy="1572260"/>
          </a:xfrm>
          <a:prstGeom prst="roundRect">
            <a:avLst/>
          </a:prstGeom>
          <a:effectLst>
            <a:outerShdw blurRad="508000" dist="76200" dir="5400000" algn="bl" rotWithShape="0">
              <a:schemeClr val="accent3">
                <a:alpha val="20000"/>
              </a:schemeClr>
            </a:outerShdw>
          </a:effectLst>
        </p:spPr>
        <p:txBody>
          <a:bodyPr/>
          <a:p>
            <a:endParaRPr lang="zh-CN" altLang="en-US">
              <a:solidFill>
                <a:schemeClr val="tx1"/>
              </a:solidFill>
            </a:endParaRPr>
          </a:p>
        </p:txBody>
      </p:sp>
      <p:sp>
        <p:nvSpPr>
          <p:cNvPr id="9" name="Rectangle 41732_#color_#shadow_$dk1-788&amp;2007"/>
          <p:cNvSpPr/>
          <p:nvPr>
            <p:custDataLst>
              <p:tags r:id="rId5"/>
            </p:custDataLst>
          </p:nvPr>
        </p:nvSpPr>
        <p:spPr>
          <a:xfrm>
            <a:off x="998220" y="1429385"/>
            <a:ext cx="10195560" cy="1572260"/>
          </a:xfrm>
          <a:prstGeom prst="roundRect">
            <a:avLst/>
          </a:prstGeom>
          <a:solidFill>
            <a:srgbClr val="FFFFFF">
              <a:alpha val="20000"/>
            </a:srgbClr>
          </a:solidFill>
          <a:effectLst/>
        </p:spPr>
        <p:txBody>
          <a:bodyPr/>
          <a:p>
            <a:endParaRPr lang="zh-CN" altLang="en-US">
              <a:solidFill>
                <a:schemeClr val="tx1"/>
              </a:solidFill>
            </a:endParaRPr>
          </a:p>
        </p:txBody>
      </p:sp>
      <p:sp>
        <p:nvSpPr>
          <p:cNvPr id="10" name="矩形 1"/>
          <p:cNvSpPr/>
          <p:nvPr>
            <p:custDataLst>
              <p:tags r:id="rId6"/>
            </p:custDataLst>
          </p:nvPr>
        </p:nvSpPr>
        <p:spPr>
          <a:xfrm>
            <a:off x="1218565" y="1894840"/>
            <a:ext cx="876300" cy="655955"/>
          </a:xfrm>
          <a:prstGeom prst="rect">
            <a:avLst/>
          </a:prstGeom>
          <a:noFill/>
        </p:spPr>
        <p:txBody>
          <a:bodyPr wrap="none" rtlCol="0" anchor="ctr" anchorCtr="0">
            <a:noAutofit/>
          </a:bodyPr>
          <a:p>
            <a:pPr algn="ctr">
              <a:spcBef>
                <a:spcPct val="0"/>
              </a:spcBef>
              <a:spcAft>
                <a:spcPct val="0"/>
              </a:spcAft>
            </a:pPr>
            <a:r>
              <a:rPr lang="en-US" altLang="zh-CN" sz="3200" b="1">
                <a:solidFill>
                  <a:schemeClr val="accent1"/>
                </a:solidFill>
                <a:latin typeface="+mn-ea"/>
                <a:cs typeface="+mn-ea"/>
              </a:rPr>
              <a:t>01</a:t>
            </a:r>
            <a:endParaRPr lang="en-US" altLang="zh-CN" sz="3200" b="1">
              <a:solidFill>
                <a:schemeClr val="accent1"/>
              </a:solidFill>
              <a:latin typeface="+mn-ea"/>
              <a:cs typeface="+mn-ea"/>
            </a:endParaRPr>
          </a:p>
        </p:txBody>
      </p:sp>
      <p:sp>
        <p:nvSpPr>
          <p:cNvPr id="12" name="矩形 2"/>
          <p:cNvSpPr/>
          <p:nvPr>
            <p:custDataLst>
              <p:tags r:id="rId7"/>
            </p:custDataLst>
          </p:nvPr>
        </p:nvSpPr>
        <p:spPr>
          <a:xfrm>
            <a:off x="2239010" y="1898650"/>
            <a:ext cx="8481060" cy="995680"/>
          </a:xfrm>
          <a:prstGeom prst="rect">
            <a:avLst/>
          </a:prstGeom>
          <a:noFill/>
        </p:spPr>
        <p:txBody>
          <a:bodyPr wrap="square" lIns="0" tIns="0" rIns="0" bIns="0" rtlCol="0" anchor="t">
            <a:noAutofit/>
          </a:bodyPr>
          <a:p>
            <a:pPr indent="0" algn="just" fontAlgn="auto">
              <a:lnSpc>
                <a:spcPct val="130000"/>
              </a:lnSpc>
              <a:spcBef>
                <a:spcPct val="0"/>
              </a:spcBef>
              <a:spcAft>
                <a:spcPct val="0"/>
              </a:spcAft>
            </a:pPr>
            <a:r>
              <a:rPr lang="zh-CN" altLang="zh-CN" sz="1200">
                <a:solidFill>
                  <a:schemeClr val="tx1">
                    <a:lumMod val="85000"/>
                    <a:lumOff val="15000"/>
                  </a:schemeClr>
                </a:solidFill>
                <a:latin typeface="+mn-ea"/>
                <a:cs typeface="+mn-ea"/>
                <a:sym typeface="+mn-ea"/>
              </a:rPr>
              <a:t>通过多前</a:t>
            </a:r>
            <a:r>
              <a:rPr lang="zh-CN" altLang="zh-CN" sz="1200">
                <a:solidFill>
                  <a:schemeClr val="tx1">
                    <a:lumMod val="85000"/>
                    <a:lumOff val="15000"/>
                  </a:schemeClr>
                </a:solidFill>
                <a:latin typeface="+mn-ea"/>
                <a:cs typeface="+mn-ea"/>
                <a:sym typeface="+mn-ea"/>
              </a:rPr>
              <a:t>沿法将不规则稀疏矩阵分解过程，转化为以稠密张量为基本单元的计算任务图。基于消去树分析聚合非零元素为规则块，构建高密度张量收缩任务流，进一步提出多路径统一策略，统一不同计算路径下的任务调度与数据流组织。提升计算流水线的利用率与负载均衡性，实现离散标量计算向</a:t>
            </a:r>
            <a:r>
              <a:rPr lang="en-US" altLang="zh-CN" sz="1200">
                <a:solidFill>
                  <a:schemeClr val="tx1">
                    <a:lumMod val="85000"/>
                    <a:lumOff val="15000"/>
                  </a:schemeClr>
                </a:solidFill>
                <a:latin typeface="+mn-ea"/>
                <a:cs typeface="+mn-ea"/>
                <a:sym typeface="+mn-ea"/>
              </a:rPr>
              <a:t>TPU</a:t>
            </a:r>
            <a:r>
              <a:rPr lang="zh-CN" altLang="en-US" sz="1200">
                <a:solidFill>
                  <a:schemeClr val="tx1">
                    <a:lumMod val="85000"/>
                    <a:lumOff val="15000"/>
                  </a:schemeClr>
                </a:solidFill>
                <a:latin typeface="+mn-ea"/>
                <a:cs typeface="+mn-ea"/>
                <a:sym typeface="+mn-ea"/>
              </a:rPr>
              <a:t>友好型张量运算的系统性转化</a:t>
            </a:r>
            <a:endParaRPr lang="zh-CN" altLang="en-US" sz="1200">
              <a:solidFill>
                <a:schemeClr val="tx1">
                  <a:lumMod val="85000"/>
                  <a:lumOff val="15000"/>
                </a:schemeClr>
              </a:solidFill>
              <a:latin typeface="+mn-ea"/>
              <a:cs typeface="+mn-ea"/>
            </a:endParaRPr>
          </a:p>
          <a:p>
            <a:pPr indent="0" algn="just" fontAlgn="auto">
              <a:lnSpc>
                <a:spcPct val="130000"/>
              </a:lnSpc>
              <a:spcBef>
                <a:spcPct val="0"/>
              </a:spcBef>
              <a:spcAft>
                <a:spcPct val="0"/>
              </a:spcAft>
            </a:pPr>
            <a:endParaRPr lang="zh-CN" altLang="en-US" sz="1200">
              <a:solidFill>
                <a:schemeClr val="tx1">
                  <a:lumMod val="85000"/>
                  <a:lumOff val="15000"/>
                </a:schemeClr>
              </a:solidFill>
              <a:latin typeface="+mn-ea"/>
              <a:cs typeface="+mn-ea"/>
              <a:sym typeface="+mn-ea"/>
            </a:endParaRPr>
          </a:p>
        </p:txBody>
      </p:sp>
      <p:sp>
        <p:nvSpPr>
          <p:cNvPr id="13" name="矩形 3"/>
          <p:cNvSpPr/>
          <p:nvPr>
            <p:custDataLst>
              <p:tags r:id="rId8"/>
            </p:custDataLst>
          </p:nvPr>
        </p:nvSpPr>
        <p:spPr>
          <a:xfrm>
            <a:off x="2239010" y="1553210"/>
            <a:ext cx="8481060" cy="341630"/>
          </a:xfrm>
          <a:prstGeom prst="rect">
            <a:avLst/>
          </a:prstGeom>
          <a:noFill/>
        </p:spPr>
        <p:txBody>
          <a:bodyPr wrap="square" lIns="0" tIns="0" rIns="0" bIns="0" rtlCol="0" anchor="ctr">
            <a:noAutofit/>
          </a:bodyPr>
          <a:p>
            <a:pPr>
              <a:spcBef>
                <a:spcPct val="0"/>
              </a:spcBef>
              <a:spcAft>
                <a:spcPct val="0"/>
              </a:spcAft>
            </a:pPr>
            <a:r>
              <a:rPr lang="zh-CN" altLang="en-US" sz="1600" b="1">
                <a:solidFill>
                  <a:schemeClr val="tx1">
                    <a:lumMod val="85000"/>
                    <a:lumOff val="15000"/>
                  </a:schemeClr>
                </a:solidFill>
                <a:latin typeface="+mn-ea"/>
                <a:cs typeface="+mn-ea"/>
                <a:sym typeface="+mn-ea"/>
              </a:rPr>
              <a:t>多</a:t>
            </a:r>
            <a:r>
              <a:rPr lang="zh-CN" altLang="en-US" sz="1600" b="1">
                <a:solidFill>
                  <a:schemeClr val="tx1">
                    <a:lumMod val="85000"/>
                    <a:lumOff val="15000"/>
                  </a:schemeClr>
                </a:solidFill>
                <a:latin typeface="+mn-ea"/>
                <a:cs typeface="+mn-ea"/>
                <a:sym typeface="+mn-ea"/>
              </a:rPr>
              <a:t>前沿驱动的稀疏矩阵张量化重构</a:t>
            </a:r>
            <a:endParaRPr lang="zh-CN" altLang="en-US" sz="1600" b="1" dirty="0">
              <a:solidFill>
                <a:schemeClr val="tx1">
                  <a:lumMod val="85000"/>
                  <a:lumOff val="15000"/>
                </a:schemeClr>
              </a:solidFill>
              <a:latin typeface="+mn-ea"/>
              <a:cs typeface="+mn-ea"/>
            </a:endParaRPr>
          </a:p>
        </p:txBody>
      </p:sp>
      <p:sp>
        <p:nvSpPr>
          <p:cNvPr id="16" name="Rectangle 41732_#color_#shadow_$dk1-788&amp;2007"/>
          <p:cNvSpPr/>
          <p:nvPr>
            <p:custDataLst>
              <p:tags r:id="rId9"/>
            </p:custDataLst>
          </p:nvPr>
        </p:nvSpPr>
        <p:spPr>
          <a:xfrm>
            <a:off x="998220" y="3110230"/>
            <a:ext cx="10195560" cy="1572260"/>
          </a:xfrm>
          <a:prstGeom prst="roundRect">
            <a:avLst/>
          </a:prstGeom>
          <a:solidFill>
            <a:srgbClr val="FFFFFF">
              <a:alpha val="20000"/>
            </a:srgbClr>
          </a:solidFill>
          <a:effectLst/>
        </p:spPr>
        <p:txBody>
          <a:bodyPr/>
          <a:p>
            <a:endParaRPr lang="zh-CN" altLang="en-US">
              <a:solidFill>
                <a:schemeClr val="tx1"/>
              </a:solidFill>
            </a:endParaRPr>
          </a:p>
        </p:txBody>
      </p:sp>
      <p:sp>
        <p:nvSpPr>
          <p:cNvPr id="20" name="矩形 6"/>
          <p:cNvSpPr/>
          <p:nvPr>
            <p:custDataLst>
              <p:tags r:id="rId10"/>
            </p:custDataLst>
          </p:nvPr>
        </p:nvSpPr>
        <p:spPr>
          <a:xfrm>
            <a:off x="1218565" y="3575685"/>
            <a:ext cx="876300" cy="655955"/>
          </a:xfrm>
          <a:prstGeom prst="rect">
            <a:avLst/>
          </a:prstGeom>
          <a:noFill/>
        </p:spPr>
        <p:txBody>
          <a:bodyPr wrap="none" rtlCol="0" anchor="ctr" anchorCtr="0">
            <a:noAutofit/>
          </a:bodyPr>
          <a:p>
            <a:pPr algn="ctr">
              <a:spcBef>
                <a:spcPct val="0"/>
              </a:spcBef>
              <a:spcAft>
                <a:spcPct val="0"/>
              </a:spcAft>
            </a:pPr>
            <a:r>
              <a:rPr lang="en-US" altLang="zh-CN" sz="3200" b="1">
                <a:solidFill>
                  <a:schemeClr val="accent2"/>
                </a:solidFill>
                <a:latin typeface="+mn-ea"/>
                <a:cs typeface="+mn-ea"/>
              </a:rPr>
              <a:t>02</a:t>
            </a:r>
            <a:endParaRPr lang="en-US" altLang="zh-CN" sz="3200" b="1">
              <a:solidFill>
                <a:schemeClr val="accent2"/>
              </a:solidFill>
              <a:latin typeface="+mn-ea"/>
              <a:cs typeface="+mn-ea"/>
            </a:endParaRPr>
          </a:p>
        </p:txBody>
      </p:sp>
      <p:sp>
        <p:nvSpPr>
          <p:cNvPr id="22" name="Rectangle 41732_#color_#shadow_$dk1-788&amp;2007"/>
          <p:cNvSpPr/>
          <p:nvPr>
            <p:custDataLst>
              <p:tags r:id="rId11"/>
            </p:custDataLst>
          </p:nvPr>
        </p:nvSpPr>
        <p:spPr>
          <a:xfrm>
            <a:off x="998220" y="4790440"/>
            <a:ext cx="10195560" cy="1572260"/>
          </a:xfrm>
          <a:prstGeom prst="roundRect">
            <a:avLst/>
          </a:prstGeom>
          <a:solidFill>
            <a:srgbClr val="FFFFFF">
              <a:alpha val="20000"/>
            </a:srgbClr>
          </a:solidFill>
          <a:effectLst/>
        </p:spPr>
        <p:txBody>
          <a:bodyPr/>
          <a:p>
            <a:endParaRPr lang="zh-CN" altLang="en-US">
              <a:solidFill>
                <a:schemeClr val="tx1"/>
              </a:solidFill>
            </a:endParaRPr>
          </a:p>
        </p:txBody>
      </p:sp>
      <p:sp>
        <p:nvSpPr>
          <p:cNvPr id="23" name="矩形 10"/>
          <p:cNvSpPr/>
          <p:nvPr>
            <p:custDataLst>
              <p:tags r:id="rId12"/>
            </p:custDataLst>
          </p:nvPr>
        </p:nvSpPr>
        <p:spPr>
          <a:xfrm>
            <a:off x="1218565" y="5255895"/>
            <a:ext cx="876300" cy="655955"/>
          </a:xfrm>
          <a:prstGeom prst="rect">
            <a:avLst/>
          </a:prstGeom>
          <a:noFill/>
        </p:spPr>
        <p:txBody>
          <a:bodyPr wrap="none" rtlCol="0" anchor="ctr" anchorCtr="0">
            <a:noAutofit/>
          </a:bodyPr>
          <a:p>
            <a:pPr algn="ctr">
              <a:spcBef>
                <a:spcPct val="0"/>
              </a:spcBef>
              <a:spcAft>
                <a:spcPct val="0"/>
              </a:spcAft>
            </a:pPr>
            <a:r>
              <a:rPr lang="en-US" altLang="zh-CN" sz="3200" b="1">
                <a:solidFill>
                  <a:schemeClr val="accent3"/>
                </a:solidFill>
                <a:latin typeface="+mn-ea"/>
                <a:cs typeface="+mn-ea"/>
              </a:rPr>
              <a:t>03</a:t>
            </a:r>
            <a:endParaRPr lang="en-US" altLang="zh-CN" sz="3200" b="1">
              <a:solidFill>
                <a:schemeClr val="accent3"/>
              </a:solidFill>
              <a:latin typeface="+mn-ea"/>
              <a:cs typeface="+mn-ea"/>
            </a:endParaRPr>
          </a:p>
        </p:txBody>
      </p:sp>
      <p:sp>
        <p:nvSpPr>
          <p:cNvPr id="24" name="矩形 13"/>
          <p:cNvSpPr/>
          <p:nvPr>
            <p:custDataLst>
              <p:tags r:id="rId13"/>
            </p:custDataLst>
          </p:nvPr>
        </p:nvSpPr>
        <p:spPr>
          <a:xfrm>
            <a:off x="2239010" y="3579495"/>
            <a:ext cx="8481060" cy="995680"/>
          </a:xfrm>
          <a:prstGeom prst="rect">
            <a:avLst/>
          </a:prstGeom>
          <a:noFill/>
        </p:spPr>
        <p:txBody>
          <a:bodyPr wrap="square" lIns="0" tIns="0" rIns="0" bIns="0" rtlCol="0" anchor="t">
            <a:noAutofit/>
          </a:bodyPr>
          <a:p>
            <a:pPr indent="0" algn="just" fontAlgn="auto">
              <a:lnSpc>
                <a:spcPct val="130000"/>
              </a:lnSpc>
              <a:spcBef>
                <a:spcPct val="0"/>
              </a:spcBef>
              <a:spcAft>
                <a:spcPct val="0"/>
              </a:spcAft>
            </a:pPr>
            <a:r>
              <a:rPr lang="zh-CN" altLang="zh-CN" sz="1200">
                <a:solidFill>
                  <a:schemeClr val="tx1">
                    <a:lumMod val="85000"/>
                    <a:lumOff val="15000"/>
                  </a:schemeClr>
                </a:solidFill>
                <a:latin typeface="+mn-ea"/>
                <a:cs typeface="+mn-ea"/>
              </a:rPr>
              <a:t>针对张量计算中的通信与访存瓶颈，研究提出软硬件协同优化策略：在张量生成阶段，通过分层锦标赛机制减少主元选择的全局同步开销；在张量移动阶段，利用硬件地址变换单元（</a:t>
            </a:r>
            <a:r>
              <a:rPr lang="en-US" altLang="zh-CN" sz="1200">
                <a:solidFill>
                  <a:schemeClr val="tx1">
                    <a:lumMod val="85000"/>
                    <a:lumOff val="15000"/>
                  </a:schemeClr>
                </a:solidFill>
                <a:latin typeface="+mn-ea"/>
                <a:cs typeface="+mn-ea"/>
              </a:rPr>
              <a:t>ATU</a:t>
            </a:r>
            <a:r>
              <a:rPr lang="zh-CN" altLang="en-US" sz="1200">
                <a:solidFill>
                  <a:schemeClr val="tx1">
                    <a:lumMod val="85000"/>
                    <a:lumOff val="15000"/>
                  </a:schemeClr>
                </a:solidFill>
                <a:latin typeface="+mn-ea"/>
                <a:cs typeface="+mn-ea"/>
              </a:rPr>
              <a:t>）解耦逻辑行交换与物理数据流，确保</a:t>
            </a:r>
            <a:r>
              <a:rPr lang="en-US" altLang="zh-CN" sz="1200">
                <a:solidFill>
                  <a:schemeClr val="tx1">
                    <a:lumMod val="85000"/>
                    <a:lumOff val="15000"/>
                  </a:schemeClr>
                </a:solidFill>
                <a:latin typeface="+mn-ea"/>
                <a:cs typeface="+mn-ea"/>
              </a:rPr>
              <a:t>TPU</a:t>
            </a:r>
            <a:r>
              <a:rPr lang="zh-CN" altLang="en-US" sz="1200">
                <a:solidFill>
                  <a:schemeClr val="tx1">
                    <a:lumMod val="85000"/>
                    <a:lumOff val="15000"/>
                  </a:schemeClr>
                </a:solidFill>
                <a:latin typeface="+mn-ea"/>
                <a:cs typeface="+mn-ea"/>
              </a:rPr>
              <a:t>阵列持续接收规整张量输入，最大化张量核心利用率。</a:t>
            </a:r>
            <a:endParaRPr lang="zh-CN" altLang="en-US" sz="1200">
              <a:solidFill>
                <a:schemeClr val="tx1">
                  <a:lumMod val="85000"/>
                  <a:lumOff val="15000"/>
                </a:schemeClr>
              </a:solidFill>
              <a:latin typeface="+mn-ea"/>
              <a:cs typeface="+mn-ea"/>
            </a:endParaRPr>
          </a:p>
        </p:txBody>
      </p:sp>
      <p:sp>
        <p:nvSpPr>
          <p:cNvPr id="25" name="矩形 14"/>
          <p:cNvSpPr/>
          <p:nvPr>
            <p:custDataLst>
              <p:tags r:id="rId14"/>
            </p:custDataLst>
          </p:nvPr>
        </p:nvSpPr>
        <p:spPr>
          <a:xfrm>
            <a:off x="2239010" y="3233420"/>
            <a:ext cx="8481060" cy="341630"/>
          </a:xfrm>
          <a:prstGeom prst="rect">
            <a:avLst/>
          </a:prstGeom>
          <a:noFill/>
        </p:spPr>
        <p:txBody>
          <a:bodyPr wrap="square" lIns="0" tIns="0" rIns="0" bIns="0" rtlCol="0" anchor="ctr">
            <a:noAutofit/>
          </a:bodyPr>
          <a:p>
            <a:pPr>
              <a:spcBef>
                <a:spcPct val="0"/>
              </a:spcBef>
              <a:spcAft>
                <a:spcPct val="0"/>
              </a:spcAft>
            </a:pPr>
            <a:r>
              <a:rPr lang="zh-CN" altLang="en-US" sz="1600" b="1">
                <a:solidFill>
                  <a:schemeClr val="tx1">
                    <a:lumMod val="85000"/>
                    <a:lumOff val="15000"/>
                  </a:schemeClr>
                </a:solidFill>
                <a:latin typeface="+mn-ea"/>
                <a:cs typeface="+mn-ea"/>
                <a:sym typeface="+mn-ea"/>
              </a:rPr>
              <a:t>张量数据流软硬协同优化</a:t>
            </a:r>
            <a:endParaRPr lang="zh-CN" altLang="en-US" sz="1600" b="1" dirty="0">
              <a:solidFill>
                <a:schemeClr val="tx1">
                  <a:lumMod val="85000"/>
                  <a:lumOff val="15000"/>
                </a:schemeClr>
              </a:solidFill>
              <a:latin typeface="+mn-ea"/>
              <a:cs typeface="+mn-ea"/>
              <a:sym typeface="+mn-ea"/>
            </a:endParaRPr>
          </a:p>
        </p:txBody>
      </p:sp>
      <p:sp>
        <p:nvSpPr>
          <p:cNvPr id="29" name="矩形 17"/>
          <p:cNvSpPr/>
          <p:nvPr>
            <p:custDataLst>
              <p:tags r:id="rId15"/>
            </p:custDataLst>
          </p:nvPr>
        </p:nvSpPr>
        <p:spPr>
          <a:xfrm>
            <a:off x="2199005" y="5269865"/>
            <a:ext cx="8481060" cy="692150"/>
          </a:xfrm>
          <a:prstGeom prst="rect">
            <a:avLst/>
          </a:prstGeom>
          <a:noFill/>
        </p:spPr>
        <p:txBody>
          <a:bodyPr wrap="square" lIns="0" tIns="0" rIns="0" bIns="0" rtlCol="0" anchor="t">
            <a:noAutofit/>
          </a:bodyPr>
          <a:p>
            <a:pPr indent="0" algn="just" fontAlgn="auto">
              <a:lnSpc>
                <a:spcPct val="130000"/>
              </a:lnSpc>
              <a:spcBef>
                <a:spcPct val="0"/>
              </a:spcBef>
              <a:spcAft>
                <a:spcPct val="0"/>
              </a:spcAft>
            </a:pPr>
            <a:r>
              <a:rPr lang="zh-CN" altLang="zh-CN" sz="1200">
                <a:solidFill>
                  <a:schemeClr val="tx1">
                    <a:lumMod val="85000"/>
                    <a:lumOff val="15000"/>
                  </a:schemeClr>
                </a:solidFill>
                <a:latin typeface="+mn-ea"/>
                <a:cs typeface="+mn-ea"/>
                <a:sym typeface="+mn-ea"/>
              </a:rPr>
              <a:t>本研究聚焦张量计算在</a:t>
            </a:r>
            <a:r>
              <a:rPr lang="en-US" altLang="zh-CN" sz="1200">
                <a:solidFill>
                  <a:schemeClr val="tx1">
                    <a:lumMod val="85000"/>
                    <a:lumOff val="15000"/>
                  </a:schemeClr>
                </a:solidFill>
                <a:latin typeface="+mn-ea"/>
                <a:cs typeface="+mn-ea"/>
                <a:sym typeface="+mn-ea"/>
              </a:rPr>
              <a:t>TPU</a:t>
            </a:r>
            <a:r>
              <a:rPr lang="zh-CN" altLang="en-US" sz="1200">
                <a:solidFill>
                  <a:schemeClr val="tx1">
                    <a:lumMod val="85000"/>
                    <a:lumOff val="15000"/>
                  </a:schemeClr>
                </a:solidFill>
                <a:latin typeface="+mn-ea"/>
                <a:cs typeface="+mn-ea"/>
                <a:sym typeface="+mn-ea"/>
              </a:rPr>
              <a:t>架构上的高效映射，设计适配</a:t>
            </a:r>
            <a:r>
              <a:rPr lang="en-US" altLang="zh-CN" sz="1200">
                <a:solidFill>
                  <a:schemeClr val="tx1">
                    <a:lumMod val="85000"/>
                    <a:lumOff val="15000"/>
                  </a:schemeClr>
                </a:solidFill>
                <a:latin typeface="+mn-ea"/>
                <a:cs typeface="+mn-ea"/>
                <a:sym typeface="+mn-ea"/>
              </a:rPr>
              <a:t>2D/3D</a:t>
            </a:r>
            <a:r>
              <a:rPr lang="zh-CN" altLang="en-US" sz="1200">
                <a:solidFill>
                  <a:schemeClr val="tx1">
                    <a:lumMod val="85000"/>
                    <a:lumOff val="15000"/>
                  </a:schemeClr>
                </a:solidFill>
                <a:latin typeface="+mn-ea"/>
                <a:cs typeface="+mn-ea"/>
                <a:sym typeface="+mn-ea"/>
              </a:rPr>
              <a:t>环形网络与</a:t>
            </a:r>
            <a:r>
              <a:rPr lang="en-US" altLang="zh-CN" sz="1200">
                <a:solidFill>
                  <a:schemeClr val="tx1">
                    <a:lumMod val="85000"/>
                    <a:lumOff val="15000"/>
                  </a:schemeClr>
                </a:solidFill>
                <a:latin typeface="+mn-ea"/>
                <a:cs typeface="+mn-ea"/>
                <a:sym typeface="+mn-ea"/>
              </a:rPr>
              <a:t>MXU</a:t>
            </a:r>
            <a:r>
              <a:rPr lang="zh-CN" altLang="en-US" sz="1200">
                <a:solidFill>
                  <a:schemeClr val="tx1">
                    <a:lumMod val="85000"/>
                    <a:lumOff val="15000"/>
                  </a:schemeClr>
                </a:solidFill>
                <a:latin typeface="+mn-ea"/>
                <a:cs typeface="+mn-ea"/>
                <a:sym typeface="+mn-ea"/>
              </a:rPr>
              <a:t>单元的张量分片与流水线策略，优化张量块到脉动阵列的布局与调度，最终实现从稀疏矩阵分析到稠密张量求解的端到端硬件加速，覆盖大规模稀疏问题的全流程处理。</a:t>
            </a:r>
            <a:endParaRPr lang="zh-CN" altLang="en-US" sz="1200">
              <a:solidFill>
                <a:schemeClr val="tx1">
                  <a:lumMod val="85000"/>
                  <a:lumOff val="15000"/>
                </a:schemeClr>
              </a:solidFill>
              <a:latin typeface="+mn-ea"/>
              <a:cs typeface="+mn-ea"/>
            </a:endParaRPr>
          </a:p>
        </p:txBody>
      </p:sp>
      <p:sp>
        <p:nvSpPr>
          <p:cNvPr id="30" name="矩形 18"/>
          <p:cNvSpPr/>
          <p:nvPr>
            <p:custDataLst>
              <p:tags r:id="rId16"/>
            </p:custDataLst>
          </p:nvPr>
        </p:nvSpPr>
        <p:spPr>
          <a:xfrm>
            <a:off x="2199005" y="4928235"/>
            <a:ext cx="8481060" cy="341630"/>
          </a:xfrm>
          <a:prstGeom prst="rect">
            <a:avLst/>
          </a:prstGeom>
          <a:noFill/>
        </p:spPr>
        <p:txBody>
          <a:bodyPr wrap="square" lIns="0" tIns="0" rIns="0" bIns="0" rtlCol="0" anchor="ctr">
            <a:noAutofit/>
          </a:bodyPr>
          <a:p>
            <a:pPr>
              <a:spcBef>
                <a:spcPct val="0"/>
              </a:spcBef>
              <a:spcAft>
                <a:spcPct val="0"/>
              </a:spcAft>
            </a:pPr>
            <a:r>
              <a:rPr lang="zh-CN" altLang="en-US" sz="1600" b="1">
                <a:solidFill>
                  <a:schemeClr val="tx1">
                    <a:lumMod val="85000"/>
                    <a:lumOff val="15000"/>
                  </a:schemeClr>
                </a:solidFill>
                <a:latin typeface="+mn-ea"/>
                <a:cs typeface="+mn-ea"/>
                <a:sym typeface="+mn-ea"/>
              </a:rPr>
              <a:t>面向</a:t>
            </a:r>
            <a:r>
              <a:rPr lang="en-US" altLang="zh-CN" sz="1600" b="1">
                <a:solidFill>
                  <a:schemeClr val="tx1">
                    <a:lumMod val="85000"/>
                    <a:lumOff val="15000"/>
                  </a:schemeClr>
                </a:solidFill>
                <a:latin typeface="+mn-ea"/>
                <a:cs typeface="+mn-ea"/>
                <a:sym typeface="+mn-ea"/>
              </a:rPr>
              <a:t>TPU</a:t>
            </a:r>
            <a:r>
              <a:rPr lang="zh-CN" altLang="en-US" sz="1600" b="1">
                <a:solidFill>
                  <a:schemeClr val="tx1">
                    <a:lumMod val="85000"/>
                    <a:lumOff val="15000"/>
                  </a:schemeClr>
                </a:solidFill>
                <a:latin typeface="+mn-ea"/>
                <a:cs typeface="+mn-ea"/>
                <a:sym typeface="+mn-ea"/>
              </a:rPr>
              <a:t>阵列的张量计算映射部署</a:t>
            </a:r>
            <a:endParaRPr lang="zh-CN" altLang="en-US" sz="1600" b="1" dirty="0">
              <a:solidFill>
                <a:schemeClr val="tx1">
                  <a:lumMod val="85000"/>
                  <a:lumOff val="15000"/>
                </a:schemeClr>
              </a:solidFill>
              <a:latin typeface="+mn-ea"/>
              <a:cs typeface="+mn-ea"/>
            </a:endParaRPr>
          </a:p>
        </p:txBody>
      </p:sp>
      <p:sp>
        <p:nvSpPr>
          <p:cNvPr id="2" name="灯片编号占位符 1"/>
          <p:cNvSpPr>
            <a:spLocks noGrp="1"/>
          </p:cNvSpPr>
          <p:nvPr>
            <p:ph type="sldNum" sz="quarter" idx="12"/>
          </p:nvPr>
        </p:nvSpPr>
        <p:spPr/>
        <p:txBody>
          <a:bodyPr/>
          <a:p>
            <a:fld id="{3B469B21-F3E0-463C-B78A-30764B838394}" type="slidenum">
              <a:rPr lang="zh-CN" altLang="en-US"/>
            </a:fld>
            <a:endParaRPr lang="zh-CN" altLang="en-US"/>
          </a:p>
        </p:txBody>
      </p:sp>
    </p:spTree>
    <p:custDataLst>
      <p:tags r:id="rId17"/>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多波前法示意图_01"/>
          <p:cNvPicPr>
            <a:picLocks noChangeAspect="1"/>
          </p:cNvPicPr>
          <p:nvPr/>
        </p:nvPicPr>
        <p:blipFill>
          <a:blip r:embed="rId1"/>
          <a:stretch>
            <a:fillRect/>
          </a:stretch>
        </p:blipFill>
        <p:spPr>
          <a:xfrm>
            <a:off x="1972310" y="3220085"/>
            <a:ext cx="8082915" cy="3531870"/>
          </a:xfrm>
          <a:prstGeom prst="rect">
            <a:avLst/>
          </a:prstGeom>
        </p:spPr>
      </p:pic>
      <p:sp>
        <p:nvSpPr>
          <p:cNvPr id="10" name="标题 9"/>
          <p:cNvSpPr>
            <a:spLocks noGrp="1"/>
          </p:cNvSpPr>
          <p:nvPr>
            <p:ph type="title"/>
          </p:nvPr>
        </p:nvSpPr>
        <p:spPr>
          <a:xfrm>
            <a:off x="838200" y="53387"/>
            <a:ext cx="10515600" cy="589280"/>
          </a:xfrm>
          <a:prstGeom prst="rect">
            <a:avLst/>
          </a:prstGeom>
          <a:noFill/>
        </p:spPr>
        <p:txBody>
          <a:bodyPr wrap="square" lIns="91440" tIns="45720" rIns="91440" bIns="45720">
            <a:spAutoFit/>
          </a:bodyPr>
          <a:lstStyle/>
          <a:p>
            <a:pPr algn="just"/>
            <a:r>
              <a:rPr lang="zh-CN" altLang="en-US" dirty="0">
                <a:ln w="0"/>
                <a:effectLst>
                  <a:outerShdw blurRad="38100" dist="19050" dir="2700000" algn="tl" rotWithShape="0">
                    <a:schemeClr val="dk1">
                      <a:alpha val="40000"/>
                    </a:schemeClr>
                  </a:outerShdw>
                </a:effectLst>
              </a:rPr>
              <a:t>研究</a:t>
            </a:r>
            <a:r>
              <a:rPr lang="zh-CN" altLang="en-US" sz="3600" dirty="0">
                <a:ln w="0"/>
                <a:effectLst>
                  <a:outerShdw blurRad="38100" dist="19050" dir="2700000" algn="tl" rotWithShape="0">
                    <a:schemeClr val="dk1">
                      <a:alpha val="40000"/>
                    </a:schemeClr>
                  </a:outerShdw>
                </a:effectLst>
              </a:rPr>
              <a:t>内容</a:t>
            </a:r>
            <a:endParaRPr lang="zh-CN" altLang="en-US" sz="3600" dirty="0">
              <a:ln w="0"/>
              <a:effectLst>
                <a:outerShdw blurRad="38100" dist="19050" dir="2700000" algn="tl" rotWithShape="0">
                  <a:schemeClr val="dk1">
                    <a:alpha val="40000"/>
                  </a:schemeClr>
                </a:outerShdw>
              </a:effectLst>
            </a:endParaRPr>
          </a:p>
        </p:txBody>
      </p:sp>
      <p:sp>
        <p:nvSpPr>
          <p:cNvPr id="50" name="文本框 49"/>
          <p:cNvSpPr txBox="1"/>
          <p:nvPr/>
        </p:nvSpPr>
        <p:spPr>
          <a:xfrm>
            <a:off x="-1382395" y="5346700"/>
            <a:ext cx="4064000" cy="368300"/>
          </a:xfrm>
          <a:prstGeom prst="rect">
            <a:avLst/>
          </a:prstGeom>
          <a:noFill/>
        </p:spPr>
        <p:txBody>
          <a:bodyPr wrap="square" rtlCol="0">
            <a:spAutoFit/>
          </a:bodyPr>
          <a:p>
            <a:endParaRPr lang="zh-CN" altLang="en-US"/>
          </a:p>
        </p:txBody>
      </p:sp>
      <p:sp>
        <p:nvSpPr>
          <p:cNvPr id="5" name="文本框 4"/>
          <p:cNvSpPr txBox="1"/>
          <p:nvPr/>
        </p:nvSpPr>
        <p:spPr>
          <a:xfrm>
            <a:off x="3169920" y="163830"/>
            <a:ext cx="4064000" cy="368300"/>
          </a:xfrm>
          <a:prstGeom prst="rect">
            <a:avLst/>
          </a:prstGeom>
          <a:noFill/>
        </p:spPr>
        <p:txBody>
          <a:bodyPr wrap="square" rtlCol="0">
            <a:noAutofit/>
          </a:bodyPr>
          <a:p>
            <a:pPr indent="0">
              <a:buFont typeface="+mj-lt"/>
              <a:buNone/>
            </a:pPr>
            <a:r>
              <a:rPr lang="zh-CN" altLang="en-US" sz="2000" b="1">
                <a:latin typeface="仿宋" panose="02010609060101010101" pitchFamily="49" charset="-122"/>
                <a:ea typeface="仿宋" panose="02010609060101010101" pitchFamily="49" charset="-122"/>
              </a:rPr>
              <a:t>多</a:t>
            </a:r>
            <a:r>
              <a:rPr lang="zh-CN" altLang="en-US" sz="2000" b="1">
                <a:latin typeface="仿宋" panose="02010609060101010101" pitchFamily="49" charset="-122"/>
                <a:ea typeface="仿宋" panose="02010609060101010101" pitchFamily="49" charset="-122"/>
              </a:rPr>
              <a:t>前沿驱动的稀疏矩阵张量化重构</a:t>
            </a:r>
            <a:endParaRPr lang="zh-CN" altLang="en-US" sz="2000" b="1">
              <a:latin typeface="仿宋" panose="02010609060101010101" pitchFamily="49" charset="-122"/>
              <a:ea typeface="仿宋" panose="02010609060101010101" pitchFamily="49" charset="-122"/>
            </a:endParaRPr>
          </a:p>
          <a:p>
            <a:pPr indent="457200"/>
            <a:endParaRPr lang="zh-CN" altLang="en-US" sz="1600">
              <a:latin typeface="仿宋" panose="02010609060101010101" pitchFamily="49" charset="-122"/>
              <a:ea typeface="仿宋" panose="02010609060101010101" pitchFamily="49" charset="-122"/>
            </a:endParaRPr>
          </a:p>
        </p:txBody>
      </p:sp>
      <p:sp>
        <p:nvSpPr>
          <p:cNvPr id="7" name="文本框 6"/>
          <p:cNvSpPr txBox="1"/>
          <p:nvPr/>
        </p:nvSpPr>
        <p:spPr>
          <a:xfrm>
            <a:off x="501650" y="1051560"/>
            <a:ext cx="11416030" cy="2168525"/>
          </a:xfrm>
          <a:prstGeom prst="rect">
            <a:avLst/>
          </a:prstGeom>
          <a:noFill/>
        </p:spPr>
        <p:txBody>
          <a:bodyPr wrap="square" rtlCol="0">
            <a:spAutoFit/>
          </a:bodyPr>
          <a:p>
            <a:pPr indent="0" fontAlgn="auto">
              <a:lnSpc>
                <a:spcPct val="150000"/>
              </a:lnSpc>
            </a:pPr>
            <a:r>
              <a:rPr lang="zh-CN" altLang="en-US">
                <a:latin typeface="仿宋" panose="02010609060101010101" pitchFamily="49" charset="-122"/>
                <a:ea typeface="仿宋" panose="02010609060101010101" pitchFamily="49" charset="-122"/>
              </a:rPr>
              <a:t>传统稀疏矩阵求解方法面临两大核心挑战：其一，依赖离散标量运算难以适配</a:t>
            </a:r>
            <a:r>
              <a:rPr lang="en-US" altLang="zh-CN">
                <a:latin typeface="仿宋" panose="02010609060101010101" pitchFamily="49" charset="-122"/>
                <a:ea typeface="仿宋" panose="02010609060101010101" pitchFamily="49" charset="-122"/>
              </a:rPr>
              <a:t>TPU</a:t>
            </a:r>
            <a:r>
              <a:rPr lang="zh-CN" altLang="en-US">
                <a:latin typeface="仿宋" panose="02010609060101010101" pitchFamily="49" charset="-122"/>
                <a:ea typeface="仿宋" panose="02010609060101010101" pitchFamily="49" charset="-122"/>
              </a:rPr>
              <a:t>的高吞吐架构；其二，非零元素分布无规律导致访存模式不可预测，严重制约计算效率。基于多前沿法的张量化重构</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通过将稀疏矩阵分解为多个</a:t>
            </a:r>
            <a:r>
              <a:rPr lang="zh-CN" altLang="en-US" b="1">
                <a:latin typeface="仿宋" panose="02010609060101010101" pitchFamily="49" charset="-122"/>
                <a:ea typeface="仿宋" panose="02010609060101010101" pitchFamily="49" charset="-122"/>
              </a:rPr>
              <a:t>稠密张量块</a:t>
            </a:r>
            <a:r>
              <a:rPr lang="zh-CN" altLang="en-US">
                <a:latin typeface="仿宋" panose="02010609060101010101" pitchFamily="49" charset="-122"/>
                <a:ea typeface="仿宋" panose="02010609060101010101" pitchFamily="49" charset="-122"/>
              </a:rPr>
              <a:t>，并结合消去树划分任务依赖关系，将不规则稀疏计算转化为</a:t>
            </a:r>
            <a:r>
              <a:rPr lang="zh-CN" altLang="en-US" b="1">
                <a:latin typeface="仿宋" panose="02010609060101010101" pitchFamily="49" charset="-122"/>
                <a:ea typeface="仿宋" panose="02010609060101010101" pitchFamily="49" charset="-122"/>
              </a:rPr>
              <a:t>规则张量计算任务</a:t>
            </a:r>
            <a:r>
              <a:rPr lang="zh-CN" altLang="en-US">
                <a:latin typeface="仿宋" panose="02010609060101010101" pitchFamily="49" charset="-122"/>
                <a:ea typeface="仿宋" panose="02010609060101010101" pitchFamily="49" charset="-122"/>
              </a:rPr>
              <a:t>。该方法</a:t>
            </a:r>
            <a:r>
              <a:rPr lang="zh-CN" altLang="en-US">
                <a:latin typeface="仿宋" panose="02010609060101010101" pitchFamily="49" charset="-122"/>
                <a:ea typeface="仿宋" panose="02010609060101010101" pitchFamily="49" charset="-122"/>
              </a:rPr>
              <a:t>能够显著提升</a:t>
            </a:r>
            <a:r>
              <a:rPr lang="en-US" altLang="zh-CN">
                <a:latin typeface="仿宋" panose="02010609060101010101" pitchFamily="49" charset="-122"/>
                <a:ea typeface="仿宋" panose="02010609060101010101" pitchFamily="49" charset="-122"/>
              </a:rPr>
              <a:t>TPU</a:t>
            </a:r>
            <a:r>
              <a:rPr lang="zh-CN" altLang="en-US">
                <a:latin typeface="仿宋" panose="02010609060101010101" pitchFamily="49" charset="-122"/>
                <a:ea typeface="仿宋" panose="02010609060101010101" pitchFamily="49" charset="-122"/>
              </a:rPr>
              <a:t>阵列的利用率，更通过统一任务调度机制支持对正定矩阵等特殊结构矩阵的高效处理，拓展了稀疏求解器在工程应用中的功能边界</a:t>
            </a:r>
            <a:endParaRPr lang="zh-CN" altLang="en-US">
              <a:latin typeface="仿宋" panose="02010609060101010101" pitchFamily="49" charset="-122"/>
              <a:ea typeface="仿宋"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53387"/>
            <a:ext cx="10515600" cy="589280"/>
          </a:xfrm>
          <a:prstGeom prst="rect">
            <a:avLst/>
          </a:prstGeom>
          <a:noFill/>
        </p:spPr>
        <p:txBody>
          <a:bodyPr wrap="square" lIns="91440" tIns="45720" rIns="91440" bIns="45720">
            <a:spAutoFit/>
          </a:bodyPr>
          <a:lstStyle/>
          <a:p>
            <a:pPr algn="just"/>
            <a:r>
              <a:rPr lang="zh-CN" altLang="en-US" dirty="0">
                <a:ln w="0"/>
                <a:effectLst>
                  <a:outerShdw blurRad="38100" dist="19050" dir="2700000" algn="tl" rotWithShape="0">
                    <a:schemeClr val="dk1">
                      <a:alpha val="40000"/>
                    </a:schemeClr>
                  </a:outerShdw>
                </a:effectLst>
              </a:rPr>
              <a:t>研究</a:t>
            </a:r>
            <a:r>
              <a:rPr lang="zh-CN" altLang="en-US" sz="3600" dirty="0">
                <a:ln w="0"/>
                <a:effectLst>
                  <a:outerShdw blurRad="38100" dist="19050" dir="2700000" algn="tl" rotWithShape="0">
                    <a:schemeClr val="dk1">
                      <a:alpha val="40000"/>
                    </a:schemeClr>
                  </a:outerShdw>
                </a:effectLst>
              </a:rPr>
              <a:t>内容</a:t>
            </a:r>
            <a:r>
              <a:rPr lang="en-US" altLang="zh-CN" sz="3600" dirty="0">
                <a:ln w="0"/>
                <a:effectLst>
                  <a:outerShdw blurRad="38100" dist="19050" dir="2700000" algn="tl" rotWithShape="0">
                    <a:schemeClr val="dk1">
                      <a:alpha val="40000"/>
                    </a:schemeClr>
                  </a:outerShdw>
                </a:effectLst>
              </a:rPr>
              <a:t>  </a:t>
            </a:r>
            <a:endParaRPr lang="zh-CN" altLang="en-US" sz="3600" dirty="0">
              <a:ln w="0"/>
              <a:effectLst>
                <a:outerShdw blurRad="38100" dist="19050" dir="2700000" algn="tl" rotWithShape="0">
                  <a:schemeClr val="dk1">
                    <a:alpha val="40000"/>
                  </a:schemeClr>
                </a:outerShdw>
              </a:effectLst>
            </a:endParaRPr>
          </a:p>
        </p:txBody>
      </p:sp>
      <p:sp>
        <p:nvSpPr>
          <p:cNvPr id="50" name="文本框 49"/>
          <p:cNvSpPr txBox="1"/>
          <p:nvPr/>
        </p:nvSpPr>
        <p:spPr>
          <a:xfrm>
            <a:off x="-1382395" y="5346700"/>
            <a:ext cx="4064000" cy="368300"/>
          </a:xfrm>
          <a:prstGeom prst="rect">
            <a:avLst/>
          </a:prstGeom>
          <a:noFill/>
        </p:spPr>
        <p:txBody>
          <a:bodyPr wrap="square" rtlCol="0">
            <a:spAutoFit/>
          </a:bodyPr>
          <a:p>
            <a:endParaRPr lang="zh-CN" altLang="en-US"/>
          </a:p>
        </p:txBody>
      </p:sp>
      <p:sp>
        <p:nvSpPr>
          <p:cNvPr id="5" name="文本框 4"/>
          <p:cNvSpPr txBox="1"/>
          <p:nvPr/>
        </p:nvSpPr>
        <p:spPr>
          <a:xfrm>
            <a:off x="3169920" y="163830"/>
            <a:ext cx="4064000" cy="368300"/>
          </a:xfrm>
          <a:prstGeom prst="rect">
            <a:avLst/>
          </a:prstGeom>
          <a:noFill/>
        </p:spPr>
        <p:txBody>
          <a:bodyPr wrap="square" rtlCol="0">
            <a:noAutofit/>
          </a:bodyPr>
          <a:p>
            <a:pPr indent="0">
              <a:buFont typeface="+mj-lt"/>
              <a:buNone/>
            </a:pPr>
            <a:r>
              <a:rPr lang="zh-CN" altLang="en-US" sz="2000" b="1">
                <a:latin typeface="仿宋" panose="02010609060101010101" pitchFamily="49" charset="-122"/>
                <a:ea typeface="仿宋" panose="02010609060101010101" pitchFamily="49" charset="-122"/>
              </a:rPr>
              <a:t>张量数据流软硬</a:t>
            </a:r>
            <a:r>
              <a:rPr lang="zh-CN" altLang="en-US" sz="2000" b="1">
                <a:latin typeface="仿宋" panose="02010609060101010101" pitchFamily="49" charset="-122"/>
                <a:ea typeface="仿宋" panose="02010609060101010101" pitchFamily="49" charset="-122"/>
              </a:rPr>
              <a:t>协同优化</a:t>
            </a:r>
            <a:endParaRPr lang="zh-CN" altLang="en-US" sz="2000" b="1">
              <a:latin typeface="仿宋" panose="02010609060101010101" pitchFamily="49" charset="-122"/>
              <a:ea typeface="仿宋" panose="02010609060101010101" pitchFamily="49" charset="-122"/>
            </a:endParaRPr>
          </a:p>
          <a:p>
            <a:pPr indent="457200"/>
            <a:endParaRPr lang="zh-CN" altLang="en-US" sz="1600">
              <a:latin typeface="仿宋" panose="02010609060101010101" pitchFamily="49" charset="-122"/>
              <a:ea typeface="仿宋" panose="02010609060101010101" pitchFamily="49" charset="-122"/>
            </a:endParaRPr>
          </a:p>
        </p:txBody>
      </p:sp>
      <p:sp>
        <p:nvSpPr>
          <p:cNvPr id="7" name="文本框 6"/>
          <p:cNvSpPr txBox="1"/>
          <p:nvPr/>
        </p:nvSpPr>
        <p:spPr>
          <a:xfrm>
            <a:off x="207645" y="1051560"/>
            <a:ext cx="11416030" cy="2898140"/>
          </a:xfrm>
          <a:prstGeom prst="rect">
            <a:avLst/>
          </a:prstGeom>
          <a:noFill/>
        </p:spPr>
        <p:txBody>
          <a:bodyPr wrap="square" rtlCol="0">
            <a:noAutofit/>
          </a:bodyPr>
          <a:p>
            <a:pPr indent="0" fontAlgn="auto">
              <a:lnSpc>
                <a:spcPct val="150000"/>
              </a:lnSpc>
            </a:pPr>
            <a:r>
              <a:rPr lang="zh-CN" altLang="en-US">
                <a:latin typeface="仿宋" panose="02010609060101010101" pitchFamily="49" charset="-122"/>
                <a:ea typeface="仿宋" panose="02010609060101010101" pitchFamily="49" charset="-122"/>
              </a:rPr>
              <a:t>针对稀疏矩阵</a:t>
            </a:r>
            <a:r>
              <a:rPr lang="zh-CN" altLang="en-US">
                <a:latin typeface="仿宋" panose="02010609060101010101" pitchFamily="49" charset="-122"/>
                <a:ea typeface="仿宋" panose="02010609060101010101" pitchFamily="49" charset="-122"/>
              </a:rPr>
              <a:t>分解张量计算中普遍存在的</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通信墙</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与</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访存墙</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问题，本研究提出一种软硬件协同优化机制</a:t>
            </a:r>
            <a:r>
              <a:rPr lang="en-US" altLang="zh-CN">
                <a:latin typeface="仿宋" panose="02010609060101010101" pitchFamily="49" charset="-122"/>
                <a:ea typeface="仿宋" panose="02010609060101010101" pitchFamily="49" charset="-122"/>
              </a:rPr>
              <a:t>——</a:t>
            </a:r>
            <a:r>
              <a:rPr lang="zh-CN" altLang="en-US">
                <a:latin typeface="仿宋" panose="02010609060101010101" pitchFamily="49" charset="-122"/>
                <a:ea typeface="仿宋" panose="02010609060101010101" pitchFamily="49" charset="-122"/>
              </a:rPr>
              <a:t>结合通信规避主元选择（</a:t>
            </a:r>
            <a:r>
              <a:rPr lang="en-US" altLang="zh-CN">
                <a:latin typeface="仿宋" panose="02010609060101010101" pitchFamily="49" charset="-122"/>
                <a:ea typeface="仿宋" panose="02010609060101010101" pitchFamily="49" charset="-122"/>
              </a:rPr>
              <a:t>CALU</a:t>
            </a:r>
            <a:r>
              <a:rPr lang="zh-CN" altLang="en-US">
                <a:latin typeface="仿宋" panose="02010609060101010101" pitchFamily="49" charset="-122"/>
                <a:ea typeface="仿宋" panose="02010609060101010101" pitchFamily="49" charset="-122"/>
              </a:rPr>
              <a:t>）与地址变换单元（</a:t>
            </a:r>
            <a:r>
              <a:rPr lang="en-US" altLang="zh-CN">
                <a:latin typeface="仿宋" panose="02010609060101010101" pitchFamily="49" charset="-122"/>
                <a:ea typeface="仿宋" panose="02010609060101010101" pitchFamily="49" charset="-122"/>
              </a:rPr>
              <a:t>ATU</a:t>
            </a:r>
            <a:r>
              <a:rPr lang="zh-CN" altLang="en-US">
                <a:latin typeface="仿宋" panose="02010609060101010101" pitchFamily="49" charset="-122"/>
                <a:ea typeface="仿宋" panose="02010609060101010101" pitchFamily="49" charset="-122"/>
              </a:rPr>
              <a:t>），显著提升</a:t>
            </a:r>
            <a:r>
              <a:rPr lang="en-US" altLang="zh-CN">
                <a:latin typeface="仿宋" panose="02010609060101010101" pitchFamily="49" charset="-122"/>
                <a:ea typeface="仿宋" panose="02010609060101010101" pitchFamily="49" charset="-122"/>
              </a:rPr>
              <a:t>TPU</a:t>
            </a:r>
            <a:r>
              <a:rPr lang="zh-CN" altLang="en-US">
                <a:latin typeface="仿宋" panose="02010609060101010101" pitchFamily="49" charset="-122"/>
                <a:ea typeface="仿宋" panose="02010609060101010101" pitchFamily="49" charset="-122"/>
              </a:rPr>
              <a:t>阵列的张量核心利用率。在张量生成阶段，</a:t>
            </a:r>
            <a:r>
              <a:rPr lang="en-US" altLang="zh-CN">
                <a:latin typeface="仿宋" panose="02010609060101010101" pitchFamily="49" charset="-122"/>
                <a:ea typeface="仿宋" panose="02010609060101010101" pitchFamily="49" charset="-122"/>
              </a:rPr>
              <a:t>CALU</a:t>
            </a:r>
            <a:r>
              <a:rPr lang="zh-CN" altLang="en-US">
                <a:latin typeface="仿宋" panose="02010609060101010101" pitchFamily="49" charset="-122"/>
                <a:ea typeface="仿宋" panose="02010609060101010101" pitchFamily="49" charset="-122"/>
              </a:rPr>
              <a:t>通过</a:t>
            </a:r>
            <a:r>
              <a:rPr lang="zh-CN" altLang="en-US" b="1">
                <a:latin typeface="仿宋" panose="02010609060101010101" pitchFamily="49" charset="-122"/>
                <a:ea typeface="仿宋" panose="02010609060101010101" pitchFamily="49" charset="-122"/>
              </a:rPr>
              <a:t>分层锦标赛机制</a:t>
            </a:r>
            <a:r>
              <a:rPr lang="zh-CN" altLang="en-US">
                <a:latin typeface="仿宋" panose="02010609060101010101" pitchFamily="49" charset="-122"/>
                <a:ea typeface="仿宋" panose="02010609060101010101" pitchFamily="49" charset="-122"/>
              </a:rPr>
              <a:t>将全局主元选择分解为局部决策与轻量级全局归约，大幅减少同步开销；在张量移动阶段，</a:t>
            </a:r>
            <a:r>
              <a:rPr lang="en-US" altLang="zh-CN">
                <a:latin typeface="仿宋" panose="02010609060101010101" pitchFamily="49" charset="-122"/>
                <a:ea typeface="仿宋" panose="02010609060101010101" pitchFamily="49" charset="-122"/>
              </a:rPr>
              <a:t>ATU</a:t>
            </a:r>
            <a:r>
              <a:rPr lang="zh-CN" altLang="en-US">
                <a:latin typeface="仿宋" panose="02010609060101010101" pitchFamily="49" charset="-122"/>
                <a:ea typeface="仿宋" panose="02010609060101010101" pitchFamily="49" charset="-122"/>
              </a:rPr>
              <a:t>引入</a:t>
            </a:r>
            <a:r>
              <a:rPr lang="zh-CN" altLang="en-US" b="1">
                <a:latin typeface="仿宋" panose="02010609060101010101" pitchFamily="49" charset="-122"/>
                <a:ea typeface="仿宋" panose="02010609060101010101" pitchFamily="49" charset="-122"/>
              </a:rPr>
              <a:t>硬件级地址翻译表</a:t>
            </a:r>
            <a:r>
              <a:rPr lang="zh-CN" altLang="en-US">
                <a:latin typeface="仿宋" panose="02010609060101010101" pitchFamily="49" charset="-122"/>
                <a:ea typeface="仿宋" panose="02010609060101010101" pitchFamily="49" charset="-122"/>
              </a:rPr>
              <a:t>，将逻辑行交换转化为物理地址的</a:t>
            </a:r>
            <a:r>
              <a:rPr lang="zh-CN" altLang="en-US" b="1">
                <a:latin typeface="仿宋" panose="02010609060101010101" pitchFamily="49" charset="-122"/>
                <a:ea typeface="仿宋" panose="02010609060101010101" pitchFamily="49" charset="-122"/>
              </a:rPr>
              <a:t>动态重映射</a:t>
            </a:r>
            <a:r>
              <a:rPr lang="zh-CN" altLang="en-US">
                <a:latin typeface="仿宋" panose="02010609060101010101" pitchFamily="49" charset="-122"/>
                <a:ea typeface="仿宋" panose="02010609060101010101" pitchFamily="49" charset="-122"/>
              </a:rPr>
              <a:t>，并由</a:t>
            </a:r>
            <a:r>
              <a:rPr lang="en-US" altLang="zh-CN">
                <a:latin typeface="仿宋" panose="02010609060101010101" pitchFamily="49" charset="-122"/>
                <a:ea typeface="仿宋" panose="02010609060101010101" pitchFamily="49" charset="-122"/>
              </a:rPr>
              <a:t>DMA</a:t>
            </a:r>
            <a:r>
              <a:rPr lang="zh-CN" altLang="en-US">
                <a:latin typeface="仿宋" panose="02010609060101010101" pitchFamily="49" charset="-122"/>
                <a:ea typeface="仿宋" panose="02010609060101010101" pitchFamily="49" charset="-122"/>
              </a:rPr>
              <a:t>引擎异步完成数据搬运，从而避免频繁的</a:t>
            </a:r>
            <a:r>
              <a:rPr lang="en-US" altLang="zh-CN">
                <a:latin typeface="仿宋" panose="02010609060101010101" pitchFamily="49" charset="-122"/>
                <a:ea typeface="仿宋" panose="02010609060101010101" pitchFamily="49" charset="-122"/>
              </a:rPr>
              <a:t>DDR</a:t>
            </a:r>
            <a:r>
              <a:rPr lang="zh-CN" altLang="en-US">
                <a:latin typeface="仿宋" panose="02010609060101010101" pitchFamily="49" charset="-122"/>
                <a:ea typeface="仿宋" panose="02010609060101010101" pitchFamily="49" charset="-122"/>
              </a:rPr>
              <a:t>读写，二者协同作用，确保</a:t>
            </a:r>
            <a:r>
              <a:rPr lang="en-US" altLang="zh-CN">
                <a:latin typeface="仿宋" panose="02010609060101010101" pitchFamily="49" charset="-122"/>
                <a:ea typeface="仿宋" panose="02010609060101010101" pitchFamily="49" charset="-122"/>
              </a:rPr>
              <a:t>TPU</a:t>
            </a:r>
            <a:r>
              <a:rPr lang="zh-CN" altLang="en-US">
                <a:latin typeface="仿宋" panose="02010609060101010101" pitchFamily="49" charset="-122"/>
                <a:ea typeface="仿宋" panose="02010609060101010101" pitchFamily="49" charset="-122"/>
              </a:rPr>
              <a:t>阵列持续接收规整、连续的张量数据流</a:t>
            </a:r>
            <a:r>
              <a:rPr lang="en-US" altLang="zh-CN">
                <a:latin typeface="仿宋" panose="02010609060101010101" pitchFamily="49" charset="-122"/>
                <a:ea typeface="仿宋" panose="02010609060101010101" pitchFamily="49" charset="-122"/>
              </a:rPr>
              <a:t>。</a:t>
            </a:r>
            <a:endParaRPr lang="zh-CN" altLang="en-US">
              <a:latin typeface="仿宋" panose="02010609060101010101" pitchFamily="49" charset="-122"/>
              <a:ea typeface="仿宋" panose="02010609060101010101" pitchFamily="49" charset="-122"/>
            </a:endParaRPr>
          </a:p>
          <a:p>
            <a:pPr indent="0" fontAlgn="auto">
              <a:lnSpc>
                <a:spcPct val="150000"/>
              </a:lnSpc>
            </a:pPr>
            <a:endParaRPr lang="zh-CN" altLang="en-US">
              <a:latin typeface="仿宋" panose="02010609060101010101" pitchFamily="49" charset="-122"/>
              <a:ea typeface="仿宋" panose="02010609060101010101" pitchFamily="49" charset="-122"/>
            </a:endParaRPr>
          </a:p>
        </p:txBody>
      </p:sp>
      <p:pic>
        <p:nvPicPr>
          <p:cNvPr id="2" name="图片 1" descr="绘图_ATU_CALU_01"/>
          <p:cNvPicPr>
            <a:picLocks noChangeAspect="1"/>
          </p:cNvPicPr>
          <p:nvPr/>
        </p:nvPicPr>
        <p:blipFill>
          <a:blip r:embed="rId1"/>
          <a:stretch>
            <a:fillRect/>
          </a:stretch>
        </p:blipFill>
        <p:spPr>
          <a:xfrm>
            <a:off x="1482725" y="3265805"/>
            <a:ext cx="8866505" cy="3429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53387"/>
            <a:ext cx="10515600" cy="589280"/>
          </a:xfrm>
          <a:prstGeom prst="rect">
            <a:avLst/>
          </a:prstGeom>
          <a:noFill/>
        </p:spPr>
        <p:txBody>
          <a:bodyPr wrap="square" lIns="91440" tIns="45720" rIns="91440" bIns="45720">
            <a:spAutoFit/>
          </a:bodyPr>
          <a:lstStyle/>
          <a:p>
            <a:pPr algn="just"/>
            <a:r>
              <a:rPr lang="zh-CN" altLang="en-US" dirty="0">
                <a:ln w="0"/>
                <a:effectLst>
                  <a:outerShdw blurRad="38100" dist="19050" dir="2700000" algn="tl" rotWithShape="0">
                    <a:schemeClr val="dk1">
                      <a:alpha val="40000"/>
                    </a:schemeClr>
                  </a:outerShdw>
                </a:effectLst>
              </a:rPr>
              <a:t>研究</a:t>
            </a:r>
            <a:r>
              <a:rPr lang="zh-CN" altLang="en-US" sz="3600" dirty="0">
                <a:ln w="0"/>
                <a:effectLst>
                  <a:outerShdw blurRad="38100" dist="19050" dir="2700000" algn="tl" rotWithShape="0">
                    <a:schemeClr val="dk1">
                      <a:alpha val="40000"/>
                    </a:schemeClr>
                  </a:outerShdw>
                </a:effectLst>
              </a:rPr>
              <a:t>内容</a:t>
            </a:r>
            <a:r>
              <a:rPr lang="en-US" altLang="zh-CN" sz="3600" dirty="0">
                <a:ln w="0"/>
                <a:effectLst>
                  <a:outerShdw blurRad="38100" dist="19050" dir="2700000" algn="tl" rotWithShape="0">
                    <a:schemeClr val="dk1">
                      <a:alpha val="40000"/>
                    </a:schemeClr>
                  </a:outerShdw>
                </a:effectLst>
              </a:rPr>
              <a:t>  </a:t>
            </a:r>
            <a:endParaRPr lang="zh-CN" altLang="en-US" sz="3600" dirty="0">
              <a:ln w="0"/>
              <a:effectLst>
                <a:outerShdw blurRad="38100" dist="19050" dir="2700000" algn="tl" rotWithShape="0">
                  <a:schemeClr val="dk1">
                    <a:alpha val="40000"/>
                  </a:schemeClr>
                </a:outerShdw>
              </a:effectLst>
            </a:endParaRPr>
          </a:p>
        </p:txBody>
      </p:sp>
      <p:sp>
        <p:nvSpPr>
          <p:cNvPr id="50" name="文本框 49"/>
          <p:cNvSpPr txBox="1"/>
          <p:nvPr/>
        </p:nvSpPr>
        <p:spPr>
          <a:xfrm>
            <a:off x="-1382395" y="5346700"/>
            <a:ext cx="4064000" cy="368300"/>
          </a:xfrm>
          <a:prstGeom prst="rect">
            <a:avLst/>
          </a:prstGeom>
          <a:noFill/>
        </p:spPr>
        <p:txBody>
          <a:bodyPr wrap="square" rtlCol="0">
            <a:spAutoFit/>
          </a:bodyPr>
          <a:p>
            <a:endParaRPr lang="zh-CN" altLang="en-US"/>
          </a:p>
        </p:txBody>
      </p:sp>
      <p:sp>
        <p:nvSpPr>
          <p:cNvPr id="5" name="文本框 4"/>
          <p:cNvSpPr txBox="1"/>
          <p:nvPr/>
        </p:nvSpPr>
        <p:spPr>
          <a:xfrm>
            <a:off x="3169920" y="163830"/>
            <a:ext cx="4064000" cy="368300"/>
          </a:xfrm>
          <a:prstGeom prst="rect">
            <a:avLst/>
          </a:prstGeom>
          <a:noFill/>
        </p:spPr>
        <p:txBody>
          <a:bodyPr wrap="square" rtlCol="0">
            <a:noAutofit/>
          </a:bodyPr>
          <a:p>
            <a:pPr indent="0">
              <a:buFont typeface="+mj-lt"/>
              <a:buNone/>
            </a:pPr>
            <a:r>
              <a:rPr lang="zh-CN" altLang="en-US" sz="2000" b="1">
                <a:latin typeface="仿宋" panose="02010609060101010101" pitchFamily="49" charset="-122"/>
                <a:ea typeface="仿宋" panose="02010609060101010101" pitchFamily="49" charset="-122"/>
              </a:rPr>
              <a:t>面向</a:t>
            </a:r>
            <a:r>
              <a:rPr lang="en-US" altLang="zh-CN" sz="2000" b="1">
                <a:latin typeface="仿宋" panose="02010609060101010101" pitchFamily="49" charset="-122"/>
                <a:ea typeface="仿宋" panose="02010609060101010101" pitchFamily="49" charset="-122"/>
              </a:rPr>
              <a:t>TPU</a:t>
            </a:r>
            <a:r>
              <a:rPr lang="zh-CN" altLang="en-US" sz="2000" b="1">
                <a:latin typeface="仿宋" panose="02010609060101010101" pitchFamily="49" charset="-122"/>
                <a:ea typeface="仿宋" panose="02010609060101010101" pitchFamily="49" charset="-122"/>
              </a:rPr>
              <a:t>阵列的张量计算映射部署</a:t>
            </a:r>
            <a:endParaRPr lang="zh-CN" altLang="en-US" sz="2000" b="1">
              <a:latin typeface="仿宋" panose="02010609060101010101" pitchFamily="49" charset="-122"/>
              <a:ea typeface="仿宋" panose="02010609060101010101" pitchFamily="49" charset="-122"/>
            </a:endParaRPr>
          </a:p>
          <a:p>
            <a:pPr indent="457200"/>
            <a:endParaRPr lang="zh-CN" altLang="en-US" sz="1600">
              <a:latin typeface="仿宋" panose="02010609060101010101" pitchFamily="49" charset="-122"/>
              <a:ea typeface="仿宋" panose="02010609060101010101" pitchFamily="49" charset="-122"/>
            </a:endParaRPr>
          </a:p>
        </p:txBody>
      </p:sp>
      <p:sp>
        <p:nvSpPr>
          <p:cNvPr id="2" name="文本框 1"/>
          <p:cNvSpPr txBox="1"/>
          <p:nvPr/>
        </p:nvSpPr>
        <p:spPr>
          <a:xfrm>
            <a:off x="384175" y="1271270"/>
            <a:ext cx="5264785" cy="4661535"/>
          </a:xfrm>
          <a:prstGeom prst="rect">
            <a:avLst/>
          </a:prstGeom>
          <a:noFill/>
        </p:spPr>
        <p:txBody>
          <a:bodyPr wrap="square" rtlCol="0">
            <a:spAutoFit/>
          </a:bodyPr>
          <a:p>
            <a:pPr indent="0" fontAlgn="auto">
              <a:lnSpc>
                <a:spcPct val="150000"/>
              </a:lnSpc>
            </a:pPr>
            <a:r>
              <a:rPr lang="zh-CN" altLang="en-US">
                <a:latin typeface="仿宋" panose="02010609060101010101" pitchFamily="49" charset="-122"/>
                <a:ea typeface="仿宋" panose="02010609060101010101" pitchFamily="49" charset="-122"/>
                <a:cs typeface="仿宋" panose="02010609060101010101" pitchFamily="49" charset="-122"/>
              </a:rPr>
              <a:t>在大规模稀疏</a:t>
            </a:r>
            <a:r>
              <a:rPr lang="en-US" altLang="zh-CN">
                <a:latin typeface="仿宋" panose="02010609060101010101" pitchFamily="49" charset="-122"/>
                <a:ea typeface="仿宋" panose="02010609060101010101" pitchFamily="49" charset="-122"/>
                <a:cs typeface="仿宋" panose="02010609060101010101" pitchFamily="49" charset="-122"/>
              </a:rPr>
              <a:t>LU</a:t>
            </a:r>
            <a:r>
              <a:rPr lang="zh-CN" altLang="en-US">
                <a:latin typeface="仿宋" panose="02010609060101010101" pitchFamily="49" charset="-122"/>
                <a:ea typeface="仿宋" panose="02010609060101010101" pitchFamily="49" charset="-122"/>
                <a:cs typeface="仿宋" panose="02010609060101010101" pitchFamily="49" charset="-122"/>
              </a:rPr>
              <a:t>分解中，张量块到</a:t>
            </a:r>
            <a:r>
              <a:rPr lang="en-US" altLang="zh-CN">
                <a:latin typeface="仿宋" panose="02010609060101010101" pitchFamily="49" charset="-122"/>
                <a:ea typeface="仿宋" panose="02010609060101010101" pitchFamily="49" charset="-122"/>
                <a:cs typeface="仿宋" panose="02010609060101010101" pitchFamily="49" charset="-122"/>
              </a:rPr>
              <a:t>TPU</a:t>
            </a:r>
            <a:r>
              <a:rPr lang="zh-CN" altLang="en-US">
                <a:latin typeface="仿宋" panose="02010609060101010101" pitchFamily="49" charset="-122"/>
                <a:ea typeface="仿宋" panose="02010609060101010101" pitchFamily="49" charset="-122"/>
                <a:cs typeface="仿宋" panose="02010609060101010101" pitchFamily="49" charset="-122"/>
              </a:rPr>
              <a:t>阵列的高效映射与流水线执行是实现高性能计算的关键挑战。本研究提出一套面向张量数据流的硬件适配优化方案，涵盖分片策略、流水线调度与任务图映射三大核心模块。</a:t>
            </a:r>
            <a:endParaRPr lang="en-US" altLang="zh-CN">
              <a:latin typeface="仿宋" panose="02010609060101010101" pitchFamily="49" charset="-122"/>
              <a:ea typeface="仿宋" panose="02010609060101010101" pitchFamily="49" charset="-122"/>
              <a:cs typeface="仿宋" panose="02010609060101010101" pitchFamily="49" charset="-122"/>
            </a:endParaRPr>
          </a:p>
          <a:p>
            <a:pPr marL="285750" indent="-285750" fontAlgn="auto">
              <a:lnSpc>
                <a:spcPct val="150000"/>
              </a:lnSpc>
              <a:buFont typeface="Wingdings" panose="05000000000000000000" charset="0"/>
              <a:buChar char=""/>
            </a:pPr>
            <a:r>
              <a:rPr lang="zh-CN" altLang="en-US">
                <a:latin typeface="仿宋" panose="02010609060101010101" pitchFamily="49" charset="-122"/>
                <a:ea typeface="仿宋" panose="02010609060101010101" pitchFamily="49" charset="-122"/>
                <a:cs typeface="仿宋" panose="02010609060101010101" pitchFamily="49" charset="-122"/>
              </a:rPr>
              <a:t>通过基于</a:t>
            </a:r>
            <a:r>
              <a:rPr lang="en-US" altLang="zh-CN">
                <a:latin typeface="仿宋" panose="02010609060101010101" pitchFamily="49" charset="-122"/>
                <a:ea typeface="仿宋" panose="02010609060101010101" pitchFamily="49" charset="-122"/>
                <a:cs typeface="仿宋" panose="02010609060101010101" pitchFamily="49" charset="-122"/>
              </a:rPr>
              <a:t>2D</a:t>
            </a:r>
            <a:r>
              <a:rPr lang="zh-CN" altLang="en-US">
                <a:latin typeface="仿宋" panose="02010609060101010101" pitchFamily="49" charset="-122"/>
                <a:ea typeface="仿宋" panose="02010609060101010101" pitchFamily="49" charset="-122"/>
                <a:cs typeface="仿宋" panose="02010609060101010101" pitchFamily="49" charset="-122"/>
              </a:rPr>
              <a:t>环形网络的张量分片策略，将波前</a:t>
            </a:r>
            <a:r>
              <a:rPr lang="zh-CN" altLang="en-US">
                <a:latin typeface="仿宋" panose="02010609060101010101" pitchFamily="49" charset="-122"/>
                <a:ea typeface="仿宋" panose="02010609060101010101" pitchFamily="49" charset="-122"/>
                <a:cs typeface="仿宋" panose="02010609060101010101" pitchFamily="49" charset="-122"/>
              </a:rPr>
              <a:t>矩阵划分为与</a:t>
            </a:r>
            <a:r>
              <a:rPr lang="en-US" altLang="zh-CN">
                <a:latin typeface="仿宋" panose="02010609060101010101" pitchFamily="49" charset="-122"/>
                <a:ea typeface="仿宋" panose="02010609060101010101" pitchFamily="49" charset="-122"/>
                <a:cs typeface="仿宋" panose="02010609060101010101" pitchFamily="49" charset="-122"/>
              </a:rPr>
              <a:t>MXU</a:t>
            </a:r>
            <a:r>
              <a:rPr lang="zh-CN" altLang="en-US">
                <a:latin typeface="仿宋" panose="02010609060101010101" pitchFamily="49" charset="-122"/>
                <a:ea typeface="仿宋" panose="02010609060101010101" pitchFamily="49" charset="-122"/>
                <a:cs typeface="仿宋" panose="02010609060101010101" pitchFamily="49" charset="-122"/>
              </a:rPr>
              <a:t>单元（</a:t>
            </a:r>
            <a:r>
              <a:rPr lang="en-US" altLang="zh-CN">
                <a:latin typeface="仿宋" panose="02010609060101010101" pitchFamily="49" charset="-122"/>
                <a:ea typeface="仿宋" panose="02010609060101010101" pitchFamily="49" charset="-122"/>
                <a:cs typeface="仿宋" panose="02010609060101010101" pitchFamily="49" charset="-122"/>
              </a:rPr>
              <a:t>256</a:t>
            </a:r>
            <a:r>
              <a:rPr lang="en-US" altLang="en-US">
                <a:latin typeface="仿宋" panose="02010609060101010101" pitchFamily="49" charset="-122"/>
                <a:ea typeface="仿宋" panose="02010609060101010101" pitchFamily="49" charset="-122"/>
                <a:cs typeface="仿宋" panose="02010609060101010101" pitchFamily="49" charset="-122"/>
              </a:rPr>
              <a:t>×</a:t>
            </a:r>
            <a:r>
              <a:rPr lang="en-US" altLang="zh-CN">
                <a:latin typeface="仿宋" panose="02010609060101010101" pitchFamily="49" charset="-122"/>
                <a:ea typeface="仿宋" panose="02010609060101010101" pitchFamily="49" charset="-122"/>
                <a:cs typeface="仿宋" panose="02010609060101010101" pitchFamily="49" charset="-122"/>
              </a:rPr>
              <a:t>256</a:t>
            </a:r>
            <a:r>
              <a:rPr lang="zh-CN" altLang="en-US">
                <a:latin typeface="仿宋" panose="02010609060101010101" pitchFamily="49" charset="-122"/>
                <a:ea typeface="仿宋" panose="02010609060101010101" pitchFamily="49" charset="-122"/>
                <a:cs typeface="仿宋" panose="02010609060101010101" pitchFamily="49" charset="-122"/>
              </a:rPr>
              <a:t>）匹配的子块</a:t>
            </a:r>
            <a:r>
              <a:rPr lang="en-US" altLang="zh-CN">
                <a:latin typeface="仿宋" panose="02010609060101010101" pitchFamily="49" charset="-122"/>
                <a:ea typeface="仿宋" panose="02010609060101010101" pitchFamily="49" charset="-122"/>
                <a:cs typeface="仿宋" panose="02010609060101010101" pitchFamily="49" charset="-122"/>
              </a:rPr>
              <a:t>。</a:t>
            </a:r>
            <a:endParaRPr lang="en-US" altLang="zh-CN">
              <a:latin typeface="仿宋" panose="02010609060101010101" pitchFamily="49" charset="-122"/>
              <a:ea typeface="仿宋" panose="02010609060101010101" pitchFamily="49" charset="-122"/>
              <a:cs typeface="仿宋" panose="02010609060101010101" pitchFamily="49" charset="-122"/>
            </a:endParaRPr>
          </a:p>
          <a:p>
            <a:pPr marL="285750" indent="-285750" fontAlgn="auto">
              <a:lnSpc>
                <a:spcPct val="150000"/>
              </a:lnSpc>
              <a:buFont typeface="Wingdings" panose="05000000000000000000" charset="0"/>
              <a:buChar char=""/>
            </a:pPr>
            <a:r>
              <a:rPr lang="zh-CN" altLang="en-US">
                <a:latin typeface="仿宋" panose="02010609060101010101" pitchFamily="49" charset="-122"/>
                <a:ea typeface="仿宋" panose="02010609060101010101" pitchFamily="49" charset="-122"/>
                <a:cs typeface="仿宋" panose="02010609060101010101" pitchFamily="49" charset="-122"/>
              </a:rPr>
              <a:t>设计双缓冲</a:t>
            </a:r>
            <a:r>
              <a:rPr lang="en-US" altLang="zh-CN">
                <a:latin typeface="仿宋" panose="02010609060101010101" pitchFamily="49" charset="-122"/>
                <a:ea typeface="仿宋" panose="02010609060101010101" pitchFamily="49" charset="-122"/>
                <a:cs typeface="仿宋" panose="02010609060101010101" pitchFamily="49" charset="-122"/>
              </a:rPr>
              <a:t>SRAM</a:t>
            </a:r>
            <a:r>
              <a:rPr lang="zh-CN" altLang="en-US">
                <a:latin typeface="仿宋" panose="02010609060101010101" pitchFamily="49" charset="-122"/>
                <a:ea typeface="仿宋" panose="02010609060101010101" pitchFamily="49" charset="-122"/>
                <a:cs typeface="仿宋" panose="02010609060101010101" pitchFamily="49" charset="-122"/>
              </a:rPr>
              <a:t>与多队列</a:t>
            </a:r>
            <a:r>
              <a:rPr lang="en-US" altLang="zh-CN">
                <a:latin typeface="仿宋" panose="02010609060101010101" pitchFamily="49" charset="-122"/>
                <a:ea typeface="仿宋" panose="02010609060101010101" pitchFamily="49" charset="-122"/>
                <a:cs typeface="仿宋" panose="02010609060101010101" pitchFamily="49" charset="-122"/>
              </a:rPr>
              <a:t>DMA</a:t>
            </a:r>
            <a:r>
              <a:rPr lang="zh-CN" altLang="en-US">
                <a:latin typeface="仿宋" panose="02010609060101010101" pitchFamily="49" charset="-122"/>
                <a:ea typeface="仿宋" panose="02010609060101010101" pitchFamily="49" charset="-122"/>
                <a:cs typeface="仿宋" panose="02010609060101010101" pitchFamily="49" charset="-122"/>
              </a:rPr>
              <a:t>协同机制，通过交替缓冲与并行数据加载，降低</a:t>
            </a:r>
            <a:r>
              <a:rPr lang="en-US" altLang="zh-CN">
                <a:latin typeface="仿宋" panose="02010609060101010101" pitchFamily="49" charset="-122"/>
                <a:ea typeface="仿宋" panose="02010609060101010101" pitchFamily="49" charset="-122"/>
                <a:cs typeface="仿宋" panose="02010609060101010101" pitchFamily="49" charset="-122"/>
              </a:rPr>
              <a:t>TPU</a:t>
            </a:r>
            <a:r>
              <a:rPr lang="zh-CN" altLang="en-US">
                <a:latin typeface="仿宋" panose="02010609060101010101" pitchFamily="49" charset="-122"/>
                <a:ea typeface="仿宋" panose="02010609060101010101" pitchFamily="49" charset="-122"/>
                <a:cs typeface="仿宋" panose="02010609060101010101" pitchFamily="49" charset="-122"/>
              </a:rPr>
              <a:t>阵列空闲时间</a:t>
            </a:r>
            <a:r>
              <a:rPr lang="en-US" altLang="zh-CN">
                <a:latin typeface="仿宋" panose="02010609060101010101" pitchFamily="49" charset="-122"/>
                <a:ea typeface="仿宋" panose="02010609060101010101" pitchFamily="49" charset="-122"/>
                <a:cs typeface="仿宋" panose="02010609060101010101" pitchFamily="49" charset="-122"/>
              </a:rPr>
              <a:t>。</a:t>
            </a:r>
            <a:endParaRPr lang="en-US" altLang="zh-CN">
              <a:latin typeface="仿宋" panose="02010609060101010101" pitchFamily="49" charset="-122"/>
              <a:ea typeface="仿宋" panose="02010609060101010101" pitchFamily="49" charset="-122"/>
              <a:cs typeface="仿宋" panose="02010609060101010101" pitchFamily="49" charset="-122"/>
            </a:endParaRPr>
          </a:p>
          <a:p>
            <a:pPr marL="285750" indent="-285750" fontAlgn="auto">
              <a:lnSpc>
                <a:spcPct val="150000"/>
              </a:lnSpc>
              <a:buFont typeface="Wingdings" panose="05000000000000000000" charset="0"/>
              <a:buChar char=""/>
            </a:pPr>
            <a:r>
              <a:rPr lang="zh-CN" altLang="en-US">
                <a:latin typeface="仿宋" panose="02010609060101010101" pitchFamily="49" charset="-122"/>
                <a:ea typeface="仿宋" panose="02010609060101010101" pitchFamily="49" charset="-122"/>
                <a:cs typeface="仿宋" panose="02010609060101010101" pitchFamily="49" charset="-122"/>
              </a:rPr>
              <a:t>构建任务图驱动的动态调度器，结合消去树生成任务依赖图，实现负载均衡与资源优化分配</a:t>
            </a:r>
            <a:r>
              <a:rPr lang="en-US" altLang="zh-CN">
                <a:latin typeface="仿宋" panose="02010609060101010101" pitchFamily="49" charset="-122"/>
                <a:ea typeface="仿宋" panose="02010609060101010101" pitchFamily="49" charset="-122"/>
                <a:cs typeface="仿宋" panose="02010609060101010101" pitchFamily="49" charset="-122"/>
              </a:rPr>
              <a:t>。</a:t>
            </a:r>
            <a:endParaRPr lang="en-US" altLang="zh-CN">
              <a:latin typeface="仿宋" panose="02010609060101010101" pitchFamily="49" charset="-122"/>
              <a:ea typeface="仿宋" panose="02010609060101010101" pitchFamily="49" charset="-122"/>
              <a:cs typeface="仿宋" panose="02010609060101010101" pitchFamily="49" charset="-122"/>
            </a:endParaRPr>
          </a:p>
        </p:txBody>
      </p:sp>
      <p:pic>
        <p:nvPicPr>
          <p:cNvPr id="3" name="图片 2" descr="映射TPU_01"/>
          <p:cNvPicPr>
            <a:picLocks noChangeAspect="1"/>
          </p:cNvPicPr>
          <p:nvPr/>
        </p:nvPicPr>
        <p:blipFill>
          <a:blip r:embed="rId1"/>
          <a:stretch>
            <a:fillRect/>
          </a:stretch>
        </p:blipFill>
        <p:spPr>
          <a:xfrm>
            <a:off x="5789295" y="1423035"/>
            <a:ext cx="6153150" cy="42919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42"/>
          <p:cNvSpPr/>
          <p:nvPr>
            <p:custDataLst>
              <p:tags r:id="rId1"/>
            </p:custDataLst>
          </p:nvPr>
        </p:nvSpPr>
        <p:spPr>
          <a:xfrm>
            <a:off x="0" y="5709920"/>
            <a:ext cx="1006475" cy="11480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85" h="1808">
                <a:moveTo>
                  <a:pt x="260" y="0"/>
                </a:moveTo>
                <a:cubicBezTo>
                  <a:pt x="992" y="0"/>
                  <a:pt x="1585" y="593"/>
                  <a:pt x="1585" y="1326"/>
                </a:cubicBezTo>
                <a:cubicBezTo>
                  <a:pt x="1585" y="1486"/>
                  <a:pt x="1557" y="1639"/>
                  <a:pt x="1505" y="1781"/>
                </a:cubicBezTo>
                <a:lnTo>
                  <a:pt x="1494" y="1808"/>
                </a:lnTo>
                <a:lnTo>
                  <a:pt x="0" y="1808"/>
                </a:lnTo>
                <a:lnTo>
                  <a:pt x="0" y="25"/>
                </a:lnTo>
                <a:lnTo>
                  <a:pt x="25" y="21"/>
                </a:lnTo>
                <a:cubicBezTo>
                  <a:pt x="101" y="7"/>
                  <a:pt x="179" y="0"/>
                  <a:pt x="260" y="0"/>
                </a:cubicBezTo>
                <a:close/>
              </a:path>
            </a:pathLst>
          </a:cu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2" name="同心圆 41"/>
          <p:cNvSpPr/>
          <p:nvPr>
            <p:custDataLst>
              <p:tags r:id="rId2"/>
            </p:custDataLst>
          </p:nvPr>
        </p:nvSpPr>
        <p:spPr>
          <a:xfrm>
            <a:off x="10673080" y="1353820"/>
            <a:ext cx="828040" cy="828040"/>
          </a:xfrm>
          <a:prstGeom prst="donut">
            <a:avLst/>
          </a:prstGeom>
          <a:solidFill>
            <a:schemeClr val="accent1">
              <a:lumMod val="60000"/>
              <a:lumOff val="4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 name="标题 1"/>
          <p:cNvSpPr>
            <a:spLocks noGrp="1"/>
          </p:cNvSpPr>
          <p:nvPr>
            <p:ph type="title"/>
            <p:custDataLst>
              <p:tags r:id="rId3"/>
            </p:custDataLst>
          </p:nvPr>
        </p:nvSpPr>
        <p:spPr/>
        <p:txBody>
          <a:bodyPr/>
          <a:lstStyle/>
          <a:p>
            <a:r>
              <a:rPr lang="zh-CN" altLang="en-US"/>
              <a:t>研究内容</a:t>
            </a:r>
            <a:r>
              <a:rPr lang="en-US" altLang="zh-CN"/>
              <a:t> </a:t>
            </a:r>
            <a:endParaRPr lang="zh-CN" altLang="en-US"/>
          </a:p>
        </p:txBody>
      </p:sp>
      <p:pic>
        <p:nvPicPr>
          <p:cNvPr id="63" name="图片 62" descr="F:/素材图片5/jimeng-2025-08-04-2571-一瓶绿色洗发水被放在冰块里，上面写着一些单词，里面还有一些小植物。整体风格简约而_.jpgjimeng-2025-08-04-2571-一瓶绿色洗发水被放在冰块里，上面写着一些单词，里面还有一些小植物。整体风格简约而_"/>
          <p:cNvPicPr>
            <a:picLocks noChangeAspect="1"/>
          </p:cNvPicPr>
          <p:nvPr>
            <p:custDataLst>
              <p:tags r:id="rId4"/>
            </p:custDataLst>
          </p:nvPr>
        </p:nvPicPr>
        <p:blipFill>
          <a:blip r:embed="rId5"/>
          <a:srcRect t="1951" b="1951"/>
          <a:stretch>
            <a:fillRect/>
          </a:stretch>
        </p:blipFill>
        <p:spPr>
          <a:xfrm>
            <a:off x="6748780" y="1684020"/>
            <a:ext cx="4423410" cy="4587240"/>
          </a:xfrm>
          <a:prstGeom prst="roundRect">
            <a:avLst>
              <a:gd name="adj" fmla="val 3646"/>
            </a:avLst>
          </a:prstGeom>
          <a:solidFill>
            <a:schemeClr val="accent1"/>
          </a:solidFill>
          <a:ln>
            <a:solidFill>
              <a:schemeClr val="accent1">
                <a:alpha val="25000"/>
              </a:schemeClr>
            </a:solidFill>
          </a:ln>
          <a:effectLst>
            <a:outerShdw blurRad="368300" dist="241300" dir="2700000" algn="tl" rotWithShape="0">
              <a:schemeClr val="accent1">
                <a:lumMod val="75000"/>
                <a:alpha val="5000"/>
              </a:schemeClr>
            </a:outerShdw>
          </a:effectLst>
        </p:spPr>
      </p:pic>
      <p:sp>
        <p:nvSpPr>
          <p:cNvPr id="9" name="边界"/>
          <p:cNvSpPr/>
          <p:nvPr>
            <p:custDataLst>
              <p:tags r:id="rId6"/>
            </p:custDataLst>
          </p:nvPr>
        </p:nvSpPr>
        <p:spPr>
          <a:xfrm>
            <a:off x="715979" y="1703085"/>
            <a:ext cx="5199291" cy="4587834"/>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11" name="正文"/>
          <p:cNvSpPr txBox="1"/>
          <p:nvPr>
            <p:custDataLst>
              <p:tags r:id="rId7"/>
            </p:custDataLst>
          </p:nvPr>
        </p:nvSpPr>
        <p:spPr>
          <a:xfrm>
            <a:off x="714068" y="2138748"/>
            <a:ext cx="5199928" cy="870052"/>
          </a:xfrm>
          <a:prstGeom prst="rect">
            <a:avLst/>
          </a:prstGeom>
          <a:noFill/>
        </p:spPr>
        <p:txBody>
          <a:bodyPr wrap="square" lIns="0" tIns="0" rIns="0" bIns="0" rtlCol="0" anchor="t" anchorCtr="0">
            <a:noAutofit/>
          </a:bodyPr>
          <a:lstStyle/>
          <a:p>
            <a:pPr lvl="0" indent="0" algn="just" fontAlgn="auto">
              <a:lnSpc>
                <a:spcPct val="130000"/>
              </a:lnSpc>
              <a:buClrTx/>
              <a:buSzTx/>
              <a:buFontTx/>
            </a:pP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系统采用多</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前沿法将不规则的稀疏矩阵分解过程重构为一系列适应</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TPU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特性的稠密张量块计算任务</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a:t>
            </a:r>
            <a:endParaRPr lang="en-US" altLang="zh-CN" sz="1400" kern="0" dirty="0">
              <a:ln>
                <a:noFill/>
                <a:prstDash val="sysDot"/>
              </a:ln>
              <a:solidFill>
                <a:schemeClr val="tx1">
                  <a:lumMod val="85000"/>
                  <a:lumOff val="15000"/>
                </a:schemeClr>
              </a:solidFill>
              <a:latin typeface="+mn-ea"/>
              <a:cs typeface="微软雅黑" panose="020B0503020204020204" charset="-122"/>
              <a:sym typeface="+mn-ea"/>
            </a:endParaRPr>
          </a:p>
        </p:txBody>
      </p:sp>
      <p:sp>
        <p:nvSpPr>
          <p:cNvPr id="15" name="标题"/>
          <p:cNvSpPr txBox="1"/>
          <p:nvPr>
            <p:custDataLst>
              <p:tags r:id="rId8"/>
            </p:custDataLst>
          </p:nvPr>
        </p:nvSpPr>
        <p:spPr>
          <a:xfrm>
            <a:off x="1282213" y="1758499"/>
            <a:ext cx="4654076" cy="308913"/>
          </a:xfrm>
          <a:prstGeom prst="rect">
            <a:avLst/>
          </a:prstGeom>
          <a:noFill/>
        </p:spPr>
        <p:txBody>
          <a:bodyPr wrap="square" lIns="0" tIns="0" rIns="0" bIns="0" rtlCol="0" anchor="b">
            <a:noAutofit/>
          </a:bodyPr>
          <a:lstStyle/>
          <a:p>
            <a:pPr lvl="0" algn="l">
              <a:buClrTx/>
              <a:buSzTx/>
              <a:buFontTx/>
            </a:pPr>
            <a:r>
              <a:rPr lang="zh-CN" altLang="en-US" b="1" dirty="0">
                <a:solidFill>
                  <a:schemeClr val="tx1">
                    <a:lumMod val="85000"/>
                    <a:lumOff val="15000"/>
                  </a:schemeClr>
                </a:solidFill>
                <a:uFillTx/>
                <a:latin typeface="+mn-ea"/>
                <a:sym typeface="+mn-ea"/>
              </a:rPr>
              <a:t>软件层</a:t>
            </a:r>
            <a:endParaRPr lang="zh-CN" altLang="en-US" b="1" dirty="0">
              <a:solidFill>
                <a:schemeClr val="tx1">
                  <a:lumMod val="85000"/>
                  <a:lumOff val="15000"/>
                </a:schemeClr>
              </a:solidFill>
              <a:uFillTx/>
              <a:latin typeface="+mn-ea"/>
              <a:sym typeface="+mn-ea"/>
            </a:endParaRPr>
          </a:p>
        </p:txBody>
      </p:sp>
      <p:sp>
        <p:nvSpPr>
          <p:cNvPr id="16" name="圆角矩形 29"/>
          <p:cNvSpPr/>
          <p:nvPr>
            <p:custDataLst>
              <p:tags r:id="rId9"/>
            </p:custDataLst>
          </p:nvPr>
        </p:nvSpPr>
        <p:spPr>
          <a:xfrm>
            <a:off x="716616" y="1697990"/>
            <a:ext cx="433115" cy="43311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en-US" altLang="zh-CN" sz="1900" b="1">
                <a:solidFill>
                  <a:srgbClr val="FFFFFF"/>
                </a:solidFill>
                <a:cs typeface="微软雅黑" panose="020B0503020204020204" charset="-122"/>
                <a:sym typeface="+mn-ea"/>
              </a:rPr>
              <a:t>01</a:t>
            </a:r>
            <a:endParaRPr lang="en-US" altLang="zh-CN" sz="1900" b="1">
              <a:solidFill>
                <a:srgbClr val="FFFFFF"/>
              </a:solidFill>
              <a:cs typeface="微软雅黑" panose="020B0503020204020204" charset="-122"/>
              <a:sym typeface="+mn-ea"/>
            </a:endParaRPr>
          </a:p>
        </p:txBody>
      </p:sp>
      <p:sp>
        <p:nvSpPr>
          <p:cNvPr id="25" name="正文"/>
          <p:cNvSpPr txBox="1"/>
          <p:nvPr>
            <p:custDataLst>
              <p:tags r:id="rId10"/>
            </p:custDataLst>
          </p:nvPr>
        </p:nvSpPr>
        <p:spPr>
          <a:xfrm>
            <a:off x="714068" y="3783948"/>
            <a:ext cx="5199928" cy="870052"/>
          </a:xfrm>
          <a:prstGeom prst="rect">
            <a:avLst/>
          </a:prstGeom>
          <a:noFill/>
        </p:spPr>
        <p:txBody>
          <a:bodyPr wrap="square" lIns="0" tIns="0" rIns="0" bIns="0" rtlCol="0" anchor="t" anchorCtr="0">
            <a:noAutofit/>
          </a:bodyPr>
          <a:lstStyle/>
          <a:p>
            <a:pPr lvl="0" indent="0" algn="just" fontAlgn="auto">
              <a:lnSpc>
                <a:spcPct val="130000"/>
              </a:lnSpc>
              <a:buClrTx/>
              <a:buSzTx/>
              <a:buFontTx/>
            </a:pP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设计了混合主元单元</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(HPU)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与</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地址变换单元</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(ATU)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前者通过锦标赛策略降低了并行主元选择的通信同步开销</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后者利用地址重映射技术实现了零拷贝的逻辑行交换</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减少了物理数据搬移次数</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a:t>
            </a:r>
            <a:endParaRPr lang="en-US" altLang="zh-CN" sz="1400" kern="0" dirty="0">
              <a:ln>
                <a:noFill/>
                <a:prstDash val="sysDot"/>
              </a:ln>
              <a:solidFill>
                <a:schemeClr val="tx1">
                  <a:lumMod val="85000"/>
                  <a:lumOff val="15000"/>
                </a:schemeClr>
              </a:solidFill>
              <a:latin typeface="+mn-ea"/>
              <a:cs typeface="微软雅黑" panose="020B0503020204020204" charset="-122"/>
              <a:sym typeface="+mn-ea"/>
            </a:endParaRPr>
          </a:p>
        </p:txBody>
      </p:sp>
      <p:sp>
        <p:nvSpPr>
          <p:cNvPr id="26" name="标题"/>
          <p:cNvSpPr txBox="1"/>
          <p:nvPr>
            <p:custDataLst>
              <p:tags r:id="rId11"/>
            </p:custDataLst>
          </p:nvPr>
        </p:nvSpPr>
        <p:spPr>
          <a:xfrm>
            <a:off x="1282213" y="3403699"/>
            <a:ext cx="4654076" cy="308913"/>
          </a:xfrm>
          <a:prstGeom prst="rect">
            <a:avLst/>
          </a:prstGeom>
          <a:noFill/>
        </p:spPr>
        <p:txBody>
          <a:bodyPr wrap="square" lIns="0" tIns="0" rIns="0" bIns="0" rtlCol="0" anchor="b">
            <a:noAutofit/>
          </a:bodyPr>
          <a:lstStyle/>
          <a:p>
            <a:pPr lvl="0" algn="l">
              <a:buClrTx/>
              <a:buSzTx/>
              <a:buFontTx/>
            </a:pPr>
            <a:r>
              <a:rPr lang="zh-CN" altLang="en-US" b="1" dirty="0">
                <a:solidFill>
                  <a:schemeClr val="tx1">
                    <a:lumMod val="85000"/>
                    <a:lumOff val="15000"/>
                  </a:schemeClr>
                </a:solidFill>
                <a:uFillTx/>
                <a:latin typeface="+mn-ea"/>
                <a:sym typeface="+mn-ea"/>
              </a:rPr>
              <a:t>调度层</a:t>
            </a:r>
            <a:endParaRPr lang="zh-CN" altLang="en-US" b="1" dirty="0">
              <a:solidFill>
                <a:schemeClr val="tx1">
                  <a:lumMod val="85000"/>
                  <a:lumOff val="15000"/>
                </a:schemeClr>
              </a:solidFill>
              <a:uFillTx/>
              <a:latin typeface="+mn-ea"/>
              <a:sym typeface="+mn-ea"/>
            </a:endParaRPr>
          </a:p>
        </p:txBody>
      </p:sp>
      <p:sp>
        <p:nvSpPr>
          <p:cNvPr id="27" name="圆角矩形 26"/>
          <p:cNvSpPr/>
          <p:nvPr>
            <p:custDataLst>
              <p:tags r:id="rId12"/>
            </p:custDataLst>
          </p:nvPr>
        </p:nvSpPr>
        <p:spPr>
          <a:xfrm>
            <a:off x="716616" y="3343190"/>
            <a:ext cx="433115" cy="433115"/>
          </a:xfrm>
          <a:prstGeom prst="roundRect">
            <a:avLst>
              <a:gd name="adj" fmla="val 10363"/>
            </a:avLst>
          </a:prstGeom>
          <a:solidFill>
            <a:schemeClr val="accent2"/>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en-US" altLang="zh-CN" sz="1900" b="1">
                <a:solidFill>
                  <a:srgbClr val="FFFFFF"/>
                </a:solidFill>
                <a:cs typeface="微软雅黑" panose="020B0503020204020204" charset="-122"/>
                <a:sym typeface="+mn-ea"/>
              </a:rPr>
              <a:t>02</a:t>
            </a:r>
            <a:endParaRPr lang="en-US" altLang="zh-CN" sz="1900" b="1">
              <a:solidFill>
                <a:srgbClr val="FFFFFF"/>
              </a:solidFill>
              <a:cs typeface="微软雅黑" panose="020B0503020204020204" charset="-122"/>
              <a:sym typeface="+mn-ea"/>
            </a:endParaRPr>
          </a:p>
        </p:txBody>
      </p:sp>
      <p:sp>
        <p:nvSpPr>
          <p:cNvPr id="17" name="正文"/>
          <p:cNvSpPr txBox="1"/>
          <p:nvPr>
            <p:custDataLst>
              <p:tags r:id="rId13"/>
            </p:custDataLst>
          </p:nvPr>
        </p:nvSpPr>
        <p:spPr>
          <a:xfrm>
            <a:off x="714068" y="5429148"/>
            <a:ext cx="5199928" cy="870052"/>
          </a:xfrm>
          <a:prstGeom prst="rect">
            <a:avLst/>
          </a:prstGeom>
          <a:noFill/>
        </p:spPr>
        <p:txBody>
          <a:bodyPr wrap="square" lIns="0" tIns="0" rIns="0" bIns="0" rtlCol="0" anchor="t" anchorCtr="0">
            <a:noAutofit/>
          </a:bodyPr>
          <a:lstStyle/>
          <a:p>
            <a:pPr lvl="0" indent="0" algn="just" fontAlgn="auto">
              <a:lnSpc>
                <a:spcPct val="130000"/>
              </a:lnSpc>
              <a:buClrTx/>
              <a:buSzTx/>
              <a:buFontTx/>
            </a:pP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系统通过构建</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Panel-GEPP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专用微核与</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TPU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脉动阵列的异构流水线</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 ,</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将复杂的标量分解与大规模张量更新</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(GEMM)</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并行处理</a:t>
            </a:r>
            <a:r>
              <a:rPr lang="en-US" altLang="zh-CN" sz="1400" kern="0" dirty="0">
                <a:ln>
                  <a:noFill/>
                  <a:prstDash val="sysDot"/>
                </a:ln>
                <a:solidFill>
                  <a:schemeClr val="tx1">
                    <a:lumMod val="85000"/>
                    <a:lumOff val="15000"/>
                  </a:schemeClr>
                </a:solidFill>
                <a:latin typeface="+mn-ea"/>
                <a:cs typeface="微软雅黑" panose="020B0503020204020204" charset="-122"/>
                <a:sym typeface="+mn-ea"/>
              </a:rPr>
              <a:t>,</a:t>
            </a:r>
            <a:r>
              <a:rPr lang="zh-CN" altLang="en-US" sz="1400" kern="0" dirty="0">
                <a:ln>
                  <a:noFill/>
                  <a:prstDash val="sysDot"/>
                </a:ln>
                <a:solidFill>
                  <a:schemeClr val="tx1">
                    <a:lumMod val="85000"/>
                    <a:lumOff val="15000"/>
                  </a:schemeClr>
                </a:solidFill>
                <a:latin typeface="+mn-ea"/>
                <a:cs typeface="微软雅黑" panose="020B0503020204020204" charset="-122"/>
                <a:sym typeface="+mn-ea"/>
              </a:rPr>
              <a:t>最终实现了基于张量计算范式的高效求解</a:t>
            </a:r>
            <a:endParaRPr lang="zh-CN" altLang="en-US" sz="1400" kern="0" dirty="0">
              <a:ln>
                <a:noFill/>
                <a:prstDash val="sysDot"/>
              </a:ln>
              <a:solidFill>
                <a:schemeClr val="tx1">
                  <a:lumMod val="85000"/>
                  <a:lumOff val="15000"/>
                </a:schemeClr>
              </a:solidFill>
              <a:latin typeface="+mn-ea"/>
              <a:cs typeface="微软雅黑" panose="020B0503020204020204" charset="-122"/>
              <a:sym typeface="+mn-ea"/>
            </a:endParaRPr>
          </a:p>
        </p:txBody>
      </p:sp>
      <p:sp>
        <p:nvSpPr>
          <p:cNvPr id="18" name="标题"/>
          <p:cNvSpPr txBox="1"/>
          <p:nvPr>
            <p:custDataLst>
              <p:tags r:id="rId14"/>
            </p:custDataLst>
          </p:nvPr>
        </p:nvSpPr>
        <p:spPr>
          <a:xfrm>
            <a:off x="1282213" y="5048899"/>
            <a:ext cx="4654076" cy="308913"/>
          </a:xfrm>
          <a:prstGeom prst="rect">
            <a:avLst/>
          </a:prstGeom>
          <a:noFill/>
        </p:spPr>
        <p:txBody>
          <a:bodyPr wrap="square" lIns="0" tIns="0" rIns="0" bIns="0" rtlCol="0" anchor="b">
            <a:noAutofit/>
          </a:bodyPr>
          <a:lstStyle/>
          <a:p>
            <a:pPr lvl="0" algn="l">
              <a:buClrTx/>
              <a:buSzTx/>
              <a:buFontTx/>
            </a:pPr>
            <a:r>
              <a:rPr lang="zh-CN" altLang="en-US" b="1" dirty="0">
                <a:solidFill>
                  <a:schemeClr val="tx1">
                    <a:lumMod val="85000"/>
                    <a:lumOff val="15000"/>
                  </a:schemeClr>
                </a:solidFill>
                <a:uFillTx/>
                <a:latin typeface="+mn-ea"/>
                <a:sym typeface="+mn-ea"/>
              </a:rPr>
              <a:t>执行层</a:t>
            </a:r>
            <a:endParaRPr lang="zh-CN" altLang="en-US" b="1" dirty="0">
              <a:solidFill>
                <a:schemeClr val="tx1">
                  <a:lumMod val="85000"/>
                  <a:lumOff val="15000"/>
                </a:schemeClr>
              </a:solidFill>
              <a:uFillTx/>
              <a:latin typeface="+mn-ea"/>
              <a:sym typeface="+mn-ea"/>
            </a:endParaRPr>
          </a:p>
        </p:txBody>
      </p:sp>
      <p:sp>
        <p:nvSpPr>
          <p:cNvPr id="32" name="圆角矩形 31"/>
          <p:cNvSpPr/>
          <p:nvPr>
            <p:custDataLst>
              <p:tags r:id="rId15"/>
            </p:custDataLst>
          </p:nvPr>
        </p:nvSpPr>
        <p:spPr>
          <a:xfrm>
            <a:off x="716616" y="4988390"/>
            <a:ext cx="433115" cy="433115"/>
          </a:xfrm>
          <a:prstGeom prst="roundRect">
            <a:avLst>
              <a:gd name="adj" fmla="val 10363"/>
            </a:avLst>
          </a:pr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en-US" altLang="zh-CN" sz="1900" b="1">
                <a:solidFill>
                  <a:srgbClr val="FFFFFF"/>
                </a:solidFill>
                <a:cs typeface="微软雅黑" panose="020B0503020204020204" charset="-122"/>
                <a:sym typeface="+mn-ea"/>
              </a:rPr>
              <a:t>03</a:t>
            </a:r>
            <a:endParaRPr lang="en-US" altLang="zh-CN" sz="1900" b="1">
              <a:solidFill>
                <a:srgbClr val="FFFFFF"/>
              </a:solidFill>
              <a:cs typeface="微软雅黑" panose="020B0503020204020204" charset="-122"/>
              <a:sym typeface="+mn-ea"/>
            </a:endParaRPr>
          </a:p>
        </p:txBody>
      </p:sp>
      <p:sp>
        <p:nvSpPr>
          <p:cNvPr id="3" name="灯片编号占位符 2"/>
          <p:cNvSpPr>
            <a:spLocks noGrp="1"/>
          </p:cNvSpPr>
          <p:nvPr>
            <p:ph type="sldNum" sz="quarter" idx="12"/>
          </p:nvPr>
        </p:nvSpPr>
        <p:spPr/>
        <p:txBody>
          <a:bodyPr/>
          <a:p>
            <a:fld id="{3B469B21-F3E0-463C-B78A-30764B838394}" type="slidenum">
              <a:rPr lang="zh-CN" altLang="en-US"/>
            </a:fld>
            <a:endParaRPr lang="zh-CN" altLang="en-US"/>
          </a:p>
        </p:txBody>
      </p:sp>
      <p:sp>
        <p:nvSpPr>
          <p:cNvPr id="4" name="文本框 3"/>
          <p:cNvSpPr txBox="1"/>
          <p:nvPr/>
        </p:nvSpPr>
        <p:spPr>
          <a:xfrm>
            <a:off x="3370580" y="160020"/>
            <a:ext cx="3114675" cy="398780"/>
          </a:xfrm>
          <a:prstGeom prst="rect">
            <a:avLst/>
          </a:prstGeom>
          <a:noFill/>
        </p:spPr>
        <p:txBody>
          <a:bodyPr wrap="square" rtlCol="0">
            <a:spAutoFit/>
          </a:bodyPr>
          <a:p>
            <a:r>
              <a:rPr lang="zh-CN" altLang="en-US" sz="2000" b="1">
                <a:latin typeface="仿宋" panose="02010609060101010101" pitchFamily="49" charset="-122"/>
                <a:ea typeface="仿宋" panose="02010609060101010101" pitchFamily="49" charset="-122"/>
              </a:rPr>
              <a:t>总体架构</a:t>
            </a:r>
            <a:endParaRPr lang="zh-CN" altLang="en-US" sz="2000" b="1">
              <a:latin typeface="仿宋" panose="02010609060101010101" pitchFamily="49" charset="-122"/>
              <a:ea typeface="仿宋" panose="02010609060101010101" pitchFamily="49" charset="-122"/>
            </a:endParaRPr>
          </a:p>
        </p:txBody>
      </p:sp>
    </p:spTree>
    <p:custDataLst>
      <p:tags r:id="rId1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进度安排</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04</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52752"/>
            <a:ext cx="10515600" cy="590550"/>
          </a:xfrm>
          <a:prstGeom prst="rect">
            <a:avLst/>
          </a:prstGeom>
          <a:noFill/>
        </p:spPr>
        <p:txBody>
          <a:bodyPr wrap="square" lIns="91440" tIns="45720" rIns="91440" bIns="45720">
            <a:spAutoFit/>
          </a:bodyPr>
          <a:lstStyle/>
          <a:p>
            <a:pPr algn="just"/>
            <a:r>
              <a:rPr lang="zh-CN" altLang="en-US" sz="3600" dirty="0">
                <a:ln w="0"/>
                <a:effectLst>
                  <a:outerShdw blurRad="38100" dist="19050" dir="2700000" algn="tl" rotWithShape="0">
                    <a:schemeClr val="dk1">
                      <a:alpha val="40000"/>
                    </a:schemeClr>
                  </a:outerShdw>
                </a:effectLst>
              </a:rPr>
              <a:t>进度安排</a:t>
            </a:r>
            <a:endParaRPr lang="zh-CN" altLang="en-US" sz="3600" dirty="0">
              <a:ln w="0"/>
              <a:effectLst>
                <a:outerShdw blurRad="38100" dist="19050" dir="2700000" algn="tl" rotWithShape="0">
                  <a:schemeClr val="dk1">
                    <a:alpha val="40000"/>
                  </a:schemeClr>
                </a:outerShdw>
              </a:effectLst>
            </a:endParaRPr>
          </a:p>
        </p:txBody>
      </p:sp>
      <p:grpSp>
        <p:nvGrpSpPr>
          <p:cNvPr id="2" name="组合 1"/>
          <p:cNvGrpSpPr/>
          <p:nvPr>
            <p:custDataLst>
              <p:tags r:id="rId1"/>
            </p:custDataLst>
          </p:nvPr>
        </p:nvGrpSpPr>
        <p:grpSpPr>
          <a:xfrm>
            <a:off x="594995" y="1530350"/>
            <a:ext cx="11002010" cy="3938270"/>
            <a:chOff x="1268" y="2768"/>
            <a:chExt cx="16666" cy="5265"/>
          </a:xfrm>
        </p:grpSpPr>
        <p:sp>
          <p:nvSpPr>
            <p:cNvPr id="6" name="燕尾形 5"/>
            <p:cNvSpPr/>
            <p:nvPr>
              <p:custDataLst>
                <p:tags r:id="rId2"/>
              </p:custDataLst>
            </p:nvPr>
          </p:nvSpPr>
          <p:spPr>
            <a:xfrm>
              <a:off x="1268" y="4192"/>
              <a:ext cx="16666" cy="1911"/>
            </a:xfrm>
            <a:prstGeom prst="chevron">
              <a:avLst/>
            </a:prstGeom>
            <a:gradFill>
              <a:gsLst>
                <a:gs pos="0">
                  <a:schemeClr val="accent1">
                    <a:lumMod val="20000"/>
                    <a:lumOff val="80000"/>
                    <a:alpha val="20000"/>
                  </a:schemeClr>
                </a:gs>
                <a:gs pos="100000">
                  <a:schemeClr val="accent1">
                    <a:lumMod val="40000"/>
                    <a:lumOff val="60000"/>
                    <a:alpha val="100000"/>
                  </a:schemeClr>
                </a:gs>
              </a:gsLst>
              <a:lin ang="0" scaled="0"/>
            </a:gradFill>
            <a:ln>
              <a:noFill/>
            </a:ln>
            <a:effectLst>
              <a:outerShdw blurRad="177800" dist="63500" dir="8100000" algn="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方正大黑体_GBK" panose="02010600010101010101" charset="-122"/>
              </a:endParaRPr>
            </a:p>
          </p:txBody>
        </p:sp>
        <p:sp>
          <p:nvSpPr>
            <p:cNvPr id="9" name="燕尾形 8"/>
            <p:cNvSpPr/>
            <p:nvPr>
              <p:custDataLst>
                <p:tags r:id="rId3"/>
              </p:custDataLst>
            </p:nvPr>
          </p:nvSpPr>
          <p:spPr>
            <a:xfrm>
              <a:off x="2741" y="4452"/>
              <a:ext cx="3604" cy="1299"/>
            </a:xfrm>
            <a:prstGeom prst="chevron">
              <a:avLst/>
            </a:prstGeom>
            <a:gradFill>
              <a:gsLst>
                <a:gs pos="0">
                  <a:schemeClr val="accent1">
                    <a:lumMod val="55000"/>
                    <a:lumOff val="45000"/>
                    <a:alpha val="100000"/>
                  </a:schemeClr>
                </a:gs>
                <a:gs pos="100000">
                  <a:schemeClr val="accent1">
                    <a:alpha val="100000"/>
                  </a:schemeClr>
                </a:gs>
              </a:gsLst>
              <a:lin ang="0" scaled="0"/>
            </a:gradFill>
            <a:ln>
              <a:noFill/>
            </a:ln>
            <a:effectLst>
              <a:outerShdw blurRad="152400" dist="88900" dir="8100000" algn="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zh-CN" altLang="en-US" sz="1400" b="1" cap="all">
                  <a:solidFill>
                    <a:srgbClr val="FFFFFF"/>
                  </a:solidFill>
                  <a:uFillTx/>
                  <a:latin typeface="+mn-ea"/>
                  <a:cs typeface="+mn-ea"/>
                  <a:sym typeface="+mn-ea"/>
                </a:rPr>
                <a:t>整体设计</a:t>
              </a:r>
              <a:endParaRPr lang="zh-CN" altLang="en-US" sz="1400" b="1" cap="all">
                <a:solidFill>
                  <a:srgbClr val="FFFFFF"/>
                </a:solidFill>
                <a:uFillTx/>
                <a:latin typeface="+mn-ea"/>
                <a:cs typeface="+mn-ea"/>
                <a:sym typeface="+mn-ea"/>
              </a:endParaRPr>
            </a:p>
          </p:txBody>
        </p:sp>
        <p:sp>
          <p:nvSpPr>
            <p:cNvPr id="11" name="燕尾形 10"/>
            <p:cNvSpPr/>
            <p:nvPr>
              <p:custDataLst>
                <p:tags r:id="rId4"/>
              </p:custDataLst>
            </p:nvPr>
          </p:nvSpPr>
          <p:spPr>
            <a:xfrm>
              <a:off x="6077" y="4452"/>
              <a:ext cx="3604" cy="1299"/>
            </a:xfrm>
            <a:prstGeom prst="chevron">
              <a:avLst/>
            </a:prstGeom>
            <a:gradFill>
              <a:gsLst>
                <a:gs pos="0">
                  <a:schemeClr val="accent2">
                    <a:lumMod val="70000"/>
                    <a:lumOff val="30000"/>
                    <a:alpha val="100000"/>
                  </a:schemeClr>
                </a:gs>
                <a:gs pos="100000">
                  <a:schemeClr val="accent2">
                    <a:lumMod val="95000"/>
                    <a:alpha val="100000"/>
                  </a:schemeClr>
                </a:gs>
              </a:gsLst>
              <a:lin ang="0" scaled="0"/>
            </a:gradFill>
            <a:ln>
              <a:noFill/>
            </a:ln>
            <a:effectLst>
              <a:outerShdw blurRad="152400" dist="88900" dir="8100000" algn="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zh-CN" altLang="en-US" sz="1400" b="1" cap="all">
                  <a:solidFill>
                    <a:srgbClr val="FFFFFF"/>
                  </a:solidFill>
                  <a:uFillTx/>
                  <a:latin typeface="+mn-ea"/>
                  <a:cs typeface="+mn-ea"/>
                  <a:sym typeface="+mn-ea"/>
                </a:rPr>
                <a:t>关键技术研究</a:t>
              </a:r>
              <a:endParaRPr lang="zh-CN" altLang="en-US" sz="1400" b="1" cap="all">
                <a:solidFill>
                  <a:srgbClr val="FFFFFF"/>
                </a:solidFill>
                <a:uFillTx/>
                <a:latin typeface="+mn-ea"/>
                <a:cs typeface="+mn-ea"/>
                <a:sym typeface="+mn-ea"/>
              </a:endParaRPr>
            </a:p>
          </p:txBody>
        </p:sp>
        <p:sp>
          <p:nvSpPr>
            <p:cNvPr id="12" name="燕尾形 11"/>
            <p:cNvSpPr/>
            <p:nvPr>
              <p:custDataLst>
                <p:tags r:id="rId5"/>
              </p:custDataLst>
            </p:nvPr>
          </p:nvSpPr>
          <p:spPr>
            <a:xfrm>
              <a:off x="9412" y="4452"/>
              <a:ext cx="3604" cy="1299"/>
            </a:xfrm>
            <a:prstGeom prst="chevron">
              <a:avLst/>
            </a:prstGeom>
            <a:gradFill>
              <a:gsLst>
                <a:gs pos="0">
                  <a:schemeClr val="accent1">
                    <a:lumMod val="85000"/>
                    <a:lumOff val="15000"/>
                    <a:alpha val="100000"/>
                  </a:schemeClr>
                </a:gs>
                <a:gs pos="100000">
                  <a:schemeClr val="accent1">
                    <a:lumMod val="90000"/>
                    <a:alpha val="100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zh-CN" altLang="en-US" sz="1400" b="1" cap="all">
                  <a:solidFill>
                    <a:srgbClr val="FFFFFF"/>
                  </a:solidFill>
                  <a:uFillTx/>
                  <a:latin typeface="+mn-ea"/>
                  <a:cs typeface="+mn-ea"/>
                  <a:sym typeface="+mn-ea"/>
                </a:rPr>
                <a:t>核心代码实现</a:t>
              </a:r>
              <a:endParaRPr lang="zh-CN" altLang="en-US" sz="1400" b="1" cap="all">
                <a:solidFill>
                  <a:srgbClr val="FFFFFF"/>
                </a:solidFill>
                <a:uFillTx/>
                <a:latin typeface="+mn-ea"/>
                <a:cs typeface="+mn-ea"/>
                <a:sym typeface="+mn-ea"/>
              </a:endParaRPr>
            </a:p>
          </p:txBody>
        </p:sp>
        <p:sp>
          <p:nvSpPr>
            <p:cNvPr id="193" name="燕尾形 192"/>
            <p:cNvSpPr/>
            <p:nvPr>
              <p:custDataLst>
                <p:tags r:id="rId6"/>
              </p:custDataLst>
            </p:nvPr>
          </p:nvSpPr>
          <p:spPr>
            <a:xfrm>
              <a:off x="12749" y="4452"/>
              <a:ext cx="3604" cy="1299"/>
            </a:xfrm>
            <a:prstGeom prst="chevron">
              <a:avLst/>
            </a:prstGeom>
            <a:gradFill>
              <a:gsLst>
                <a:gs pos="0">
                  <a:schemeClr val="accent2">
                    <a:lumMod val="85000"/>
                    <a:lumOff val="15000"/>
                    <a:alpha val="100000"/>
                  </a:schemeClr>
                </a:gs>
                <a:gs pos="100000">
                  <a:schemeClr val="accent2">
                    <a:lumMod val="85000"/>
                    <a:alpha val="100000"/>
                  </a:schemeClr>
                </a:gs>
              </a:gsLst>
              <a:lin ang="0" scaled="0"/>
            </a:gradFill>
            <a:ln>
              <a:noFill/>
            </a:ln>
            <a:effectLst>
              <a:outerShdw blurRad="152400" dist="88900" dir="8100000" algn="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zh-CN" altLang="en-US" sz="1400" b="1" cap="all">
                  <a:solidFill>
                    <a:srgbClr val="FFFFFF"/>
                  </a:solidFill>
                  <a:uFillTx/>
                  <a:latin typeface="+mn-ea"/>
                  <a:cs typeface="+mn-ea"/>
                  <a:sym typeface="+mn-ea"/>
                </a:rPr>
                <a:t>论文撰写</a:t>
              </a:r>
              <a:endParaRPr lang="zh-CN" altLang="en-US" sz="1400" b="1" cap="all">
                <a:solidFill>
                  <a:srgbClr val="FFFFFF"/>
                </a:solidFill>
                <a:uFillTx/>
                <a:latin typeface="+mn-ea"/>
                <a:cs typeface="+mn-ea"/>
                <a:sym typeface="+mn-ea"/>
              </a:endParaRPr>
            </a:p>
          </p:txBody>
        </p:sp>
        <p:cxnSp>
          <p:nvCxnSpPr>
            <p:cNvPr id="13" name="直接连接符 12"/>
            <p:cNvCxnSpPr/>
            <p:nvPr>
              <p:custDataLst>
                <p:tags r:id="rId7"/>
              </p:custDataLst>
            </p:nvPr>
          </p:nvCxnSpPr>
          <p:spPr>
            <a:xfrm flipH="1">
              <a:off x="1551" y="6199"/>
              <a:ext cx="13273" cy="0"/>
            </a:xfrm>
            <a:prstGeom prst="line">
              <a:avLst/>
            </a:prstGeom>
            <a:ln w="9525">
              <a:gradFill>
                <a:gsLst>
                  <a:gs pos="0">
                    <a:schemeClr val="accent1">
                      <a:lumMod val="20000"/>
                      <a:lumOff val="80000"/>
                      <a:alpha val="0"/>
                    </a:schemeClr>
                  </a:gs>
                  <a:gs pos="100000">
                    <a:schemeClr val="accent1">
                      <a:lumMod val="20000"/>
                      <a:lumOff val="80000"/>
                      <a:alpha val="10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8"/>
              </p:custDataLst>
            </p:nvPr>
          </p:nvCxnSpPr>
          <p:spPr>
            <a:xfrm flipH="1">
              <a:off x="3472" y="4101"/>
              <a:ext cx="13273" cy="0"/>
            </a:xfrm>
            <a:prstGeom prst="line">
              <a:avLst/>
            </a:prstGeom>
            <a:ln w="9525">
              <a:gradFill>
                <a:gsLst>
                  <a:gs pos="0">
                    <a:schemeClr val="accent1">
                      <a:lumMod val="20000"/>
                      <a:lumOff val="80000"/>
                      <a:alpha val="0"/>
                    </a:schemeClr>
                  </a:gs>
                  <a:gs pos="100000">
                    <a:schemeClr val="accent1">
                      <a:lumMod val="20000"/>
                      <a:lumOff val="80000"/>
                      <a:alpha val="10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9"/>
              </p:custDataLst>
            </p:nvPr>
          </p:nvSpPr>
          <p:spPr>
            <a:xfrm>
              <a:off x="7020" y="2768"/>
              <a:ext cx="4255" cy="1251"/>
            </a:xfrm>
            <a:prstGeom prst="rect">
              <a:avLst/>
            </a:prstGeom>
            <a:noFill/>
          </p:spPr>
          <p:txBody>
            <a:bodyPr wrap="square" lIns="0" tIns="0" rIns="0" bIns="0" rtlCol="0" anchor="t" anchorCtr="0">
              <a:noAutofit/>
            </a:bodyPr>
            <a:p>
              <a:pPr>
                <a:lnSpc>
                  <a:spcPct val="130000"/>
                </a:lnSpc>
                <a:spcBef>
                  <a:spcPct val="0"/>
                </a:spcBef>
                <a:spcAft>
                  <a:spcPct val="0"/>
                </a:spcAft>
              </a:pPr>
              <a:r>
                <a:rPr lang="en-US" altLang="zh-CN" sz="1400">
                  <a:solidFill>
                    <a:schemeClr val="tx1">
                      <a:lumMod val="85000"/>
                      <a:lumOff val="15000"/>
                    </a:schemeClr>
                  </a:solidFill>
                  <a:latin typeface="+mn-ea"/>
                  <a:cs typeface="+mn-ea"/>
                  <a:sym typeface="+mn-ea"/>
                </a:rPr>
                <a:t>2026.2-2026.4</a:t>
              </a:r>
              <a:endParaRPr lang="zh-CN" altLang="en-US" sz="1400">
                <a:solidFill>
                  <a:schemeClr val="tx1">
                    <a:lumMod val="85000"/>
                    <a:lumOff val="15000"/>
                  </a:schemeClr>
                </a:solidFill>
                <a:latin typeface="+mn-ea"/>
                <a:cs typeface="+mn-ea"/>
              </a:endParaRPr>
            </a:p>
            <a:p>
              <a:pPr>
                <a:lnSpc>
                  <a:spcPct val="130000"/>
                </a:lnSpc>
                <a:spcBef>
                  <a:spcPct val="0"/>
                </a:spcBef>
                <a:spcAft>
                  <a:spcPct val="0"/>
                </a:spcAft>
              </a:pPr>
              <a:endParaRPr lang="zh-CN" altLang="en-US" sz="1400">
                <a:solidFill>
                  <a:schemeClr val="tx1">
                    <a:lumMod val="85000"/>
                    <a:lumOff val="15000"/>
                  </a:schemeClr>
                </a:solidFill>
                <a:latin typeface="+mn-ea"/>
                <a:cs typeface="+mn-ea"/>
              </a:endParaRPr>
            </a:p>
          </p:txBody>
        </p:sp>
        <p:sp>
          <p:nvSpPr>
            <p:cNvPr id="16" name="矩形 15"/>
            <p:cNvSpPr/>
            <p:nvPr>
              <p:custDataLst>
                <p:tags r:id="rId10"/>
              </p:custDataLst>
            </p:nvPr>
          </p:nvSpPr>
          <p:spPr>
            <a:xfrm>
              <a:off x="3688" y="6783"/>
              <a:ext cx="4255" cy="1251"/>
            </a:xfrm>
            <a:prstGeom prst="rect">
              <a:avLst/>
            </a:prstGeom>
            <a:noFill/>
          </p:spPr>
          <p:txBody>
            <a:bodyPr wrap="square" lIns="0" tIns="0" rIns="0" bIns="0" rtlCol="0" anchor="t" anchorCtr="0">
              <a:noAutofit/>
            </a:bodyPr>
            <a:p>
              <a:pPr>
                <a:lnSpc>
                  <a:spcPct val="130000"/>
                </a:lnSpc>
                <a:spcBef>
                  <a:spcPct val="0"/>
                </a:spcBef>
                <a:spcAft>
                  <a:spcPct val="0"/>
                </a:spcAft>
              </a:pPr>
              <a:r>
                <a:rPr lang="en-US" altLang="zh-CN" sz="1400">
                  <a:solidFill>
                    <a:schemeClr val="tx1">
                      <a:lumMod val="85000"/>
                      <a:lumOff val="15000"/>
                    </a:schemeClr>
                  </a:solidFill>
                  <a:latin typeface="+mn-ea"/>
                  <a:cs typeface="+mn-ea"/>
                </a:rPr>
                <a:t>2025.11-2026.1</a:t>
              </a:r>
              <a:endParaRPr lang="zh-CN" altLang="en-US" sz="1400">
                <a:solidFill>
                  <a:schemeClr val="tx1">
                    <a:lumMod val="85000"/>
                    <a:lumOff val="15000"/>
                  </a:schemeClr>
                </a:solidFill>
                <a:latin typeface="+mn-ea"/>
                <a:cs typeface="+mn-ea"/>
              </a:endParaRPr>
            </a:p>
            <a:p>
              <a:pPr>
                <a:lnSpc>
                  <a:spcPct val="130000"/>
                </a:lnSpc>
                <a:spcBef>
                  <a:spcPct val="0"/>
                </a:spcBef>
                <a:spcAft>
                  <a:spcPct val="0"/>
                </a:spcAft>
              </a:pPr>
              <a:endParaRPr lang="zh-CN" altLang="en-US" sz="1400">
                <a:solidFill>
                  <a:schemeClr val="tx1">
                    <a:lumMod val="85000"/>
                    <a:lumOff val="15000"/>
                  </a:schemeClr>
                </a:solidFill>
                <a:latin typeface="+mn-ea"/>
                <a:cs typeface="+mn-ea"/>
              </a:endParaRPr>
            </a:p>
          </p:txBody>
        </p:sp>
        <p:sp>
          <p:nvSpPr>
            <p:cNvPr id="17" name="矩形 16"/>
            <p:cNvSpPr/>
            <p:nvPr>
              <p:custDataLst>
                <p:tags r:id="rId11"/>
              </p:custDataLst>
            </p:nvPr>
          </p:nvSpPr>
          <p:spPr>
            <a:xfrm>
              <a:off x="10364" y="6783"/>
              <a:ext cx="4255" cy="1251"/>
            </a:xfrm>
            <a:prstGeom prst="rect">
              <a:avLst/>
            </a:prstGeom>
            <a:noFill/>
          </p:spPr>
          <p:txBody>
            <a:bodyPr wrap="square" lIns="0" tIns="0" rIns="0" bIns="0" rtlCol="0" anchor="t" anchorCtr="0">
              <a:noAutofit/>
            </a:bodyPr>
            <a:p>
              <a:pPr>
                <a:lnSpc>
                  <a:spcPct val="130000"/>
                </a:lnSpc>
                <a:spcBef>
                  <a:spcPct val="0"/>
                </a:spcBef>
                <a:spcAft>
                  <a:spcPct val="0"/>
                </a:spcAft>
              </a:pPr>
              <a:r>
                <a:rPr lang="en-US" altLang="zh-CN" sz="1400">
                  <a:solidFill>
                    <a:schemeClr val="tx1">
                      <a:lumMod val="85000"/>
                      <a:lumOff val="15000"/>
                    </a:schemeClr>
                  </a:solidFill>
                  <a:latin typeface="+mn-ea"/>
                  <a:cs typeface="+mn-ea"/>
                  <a:sym typeface="+mn-ea"/>
                </a:rPr>
                <a:t>2026.5-2026.9</a:t>
              </a:r>
              <a:endParaRPr lang="zh-CN" altLang="en-US" sz="1400">
                <a:solidFill>
                  <a:schemeClr val="tx1">
                    <a:lumMod val="85000"/>
                    <a:lumOff val="15000"/>
                  </a:schemeClr>
                </a:solidFill>
                <a:latin typeface="+mn-ea"/>
                <a:cs typeface="+mn-ea"/>
              </a:endParaRPr>
            </a:p>
            <a:p>
              <a:pPr>
                <a:lnSpc>
                  <a:spcPct val="130000"/>
                </a:lnSpc>
                <a:spcBef>
                  <a:spcPct val="0"/>
                </a:spcBef>
                <a:spcAft>
                  <a:spcPct val="0"/>
                </a:spcAft>
              </a:pPr>
              <a:endParaRPr lang="zh-CN" sz="1400">
                <a:solidFill>
                  <a:schemeClr val="tx1">
                    <a:lumMod val="85000"/>
                    <a:lumOff val="15000"/>
                  </a:schemeClr>
                </a:solidFill>
                <a:latin typeface="+mn-ea"/>
                <a:cs typeface="+mn-ea"/>
              </a:endParaRPr>
            </a:p>
          </p:txBody>
        </p:sp>
        <p:sp>
          <p:nvSpPr>
            <p:cNvPr id="18" name="矩形 17"/>
            <p:cNvSpPr/>
            <p:nvPr>
              <p:custDataLst>
                <p:tags r:id="rId12"/>
              </p:custDataLst>
            </p:nvPr>
          </p:nvSpPr>
          <p:spPr>
            <a:xfrm>
              <a:off x="13593" y="2768"/>
              <a:ext cx="4255" cy="1251"/>
            </a:xfrm>
            <a:prstGeom prst="rect">
              <a:avLst/>
            </a:prstGeom>
            <a:noFill/>
          </p:spPr>
          <p:txBody>
            <a:bodyPr wrap="square" lIns="0" tIns="0" rIns="0" bIns="0" rtlCol="0" anchor="t" anchorCtr="0">
              <a:noAutofit/>
            </a:bodyPr>
            <a:p>
              <a:pPr>
                <a:lnSpc>
                  <a:spcPct val="130000"/>
                </a:lnSpc>
                <a:spcBef>
                  <a:spcPct val="0"/>
                </a:spcBef>
                <a:spcAft>
                  <a:spcPct val="0"/>
                </a:spcAft>
              </a:pPr>
              <a:r>
                <a:rPr lang="en-US" altLang="zh-CN" sz="1400" dirty="0">
                  <a:solidFill>
                    <a:schemeClr val="tx1">
                      <a:lumMod val="85000"/>
                      <a:lumOff val="15000"/>
                    </a:schemeClr>
                  </a:solidFill>
                  <a:latin typeface="+mn-ea"/>
                  <a:cs typeface="+mn-ea"/>
                </a:rPr>
                <a:t>2026.10-2027.3</a:t>
              </a:r>
              <a:endParaRPr lang="en-US" altLang="zh-CN" sz="1400" dirty="0">
                <a:solidFill>
                  <a:schemeClr val="tx1">
                    <a:lumMod val="85000"/>
                    <a:lumOff val="15000"/>
                  </a:schemeClr>
                </a:solidFill>
                <a:latin typeface="+mn-ea"/>
                <a:cs typeface="+mn-ea"/>
              </a:endParaRPr>
            </a:p>
            <a:p>
              <a:pPr>
                <a:lnSpc>
                  <a:spcPct val="130000"/>
                </a:lnSpc>
                <a:spcBef>
                  <a:spcPct val="0"/>
                </a:spcBef>
                <a:spcAft>
                  <a:spcPct val="0"/>
                </a:spcAft>
              </a:pPr>
              <a:r>
                <a:rPr lang="zh-CN" altLang="en-US" sz="1400" dirty="0">
                  <a:solidFill>
                    <a:schemeClr val="tx1">
                      <a:lumMod val="85000"/>
                      <a:lumOff val="15000"/>
                    </a:schemeClr>
                  </a:solidFill>
                  <a:latin typeface="+mn-ea"/>
                  <a:cs typeface="+mn-ea"/>
                </a:rPr>
                <a:t>代码测试</a:t>
              </a:r>
              <a:endParaRPr lang="zh-CN" altLang="en-US" sz="1400" dirty="0">
                <a:solidFill>
                  <a:schemeClr val="tx1">
                    <a:lumMod val="85000"/>
                    <a:lumOff val="15000"/>
                  </a:schemeClr>
                </a:solidFill>
                <a:latin typeface="+mn-ea"/>
                <a:cs typeface="+mn-ea"/>
              </a:endParaRPr>
            </a:p>
            <a:p>
              <a:pPr>
                <a:lnSpc>
                  <a:spcPct val="130000"/>
                </a:lnSpc>
                <a:spcBef>
                  <a:spcPct val="0"/>
                </a:spcBef>
                <a:spcAft>
                  <a:spcPct val="0"/>
                </a:spcAft>
              </a:pPr>
              <a:r>
                <a:rPr lang="zh-CN" altLang="en-US" sz="1400" dirty="0">
                  <a:solidFill>
                    <a:schemeClr val="tx1">
                      <a:lumMod val="85000"/>
                      <a:lumOff val="15000"/>
                    </a:schemeClr>
                  </a:solidFill>
                  <a:latin typeface="+mn-ea"/>
                  <a:cs typeface="+mn-ea"/>
                </a:rPr>
                <a:t>论文编写</a:t>
              </a:r>
              <a:endParaRPr lang="zh-CN" altLang="en-US" sz="1400" dirty="0">
                <a:solidFill>
                  <a:schemeClr val="tx1">
                    <a:lumMod val="85000"/>
                    <a:lumOff val="15000"/>
                  </a:schemeClr>
                </a:solidFill>
                <a:latin typeface="+mn-ea"/>
                <a:cs typeface="+mn-ea"/>
              </a:endParaRPr>
            </a:p>
          </p:txBody>
        </p:sp>
        <p:cxnSp>
          <p:nvCxnSpPr>
            <p:cNvPr id="19" name="直接箭头连接符 18"/>
            <p:cNvCxnSpPr/>
            <p:nvPr>
              <p:custDataLst>
                <p:tags r:id="rId13"/>
              </p:custDataLst>
            </p:nvPr>
          </p:nvCxnSpPr>
          <p:spPr>
            <a:xfrm flipH="1" flipV="1">
              <a:off x="3326" y="6216"/>
              <a:ext cx="4" cy="937"/>
            </a:xfrm>
            <a:prstGeom prst="straightConnector1">
              <a:avLst/>
            </a:prstGeom>
            <a:ln>
              <a:solidFill>
                <a:schemeClr val="accent1">
                  <a:lumMod val="60000"/>
                  <a:lumOff val="40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custDataLst>
                <p:tags r:id="rId14"/>
              </p:custDataLst>
            </p:nvPr>
          </p:nvCxnSpPr>
          <p:spPr>
            <a:xfrm flipH="1" flipV="1">
              <a:off x="9998" y="6216"/>
              <a:ext cx="4" cy="937"/>
            </a:xfrm>
            <a:prstGeom prst="straightConnector1">
              <a:avLst/>
            </a:prstGeom>
            <a:ln>
              <a:solidFill>
                <a:schemeClr val="accent1">
                  <a:lumMod val="60000"/>
                  <a:lumOff val="40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custDataLst>
                <p:tags r:id="rId15"/>
              </p:custDataLst>
            </p:nvPr>
          </p:nvCxnSpPr>
          <p:spPr>
            <a:xfrm flipV="1">
              <a:off x="6662" y="3178"/>
              <a:ext cx="0" cy="918"/>
            </a:xfrm>
            <a:prstGeom prst="straightConnector1">
              <a:avLst/>
            </a:prstGeom>
            <a:ln>
              <a:solidFill>
                <a:schemeClr val="accent2">
                  <a:lumMod val="60000"/>
                  <a:lumOff val="40000"/>
                </a:schemeClr>
              </a:solidFill>
              <a:tailEnd type="oval" w="sm" len="sm"/>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custDataLst>
                <p:tags r:id="rId16"/>
              </p:custDataLst>
            </p:nvPr>
          </p:nvCxnSpPr>
          <p:spPr>
            <a:xfrm flipV="1">
              <a:off x="13335" y="3178"/>
              <a:ext cx="0" cy="918"/>
            </a:xfrm>
            <a:prstGeom prst="straightConnector1">
              <a:avLst/>
            </a:prstGeom>
            <a:ln>
              <a:solidFill>
                <a:schemeClr val="accent2">
                  <a:lumMod val="60000"/>
                  <a:lumOff val="40000"/>
                </a:schemeClr>
              </a:solidFill>
              <a:tailEnd type="oval" w="sm" len="sm"/>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2200275" y="4944745"/>
            <a:ext cx="1664970" cy="337185"/>
          </a:xfrm>
          <a:prstGeom prst="rect">
            <a:avLst/>
          </a:prstGeom>
          <a:noFill/>
        </p:spPr>
        <p:txBody>
          <a:bodyPr wrap="square" rtlCol="0">
            <a:spAutoFit/>
          </a:bodyPr>
          <a:p>
            <a:r>
              <a:rPr lang="zh-CN" altLang="en-US" sz="1600"/>
              <a:t>确认整体架构</a:t>
            </a:r>
            <a:endParaRPr lang="zh-CN" altLang="en-US" sz="1600"/>
          </a:p>
        </p:txBody>
      </p:sp>
      <p:sp>
        <p:nvSpPr>
          <p:cNvPr id="4" name="文本框 3"/>
          <p:cNvSpPr txBox="1"/>
          <p:nvPr/>
        </p:nvSpPr>
        <p:spPr>
          <a:xfrm>
            <a:off x="4334510" y="1918970"/>
            <a:ext cx="1671955" cy="521970"/>
          </a:xfrm>
          <a:prstGeom prst="rect">
            <a:avLst/>
          </a:prstGeom>
          <a:noFill/>
        </p:spPr>
        <p:txBody>
          <a:bodyPr wrap="square" rtlCol="0">
            <a:spAutoFit/>
          </a:bodyPr>
          <a:p>
            <a:r>
              <a:rPr lang="en-US" altLang="zh-CN" sz="1400"/>
              <a:t>ATU</a:t>
            </a:r>
            <a:r>
              <a:rPr lang="zh-CN" altLang="en-US" sz="1400"/>
              <a:t>和</a:t>
            </a:r>
            <a:r>
              <a:rPr lang="en-US" altLang="zh-CN" sz="1400"/>
              <a:t>HPU</a:t>
            </a:r>
            <a:r>
              <a:rPr lang="zh-CN" altLang="en-US" sz="1400"/>
              <a:t>的代码编写测试</a:t>
            </a:r>
            <a:endParaRPr lang="zh-CN" altLang="en-US" sz="1400"/>
          </a:p>
        </p:txBody>
      </p:sp>
      <p:sp>
        <p:nvSpPr>
          <p:cNvPr id="5" name="文本框 4"/>
          <p:cNvSpPr txBox="1"/>
          <p:nvPr/>
        </p:nvSpPr>
        <p:spPr>
          <a:xfrm>
            <a:off x="6605905" y="4900295"/>
            <a:ext cx="1834515" cy="521970"/>
          </a:xfrm>
          <a:prstGeom prst="rect">
            <a:avLst/>
          </a:prstGeom>
          <a:noFill/>
        </p:spPr>
        <p:txBody>
          <a:bodyPr wrap="square" rtlCol="0">
            <a:spAutoFit/>
          </a:bodyPr>
          <a:p>
            <a:r>
              <a:rPr lang="zh-CN" altLang="en-US" sz="1400"/>
              <a:t>整体求解系统的代码编写</a:t>
            </a:r>
            <a:endParaRPr lang="zh-CN" altLang="en-US" sz="1400"/>
          </a:p>
        </p:txBody>
      </p:sp>
    </p:spTree>
    <p:custDataLst>
      <p:tags r:id="rId17"/>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871675" y="1269787"/>
            <a:ext cx="7999578" cy="858203"/>
          </a:xfrm>
          <a:noFill/>
        </p:spPr>
        <p:txBody>
          <a:bodyPr>
            <a:noAutofit/>
          </a:bodyPr>
          <a:lstStyle/>
          <a:p>
            <a:r>
              <a:rPr lang="zh-CN" altLang="en-US" sz="7200" dirty="0">
                <a:solidFill>
                  <a:schemeClr val="bg1">
                    <a:lumMod val="85000"/>
                  </a:schemeClr>
                </a:solidFill>
                <a:latin typeface="华文行楷" panose="02010800040101010101" pitchFamily="2" charset="-122"/>
                <a:ea typeface="华文行楷" panose="02010800040101010101" pitchFamily="2" charset="-122"/>
              </a:rPr>
              <a:t>兰州大学</a:t>
            </a:r>
            <a:endParaRPr lang="zh-CN" altLang="en-US" sz="7200" dirty="0">
              <a:solidFill>
                <a:schemeClr val="bg1">
                  <a:lumMod val="85000"/>
                </a:schemeClr>
              </a:solidFill>
              <a:latin typeface="华文行楷" panose="02010800040101010101" pitchFamily="2" charset="-122"/>
              <a:ea typeface="华文行楷" panose="02010800040101010101" pitchFamily="2" charset="-122"/>
            </a:endParaRPr>
          </a:p>
        </p:txBody>
      </p:sp>
      <p:sp>
        <p:nvSpPr>
          <p:cNvPr id="7" name="副标题 6"/>
          <p:cNvSpPr>
            <a:spLocks noGrp="1"/>
          </p:cNvSpPr>
          <p:nvPr>
            <p:ph type="subTitle" idx="1"/>
          </p:nvPr>
        </p:nvSpPr>
        <p:spPr>
          <a:xfrm>
            <a:off x="1871980" y="3461385"/>
            <a:ext cx="8284845" cy="745490"/>
          </a:xfrm>
        </p:spPr>
        <p:txBody>
          <a:bodyPr>
            <a:noAutofit/>
          </a:bodyPr>
          <a:lstStyle/>
          <a:p>
            <a:pPr defTabSz="543560">
              <a:lnSpc>
                <a:spcPct val="100000"/>
              </a:lnSpc>
              <a:defRPr sz="5580"/>
            </a:pPr>
            <a:r>
              <a:rPr lang="zh-CN" altLang="en-US" sz="4000" b="1" dirty="0">
                <a:solidFill>
                  <a:srgbClr val="0070C0"/>
                </a:solidFill>
                <a:latin typeface="华文楷体" panose="02010600040101010101" charset="-122"/>
                <a:ea typeface="华文楷体" panose="02010600040101010101" charset="-122"/>
              </a:rPr>
              <a:t>请各位专家批评指正</a:t>
            </a:r>
            <a:endParaRPr lang="zh-CN" altLang="en-US" sz="4000" b="1" dirty="0">
              <a:solidFill>
                <a:srgbClr val="0070C0"/>
              </a:solidFill>
              <a:latin typeface="华文楷体" panose="02010600040101010101" charset="-122"/>
              <a:ea typeface="华文楷体" panose="02010600040101010101"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51590" y="5930900"/>
            <a:ext cx="654050" cy="855345"/>
          </a:xfrm>
          <a:prstGeom prst="rect">
            <a:avLst/>
          </a:prstGeom>
        </p:spPr>
      </p:pic>
      <p:sp>
        <p:nvSpPr>
          <p:cNvPr id="3" name="矩形 2"/>
          <p:cNvSpPr/>
          <p:nvPr/>
        </p:nvSpPr>
        <p:spPr>
          <a:xfrm>
            <a:off x="211455" y="191770"/>
            <a:ext cx="1821180" cy="61722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266555" y="302895"/>
            <a:ext cx="2559685" cy="26289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0"/>
          <p:cNvSpPr/>
          <p:nvPr/>
        </p:nvSpPr>
        <p:spPr>
          <a:xfrm>
            <a:off x="3044735" y="5187854"/>
            <a:ext cx="297818" cy="400359"/>
          </a:xfrm>
          <a:custGeom>
            <a:avLst/>
            <a:gdLst/>
            <a:ahLst/>
            <a:cxnLst>
              <a:cxn ang="0">
                <a:pos x="wd2" y="hd2"/>
              </a:cxn>
              <a:cxn ang="5400000">
                <a:pos x="wd2" y="hd2"/>
              </a:cxn>
              <a:cxn ang="10800000">
                <a:pos x="wd2" y="hd2"/>
              </a:cxn>
              <a:cxn ang="16200000">
                <a:pos x="wd2" y="hd2"/>
              </a:cxn>
            </a:cxnLst>
            <a:rect l="0" t="0" r="r" b="b"/>
            <a:pathLst>
              <a:path w="21133" h="21600" extrusionOk="0">
                <a:moveTo>
                  <a:pt x="10533" y="8436"/>
                </a:moveTo>
                <a:cubicBezTo>
                  <a:pt x="12978" y="8436"/>
                  <a:pt x="15016" y="6518"/>
                  <a:pt x="15016" y="4218"/>
                </a:cubicBezTo>
                <a:cubicBezTo>
                  <a:pt x="15016" y="1917"/>
                  <a:pt x="12978" y="0"/>
                  <a:pt x="10533" y="0"/>
                </a:cubicBezTo>
                <a:cubicBezTo>
                  <a:pt x="8088" y="0"/>
                  <a:pt x="6050" y="1917"/>
                  <a:pt x="6050" y="4218"/>
                </a:cubicBezTo>
                <a:cubicBezTo>
                  <a:pt x="6050" y="6518"/>
                  <a:pt x="8088" y="8436"/>
                  <a:pt x="10533" y="8436"/>
                </a:cubicBezTo>
                <a:close/>
                <a:moveTo>
                  <a:pt x="20993" y="14954"/>
                </a:moveTo>
                <a:cubicBezTo>
                  <a:pt x="18005" y="10992"/>
                  <a:pt x="18005" y="10992"/>
                  <a:pt x="18005" y="10992"/>
                </a:cubicBezTo>
                <a:cubicBezTo>
                  <a:pt x="17733" y="12398"/>
                  <a:pt x="17326" y="13804"/>
                  <a:pt x="16782" y="15209"/>
                </a:cubicBezTo>
                <a:cubicBezTo>
                  <a:pt x="17190" y="15593"/>
                  <a:pt x="17190" y="15593"/>
                  <a:pt x="17190" y="15593"/>
                </a:cubicBezTo>
                <a:cubicBezTo>
                  <a:pt x="14880" y="16615"/>
                  <a:pt x="14880" y="16615"/>
                  <a:pt x="14880" y="16615"/>
                </a:cubicBezTo>
                <a:cubicBezTo>
                  <a:pt x="13929" y="16999"/>
                  <a:pt x="13658" y="18149"/>
                  <a:pt x="14201" y="18916"/>
                </a:cubicBezTo>
                <a:cubicBezTo>
                  <a:pt x="14609" y="19683"/>
                  <a:pt x="15831" y="19938"/>
                  <a:pt x="16646" y="19555"/>
                </a:cubicBezTo>
                <a:cubicBezTo>
                  <a:pt x="20178" y="18021"/>
                  <a:pt x="20178" y="18021"/>
                  <a:pt x="20178" y="18021"/>
                </a:cubicBezTo>
                <a:cubicBezTo>
                  <a:pt x="20858" y="17766"/>
                  <a:pt x="21401" y="15465"/>
                  <a:pt x="20993" y="14954"/>
                </a:cubicBezTo>
                <a:close/>
                <a:moveTo>
                  <a:pt x="13250" y="19555"/>
                </a:moveTo>
                <a:cubicBezTo>
                  <a:pt x="12163" y="19811"/>
                  <a:pt x="11076" y="20194"/>
                  <a:pt x="10669" y="20705"/>
                </a:cubicBezTo>
                <a:cubicBezTo>
                  <a:pt x="10805" y="18277"/>
                  <a:pt x="11076" y="15721"/>
                  <a:pt x="11212" y="13164"/>
                </a:cubicBezTo>
                <a:cubicBezTo>
                  <a:pt x="11484" y="12909"/>
                  <a:pt x="12027" y="12781"/>
                  <a:pt x="12435" y="12525"/>
                </a:cubicBezTo>
                <a:cubicBezTo>
                  <a:pt x="12978" y="12398"/>
                  <a:pt x="13386" y="12270"/>
                  <a:pt x="13929" y="12142"/>
                </a:cubicBezTo>
                <a:cubicBezTo>
                  <a:pt x="14337" y="11886"/>
                  <a:pt x="14880" y="11759"/>
                  <a:pt x="15288" y="11631"/>
                </a:cubicBezTo>
                <a:cubicBezTo>
                  <a:pt x="16239" y="11247"/>
                  <a:pt x="17054" y="10736"/>
                  <a:pt x="17597" y="10353"/>
                </a:cubicBezTo>
                <a:cubicBezTo>
                  <a:pt x="17461" y="10097"/>
                  <a:pt x="17190" y="9841"/>
                  <a:pt x="16918" y="9586"/>
                </a:cubicBezTo>
                <a:cubicBezTo>
                  <a:pt x="16782" y="9458"/>
                  <a:pt x="16782" y="9458"/>
                  <a:pt x="16646" y="9458"/>
                </a:cubicBezTo>
                <a:cubicBezTo>
                  <a:pt x="16239" y="9075"/>
                  <a:pt x="15695" y="8947"/>
                  <a:pt x="15016" y="8947"/>
                </a:cubicBezTo>
                <a:cubicBezTo>
                  <a:pt x="13386" y="8947"/>
                  <a:pt x="13386" y="8947"/>
                  <a:pt x="13386" y="8947"/>
                </a:cubicBezTo>
                <a:cubicBezTo>
                  <a:pt x="10533" y="10992"/>
                  <a:pt x="10533" y="10992"/>
                  <a:pt x="10533" y="10992"/>
                </a:cubicBezTo>
                <a:cubicBezTo>
                  <a:pt x="7816" y="8947"/>
                  <a:pt x="7816" y="8947"/>
                  <a:pt x="7816" y="8947"/>
                </a:cubicBezTo>
                <a:cubicBezTo>
                  <a:pt x="6186" y="8947"/>
                  <a:pt x="6186" y="8947"/>
                  <a:pt x="6186" y="8947"/>
                </a:cubicBezTo>
                <a:cubicBezTo>
                  <a:pt x="5507" y="8947"/>
                  <a:pt x="4963" y="9075"/>
                  <a:pt x="4420" y="9458"/>
                </a:cubicBezTo>
                <a:cubicBezTo>
                  <a:pt x="4420" y="9458"/>
                  <a:pt x="4284" y="9458"/>
                  <a:pt x="4284" y="9586"/>
                </a:cubicBezTo>
                <a:cubicBezTo>
                  <a:pt x="4012" y="9841"/>
                  <a:pt x="3741" y="10097"/>
                  <a:pt x="3605" y="10353"/>
                </a:cubicBezTo>
                <a:cubicBezTo>
                  <a:pt x="4148" y="10736"/>
                  <a:pt x="4963" y="11247"/>
                  <a:pt x="5914" y="11631"/>
                </a:cubicBezTo>
                <a:cubicBezTo>
                  <a:pt x="6322" y="11759"/>
                  <a:pt x="6865" y="11886"/>
                  <a:pt x="7273" y="12142"/>
                </a:cubicBezTo>
                <a:cubicBezTo>
                  <a:pt x="7816" y="12270"/>
                  <a:pt x="8224" y="12398"/>
                  <a:pt x="8631" y="12525"/>
                </a:cubicBezTo>
                <a:cubicBezTo>
                  <a:pt x="9175" y="12781"/>
                  <a:pt x="9582" y="12909"/>
                  <a:pt x="9990" y="13164"/>
                </a:cubicBezTo>
                <a:cubicBezTo>
                  <a:pt x="10126" y="15721"/>
                  <a:pt x="10261" y="18277"/>
                  <a:pt x="10397" y="20705"/>
                </a:cubicBezTo>
                <a:cubicBezTo>
                  <a:pt x="9990" y="20194"/>
                  <a:pt x="8903" y="19811"/>
                  <a:pt x="7816" y="19427"/>
                </a:cubicBezTo>
                <a:cubicBezTo>
                  <a:pt x="7273" y="20194"/>
                  <a:pt x="6458" y="20578"/>
                  <a:pt x="5643" y="20705"/>
                </a:cubicBezTo>
                <a:cubicBezTo>
                  <a:pt x="6593" y="20961"/>
                  <a:pt x="8495" y="21472"/>
                  <a:pt x="10533" y="21600"/>
                </a:cubicBezTo>
                <a:cubicBezTo>
                  <a:pt x="10669" y="21600"/>
                  <a:pt x="10669" y="21600"/>
                  <a:pt x="10669" y="21600"/>
                </a:cubicBezTo>
                <a:cubicBezTo>
                  <a:pt x="10669" y="21600"/>
                  <a:pt x="10669" y="21600"/>
                  <a:pt x="10669" y="21600"/>
                </a:cubicBezTo>
                <a:cubicBezTo>
                  <a:pt x="12707" y="21600"/>
                  <a:pt x="14609" y="20961"/>
                  <a:pt x="15559" y="20705"/>
                </a:cubicBezTo>
                <a:cubicBezTo>
                  <a:pt x="14609" y="20705"/>
                  <a:pt x="13793" y="20194"/>
                  <a:pt x="13250" y="19555"/>
                </a:cubicBezTo>
                <a:close/>
                <a:moveTo>
                  <a:pt x="7001" y="18916"/>
                </a:moveTo>
                <a:cubicBezTo>
                  <a:pt x="7409" y="18149"/>
                  <a:pt x="7137" y="16999"/>
                  <a:pt x="6322" y="16615"/>
                </a:cubicBezTo>
                <a:cubicBezTo>
                  <a:pt x="3876" y="15593"/>
                  <a:pt x="3876" y="15593"/>
                  <a:pt x="3876" y="15593"/>
                </a:cubicBezTo>
                <a:cubicBezTo>
                  <a:pt x="4284" y="15082"/>
                  <a:pt x="4284" y="15082"/>
                  <a:pt x="4284" y="15082"/>
                </a:cubicBezTo>
                <a:cubicBezTo>
                  <a:pt x="3876" y="13804"/>
                  <a:pt x="3469" y="12398"/>
                  <a:pt x="3061" y="10992"/>
                </a:cubicBezTo>
                <a:cubicBezTo>
                  <a:pt x="73" y="14954"/>
                  <a:pt x="73" y="14954"/>
                  <a:pt x="73" y="14954"/>
                </a:cubicBezTo>
                <a:cubicBezTo>
                  <a:pt x="-199" y="15465"/>
                  <a:pt x="344" y="17766"/>
                  <a:pt x="888" y="18021"/>
                </a:cubicBezTo>
                <a:cubicBezTo>
                  <a:pt x="4556" y="19555"/>
                  <a:pt x="4556" y="19555"/>
                  <a:pt x="4556" y="19555"/>
                </a:cubicBezTo>
                <a:cubicBezTo>
                  <a:pt x="5371" y="19938"/>
                  <a:pt x="6458" y="19683"/>
                  <a:pt x="7001" y="18916"/>
                </a:cubicBezTo>
                <a:close/>
              </a:path>
            </a:pathLst>
          </a:custGeom>
          <a:solidFill>
            <a:srgbClr val="0070C0"/>
          </a:solidFill>
          <a:ln w="12700" cap="flat">
            <a:noFill/>
            <a:miter lim="400000"/>
          </a:ln>
          <a:effectLst/>
        </p:spPr>
        <p:txBody>
          <a:bodyPr wrap="square" lIns="91439" tIns="91439" rIns="91439" bIns="91439" numCol="1" anchor="t">
            <a:noAutofit/>
          </a:bodyPr>
          <a:lstStyle/>
          <a:p>
            <a:endParaRPr sz="1600" dirty="0"/>
          </a:p>
        </p:txBody>
      </p:sp>
      <p:sp>
        <p:nvSpPr>
          <p:cNvPr id="18" name="Freeform 88"/>
          <p:cNvSpPr/>
          <p:nvPr/>
        </p:nvSpPr>
        <p:spPr>
          <a:xfrm>
            <a:off x="7201285" y="5161915"/>
            <a:ext cx="398928" cy="420029"/>
          </a:xfrm>
          <a:custGeom>
            <a:avLst/>
            <a:gdLst/>
            <a:ahLst/>
            <a:cxnLst>
              <a:cxn ang="0">
                <a:pos x="wd2" y="hd2"/>
              </a:cxn>
              <a:cxn ang="5400000">
                <a:pos x="wd2" y="hd2"/>
              </a:cxn>
              <a:cxn ang="10800000">
                <a:pos x="wd2" y="hd2"/>
              </a:cxn>
              <a:cxn ang="16200000">
                <a:pos x="wd2" y="hd2"/>
              </a:cxn>
            </a:cxnLst>
            <a:rect l="0" t="0" r="r" b="b"/>
            <a:pathLst>
              <a:path w="21535" h="21600" extrusionOk="0">
                <a:moveTo>
                  <a:pt x="20500" y="0"/>
                </a:moveTo>
                <a:cubicBezTo>
                  <a:pt x="12481" y="0"/>
                  <a:pt x="12481" y="0"/>
                  <a:pt x="12481" y="0"/>
                </a:cubicBezTo>
                <a:cubicBezTo>
                  <a:pt x="11964" y="0"/>
                  <a:pt x="11446" y="584"/>
                  <a:pt x="11446" y="1314"/>
                </a:cubicBezTo>
                <a:cubicBezTo>
                  <a:pt x="11446" y="7589"/>
                  <a:pt x="11446" y="7589"/>
                  <a:pt x="11446" y="7589"/>
                </a:cubicBezTo>
                <a:cubicBezTo>
                  <a:pt x="11964" y="6859"/>
                  <a:pt x="11964" y="6859"/>
                  <a:pt x="11964" y="6859"/>
                </a:cubicBezTo>
                <a:cubicBezTo>
                  <a:pt x="12222" y="6714"/>
                  <a:pt x="12481" y="6568"/>
                  <a:pt x="12740" y="6422"/>
                </a:cubicBezTo>
                <a:cubicBezTo>
                  <a:pt x="13645" y="2919"/>
                  <a:pt x="13645" y="2919"/>
                  <a:pt x="13645" y="2919"/>
                </a:cubicBezTo>
                <a:cubicBezTo>
                  <a:pt x="15327" y="3357"/>
                  <a:pt x="15327" y="3357"/>
                  <a:pt x="15327" y="3357"/>
                </a:cubicBezTo>
                <a:cubicBezTo>
                  <a:pt x="14421" y="7297"/>
                  <a:pt x="14421" y="7297"/>
                  <a:pt x="14421" y="7297"/>
                </a:cubicBezTo>
                <a:cubicBezTo>
                  <a:pt x="14680" y="7881"/>
                  <a:pt x="14680" y="8465"/>
                  <a:pt x="14292" y="9049"/>
                </a:cubicBezTo>
                <a:cubicBezTo>
                  <a:pt x="20500" y="9049"/>
                  <a:pt x="20500" y="9049"/>
                  <a:pt x="20500" y="9049"/>
                </a:cubicBezTo>
                <a:cubicBezTo>
                  <a:pt x="21018" y="9049"/>
                  <a:pt x="21535" y="8465"/>
                  <a:pt x="21535" y="7881"/>
                </a:cubicBezTo>
                <a:cubicBezTo>
                  <a:pt x="21535" y="1314"/>
                  <a:pt x="21535" y="1314"/>
                  <a:pt x="21535" y="1314"/>
                </a:cubicBezTo>
                <a:cubicBezTo>
                  <a:pt x="21535" y="584"/>
                  <a:pt x="21018" y="0"/>
                  <a:pt x="20500" y="0"/>
                </a:cubicBezTo>
                <a:close/>
                <a:moveTo>
                  <a:pt x="6402" y="6714"/>
                </a:moveTo>
                <a:cubicBezTo>
                  <a:pt x="7437" y="6714"/>
                  <a:pt x="8213" y="5692"/>
                  <a:pt x="8213" y="4524"/>
                </a:cubicBezTo>
                <a:cubicBezTo>
                  <a:pt x="8213" y="3357"/>
                  <a:pt x="7437" y="2481"/>
                  <a:pt x="6402" y="2481"/>
                </a:cubicBezTo>
                <a:cubicBezTo>
                  <a:pt x="5367" y="2481"/>
                  <a:pt x="4462" y="3357"/>
                  <a:pt x="4462" y="4524"/>
                </a:cubicBezTo>
                <a:cubicBezTo>
                  <a:pt x="4462" y="5692"/>
                  <a:pt x="5367" y="6714"/>
                  <a:pt x="6402" y="6714"/>
                </a:cubicBezTo>
                <a:close/>
                <a:moveTo>
                  <a:pt x="6661" y="20724"/>
                </a:moveTo>
                <a:cubicBezTo>
                  <a:pt x="6661" y="21308"/>
                  <a:pt x="7049" y="21600"/>
                  <a:pt x="7437" y="21600"/>
                </a:cubicBezTo>
                <a:cubicBezTo>
                  <a:pt x="7954" y="21600"/>
                  <a:pt x="8213" y="21308"/>
                  <a:pt x="8213" y="20724"/>
                </a:cubicBezTo>
                <a:cubicBezTo>
                  <a:pt x="8213" y="15616"/>
                  <a:pt x="8213" y="15616"/>
                  <a:pt x="8213" y="15616"/>
                </a:cubicBezTo>
                <a:cubicBezTo>
                  <a:pt x="6661" y="15616"/>
                  <a:pt x="6661" y="15616"/>
                  <a:pt x="6661" y="15616"/>
                </a:cubicBezTo>
                <a:lnTo>
                  <a:pt x="6661" y="20724"/>
                </a:lnTo>
                <a:close/>
                <a:moveTo>
                  <a:pt x="4462" y="20724"/>
                </a:moveTo>
                <a:cubicBezTo>
                  <a:pt x="4462" y="21308"/>
                  <a:pt x="4850" y="21600"/>
                  <a:pt x="5367" y="21600"/>
                </a:cubicBezTo>
                <a:cubicBezTo>
                  <a:pt x="5755" y="21600"/>
                  <a:pt x="6143" y="21308"/>
                  <a:pt x="6143" y="20724"/>
                </a:cubicBezTo>
                <a:cubicBezTo>
                  <a:pt x="6143" y="15616"/>
                  <a:pt x="6143" y="15616"/>
                  <a:pt x="6143" y="15616"/>
                </a:cubicBezTo>
                <a:cubicBezTo>
                  <a:pt x="4462" y="15616"/>
                  <a:pt x="4462" y="15616"/>
                  <a:pt x="4462" y="15616"/>
                </a:cubicBezTo>
                <a:lnTo>
                  <a:pt x="4462" y="20724"/>
                </a:lnTo>
                <a:close/>
                <a:moveTo>
                  <a:pt x="14551" y="4086"/>
                </a:moveTo>
                <a:cubicBezTo>
                  <a:pt x="14033" y="3941"/>
                  <a:pt x="14033" y="3941"/>
                  <a:pt x="14033" y="3941"/>
                </a:cubicBezTo>
                <a:cubicBezTo>
                  <a:pt x="13257" y="7297"/>
                  <a:pt x="13257" y="7297"/>
                  <a:pt x="13257" y="7297"/>
                </a:cubicBezTo>
                <a:cubicBezTo>
                  <a:pt x="12998" y="7297"/>
                  <a:pt x="12740" y="7297"/>
                  <a:pt x="12481" y="7589"/>
                </a:cubicBezTo>
                <a:cubicBezTo>
                  <a:pt x="10670" y="9632"/>
                  <a:pt x="10670" y="9632"/>
                  <a:pt x="10670" y="9632"/>
                </a:cubicBezTo>
                <a:cubicBezTo>
                  <a:pt x="8730" y="7443"/>
                  <a:pt x="8730" y="7443"/>
                  <a:pt x="8730" y="7443"/>
                </a:cubicBezTo>
                <a:cubicBezTo>
                  <a:pt x="8601" y="7297"/>
                  <a:pt x="7825" y="7297"/>
                  <a:pt x="7695" y="7297"/>
                </a:cubicBezTo>
                <a:cubicBezTo>
                  <a:pt x="7695" y="7297"/>
                  <a:pt x="7695" y="7297"/>
                  <a:pt x="7695" y="7297"/>
                </a:cubicBezTo>
                <a:cubicBezTo>
                  <a:pt x="6402" y="8465"/>
                  <a:pt x="6402" y="8465"/>
                  <a:pt x="6402" y="8465"/>
                </a:cubicBezTo>
                <a:cubicBezTo>
                  <a:pt x="5109" y="7297"/>
                  <a:pt x="5109" y="7297"/>
                  <a:pt x="5109" y="7297"/>
                </a:cubicBezTo>
                <a:cubicBezTo>
                  <a:pt x="5109" y="7297"/>
                  <a:pt x="5109" y="7297"/>
                  <a:pt x="5109" y="7297"/>
                </a:cubicBezTo>
                <a:cubicBezTo>
                  <a:pt x="4979" y="7297"/>
                  <a:pt x="4203" y="7297"/>
                  <a:pt x="3945" y="7589"/>
                </a:cubicBezTo>
                <a:cubicBezTo>
                  <a:pt x="194" y="11822"/>
                  <a:pt x="194" y="11822"/>
                  <a:pt x="194" y="11822"/>
                </a:cubicBezTo>
                <a:cubicBezTo>
                  <a:pt x="-65" y="12114"/>
                  <a:pt x="-65" y="12697"/>
                  <a:pt x="194" y="12989"/>
                </a:cubicBezTo>
                <a:cubicBezTo>
                  <a:pt x="582" y="13427"/>
                  <a:pt x="970" y="13427"/>
                  <a:pt x="1358" y="12989"/>
                </a:cubicBezTo>
                <a:cubicBezTo>
                  <a:pt x="3945" y="10070"/>
                  <a:pt x="3945" y="10070"/>
                  <a:pt x="3945" y="10070"/>
                </a:cubicBezTo>
                <a:cubicBezTo>
                  <a:pt x="3945" y="15032"/>
                  <a:pt x="3945" y="15032"/>
                  <a:pt x="3945" y="15032"/>
                </a:cubicBezTo>
                <a:cubicBezTo>
                  <a:pt x="8730" y="15032"/>
                  <a:pt x="8730" y="15032"/>
                  <a:pt x="8730" y="15032"/>
                </a:cubicBezTo>
                <a:cubicBezTo>
                  <a:pt x="8730" y="10070"/>
                  <a:pt x="8730" y="10070"/>
                  <a:pt x="8730" y="10070"/>
                </a:cubicBezTo>
                <a:cubicBezTo>
                  <a:pt x="9765" y="11238"/>
                  <a:pt x="9765" y="11238"/>
                  <a:pt x="9765" y="11238"/>
                </a:cubicBezTo>
                <a:cubicBezTo>
                  <a:pt x="10024" y="11384"/>
                  <a:pt x="11188" y="11530"/>
                  <a:pt x="11446" y="11238"/>
                </a:cubicBezTo>
                <a:cubicBezTo>
                  <a:pt x="13645" y="8757"/>
                  <a:pt x="13645" y="8757"/>
                  <a:pt x="13645" y="8757"/>
                </a:cubicBezTo>
                <a:cubicBezTo>
                  <a:pt x="13904" y="8465"/>
                  <a:pt x="13904" y="8027"/>
                  <a:pt x="13645" y="7735"/>
                </a:cubicBezTo>
                <a:lnTo>
                  <a:pt x="14551" y="4086"/>
                </a:lnTo>
                <a:close/>
                <a:moveTo>
                  <a:pt x="6402" y="13573"/>
                </a:moveTo>
                <a:cubicBezTo>
                  <a:pt x="5626" y="12405"/>
                  <a:pt x="5626" y="12405"/>
                  <a:pt x="5626" y="12405"/>
                </a:cubicBezTo>
                <a:cubicBezTo>
                  <a:pt x="6402" y="8757"/>
                  <a:pt x="6402" y="8757"/>
                  <a:pt x="6402" y="8757"/>
                </a:cubicBezTo>
                <a:cubicBezTo>
                  <a:pt x="7178" y="12405"/>
                  <a:pt x="7178" y="12405"/>
                  <a:pt x="7178" y="12405"/>
                </a:cubicBezTo>
                <a:lnTo>
                  <a:pt x="6402" y="13573"/>
                </a:lnTo>
                <a:close/>
              </a:path>
            </a:pathLst>
          </a:custGeom>
          <a:solidFill>
            <a:srgbClr val="0070C0"/>
          </a:solidFill>
          <a:ln w="12700" cap="flat">
            <a:noFill/>
            <a:miter lim="400000"/>
          </a:ln>
          <a:effectLst/>
        </p:spPr>
        <p:txBody>
          <a:bodyPr wrap="square" lIns="91439" tIns="91439" rIns="91439" bIns="91439" numCol="1" anchor="t">
            <a:noAutofit/>
          </a:bodyPr>
          <a:lstStyle/>
          <a:p>
            <a:endParaRPr sz="1600"/>
          </a:p>
        </p:txBody>
      </p:sp>
      <p:sp>
        <p:nvSpPr>
          <p:cNvPr id="2" name="文本框 1"/>
          <p:cNvSpPr txBox="1"/>
          <p:nvPr/>
        </p:nvSpPr>
        <p:spPr>
          <a:xfrm>
            <a:off x="3515159" y="5220746"/>
            <a:ext cx="1822222"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答辩人：黄渊</a:t>
            </a:r>
            <a:endParaRPr lang="zh-CN" altLang="en-US" sz="2000" b="1" dirty="0">
              <a:solidFill>
                <a:srgbClr val="0070C0"/>
              </a:solidFill>
              <a:latin typeface="华文楷体" panose="02010600040101010101" charset="-122"/>
              <a:ea typeface="华文楷体" panose="02010600040101010101" charset="-122"/>
            </a:endParaRPr>
          </a:p>
        </p:txBody>
      </p:sp>
      <p:sp>
        <p:nvSpPr>
          <p:cNvPr id="19" name="文本框 18"/>
          <p:cNvSpPr txBox="1"/>
          <p:nvPr/>
        </p:nvSpPr>
        <p:spPr>
          <a:xfrm>
            <a:off x="7724140" y="5181600"/>
            <a:ext cx="3275330"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指导教师：冯晓琴</a:t>
            </a:r>
            <a:r>
              <a:rPr lang="en-US" altLang="zh-CN" sz="2000" b="1" dirty="0">
                <a:solidFill>
                  <a:srgbClr val="0070C0"/>
                </a:solidFill>
                <a:latin typeface="华文楷体" panose="02010600040101010101" charset="-122"/>
                <a:ea typeface="华文楷体" panose="02010600040101010101" charset="-122"/>
              </a:rPr>
              <a:t>   </a:t>
            </a:r>
            <a:r>
              <a:rPr lang="zh-CN" altLang="en-US" sz="2000" b="1" dirty="0">
                <a:solidFill>
                  <a:srgbClr val="0070C0"/>
                </a:solidFill>
                <a:latin typeface="华文楷体" panose="02010600040101010101" charset="-122"/>
                <a:ea typeface="华文楷体" panose="02010600040101010101" charset="-122"/>
              </a:rPr>
              <a:t>何安平</a:t>
            </a:r>
            <a:endParaRPr lang="zh-CN" altLang="en-US" sz="2000" b="1" dirty="0">
              <a:solidFill>
                <a:srgbClr val="0070C0"/>
              </a:solidFill>
              <a:latin typeface="华文楷体" panose="02010600040101010101" charset="-122"/>
              <a:ea typeface="华文楷体" panose="02010600040101010101" charset="-122"/>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455" y="5698703"/>
            <a:ext cx="967527" cy="967527"/>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3.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4.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5.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6.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7.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8.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9.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0.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1.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2.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3.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4.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5.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6.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7.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8.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9.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0.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1.xml><?xml version="1.0" encoding="utf-8"?>
<p:tagLst xmlns:p="http://schemas.openxmlformats.org/presentationml/2006/main">
  <p:tag name="KSO_WM_DIAGRAM_VIRTUALLY_FRAME" val="{&quot;height&quot;:171.25,&quot;left&quot;:21.5,&quot;top&quot;:306.35,&quot;width&quot;:667.25}"/>
</p:tagLst>
</file>

<file path=ppt/tags/tag22.xml><?xml version="1.0" encoding="utf-8"?>
<p:tagLst xmlns:p="http://schemas.openxmlformats.org/presentationml/2006/main">
  <p:tag name="KSO_WM_DIAGRAM_VIRTUALLY_FRAME" val="{&quot;height&quot;:171.25,&quot;left&quot;:21.5,&quot;top&quot;:306.35,&quot;width&quot;:667.25}"/>
</p:tagLst>
</file>

<file path=ppt/tags/tag23.xml><?xml version="1.0" encoding="utf-8"?>
<p:tagLst xmlns:p="http://schemas.openxmlformats.org/presentationml/2006/main">
  <p:tag name="KSO_WM_DIAGRAM_VIRTUALLY_FRAME" val="{&quot;height&quot;:171.25,&quot;left&quot;:21.5,&quot;top&quot;:306.35,&quot;width&quot;:667.25}"/>
</p:tagLst>
</file>

<file path=ppt/tags/tag24.xml><?xml version="1.0" encoding="utf-8"?>
<p:tagLst xmlns:p="http://schemas.openxmlformats.org/presentationml/2006/main">
  <p:tag name="KSO_WM_DIAGRAM_VIRTUALLY_FRAME" val="{&quot;height&quot;:171.25,&quot;left&quot;:21.5,&quot;top&quot;:306.35,&quot;width&quot;:667.25}"/>
</p:tagLst>
</file>

<file path=ppt/tags/tag25.xml><?xml version="1.0" encoding="utf-8"?>
<p:tagLst xmlns:p="http://schemas.openxmlformats.org/presentationml/2006/main">
  <p:tag name="KSO_WM_DIAGRAM_VIRTUALLY_FRAME" val="{&quot;height&quot;:171.25,&quot;left&quot;:21.5,&quot;top&quot;:306.35,&quot;width&quot;:667.25}"/>
</p:tagLst>
</file>

<file path=ppt/tags/tag26.xml><?xml version="1.0" encoding="utf-8"?>
<p:tagLst xmlns:p="http://schemas.openxmlformats.org/presentationml/2006/main">
  <p:tag name="KSO_WM_DIAGRAM_VIRTUALLY_FRAME" val="{&quot;height&quot;:171.25,&quot;left&quot;:21.5,&quot;top&quot;:306.35,&quot;width&quot;:667.25}"/>
</p:tagLst>
</file>

<file path=ppt/tags/tag27.xml><?xml version="1.0" encoding="utf-8"?>
<p:tagLst xmlns:p="http://schemas.openxmlformats.org/presentationml/2006/main">
  <p:tag name="KSO_WM_DIAGRAM_VIRTUALLY_FRAME" val="{&quot;height&quot;:171.25,&quot;left&quot;:21.5,&quot;top&quot;:306.35,&quot;width&quot;:667.25}"/>
</p:tagLst>
</file>

<file path=ppt/tags/tag28.xml><?xml version="1.0" encoding="utf-8"?>
<p:tagLst xmlns:p="http://schemas.openxmlformats.org/presentationml/2006/main">
  <p:tag name="KSO_WM_DIAGRAM_VIRTUALLY_FRAME" val="{&quot;height&quot;:171.25,&quot;left&quot;:21.5,&quot;top&quot;:306.35,&quot;width&quot;:667.25}"/>
</p:tagLst>
</file>

<file path=ppt/tags/tag29.xml><?xml version="1.0" encoding="utf-8"?>
<p:tagLst xmlns:p="http://schemas.openxmlformats.org/presentationml/2006/main">
  <p:tag name="KSO_WM_DIAGRAM_VIRTUALLY_FRAME" val="{&quot;height&quot;:171.25,&quot;left&quot;:21.5,&quot;top&quot;:306.35,&quot;width&quot;:667.25}"/>
</p:tagLst>
</file>

<file path=ppt/tags/tag3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1.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4.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27501220703125,&quot;top&quot;:89.2,&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5.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27501220703125,&quot;top&quot;:89.2,&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2459_2*a*1"/>
  <p:tag name="KSO_WM_TEMPLATE_CATEGORY" val="diagram"/>
  <p:tag name="KSO_WM_TEMPLATE_INDEX" val="20232459"/>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2459_2*l_h_i*1_1_3"/>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5"/>
  <p:tag name="KSO_WM_UNIT_TEXT_FILL_FORE_SCHEMECOLOR_INDEX" val="13"/>
  <p:tag name="KSO_WM_UNIT_TEXT_FILL_TYPE" val="1"/>
  <p:tag name="KSO_WM_UNIT_USESOURCEFORMAT_APPLY"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59_2*l_h_i*1_2_2"/>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6"/>
  <p:tag name="KSO_WM_UNIT_TEXT_FILL_FORE_SCHEMECOLOR_INDEX" val="13"/>
  <p:tag name="KSO_WM_UNIT_TEXT_FILL_TYPE" val="1"/>
  <p:tag name="KSO_WM_UNIT_USESOURCEFORMAT_APPLY"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2459_2*l_h_i*1_3_3"/>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7"/>
  <p:tag name="KSO_WM_UNIT_TEXT_FILL_FORE_SCHEMECOLOR_INDEX" val="13"/>
  <p:tag name="KSO_WM_UNIT_TEXT_FILL_TYPE" val="1"/>
  <p:tag name="KSO_WM_UNIT_USESOURCEFORMAT_APPLY"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59_2*l_h_i*1_1_2"/>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3"/>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2459_2*l_h_i*1_1_1"/>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59_2*l_h_f*1_1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VALUE" val="220"/>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单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
  <p:tag name="KSO_WM_UNIT_TEXT_FILL_FORE_SCHEMECOLOR_INDEX" val="1"/>
  <p:tag name="KSO_WM_UNIT_TEXT_FILL_TYPE" val="1"/>
  <p:tag name="KSO_WM_UNIT_USESOURCEFORMAT_APPLY" val="1"/>
</p:tagLst>
</file>

<file path=ppt/tags/tag4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59_2*l_h_a*1_1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2459_2*l_h_i*1_2_3"/>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3"/>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2459_2*l_h_i*1_2_1"/>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2459_2*l_h_i*1_3_2"/>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3"/>
  <p:tag name="KSO_WM_UNIT_TEXT_FILL_TYPE" val="1"/>
  <p:tag name="KSO_WM_UNIT_USESOURCEFORMAT_APPLY"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2459_2*l_h_i*1_3_1"/>
  <p:tag name="KSO_WM_TEMPLATE_CATEGORY" val="diagram"/>
  <p:tag name="KSO_WM_TEMPLATE_INDEX" val="20232459"/>
  <p:tag name="KSO_WM_UNIT_LAYERLEVEL" val="1_1_1"/>
  <p:tag name="KSO_WM_TAG_VERSION" val="3.0"/>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4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59_2*l_h_f*1_2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单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10;"/>
  <p:tag name="KSO_WM_UNIT_TEXT_FILL_FORE_SCHEMECOLOR_INDEX" val="1"/>
  <p:tag name="KSO_WM_UNIT_TEXT_FILL_TYPE" val="1"/>
  <p:tag name="KSO_WM_UNIT_USESOURCEFORMAT_APPLY" val="1"/>
</p:tagLst>
</file>

<file path=ppt/tags/tag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59_2*l_h_a*1_2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5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59_2*l_h_f*1_3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单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
  <p:tag name="KSO_WM_UNIT_TEXT_FILL_FORE_SCHEMECOLOR_INDEX" val="1"/>
  <p:tag name="KSO_WM_UNIT_TEXT_FILL_TYPE" val="1"/>
  <p:tag name="KSO_WM_UNIT_USESOURCEFORMAT_APPLY" val="1"/>
</p:tagLst>
</file>

<file path=ppt/tags/tag5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59_2*l_h_a*1_3_1"/>
  <p:tag name="KSO_WM_TEMPLATE_CATEGORY" val="diagram"/>
  <p:tag name="KSO_WM_TEMPLATE_INDEX" val="20232459"/>
  <p:tag name="KSO_WM_UNIT_LAYERLEVEL" val="1_1_1"/>
  <p:tag name="KSO_WM_TAG_VERSION" val="3.0"/>
  <p:tag name="KSO_WM_UNIT_TEXT_TYPE" val="1"/>
  <p:tag name="KSO_WM_DIAGRAM_MAX_ITEMCNT" val="3"/>
  <p:tag name="KSO_WM_DIAGRAM_MIN_ITEMCNT" val="2"/>
  <p:tag name="KSO_WM_DIAGRAM_VIRTUALLY_FRAME" val="{&quot;height&quot;:390.8,&quot;left&quot;:78.6,&quot;top&quot;:112.55,&quot;width&quot;:802.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52.xml><?xml version="1.0" encoding="utf-8"?>
<p:tagLst xmlns:p="http://schemas.openxmlformats.org/presentationml/2006/main">
  <p:tag name="KSO_WM_SLIDE_ID" val="diagram20232459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02.8*388.55"/>
  <p:tag name="KSO_WM_SLIDE_POSITION" val="78.6*112.55"/>
  <p:tag name="KSO_WM_DIAGRAM_GROUP_CODE" val="l1-1"/>
  <p:tag name="KSO_WM_SLIDE_DIAGTYPE" val="l"/>
  <p:tag name="KSO_WM_TAG_VERSION" val="3.0"/>
  <p:tag name="KSO_WM_BEAUTIFY_FLAG" val="#wm#"/>
  <p:tag name="KSO_WM_TEMPLATE_CATEGORY" val="diagram"/>
  <p:tag name="KSO_WM_TEMPLATE_INDEX" val="20232459"/>
  <p:tag name="KSO_WM_SLIDE_LAYOUT" val="a_l"/>
  <p:tag name="KSO_WM_SLIDE_LAYOUT_CNT" val="1_1"/>
  <p:tag name="RESOURCE_RECORD_KEY" val="{&quot;65&quot;:[20232459],&quot;70&quot;:[3321989],&quot;71&quot;:[76235679683]}"/>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40493027_1*i*1"/>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40493027_1*i*2"/>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5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27_1*a*1"/>
  <p:tag name="KSO_WM_TEMPLATE_CATEGORY" val="custom"/>
  <p:tag name="KSO_WM_TEMPLATE_INDEX" val="40493027"/>
  <p:tag name="KSO_WM_UNIT_LAYERLEVEL" val="1"/>
  <p:tag name="KSO_WM_TAG_VERSION" val="3.0"/>
  <p:tag name="KSO_WM_BEAUTIFY_FLAG" val="#wm#"/>
  <p:tag name="KSO_WM_UNIT_VALUE" val="30"/>
  <p:tag name="KSO_WM_DIAGRAM_GROUP_CODE" val="l1-1"/>
  <p:tag name="KSO_WM_UNIT_PRESET_TEXT" val="单击添加页面标题"/>
  <p:tag name="KSO_WM_UNIT_TEXT_TYPE" val="1"/>
  <p:tag name="KSO_WM_UNIT_TEXT_FILL_FORE_SCHEMECOLOR_INDEX" val="13"/>
  <p:tag name="KSO_WM_UNIT_TEXT_FILL_TYPE" val="1"/>
  <p:tag name="KSO_WM_UNIT_USESOURCEFORMAT_APPLY" val="1"/>
</p:tagLst>
</file>

<file path=ppt/tags/tag56.xml><?xml version="1.0" encoding="utf-8"?>
<p:tagLst xmlns:p="http://schemas.openxmlformats.org/presentationml/2006/main">
  <p:tag name="KSO_WM_UNIT_PICTURE_SUBTYPE" val="b"/>
  <p:tag name="KSO_WM_UNIT_VALUE" val="1273*1228"/>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40493027_1*d*1"/>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SHADOW_SCHEMECOLOR_INDEX" val="5"/>
  <p:tag name="KSO_WM_UNIT_USESOURCEFORMAT_APPLY"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447_2*l_i*1_1"/>
  <p:tag name="KSO_WM_TEMPLATE_CATEGORY" val="diagram"/>
  <p:tag name="KSO_WM_TEMPLATE_INDEX" val="20235447"/>
  <p:tag name="KSO_WM_UNIT_LAYERLEVEL" val="1_1"/>
  <p:tag name="KSO_WM_TAG_VERSION" val="3.0"/>
  <p:tag name="KSO_WM_BEAUTIFY_FLAG" val="#wm#"/>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447_2*l_h_f*1_1_1"/>
  <p:tag name="KSO_WM_TEMPLATE_CATEGORY" val="diagram"/>
  <p:tag name="KSO_WM_TEMPLATE_INDEX" val="20235447"/>
  <p:tag name="KSO_WM_UNIT_LAYERLEVEL" val="1_1_1"/>
  <p:tag name="KSO_WM_TAG_VERSION" val="3.0"/>
  <p:tag name="KSO_WM_UNIT_TEXT_LAYER_COUNT" val="1"/>
  <p:tag name="KSO_WM_DIAGRAM_GROUP_CODE" val="l1-1"/>
  <p:tag name="KSO_WM_BEAUTIFY_FLAG" val="#wm#"/>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5447_2*l_h_a*1_1_1"/>
  <p:tag name="KSO_WM_TEMPLATE_CATEGORY" val="diagram"/>
  <p:tag name="KSO_WM_TEMPLATE_INDEX" val="20235447"/>
  <p:tag name="KSO_WM_UNIT_LAYERLEVEL" val="1_1_1"/>
  <p:tag name="KSO_WM_TAG_VERSION" val="3.0"/>
  <p:tag name="KSO_WM_DIAGRAM_GROUP_CODE" val="l1-1"/>
  <p:tag name="KSO_WM_BEAUTIFY_FLAG" val="#wm#"/>
  <p:tag name="KSO_WM_DIAGRAM_VERSION" val="3"/>
  <p:tag name="KSO_WM_DIAGRAM_COLOR_TRICK" val="1"/>
  <p:tag name="KSO_WM_DIAGRAM_COLOR_TEXT_CAN_REMOVE" val="n"/>
  <p:tag name="KSO_WM_UNIT_PRESET_TEXT" val="单击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47"/>
  <p:tag name="KSO_WM_UNIT_LAYERLEVEL" val="1_1_1"/>
  <p:tag name="KSO_WM_TAG_VERSION" val="3.0"/>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47_2*l_h_i*1_1_1"/>
  <p:tag name="KSO_WM_UNIT_INDEX" val="1_1_1"/>
  <p:tag name="KSO_WM_DIAGRAM_GROUP_CODE" val="l1-1"/>
  <p:tag name="KSO_WM_UNIT_USESOURCEFORMAT_APPLY" val="1"/>
  <p:tag name="KSO_WM_UNIT_SUBTYPE" val="d"/>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447_2*l_h_f*1_2_1"/>
  <p:tag name="KSO_WM_TEMPLATE_CATEGORY" val="diagram"/>
  <p:tag name="KSO_WM_TEMPLATE_INDEX" val="20235447"/>
  <p:tag name="KSO_WM_UNIT_LAYERLEVEL" val="1_1_1"/>
  <p:tag name="KSO_WM_TAG_VERSION" val="3.0"/>
  <p:tag name="KSO_WM_UNIT_TEXT_LAYER_COUNT" val="1"/>
  <p:tag name="KSO_WM_DIAGRAM_GROUP_CODE" val="l1-1"/>
  <p:tag name="KSO_WM_BEAUTIFY_FLAG" val="#wm#"/>
  <p:tag name="KSO_WM_DIAGRAM_VERSION" val="3"/>
  <p:tag name="KSO_WM_DIAGRAM_COLOR_TRICK" val="1"/>
  <p:tag name="KSO_WM_DIAGRAM_COLOR_TEXT_CAN_REMOVE" val="n"/>
  <p:tag name="KSO_WM_UNIT_PRESET_TEXT" val="单击添加正文，文字是您思想的提炼，为了最终演示发布的良好效果，请尽量言简意赅的阐述观点。根据需要可酌情增减文字，以便观者可以理解您所传达的信息，为了最终演示发布的良好效果。"/>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5447_2*l_h_a*1_2_1"/>
  <p:tag name="KSO_WM_TEMPLATE_CATEGORY" val="diagram"/>
  <p:tag name="KSO_WM_TEMPLATE_INDEX" val="20235447"/>
  <p:tag name="KSO_WM_UNIT_LAYERLEVEL" val="1_1_1"/>
  <p:tag name="KSO_WM_TAG_VERSION" val="3.0"/>
  <p:tag name="KSO_WM_DIAGRAM_GROUP_CODE" val="l1-1"/>
  <p:tag name="KSO_WM_BEAUTIFY_FLAG" val="#wm#"/>
  <p:tag name="KSO_WM_DIAGRAM_VERSION" val="3"/>
  <p:tag name="KSO_WM_DIAGRAM_COLOR_TRICK" val="1"/>
  <p:tag name="KSO_WM_DIAGRAM_COLOR_TEXT_CAN_REMOVE" val="n"/>
  <p:tag name="KSO_WM_UNIT_PRESET_TEXT" val="单击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47"/>
  <p:tag name="KSO_WM_UNIT_LAYERLEVEL" val="1_1_1"/>
  <p:tag name="KSO_WM_TAG_VERSION" val="3.0"/>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47_2*l_h_i*1_2_1"/>
  <p:tag name="KSO_WM_UNIT_INDEX" val="1_2_1"/>
  <p:tag name="KSO_WM_DIAGRAM_GROUP_CODE" val="l1-1"/>
  <p:tag name="KSO_WM_UNIT_USESOURCEFORMAT_APPLY" val="1"/>
  <p:tag name="KSO_WM_UNIT_SUBTYPE" val="d"/>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5447_2*l_h_f*1_3_1"/>
  <p:tag name="KSO_WM_TEMPLATE_CATEGORY" val="diagram"/>
  <p:tag name="KSO_WM_TEMPLATE_INDEX" val="20235447"/>
  <p:tag name="KSO_WM_UNIT_LAYERLEVEL" val="1_1_1"/>
  <p:tag name="KSO_WM_TAG_VERSION" val="3.0"/>
  <p:tag name="KSO_WM_UNIT_TEXT_LAYER_COUNT" val="1"/>
  <p:tag name="KSO_WM_DIAGRAM_GROUP_CODE" val="l1-1"/>
  <p:tag name="KSO_WM_BEAUTIFY_FLAG" val="#wm#"/>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5447_2*l_h_a*1_3_1"/>
  <p:tag name="KSO_WM_TEMPLATE_CATEGORY" val="diagram"/>
  <p:tag name="KSO_WM_TEMPLATE_INDEX" val="20235447"/>
  <p:tag name="KSO_WM_UNIT_LAYERLEVEL" val="1_1_1"/>
  <p:tag name="KSO_WM_TAG_VERSION" val="3.0"/>
  <p:tag name="KSO_WM_DIAGRAM_GROUP_CODE" val="l1-1"/>
  <p:tag name="KSO_WM_BEAUTIFY_FLAG" val="#wm#"/>
  <p:tag name="KSO_WM_DIAGRAM_VERSION" val="3"/>
  <p:tag name="KSO_WM_DIAGRAM_COLOR_TRICK" val="1"/>
  <p:tag name="KSO_WM_DIAGRAM_COLOR_TEXT_CAN_REMOVE" val="n"/>
  <p:tag name="KSO_WM_UNIT_PRESET_TEXT" val="单击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47"/>
  <p:tag name="KSO_WM_UNIT_LAYERLEVEL" val="1_1_1"/>
  <p:tag name="KSO_WM_TAG_VERSION" val="3.0"/>
  <p:tag name="KSO_WM_DIAGRAM_MAX_ITEMCNT" val="4"/>
  <p:tag name="KSO_WM_DIAGRAM_MIN_ITEMCNT" val="2"/>
  <p:tag name="KSO_WM_DIAGRAM_VIRTUALLY_FRAME" val="{&quot;height&quot;:362.3,&quot;left&quot;:56.20076909870577,&quot;top&quot;:133.7,&quot;width&quot;:411.223561609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47_2*l_h_i*1_3_1"/>
  <p:tag name="KSO_WM_UNIT_INDEX" val="1_3_1"/>
  <p:tag name="KSO_WM_DIAGRAM_GROUP_CODE" val="l1-1"/>
  <p:tag name="KSO_WM_UNIT_USESOURCEFORMAT_APPLY" val="1"/>
  <p:tag name="KSO_WM_UNIT_SUBTYPE" val="d"/>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67.xml><?xml version="1.0" encoding="utf-8"?>
<p:tagLst xmlns:p="http://schemas.openxmlformats.org/presentationml/2006/main">
  <p:tag name="KSO_WM_SLIDE_ID" val="custom40493027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40493027"/>
  <p:tag name="KSO_WM_SLIDE_TYPE" val="text"/>
  <p:tag name="KSO_WM_SLIDE_SUBTYPE" val="picTxt"/>
  <p:tag name="KSO_WM_SLIDE_SIZE" val="425.9*362.3"/>
  <p:tag name="KSO_WM_SLIDE_POSITION" val="48.85*133.7"/>
  <p:tag name="KSO_WM_SLIDE_LAYOUT" val="a_d_l"/>
  <p:tag name="KSO_WM_SLIDE_LAYOUT_CNT" val="1_1_1"/>
  <p:tag name="KSO_WM_SPECIAL_SOURCE" val="bdnull"/>
  <p:tag name="KSO_WM_DIAGRAM_GROUP_CODE" val="l1-1"/>
  <p:tag name="KSO_WM_SLIDE_DIAGTYPE" val="l"/>
</p:tagLst>
</file>

<file path=ppt/tags/tag68.xml><?xml version="1.0" encoding="utf-8"?>
<p:tagLst xmlns:p="http://schemas.openxmlformats.org/presentationml/2006/main">
  <p:tag name="KSO_WM_DIAGRAM_VIRTUALLY_FRAME" val="{&quot;height&quot;:312.05,&quot;left&quot;:16.55,&quot;top&quot;:118.55,&quot;width&quot;:896.6}"/>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i*1_1"/>
  <p:tag name="KSO_WM_TEMPLATE_CATEGORY" val="diagram"/>
  <p:tag name="KSO_WM_TEMPLATE_INDEX" val="20230318"/>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gradient&quot;:[{&quot;brightness&quot;:0.800000011920929,&quot;colorType&quot;:1,&quot;foreColorIndex&quot;:5,&quot;pos&quot;:0,&quot;transparency&quot;:0.800000011920929},{&quot;brightness&quot;:0.6000000238418579,&quot;colorType&quot;:1,&quot;foreColorIndex&quot;:5,&quot;pos&quot;:1,&quot;transparency&quot;:0}],&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4"/>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6,5,6,5,6]}"/>
</p:tagLst>
</file>

<file path=ppt/tags/tag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h_i*1_1_2"/>
  <p:tag name="KSO_WM_TEMPLATE_CATEGORY" val="diagram"/>
  <p:tag name="KSO_WM_TEMPLATE_INDEX" val="20230318"/>
  <p:tag name="KSO_WM_UNIT_LAYERLEVEL" val="1_1_1"/>
  <p:tag name="KSO_WM_TAG_VERSION" val="3.0"/>
  <p:tag name="KSO_WM_DIAGRAM_GROUP_CODE" val="m1-1"/>
  <p:tag name="KSO_WM_UNIT_TYPE" val="m_h_i"/>
  <p:tag name="KSO_WM_UNIT_INDEX" val="1_1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
  <p:tag name="KSO_WM_UNIT_SHADOW_SCHEMECOLOR_INDEX" val="5"/>
  <p:tag name="KSO_WM_UNIT_USESOURCEFORMAT_APPLY" val="1"/>
  <p:tag name="KSO_WM_DIAGRAM_USE_COLOR_VALUE" val="{&quot;color_scheme&quot;:1,&quot;color_type&quot;:1,&quot;theme_color_indexes&quot;:[5,6,5,6,5,6]}"/>
</p:tagLst>
</file>

<file path=ppt/tags/tag7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h_i*1_2_1"/>
  <p:tag name="KSO_WM_TEMPLATE_CATEGORY" val="diagram"/>
  <p:tag name="KSO_WM_TEMPLATE_INDEX" val="20230318"/>
  <p:tag name="KSO_WM_UNIT_LAYERLEVEL" val="1_1_1"/>
  <p:tag name="KSO_WM_TAG_VERSION" val="3.0"/>
  <p:tag name="KSO_WM_DIAGRAM_GROUP_CODE" val="m1-1"/>
  <p:tag name="KSO_WM_UNIT_TYPE" val="m_h_i"/>
  <p:tag name="KSO_WM_UNIT_INDEX" val="1_2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gradient&quot;:[{&quot;brightness&quot;:0.30000001192092896,&quot;colorType&quot;:1,&quot;foreColorIndex&quot;:5,&quot;pos&quot;:0,&quot;transparency&quot;:0},{&quot;brightness&quot;:-0.05000000074505806,&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
  <p:tag name="KSO_WM_UNIT_SHADOW_SCHEMECOLOR_INDEX" val="5"/>
  <p:tag name="KSO_WM_UNIT_USESOURCEFORMAT_APPLY" val="1"/>
  <p:tag name="KSO_WM_DIAGRAM_USE_COLOR_VALUE" val="{&quot;color_scheme&quot;:1,&quot;color_type&quot;:1,&quot;theme_color_indexes&quot;:[5,6,5,6,5,6]}"/>
</p:tagLst>
</file>

<file path=ppt/tags/tag7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h_i*1_3_2"/>
  <p:tag name="KSO_WM_TEMPLATE_CATEGORY" val="diagram"/>
  <p:tag name="KSO_WM_TEMPLATE_INDEX" val="20230318"/>
  <p:tag name="KSO_WM_UNIT_LAYERLEVEL" val="1_1_1"/>
  <p:tag name="KSO_WM_TAG_VERSION" val="3.0"/>
  <p:tag name="KSO_WM_DIAGRAM_GROUP_CODE" val="m1-1"/>
  <p:tag name="KSO_WM_UNIT_TYPE" val="m_h_i"/>
  <p:tag name="KSO_WM_UNIT_INDEX" val="1_3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h_i*1_4_2"/>
  <p:tag name="KSO_WM_TEMPLATE_CATEGORY" val="diagram"/>
  <p:tag name="KSO_WM_TEMPLATE_INDEX" val="20230318"/>
  <p:tag name="KSO_WM_UNIT_LAYERLEVEL" val="1_1_1"/>
  <p:tag name="KSO_WM_TAG_VERSION" val="3.0"/>
  <p:tag name="KSO_WM_DIAGRAM_GROUP_CODE" val="m1-1"/>
  <p:tag name="KSO_WM_UNIT_TYPE" val="m_h_i"/>
  <p:tag name="KSO_WM_UNIT_INDEX" val="1_4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gradient&quot;:[{&quot;brightness&quot;:0.15000000596046448,&quot;colorType&quot;:1,&quot;foreColorIndex&quot;:5,&quot;pos&quot;:0,&quot;transparency&quot;:0},{&quot;brightness&quot;:-0.15000000596046448,&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7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i*1_2"/>
  <p:tag name="KSO_WM_TEMPLATE_CATEGORY" val="diagram"/>
  <p:tag name="KSO_WM_TEMPLATE_INDEX" val="20230318"/>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gradient&quot;:[{&quot;brightness&quot;:0.800000011920929,&quot;colorType&quot;:1,&quot;foreColorIndex&quot;:5,&quot;pos&quot;:0,&quot;transparency&quot;:1},{&quot;brightness&quot;:0.800000011920929,&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8"/>
  <p:tag name="KSO_WM_UNIT_LINE_FORE_SCHEMECOLOR_INDEX_1" val="5"/>
  <p:tag name="KSO_WM_UNIT_LINE_FORE_SCHEMECOLOR_INDEX_1_POS" val="0"/>
  <p:tag name="KSO_WM_UNIT_LINE_FORE_SCHEMECOLOR_INDEX_1_TRANS" val="1"/>
  <p:tag name="KSO_WM_UNIT_LINE_FORE_SCHEMECOLOR_INDEX_2_BRIGHTNESS" val="0.8"/>
  <p:tag name="KSO_WM_UNIT_LINE_FORE_SCHEMECOLOR_INDEX_2" val="5"/>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USESOURCEFORMAT_APPLY" val="1"/>
  <p:tag name="KSO_WM_DIAGRAM_USE_COLOR_VALUE" val="{&quot;color_scheme&quot;:1,&quot;color_type&quot;:1,&quot;theme_color_indexes&quot;:[5,6,5,6,5,6]}"/>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8_3*m_i*1_3"/>
  <p:tag name="KSO_WM_TEMPLATE_CATEGORY" val="diagram"/>
  <p:tag name="KSO_WM_TEMPLATE_INDEX" val="20230318"/>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gradient&quot;:[{&quot;brightness&quot;:0.800000011920929,&quot;colorType&quot;:1,&quot;foreColorIndex&quot;:5,&quot;pos&quot;:0,&quot;transparency&quot;:1},{&quot;brightness&quot;:0.800000011920929,&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8"/>
  <p:tag name="KSO_WM_UNIT_LINE_FORE_SCHEMECOLOR_INDEX_1" val="5"/>
  <p:tag name="KSO_WM_UNIT_LINE_FORE_SCHEMECOLOR_INDEX_1_POS" val="0"/>
  <p:tag name="KSO_WM_UNIT_LINE_FORE_SCHEMECOLOR_INDEX_1_TRANS" val="1"/>
  <p:tag name="KSO_WM_UNIT_LINE_FORE_SCHEMECOLOR_INDEX_2_BRIGHTNESS" val="0.8"/>
  <p:tag name="KSO_WM_UNIT_LINE_FORE_SCHEMECOLOR_INDEX_2" val="5"/>
  <p:tag name="KSO_WM_UNIT_LINE_FORE_SCHEMECOLOR_INDEX_2_POS" val="1"/>
  <p:tag name="KSO_WM_UNIT_LINE_FORE_SCHEMECOLOR_INDEX_2_TRANS" val="0"/>
  <p:tag name="KSO_WM_UNIT_LINE_GRADIENT_TYPE" val="0"/>
  <p:tag name="KSO_WM_UNIT_LINE_GRADIENT_ANGLE" val="180"/>
  <p:tag name="KSO_WM_UNIT_LINE_GRADIENT_Direction" val="4"/>
  <p:tag name="KSO_WM_UNIT_LINE_FILL_TYPE" val="5"/>
  <p:tag name="KSO_WM_UNIT_USESOURCEFORMAT_APPLY" val="1"/>
  <p:tag name="KSO_WM_DIAGRAM_USE_COLOR_VALUE" val="{&quot;color_scheme&quot;:1,&quot;color_type&quot;:1,&quot;theme_color_indexes&quot;:[5,6,5,6,5,6]}"/>
</p:tagLst>
</file>

<file path=ppt/tags/tag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318_3*m_h_f*1_2_1"/>
  <p:tag name="KSO_WM_TEMPLATE_CATEGORY" val="diagram"/>
  <p:tag name="KSO_WM_TEMPLATE_INDEX" val="20230318"/>
  <p:tag name="KSO_WM_UNIT_LAYERLEVEL" val="1_1_1"/>
  <p:tag name="KSO_WM_TAG_VERSION" val="3.0"/>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263.30059055118113,&quot;left&quot;:35.55000274898502,&quot;top&quot;:138.40003937007873,&quot;width&quot;:888.9500732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正文，文字是您思想的提炼"/>
  <p:tag name="KSO_WM_UNIT_TEXT_TYPE" val="1"/>
  <p:tag name="KSO_WM_UNIT_USESOURCEFORMAT_APPLY" val="1"/>
  <p:tag name="KSO_WM_DIAGRAM_USE_COLOR_VALUE" val="{&quot;color_scheme&quot;:1,&quot;color_type&quot;:1,&quot;theme_color_indexes&quot;:[5,6,5,6,5,6]}"/>
</p:tagLst>
</file>

<file path=ppt/tags/tag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318_3*m_h_f*1_1_1"/>
  <p:tag name="KSO_WM_TEMPLATE_CATEGORY" val="diagram"/>
  <p:tag name="KSO_WM_TEMPLATE_INDEX" val="20230318"/>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正文，文字是您思想的提炼"/>
  <p:tag name="KSO_WM_UNIT_TEXT_TYPE" val="1"/>
  <p:tag name="KSO_WM_UNIT_USESOURCEFORMAT_APPLY" val="1"/>
  <p:tag name="KSO_WM_DIAGRAM_USE_COLOR_VALUE" val="{&quot;color_scheme&quot;:1,&quot;color_type&quot;:1,&quot;theme_color_indexes&quot;:[5,6,5,6,5,6]}"/>
</p:tagLst>
</file>

<file path=ppt/tags/tag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318_3*m_h_f*1_3_1"/>
  <p:tag name="KSO_WM_TEMPLATE_CATEGORY" val="diagram"/>
  <p:tag name="KSO_WM_TEMPLATE_INDEX" val="20230318"/>
  <p:tag name="KSO_WM_UNIT_LAYERLEVEL" val="1_1_1"/>
  <p:tag name="KSO_WM_TAG_VERSION" val="3.0"/>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263.30059055118113,&quot;left&quot;:35.55000274898502,&quot;top&quot;:138.40003937007873,&quot;width&quot;:888.9500732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正文，文字是您思想的提炼"/>
  <p:tag name="KSO_WM_UNIT_TEXT_TYPE" val="1"/>
  <p:tag name="KSO_WM_UNIT_USESOURCEFORMAT_APPLY" val="1"/>
  <p:tag name="KSO_WM_DIAGRAM_USE_COLOR_VALUE" val="{&quot;color_scheme&quot;:1,&quot;color_type&quot;:1,&quot;theme_color_indexes&quot;:[5,6,5,6,5,6]}"/>
</p:tagLst>
</file>

<file path=ppt/tags/tag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0318_3*m_h_f*1_4_1"/>
  <p:tag name="KSO_WM_TEMPLATE_CATEGORY" val="diagram"/>
  <p:tag name="KSO_WM_TEMPLATE_INDEX" val="20230318"/>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正文，文字是您思想的提炼"/>
  <p:tag name="KSO_WM_UNIT_TEXT_TYPE" val="1"/>
  <p:tag name="KSO_WM_UNIT_USESOURCEFORMAT_APPLY" val="1"/>
  <p:tag name="KSO_WM_DIAGRAM_USE_COLOR_VALUE" val="{&quot;color_scheme&quot;:1,&quot;color_type&quot;:1,&quot;theme_color_indexes&quot;:[5,6,5,6,5,6]}"/>
</p:tagLst>
</file>

<file path=ppt/tags/tag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0318_3*m_h_i*1_1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ORE_SCHEMECOLOR_INDEX_BRIGHTNESS" val="0.4"/>
  <p:tag name="KSO_WM_UNIT_LINE_FILL_TYPE" val="2"/>
  <p:tag name="KSO_WM_UNIT_USESOURCEFORMAT_APPLY" val="1"/>
  <p:tag name="KSO_WM_DIAGRAM_USE_COLOR_VALUE" val="{&quot;color_scheme&quot;:1,&quot;color_type&quot;:1,&quot;theme_color_indexes&quot;:[5,6,5,6,5,6]}"/>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0318_3*m_h_i*1_3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ORE_SCHEMECOLOR_INDEX_BRIGHTNESS" val="0.4"/>
  <p:tag name="KSO_WM_UNIT_LINE_FILL_TYPE" val="2"/>
  <p:tag name="KSO_WM_UNIT_USESOURCEFORMAT_APPLY" val="1"/>
  <p:tag name="KSO_WM_DIAGRAM_USE_COLOR_VALUE" val="{&quot;color_scheme&quot;:1,&quot;color_type&quot;:1,&quot;theme_color_indexes&quot;:[5,6,5,6,5,6]}"/>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318_3*m_h_i*1_2_2"/>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ORE_SCHEMECOLOR_INDEX_BRIGHTNESS" val="0.4"/>
  <p:tag name="KSO_WM_UNIT_LINE_FILL_TYPE" val="2"/>
  <p:tag name="KSO_WM_UNIT_USESOURCEFORMAT_APPLY" val="1"/>
  <p:tag name="KSO_WM_DIAGRAM_USE_COLOR_VALUE" val="{&quot;color_scheme&quot;:1,&quot;color_type&quot;:1,&quot;theme_color_indexes&quot;:[5,6,5,6,5,6]}"/>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0318_3*m_h_i*1_4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2.05,&quot;left&quot;:16.55,&quot;top&quot;:118.55,&quot;width&quot;:896.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ORE_SCHEMECOLOR_INDEX_BRIGHTNESS" val="0.4"/>
  <p:tag name="KSO_WM_UNIT_LINE_FILL_TYPE" val="2"/>
  <p:tag name="KSO_WM_UNIT_USESOURCEFORMAT_APPLY" val="1"/>
  <p:tag name="KSO_WM_DIAGRAM_USE_COLOR_VALUE" val="{&quot;color_scheme&quot;:1,&quot;color_type&quot;:1,&quot;theme_color_indexes&quot;:[5,6,5,6,5,6]}"/>
</p:tagLst>
</file>

<file path=ppt/tags/tag84.xml><?xml version="1.0" encoding="utf-8"?>
<p:tagLst xmlns:p="http://schemas.openxmlformats.org/presentationml/2006/main">
  <p:tag name="KSO_WM_SLIDE_ITEM_CNT" val="4"/>
</p:tagLst>
</file>

<file path=ppt/tags/tag85.xml><?xml version="1.0" encoding="utf-8"?>
<p:tagLst xmlns:p="http://schemas.openxmlformats.org/presentationml/2006/main">
  <p:tag name="commondata" val="eyJoZGlkIjoiYzM2Mzc3YzdjNDIyYjRjNTY5MzM3YmJhYWYwZGNmOGQifQ=="/>
  <p:tag name="resource_record_key" val="{&quot;70&quot;:[3314671,3332763,3333015,3314187,33125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3604</Words>
  <Application>WPS 演示</Application>
  <PresentationFormat>宽屏</PresentationFormat>
  <Paragraphs>246</Paragraphs>
  <Slides>19</Slides>
  <Notes>0</Notes>
  <HiddenSlides>0</HiddenSlides>
  <MMClips>0</MMClips>
  <ScaleCrop>false</ScaleCrop>
  <HeadingPairs>
    <vt:vector size="6" baseType="variant">
      <vt:variant>
        <vt:lpstr>已用的字体</vt:lpstr>
      </vt:variant>
      <vt:variant>
        <vt:i4>37</vt:i4>
      </vt:variant>
      <vt:variant>
        <vt:lpstr>主题</vt:lpstr>
      </vt:variant>
      <vt:variant>
        <vt:i4>1</vt:i4>
      </vt:variant>
      <vt:variant>
        <vt:lpstr>幻灯片标题</vt:lpstr>
      </vt:variant>
      <vt:variant>
        <vt:i4>19</vt:i4>
      </vt:variant>
    </vt:vector>
  </HeadingPairs>
  <TitlesOfParts>
    <vt:vector size="57" baseType="lpstr">
      <vt:lpstr>Arial</vt:lpstr>
      <vt:lpstr>宋体</vt:lpstr>
      <vt:lpstr>Wingdings</vt:lpstr>
      <vt:lpstr>楷体</vt:lpstr>
      <vt:lpstr>汉仪楷体KW</vt:lpstr>
      <vt:lpstr>仿宋</vt:lpstr>
      <vt:lpstr>方正仿宋_GBK</vt:lpstr>
      <vt:lpstr>Arial</vt:lpstr>
      <vt:lpstr>微软雅黑</vt:lpstr>
      <vt:lpstr>方正宝黑体 简 Light</vt:lpstr>
      <vt:lpstr>汉仪中黑KW</vt:lpstr>
      <vt:lpstr>华文行楷</vt:lpstr>
      <vt:lpstr>行楷-简</vt:lpstr>
      <vt:lpstr>华文楷体</vt:lpstr>
      <vt:lpstr>Mongolian Baiti</vt:lpstr>
      <vt:lpstr>Times New Roman</vt:lpstr>
      <vt:lpstr>苹方-简</vt:lpstr>
      <vt:lpstr>等线</vt:lpstr>
      <vt:lpstr>Calibri</vt:lpstr>
      <vt:lpstr>Wingdings</vt:lpstr>
      <vt:lpstr>汉仪旗黑</vt:lpstr>
      <vt:lpstr>MiSans Normal</vt:lpstr>
      <vt:lpstr>思源黑体 CN Heavy</vt:lpstr>
      <vt:lpstr>方正大黑体_GBK</vt:lpstr>
      <vt:lpstr>Helvetica Neue</vt:lpstr>
      <vt:lpstr>宋体</vt:lpstr>
      <vt:lpstr>Arial Unicode MS</vt:lpstr>
      <vt:lpstr>汉仪书宋二KW</vt:lpstr>
      <vt:lpstr>汉仪中等线KW</vt:lpstr>
      <vt:lpstr>MiSans Normal</vt:lpstr>
      <vt:lpstr>仿宋</vt:lpstr>
      <vt:lpstr>华文行楷</vt:lpstr>
      <vt:lpstr>微软雅黑</vt:lpstr>
      <vt:lpstr>思源黑体 CN Heavy</vt:lpstr>
      <vt:lpstr>方正大黑体_GBK</vt:lpstr>
      <vt:lpstr>楷体</vt:lpstr>
      <vt:lpstr>等线</vt:lpstr>
      <vt:lpstr>Office 主题</vt:lpstr>
      <vt:lpstr>兰州大学</vt:lpstr>
      <vt:lpstr>PowerPoint 演示文稿</vt:lpstr>
      <vt:lpstr>PowerPoint 演示文稿</vt:lpstr>
      <vt:lpstr>课题背景——矩阵求解需求</vt:lpstr>
      <vt:lpstr>课题背景——TPU（张量处理器）阵列</vt:lpstr>
      <vt:lpstr>课题背景—— MUMPS求解器 分析-分解-求解三阶段框架</vt:lpstr>
      <vt:lpstr>PowerPoint 演示文稿</vt:lpstr>
      <vt:lpstr>相关研究</vt:lpstr>
      <vt:lpstr>相关研究</vt:lpstr>
      <vt:lpstr>相关研究</vt:lpstr>
      <vt:lpstr>PowerPoint 演示文稿</vt:lpstr>
      <vt:lpstr>研究内容</vt:lpstr>
      <vt:lpstr>研究内容</vt:lpstr>
      <vt:lpstr>研究内容  </vt:lpstr>
      <vt:lpstr>研究内容  </vt:lpstr>
      <vt:lpstr>研究内容 </vt:lpstr>
      <vt:lpstr>PowerPoint 演示文稿</vt:lpstr>
      <vt:lpstr>进度安排</vt:lpstr>
      <vt:lpstr>兰州大学</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题目</dc:title>
  <dc:creator>何安平</dc:creator>
  <cp:lastModifiedBy>huangyuan</cp:lastModifiedBy>
  <cp:revision>391</cp:revision>
  <dcterms:created xsi:type="dcterms:W3CDTF">2025-12-06T09:42:43Z</dcterms:created>
  <dcterms:modified xsi:type="dcterms:W3CDTF">2025-12-06T09:42:43Z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2052-12.1.23540.23540</vt:lpwstr>
  </property>
  <property fmtid="{D5CDD505-2E9C-101B-9397-08002B2CF9AE}" pid="3" name="ICV">
    <vt:lpwstr>9D84DCC88B5A4B40BF91A5CD195AD3B6_13</vt:lpwstr>
  </property>
</Properties>
</file>