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58" r:id="rId6"/>
    <p:sldId id="259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80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image" Target="../media/image4.svg"/><Relationship Id="rId7" Type="http://schemas.openxmlformats.org/officeDocument/2006/relationships/image" Target="../media/image3.png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71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5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6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绘图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653540" y="918845"/>
          <a:ext cx="2879725" cy="28797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椭圆 6"/>
          <p:cNvSpPr/>
          <p:nvPr/>
        </p:nvSpPr>
        <p:spPr>
          <a:xfrm>
            <a:off x="1757680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757680" y="158242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757680" y="212598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757680" y="266954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844800" y="212598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301240" y="158242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3388360" y="266954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2301240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844800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3388360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 descr="等于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1785" y="1613535"/>
            <a:ext cx="914400" cy="914400"/>
          </a:xfrm>
          <a:prstGeom prst="rect">
            <a:avLst/>
          </a:prstGeom>
        </p:spPr>
      </p:pic>
      <p:graphicFrame>
        <p:nvGraphicFramePr>
          <p:cNvPr id="19" name="表格 18"/>
          <p:cNvGraphicFramePr/>
          <p:nvPr>
            <p:custDataLst>
              <p:tags r:id="rId5"/>
            </p:custDataLst>
          </p:nvPr>
        </p:nvGraphicFramePr>
        <p:xfrm>
          <a:off x="5344160" y="990600"/>
          <a:ext cx="2879725" cy="28797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椭圆 19"/>
          <p:cNvSpPr/>
          <p:nvPr/>
        </p:nvSpPr>
        <p:spPr>
          <a:xfrm>
            <a:off x="5448300" y="110998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5448300" y="165417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5448300" y="219773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5448300" y="274129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6535420" y="219773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5991860" y="165417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7078980" y="274129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5991860" y="2198370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5991860" y="2742565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6535420" y="2741295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 descr="星号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2405" y="1870710"/>
            <a:ext cx="399415" cy="399415"/>
          </a:xfrm>
          <a:prstGeom prst="rect">
            <a:avLst/>
          </a:prstGeom>
        </p:spPr>
      </p:pic>
      <p:graphicFrame>
        <p:nvGraphicFramePr>
          <p:cNvPr id="32" name="表格 31"/>
          <p:cNvGraphicFramePr/>
          <p:nvPr>
            <p:custDataLst>
              <p:tags r:id="rId9"/>
            </p:custDataLst>
          </p:nvPr>
        </p:nvGraphicFramePr>
        <p:xfrm>
          <a:off x="8519795" y="918845"/>
          <a:ext cx="2879725" cy="28797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0000"/>
                <a:gridCol w="540000"/>
                <a:gridCol w="540000"/>
                <a:gridCol w="540000"/>
              </a:tblGrid>
              <a:tr h="540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540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椭圆 32"/>
          <p:cNvSpPr/>
          <p:nvPr/>
        </p:nvSpPr>
        <p:spPr>
          <a:xfrm>
            <a:off x="8623935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9171940" y="1038225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9741535" y="103886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10311130" y="103886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9711055" y="212598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9167495" y="158242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椭圆 38"/>
          <p:cNvSpPr/>
          <p:nvPr/>
        </p:nvSpPr>
        <p:spPr>
          <a:xfrm>
            <a:off x="10254615" y="2669540"/>
            <a:ext cx="288000" cy="288000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椭圆 39"/>
          <p:cNvSpPr/>
          <p:nvPr/>
        </p:nvSpPr>
        <p:spPr>
          <a:xfrm>
            <a:off x="9744075" y="1582420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10259060" y="1582420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10287635" y="2125980"/>
            <a:ext cx="288000" cy="288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/>
              <p:nvPr>
                <p:custDataLst>
                  <p:tags r:id="rId1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1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LU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</a:t>
                          </a:r>
                          <a:endParaRPr lang="zh-CN" altLang="en-US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2636520">
                    <a:tc>
                      <a:txBody>
                        <a:bodyPr/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Input: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 n*n  matrix A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Output: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 U  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1: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i = 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2: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=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;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=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e>
                                <m:sub/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// </a:t>
                          </a:r>
                          <a:r>
                            <a:rPr lang="zh-CN" altLang="en-US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分解对角元素</a:t>
                          </a:r>
                          <a:endParaRPr lang="zh-CN" altLang="en-US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3: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j = i+1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4: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5: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6: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7:     for j = i+1 to n 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8:         for k = i+1 to n 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9: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10: 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11: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12: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/>
              <p:nvPr>
                <p:custDataLst>
                  <p:tags r:id="rId2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1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LU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</a:t>
                          </a:r>
                          <a:endParaRPr lang="zh-CN" altLang="en-US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434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/>
              <p:nvPr>
                <p:custDataLst>
                  <p:tags r:id="rId1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2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：块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LU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</a:t>
                          </a:r>
                          <a:endParaRPr lang="zh-CN" altLang="en-US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2636520">
                    <a:tc>
                      <a:txBody>
                        <a:bodyPr/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Input: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 n*n block matrix A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Output: 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 U  //</a:t>
                          </a:r>
                          <a:r>
                            <a:rPr lang="zh-CN" altLang="en-US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使用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</a:t>
                          </a:r>
                          <a:r>
                            <a:rPr lang="zh-CN" altLang="en-US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矩阵的内存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1: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i = 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2: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 // </a:t>
                          </a:r>
                          <a:r>
                            <a:rPr lang="zh-CN" altLang="en-US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分解对角</a:t>
                          </a:r>
                          <a:r>
                            <a:rPr lang="zh-CN" altLang="en-US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矩阵</a:t>
                          </a:r>
                          <a:endParaRPr lang="zh-CN" altLang="en-US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3: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for</a:t>
                          </a: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j = i+1 to n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do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4: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 </m:t>
                              </m:r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5: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p>
                              </m:sSubSup>
                            </m:oMath>
                          </a14:m>
                          <a:endParaRPr lang="en-US" altLang="zh-CN" sz="1400" i="1">
                            <a:latin typeface="Cambria Math" panose="02040503050406030204" charset="0"/>
                            <a:cs typeface="Cambria Math" panose="020405030504060302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6: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7:     for j = i+1 to n 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8:         for k = i+1 to n do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9:       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← 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𝑘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𝑖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14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𝑗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 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10:   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11:   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indent="0" fontAlgn="auto">
                            <a:lnSpc>
                              <a:spcPts val="1880"/>
                            </a:lnSpc>
                            <a:buNone/>
                          </a:pPr>
                          <a:r>
                            <a:rPr lang="en-US" altLang="zh-CN" sz="1400" b="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12: </a:t>
                          </a:r>
                          <a:r>
                            <a:rPr lang="en-US" altLang="zh-CN" sz="14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end for</a:t>
                          </a:r>
                          <a:endParaRPr lang="en-US" altLang="zh-CN" sz="14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/>
              <p:nvPr>
                <p:custDataLst>
                  <p:tags r:id="rId2"/>
                </p:custDataLst>
              </p:nvPr>
            </p:nvGraphicFramePr>
            <p:xfrm>
              <a:off x="1828800" y="1085850"/>
              <a:ext cx="8530590" cy="3295650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8530590"/>
                  </a:tblGrid>
                  <a:tr h="396000">
                    <a:tc>
                      <a:txBody>
                        <a:bodyPr/>
                        <a:p>
                          <a:pPr algn="l">
                            <a:buNone/>
                          </a:pP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Algorithm 2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：块</a:t>
                          </a:r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LU</a:t>
                          </a:r>
                          <a:r>
                            <a:rPr lang="zh-CN" altLang="en-US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分解</a:t>
                          </a:r>
                          <a:endParaRPr lang="zh-CN" altLang="en-US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>
                          <a:solidFill>
                            <a:schemeClr val="tx1"/>
                          </a:solidFill>
                          <a:prstDash val="soli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434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>
                          <a:noFill/>
                        </a:lnL>
                        <a:lnR>
                          <a:noFill/>
                        </a:lnR>
                        <a:lnT w="12700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2106295" y="1905000"/>
          <a:ext cx="3247390" cy="330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/>
                <a:gridCol w="3672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45"/>
              </a:tblGrid>
              <a:tr h="36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g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  <p:sp>
        <p:nvSpPr>
          <p:cNvPr id="5" name="椭圆 4"/>
          <p:cNvSpPr/>
          <p:nvPr/>
        </p:nvSpPr>
        <p:spPr>
          <a:xfrm>
            <a:off x="4352290" y="198247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719320" y="198247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086350" y="198247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2199640" y="419989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199640" y="45593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199640" y="491871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3279140" y="235585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3999230" y="34671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546985" y="310070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546985" y="38461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639820" y="27285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4719320" y="27285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900680" y="34671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2900680" y="45593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4719320" y="310070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5086350" y="310070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3279140" y="45593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3279140" y="491871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4719320" y="347281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3639820" y="38461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3645535" y="45593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5086350" y="3846195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3999230" y="491871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5086350" y="421894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4719320" y="419354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椭圆 29"/>
          <p:cNvSpPr/>
          <p:nvPr/>
        </p:nvSpPr>
        <p:spPr>
          <a:xfrm>
            <a:off x="4346575" y="455930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4358640" y="4918710"/>
            <a:ext cx="180000" cy="18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双括号 33"/>
          <p:cNvSpPr/>
          <p:nvPr/>
        </p:nvSpPr>
        <p:spPr>
          <a:xfrm>
            <a:off x="1702435" y="1710055"/>
            <a:ext cx="4066540" cy="3783330"/>
          </a:xfrm>
          <a:prstGeom prst="bracketPai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 descr="箭头-直角-向右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2720" y="2971800"/>
            <a:ext cx="914400" cy="91440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670560" y="1905000"/>
            <a:ext cx="82105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ts val="2800"/>
              </a:lnSpc>
            </a:pPr>
            <a:r>
              <a:rPr lang="en-US" altLang="zh-CN"/>
              <a:t>1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2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3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4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5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6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7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8</a:t>
            </a:r>
            <a:endParaRPr lang="en-US" altLang="zh-CN"/>
          </a:p>
          <a:p>
            <a:pPr indent="0" algn="ctr" fontAlgn="auto">
              <a:lnSpc>
                <a:spcPts val="2800"/>
              </a:lnSpc>
            </a:pPr>
            <a:r>
              <a:rPr lang="en-US" altLang="zh-CN"/>
              <a:t>9</a:t>
            </a:r>
            <a:endParaRPr lang="en-US" altLang="zh-CN"/>
          </a:p>
        </p:txBody>
      </p:sp>
      <p:sp>
        <p:nvSpPr>
          <p:cNvPr id="37" name="流程图: 联系 36"/>
          <p:cNvSpPr/>
          <p:nvPr/>
        </p:nvSpPr>
        <p:spPr>
          <a:xfrm>
            <a:off x="8188325" y="3833495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8125460" y="3833495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流程图: 联系 43"/>
          <p:cNvSpPr/>
          <p:nvPr/>
        </p:nvSpPr>
        <p:spPr>
          <a:xfrm>
            <a:off x="8188325" y="2908300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8125460" y="2908300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g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46" name="直接连接符 45"/>
          <p:cNvCxnSpPr>
            <a:stCxn id="45" idx="2"/>
            <a:endCxn id="40" idx="0"/>
          </p:cNvCxnSpPr>
          <p:nvPr/>
        </p:nvCxnSpPr>
        <p:spPr>
          <a:xfrm>
            <a:off x="8368665" y="3276600"/>
            <a:ext cx="0" cy="556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流程图: 联系 46"/>
          <p:cNvSpPr/>
          <p:nvPr/>
        </p:nvSpPr>
        <p:spPr>
          <a:xfrm>
            <a:off x="9615805" y="3825240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9552940" y="3825240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流程图: 联系 48"/>
          <p:cNvSpPr/>
          <p:nvPr/>
        </p:nvSpPr>
        <p:spPr>
          <a:xfrm>
            <a:off x="9615805" y="4739005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9552940" y="4739005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b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1" name="直接连接符 50"/>
          <p:cNvCxnSpPr/>
          <p:nvPr/>
        </p:nvCxnSpPr>
        <p:spPr>
          <a:xfrm>
            <a:off x="9795510" y="4182110"/>
            <a:ext cx="0" cy="556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流程图: 联系 51"/>
          <p:cNvSpPr/>
          <p:nvPr/>
        </p:nvSpPr>
        <p:spPr>
          <a:xfrm>
            <a:off x="10816590" y="3813810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10753725" y="3813810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流程图: 联系 53"/>
          <p:cNvSpPr/>
          <p:nvPr/>
        </p:nvSpPr>
        <p:spPr>
          <a:xfrm>
            <a:off x="10816590" y="4727575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10753725" y="4727575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10996295" y="4170680"/>
            <a:ext cx="0" cy="556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流程图: 联系 57"/>
          <p:cNvSpPr/>
          <p:nvPr/>
        </p:nvSpPr>
        <p:spPr>
          <a:xfrm>
            <a:off x="10217785" y="2908300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10154920" y="2908300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f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0" name="直接连接符 59"/>
          <p:cNvCxnSpPr>
            <a:stCxn id="48" idx="0"/>
          </p:cNvCxnSpPr>
          <p:nvPr/>
        </p:nvCxnSpPr>
        <p:spPr>
          <a:xfrm flipV="1">
            <a:off x="9796145" y="3203575"/>
            <a:ext cx="478790" cy="6216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>
            <a:stCxn id="53" idx="0"/>
          </p:cNvCxnSpPr>
          <p:nvPr/>
        </p:nvCxnSpPr>
        <p:spPr>
          <a:xfrm flipH="1" flipV="1">
            <a:off x="10548620" y="3196590"/>
            <a:ext cx="448310" cy="6172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流程图: 联系 62"/>
          <p:cNvSpPr/>
          <p:nvPr/>
        </p:nvSpPr>
        <p:spPr>
          <a:xfrm>
            <a:off x="9192895" y="2094865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9130030" y="2094865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h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5" name="流程图: 联系 64"/>
          <p:cNvSpPr/>
          <p:nvPr/>
        </p:nvSpPr>
        <p:spPr>
          <a:xfrm>
            <a:off x="9192895" y="1341755"/>
            <a:ext cx="360000" cy="360000"/>
          </a:xfrm>
          <a:prstGeom prst="flowChartConnector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9130030" y="1341755"/>
            <a:ext cx="485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i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67" name="直接连接符 66"/>
          <p:cNvCxnSpPr>
            <a:stCxn id="45" idx="0"/>
          </p:cNvCxnSpPr>
          <p:nvPr/>
        </p:nvCxnSpPr>
        <p:spPr>
          <a:xfrm flipV="1">
            <a:off x="8368665" y="2375535"/>
            <a:ext cx="853440" cy="53276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59" idx="0"/>
          </p:cNvCxnSpPr>
          <p:nvPr/>
        </p:nvCxnSpPr>
        <p:spPr>
          <a:xfrm flipH="1" flipV="1">
            <a:off x="9538335" y="2361565"/>
            <a:ext cx="859790" cy="5467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66" idx="2"/>
            <a:endCxn id="64" idx="0"/>
          </p:cNvCxnSpPr>
          <p:nvPr/>
        </p:nvCxnSpPr>
        <p:spPr>
          <a:xfrm>
            <a:off x="9373235" y="1710055"/>
            <a:ext cx="0" cy="3848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TABLE_ENDDRAG_ORIGIN_RECT" val="608*162"/>
  <p:tag name="TABLE_ENDDRAG_RECT" val="144*210*608*162"/>
</p:tagLst>
</file>

<file path=ppt/tags/tag67.xml><?xml version="1.0" encoding="utf-8"?>
<p:tagLst xmlns:p="http://schemas.openxmlformats.org/presentationml/2006/main">
  <p:tag name="KSO_DOCER_RESOURCE_TRACE_INFO" val="{&quot;id&quot;:&quot;50059496&quot;,&quot;origin&quot;:0,&quot;type&quot;:&quot;icons&quot;,&quot;user&quot;:&quot;1040096332&quot;}"/>
</p:tagLst>
</file>

<file path=ppt/tags/tag68.xml><?xml version="1.0" encoding="utf-8"?>
<p:tagLst xmlns:p="http://schemas.openxmlformats.org/presentationml/2006/main">
  <p:tag name="TABLE_ENDDRAG_ORIGIN_RECT" val="608*162"/>
  <p:tag name="TABLE_ENDDRAG_RECT" val="144*210*608*162"/>
</p:tagLst>
</file>

<file path=ppt/tags/tag69.xml><?xml version="1.0" encoding="utf-8"?>
<p:tagLst xmlns:p="http://schemas.openxmlformats.org/presentationml/2006/main">
  <p:tag name="KSO_DOCER_RESOURCE_TRACE_INFO" val="{&quot;id&quot;:&quot;50059429&quot;,&quot;origin&quot;:0,&quot;type&quot;:&quot;icons&quot;,&quot;user&quot;:&quot;1040096332&quot;}"/>
</p:tagLst>
</file>

<file path=ppt/tags/tag70.xml><?xml version="1.0" encoding="utf-8"?>
<p:tagLst xmlns:p="http://schemas.openxmlformats.org/presentationml/2006/main">
  <p:tag name="TABLE_ENDDRAG_ORIGIN_RECT" val="608*162"/>
  <p:tag name="TABLE_ENDDRAG_RECT" val="144*210*608*162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59496,50059429],&quot;65&quot;:[20205081]}"/>
</p:tagLst>
</file>

<file path=ppt/tags/tag72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73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76.xml><?xml version="1.0" encoding="utf-8"?>
<p:tagLst xmlns:p="http://schemas.openxmlformats.org/presentationml/2006/main">
  <p:tag name="TABLE_ENDDRAG_ORIGIN_RECT" val="671*259"/>
  <p:tag name="TABLE_ENDDRAG_RECT" val="144*85*671*259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040096332&quot;}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50062469,50062354,50059176],&quot;65&quot;:[20205081]}"/>
</p:tagLst>
</file>

<file path=ppt/tags/tag80.xml><?xml version="1.0" encoding="utf-8"?>
<p:tagLst xmlns:p="http://schemas.openxmlformats.org/presentationml/2006/main">
  <p:tag name="resource_record_key" val="{&quot;10&quot;:[50059496,50059429,50062469,50062354,50059176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WPS 演示</Application>
  <PresentationFormat>宽屏</PresentationFormat>
  <Paragraphs>82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Times New Roman</vt:lpstr>
      <vt:lpstr>Cambria Math</vt:lpstr>
      <vt:lpstr>微软雅黑</vt:lpstr>
      <vt:lpstr>Arial Unicode MS</vt:lpstr>
      <vt:lpstr>Calibri</vt:lpstr>
      <vt:lpstr>WPS</vt:lpstr>
      <vt:lpstr>绘图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hy1729</cp:lastModifiedBy>
  <cp:revision>171</cp:revision>
  <dcterms:created xsi:type="dcterms:W3CDTF">2019-06-19T02:08:00Z</dcterms:created>
  <dcterms:modified xsi:type="dcterms:W3CDTF">2026-06-04T05:40:52Z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D6967463888C41DB94B4AA3D4D047C03_13</vt:lpwstr>
  </property>
</Properties>
</file>