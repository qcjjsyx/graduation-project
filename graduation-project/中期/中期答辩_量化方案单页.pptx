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1fb9f304b54bdf" /><Relationship Type="http://schemas.openxmlformats.org/officeDocument/2006/relationships/extended-properties" Target="/docProps/app.xml" Id="R236c7bfcaee54180" /><Relationship Type="http://schemas.openxmlformats.org/officeDocument/2006/relationships/officeDocument" Target="/ppt/presentation.xml" Id="R66fe06e115ff45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c697311f1044ad"/>
  </p:sldMasterIdLst>
  <p:notesMasterIdLst>
    <p:notesMasterId xmlns:r="http://schemas.openxmlformats.org/officeDocument/2006/relationships" r:id="R58cf384175a840eb"/>
  </p:notesMasterIdLst>
  <p:sldIdLst>
    <p:sldId xmlns:r="http://schemas.openxmlformats.org/officeDocument/2006/relationships" id="256" r:id="R185acec98a2543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0542529e4d49cb" /><Relationship Type="http://schemas.openxmlformats.org/officeDocument/2006/relationships/slideMaster" Target="/ppt/slideMasters/slideMaster1.xml" Id="Rbac697311f1044ad" /><Relationship Type="http://schemas.openxmlformats.org/officeDocument/2006/relationships/notesMaster" Target="/ppt/notesMasters/notesMaster1.xml" Id="R58cf384175a840eb" /><Relationship Type="http://schemas.openxmlformats.org/officeDocument/2006/relationships/presProps" Target="/ppt/presProps.xml" Id="R1d2e56fc80b14d9f" /><Relationship Type="http://schemas.openxmlformats.org/officeDocument/2006/relationships/tableStyles" Target="/ppt/tableStyles.xml" Id="R417b3dfcb2064480" /><Relationship Type="http://schemas.openxmlformats.org/officeDocument/2006/relationships/slide" Target="/ppt/slides/slide1.xml" Id="R185acec98a2543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29424f8ac141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9300d218ac4043" /><Relationship Type="http://schemas.openxmlformats.org/officeDocument/2006/relationships/notesMaster" Target="/ppt/notesMasters/notesMaster1.xml" Id="Rcbe5d42f1c5948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2cea8bc4547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76398e03ff4f09" /><Relationship Type="http://schemas.openxmlformats.org/officeDocument/2006/relationships/slideLayout" Target="/ppt/slideLayouts/slideLayout1.xml" Id="R39a1629efd7e44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a1629efd7e44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ff110946f4224" /><Relationship Type="http://schemas.openxmlformats.org/officeDocument/2006/relationships/notesSlide" Target="/ppt/notesSlides/notesSlide1.xml" Id="Rf716017ad19a4e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BB5F9B2-4B1A-4930-8E94-FD5B115E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E61A2D-47A3-469D-BB40-9C23FF68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软硬件协同量化：由多指数输入统一到节点尺度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D633A8C5-A9F9-4385-ABFA-3F963193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3"/>
                </a:solidFill>
                <a:latin typeface="Microsoft YaHei"/>
                <a:ea typeface="Microsoft YaHei"/>
                <a:cs typeface="Microsoft YaHei"/>
              </a:rPr>
              <a:t>软件侧仅预量化 A_local；硬件侧完成多源装配、尺度确定与整数 LU</a:t>
            </a:r>
          </a:p>
        </p:txBody>
      </p:sp>
      <p:sp>
        <p:nvSpPr>
          <p:cNvPr id="4" name="software-panel">
            <a:extLst xmlns:a="http://schemas.openxmlformats.org/drawingml/2006/main">
              <a:ext uri="{FF2B5EF4-FFF2-40B4-BE49-F238E27FC236}">
                <a16:creationId xmlns:a16="http://schemas.microsoft.com/office/drawing/2014/main" id="{E7F477C0-F5DF-49E3-BDC2-83BEE16B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724150" cy="33337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oftware-panel-accent">
            <a:extLst xmlns:a="http://schemas.openxmlformats.org/drawingml/2006/main">
              <a:ext uri="{FF2B5EF4-FFF2-40B4-BE49-F238E27FC236}">
                <a16:creationId xmlns:a16="http://schemas.microsoft.com/office/drawing/2014/main" id="{069AAF0E-33E4-40D1-AEEE-FF238654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6" name="software-panel-title">
            <a:extLst xmlns:a="http://schemas.openxmlformats.org/drawingml/2006/main">
              <a:ext uri="{FF2B5EF4-FFF2-40B4-BE49-F238E27FC236}">
                <a16:creationId xmlns:a16="http://schemas.microsoft.com/office/drawing/2014/main" id="{32DE5A47-BFF6-46B5-91E0-5E304981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2343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  软件侧预量化</a:t>
            </a:r>
          </a:p>
        </p:txBody>
      </p:sp>
      <p:sp>
        <p:nvSpPr>
          <p:cNvPr id="7" name="software-panel-subtitle">
            <a:extLst xmlns:a="http://schemas.openxmlformats.org/drawingml/2006/main">
              <a:ext uri="{FF2B5EF4-FFF2-40B4-BE49-F238E27FC236}">
                <a16:creationId xmlns:a16="http://schemas.microsoft.com/office/drawing/2014/main" id="{A7605273-02EB-4455-8360-9D85B3EE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C7083"/>
                </a:solidFill>
                <a:latin typeface="Microsoft YaHei"/>
                <a:ea typeface="Microsoft YaHei"/>
                <a:cs typeface="Microsoft YaHei"/>
              </a:rPr>
              <a:t>每个消去树节点的本地贡献独立编码</a:t>
            </a:r>
          </a:p>
        </p:txBody>
      </p:sp>
      <p:sp>
        <p:nvSpPr>
          <p:cNvPr id="8" name="assembly-panel">
            <a:extLst xmlns:a="http://schemas.openxmlformats.org/drawingml/2006/main">
              <a:ext uri="{FF2B5EF4-FFF2-40B4-BE49-F238E27FC236}">
                <a16:creationId xmlns:a16="http://schemas.microsoft.com/office/drawing/2014/main" id="{E133E759-B772-4C8E-9781-029011E3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123950"/>
            <a:ext cx="49149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assembly-panel-accent">
            <a:extLst xmlns:a="http://schemas.openxmlformats.org/drawingml/2006/main">
              <a:ext uri="{FF2B5EF4-FFF2-40B4-BE49-F238E27FC236}">
                <a16:creationId xmlns:a16="http://schemas.microsoft.com/office/drawing/2014/main" id="{C72076F6-2AAD-43BE-89F0-9789C07E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123950"/>
            <a:ext cx="4914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10" name="assembly-panel-title">
            <a:extLst xmlns:a="http://schemas.openxmlformats.org/drawingml/2006/main">
              <a:ext uri="{FF2B5EF4-FFF2-40B4-BE49-F238E27FC236}">
                <a16:creationId xmlns:a16="http://schemas.microsoft.com/office/drawing/2014/main" id="{4E82AAFF-34FC-408C-BC34-86254A1F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04925"/>
            <a:ext cx="453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8C8C"/>
                </a:solidFill>
                <a:latin typeface="Microsoft YaHei"/>
                <a:ea typeface="Microsoft YaHei"/>
                <a:cs typeface="Microsoft YaHei"/>
              </a:rPr>
              <a:t>2  硬件侧在线装配</a:t>
            </a:r>
          </a:p>
        </p:txBody>
      </p:sp>
      <p:sp>
        <p:nvSpPr>
          <p:cNvPr id="11" name="assembly-panel-subtitle">
            <a:extLst xmlns:a="http://schemas.openxmlformats.org/drawingml/2006/main">
              <a:ext uri="{FF2B5EF4-FFF2-40B4-BE49-F238E27FC236}">
                <a16:creationId xmlns:a16="http://schemas.microsoft.com/office/drawing/2014/main" id="{39E921E7-EC37-43B7-A0AA-3E39BFAC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59067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C7083"/>
                </a:solidFill>
                <a:latin typeface="Microsoft YaHei"/>
                <a:ea typeface="Microsoft YaHei"/>
                <a:cs typeface="Microsoft YaHei"/>
              </a:rPr>
              <a:t>多 source 指数对齐、映射累加并确定 node-scale</a:t>
            </a:r>
          </a:p>
        </p:txBody>
      </p:sp>
      <p:sp>
        <p:nvSpPr>
          <p:cNvPr id="12" name="compute-panel">
            <a:extLst xmlns:a="http://schemas.openxmlformats.org/drawingml/2006/main">
              <a:ext uri="{FF2B5EF4-FFF2-40B4-BE49-F238E27FC236}">
                <a16:creationId xmlns:a16="http://schemas.microsoft.com/office/drawing/2014/main" id="{9D75F774-0E3F-4959-9546-3FA20D8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23950"/>
            <a:ext cx="3028950" cy="33337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mpute-panel-accent">
            <a:extLst xmlns:a="http://schemas.openxmlformats.org/drawingml/2006/main">
              <a:ext uri="{FF2B5EF4-FFF2-40B4-BE49-F238E27FC236}">
                <a16:creationId xmlns:a16="http://schemas.microsoft.com/office/drawing/2014/main" id="{DB3B02AD-151C-431A-8888-7D74BD4D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23950"/>
            <a:ext cx="3028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compute-panel-title">
            <a:extLst xmlns:a="http://schemas.openxmlformats.org/drawingml/2006/main">
              <a:ext uri="{FF2B5EF4-FFF2-40B4-BE49-F238E27FC236}">
                <a16:creationId xmlns:a16="http://schemas.microsoft.com/office/drawing/2014/main" id="{407FAEF9-9149-4043-A0AC-CF59777E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04925"/>
            <a:ext cx="2647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3  节点内整数计算</a:t>
            </a:r>
          </a:p>
        </p:txBody>
      </p:sp>
      <p:sp>
        <p:nvSpPr>
          <p:cNvPr id="15" name="compute-panel-subtitle">
            <a:extLst xmlns:a="http://schemas.openxmlformats.org/drawingml/2006/main">
              <a:ext uri="{FF2B5EF4-FFF2-40B4-BE49-F238E27FC236}">
                <a16:creationId xmlns:a16="http://schemas.microsoft.com/office/drawing/2014/main" id="{A4190D95-9292-499B-B8B9-2A10A047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90675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C7083"/>
                </a:solidFill>
                <a:latin typeface="Microsoft YaHei"/>
                <a:ea typeface="Microsoft YaHei"/>
                <a:cs typeface="Microsoft YaHei"/>
              </a:rPr>
              <a:t>统一指数后执行 pivot、LU、TRSM 与 GEMM</a:t>
            </a:r>
          </a:p>
        </p:txBody>
      </p:sp>
      <p:sp>
        <p:nvSpPr>
          <p:cNvPr id="16" name="software-to-assembly">
            <a:extLst xmlns:a="http://schemas.openxmlformats.org/drawingml/2006/main">
              <a:ext uri="{FF2B5EF4-FFF2-40B4-BE49-F238E27FC236}">
                <a16:creationId xmlns:a16="http://schemas.microsoft.com/office/drawing/2014/main" id="{E826BCC2-6B1F-4DCD-AF99-478E87A7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6479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17" name="assembly-to-compute">
            <a:extLst xmlns:a="http://schemas.openxmlformats.org/drawingml/2006/main">
              <a:ext uri="{FF2B5EF4-FFF2-40B4-BE49-F238E27FC236}">
                <a16:creationId xmlns:a16="http://schemas.microsoft.com/office/drawing/2014/main" id="{A6AF0E6B-C6AF-4296-BC42-F135A990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479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18" name="a-local">
            <a:extLst xmlns:a="http://schemas.openxmlformats.org/drawingml/2006/main">
              <a:ext uri="{FF2B5EF4-FFF2-40B4-BE49-F238E27FC236}">
                <a16:creationId xmlns:a16="http://schemas.microsoft.com/office/drawing/2014/main" id="{DF16163A-906C-4D02-BC01-48BE8A40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22669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9CC4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A_local（浮点本地贡献）</a:t>
            </a:r>
          </a:p>
        </p:txBody>
      </p:sp>
      <p:sp>
        <p:nvSpPr>
          <p:cNvPr id="19" name="local-formula">
            <a:extLst xmlns:a="http://schemas.openxmlformats.org/drawingml/2006/main">
              <a:ext uri="{FF2B5EF4-FFF2-40B4-BE49-F238E27FC236}">
                <a16:creationId xmlns:a16="http://schemas.microsoft.com/office/drawing/2014/main" id="{DC164F28-50D6-48AD-9504-93C62DCF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2266950" cy="1057275"/>
          </a:xfrm>
          <a:prstGeom xmlns:a="http://schemas.openxmlformats.org/drawingml/2006/main" prst="roundRect">
            <a:avLst>
              <a:gd name="adj" fmla="val 6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C4E5"/>
            </a:solidFill>
            <a:prstDash val="solid"/>
          </a:ln>
        </p:spPr>
        <p:txBody>
          <a:bodyPr xmlns:a="http://schemas.openxmlformats.org/drawingml/2006/main" wrap="square" lIns="114300" tIns="123825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e_local = ceil(log2(max|A| / Q_use))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q_local = round(A_local / 2^e_local)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Q_use = 2^27 - 1</a:t>
            </a:r>
          </a:p>
        </p:txBody>
      </p:sp>
      <p:sp>
        <p:nvSpPr>
          <p:cNvPr id="20" name="local-ddr">
            <a:extLst xmlns:a="http://schemas.openxmlformats.org/drawingml/2006/main">
              <a:ext uri="{FF2B5EF4-FFF2-40B4-BE49-F238E27FC236}">
                <a16:creationId xmlns:a16="http://schemas.microsoft.com/office/drawing/2014/main" id="{CFF69287-E405-4389-84B8-77119ED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2669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DDR：S_format (q_local, e_local)</a:t>
            </a:r>
          </a:p>
        </p:txBody>
      </p:sp>
      <p:cxnSp>
        <p:nvCxnSpPr>
          <p:cNvPr id="75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876425" y="23336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5B5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876425" y="363855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23" name="local-source">
            <a:extLst xmlns:a="http://schemas.openxmlformats.org/drawingml/2006/main">
              <a:ext uri="{FF2B5EF4-FFF2-40B4-BE49-F238E27FC236}">
                <a16:creationId xmlns:a16="http://schemas.microsoft.com/office/drawing/2014/main" id="{527F9F08-8321-4FBF-8491-BCACF3C2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76425"/>
            <a:ext cx="1971675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9CC4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本地贡献 source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(q_local, e_local)</a:t>
            </a:r>
          </a:p>
        </p:txBody>
      </p:sp>
      <p:sp>
        <p:nvSpPr>
          <p:cNvPr id="24" name="child-source">
            <a:extLst xmlns:a="http://schemas.openxmlformats.org/drawingml/2006/main">
              <a:ext uri="{FF2B5EF4-FFF2-40B4-BE49-F238E27FC236}">
                <a16:creationId xmlns:a16="http://schemas.microsoft.com/office/drawing/2014/main" id="{EF304980-8E8B-4D06-9E99-DD951534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76425"/>
            <a:ext cx="1981200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9525">
            <a:solidFill>
              <a:srgbClr val="E9B7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子节点 update source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(q_child, e_child)</a:t>
            </a:r>
          </a:p>
        </p:txBody>
      </p:sp>
      <p:sp>
        <p:nvSpPr>
          <p:cNvPr id="25" name="assembly-scale">
            <a:extLst xmlns:a="http://schemas.openxmlformats.org/drawingml/2006/main">
              <a:ext uri="{FF2B5EF4-FFF2-40B4-BE49-F238E27FC236}">
                <a16:creationId xmlns:a16="http://schemas.microsoft.com/office/drawing/2014/main" id="{6B723A51-3971-43EE-A8B4-BF88002B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90800"/>
            <a:ext cx="29527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5F6F4"/>
          </a:solidFill>
          <a:ln xmlns:a="http://schemas.openxmlformats.org/drawingml/2006/main" w="9525">
            <a:solidFill>
              <a:srgbClr val="74C8C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008C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C8C"/>
                </a:solidFill>
                <a:latin typeface="Arial"/>
                <a:ea typeface="Arial"/>
                <a:cs typeface="Arial"/>
              </a:rPr>
              <a:t>e_asm = max(e_local, e_child, ...)</a:t>
            </a:r>
          </a:p>
        </p:txBody>
      </p:sp>
      <p:sp>
        <p:nvSpPr>
          <p:cNvPr id="26" name="align-accumulate">
            <a:extLst xmlns:a="http://schemas.openxmlformats.org/drawingml/2006/main">
              <a:ext uri="{FF2B5EF4-FFF2-40B4-BE49-F238E27FC236}">
                <a16:creationId xmlns:a16="http://schemas.microsoft.com/office/drawing/2014/main" id="{87538C79-503C-4757-BF1B-72D725B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9925"/>
            <a:ext cx="41148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4C8C0"/>
            </a:solidFill>
            <a:prstDash val="solid"/>
          </a:ln>
        </p:spPr>
        <p:txBody>
          <a:bodyPr xmlns:a="http://schemas.openxmlformats.org/drawingml/2006/main" wrap="square" lIns="17145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q_aligned = round_shift(q_src, e_asm - e_s)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acc(i,j) += q_aligned      [int64 + map_table]</a:t>
            </a:r>
          </a:p>
        </p:txBody>
      </p:sp>
      <p:sp>
        <p:nvSpPr>
          <p:cNvPr id="27" name="node-scale">
            <a:extLst xmlns:a="http://schemas.openxmlformats.org/drawingml/2006/main">
              <a:ext uri="{FF2B5EF4-FFF2-40B4-BE49-F238E27FC236}">
                <a16:creationId xmlns:a16="http://schemas.microsoft.com/office/drawing/2014/main" id="{4EB088E2-F9F0-45F2-BAB8-AC46E287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62400"/>
            <a:ext cx="4114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08C8C"/>
          </a:solidFill>
          <a:ln xmlns:a="http://schemas.openxmlformats.org/drawingml/2006/main" w="9525">
            <a:solidFill>
              <a:srgbClr val="008C8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e_n = e_asm + ceil(log2(max|acc| / Q_use))  →  M_format</a:t>
            </a:r>
          </a:p>
        </p:txBody>
      </p:sp>
      <p:cxnSp>
        <p:nvCxnSpPr>
          <p:cNvPr id="82" name="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700588" y="2381250"/>
            <a:ext cx="1243013" cy="209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5B5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5943600" y="2381250"/>
            <a:ext cx="1238250" cy="209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7706"/>
            </a:solidFill>
            <a:prstDash val="solid"/>
            <a:head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5943600" y="30194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8C"/>
            </a:solidFill>
            <a:prstDash val="solid"/>
            <a:head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943600" y="380047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8C"/>
            </a:solidFill>
            <a:prstDash val="solid"/>
            <a:headEnd type="triangle" w="sm" len="sm"/>
          </a:ln>
        </p:spPr>
      </p:cxnSp>
      <p:sp>
        <p:nvSpPr>
          <p:cNvPr id="32" name="m-format-front">
            <a:extLst xmlns:a="http://schemas.openxmlformats.org/drawingml/2006/main">
              <a:ext uri="{FF2B5EF4-FFF2-40B4-BE49-F238E27FC236}">
                <a16:creationId xmlns:a16="http://schemas.microsoft.com/office/drawing/2014/main" id="{BF006521-FBA3-439B-8804-78A2C353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76425"/>
            <a:ext cx="25336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9525">
            <a:solidFill>
              <a:srgbClr val="E9B7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M_format Front：x ≈ q_x × 2^e_n</a:t>
            </a:r>
          </a:p>
        </p:txBody>
      </p:sp>
      <p:sp>
        <p:nvSpPr>
          <p:cNvPr id="33" name="pivot-stage">
            <a:extLst xmlns:a="http://schemas.openxmlformats.org/drawingml/2006/main">
              <a:ext uri="{FF2B5EF4-FFF2-40B4-BE49-F238E27FC236}">
                <a16:creationId xmlns:a16="http://schemas.microsoft.com/office/drawing/2014/main" id="{829909A0-E265-4930-BDEB-0DEB2D16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33650"/>
            <a:ext cx="25336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7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88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HPU + ATU：主元选择 / 行交换</a:t>
            </a:r>
          </a:p>
        </p:txBody>
      </p:sp>
      <p:sp>
        <p:nvSpPr>
          <p:cNvPr id="34" name="scalar-stage">
            <a:extLst xmlns:a="http://schemas.openxmlformats.org/drawingml/2006/main">
              <a:ext uri="{FF2B5EF4-FFF2-40B4-BE49-F238E27FC236}">
                <a16:creationId xmlns:a16="http://schemas.microsoft.com/office/drawing/2014/main" id="{F1F72D7E-317B-4BE7-A80E-5A46538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38475"/>
            <a:ext cx="25336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7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88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SFU：panel LU / TRSM</a:t>
            </a:r>
          </a:p>
        </p:txBody>
      </p:sp>
      <p:sp>
        <p:nvSpPr>
          <p:cNvPr id="35" name="gemm-stage">
            <a:extLst xmlns:a="http://schemas.openxmlformats.org/drawingml/2006/main">
              <a:ext uri="{FF2B5EF4-FFF2-40B4-BE49-F238E27FC236}">
                <a16:creationId xmlns:a16="http://schemas.microsoft.com/office/drawing/2014/main" id="{1AE722AC-5BB7-411D-A40F-26C63541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43300"/>
            <a:ext cx="25336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7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88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TPU：GEMM / Schur update</a:t>
            </a:r>
          </a:p>
        </p:txBody>
      </p:sp>
      <p:sp>
        <p:nvSpPr>
          <p:cNvPr id="36" name="compute-output">
            <a:extLst xmlns:a="http://schemas.openxmlformats.org/drawingml/2006/main">
              <a:ext uri="{FF2B5EF4-FFF2-40B4-BE49-F238E27FC236}">
                <a16:creationId xmlns:a16="http://schemas.microsoft.com/office/drawing/2014/main" id="{74BF8D08-792A-450D-B433-4CE90C5D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48125"/>
            <a:ext cx="253365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 → QF_format      update → S_format</a:t>
            </a:r>
          </a:p>
        </p:txBody>
      </p:sp>
      <p:cxnSp>
        <p:nvCxnSpPr>
          <p:cNvPr id="91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0163175" y="23336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0163175" y="28956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63175" y="3400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35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10163175" y="39052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triangle" w="sm" len="sm"/>
          </a:ln>
        </p:spPr>
      </p:cxnSp>
      <p:sp>
        <p:nvSpPr>
          <p:cNvPr id="41" name="format-summary">
            <a:extLst xmlns:a="http://schemas.openxmlformats.org/drawingml/2006/main">
              <a:ext uri="{FF2B5EF4-FFF2-40B4-BE49-F238E27FC236}">
                <a16:creationId xmlns:a16="http://schemas.microsoft.com/office/drawing/2014/main" id="{9EACEE2B-D55A-48FC-A9E0-4CE90E0E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714750" cy="1685925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2" name="format-summary-title">
            <a:extLst xmlns:a="http://schemas.openxmlformats.org/drawingml/2006/main">
              <a:ext uri="{FF2B5EF4-FFF2-40B4-BE49-F238E27FC236}">
                <a16:creationId xmlns:a16="http://schemas.microsoft.com/office/drawing/2014/main" id="{6590ACAB-6CCE-4D0F-B387-03B8B399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4822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三种数据格式</a:t>
            </a:r>
          </a:p>
        </p:txBody>
      </p:sp>
      <p:sp>
        <p:nvSpPr>
          <p:cNvPr id="43" name="s-format-chip">
            <a:extLst xmlns:a="http://schemas.openxmlformats.org/drawingml/2006/main">
              <a:ext uri="{FF2B5EF4-FFF2-40B4-BE49-F238E27FC236}">
                <a16:creationId xmlns:a16="http://schemas.microsoft.com/office/drawing/2014/main" id="{318D83B9-F7D6-4910-9AEE-A33D14DC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00650"/>
            <a:ext cx="800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9CC4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S_format</a:t>
            </a:r>
          </a:p>
        </p:txBody>
      </p:sp>
      <p:sp>
        <p:nvSpPr>
          <p:cNvPr id="44" name="s-format-description">
            <a:extLst xmlns:a="http://schemas.openxmlformats.org/drawingml/2006/main">
              <a:ext uri="{FF2B5EF4-FFF2-40B4-BE49-F238E27FC236}">
                <a16:creationId xmlns:a16="http://schemas.microsoft.com/office/drawing/2014/main" id="{2C15F12D-E8C8-46FA-B6B3-A732F43D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x ≈ q_s × 2^e_s；装配 source 自带指数</a:t>
            </a:r>
          </a:p>
        </p:txBody>
      </p:sp>
      <p:sp>
        <p:nvSpPr>
          <p:cNvPr id="45" name="m-format-chip">
            <a:extLst xmlns:a="http://schemas.openxmlformats.org/drawingml/2006/main">
              <a:ext uri="{FF2B5EF4-FFF2-40B4-BE49-F238E27FC236}">
                <a16:creationId xmlns:a16="http://schemas.microsoft.com/office/drawing/2014/main" id="{0B0F7881-4ED1-4FC3-8128-5219BD8E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81650"/>
            <a:ext cx="800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F6F4"/>
          </a:solidFill>
          <a:ln xmlns:a="http://schemas.openxmlformats.org/drawingml/2006/main" w="9525">
            <a:solidFill>
              <a:srgbClr val="74C8C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>
                <a:solidFill>
                  <a:srgbClr val="00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8C8C"/>
                </a:solidFill>
                <a:latin typeface="Microsoft YaHei"/>
                <a:ea typeface="Microsoft YaHei"/>
                <a:cs typeface="Microsoft YaHei"/>
              </a:rPr>
              <a:t>M_format</a:t>
            </a:r>
          </a:p>
        </p:txBody>
      </p:sp>
      <p:sp>
        <p:nvSpPr>
          <p:cNvPr id="46" name="m-format-description">
            <a:extLst xmlns:a="http://schemas.openxmlformats.org/drawingml/2006/main">
              <a:ext uri="{FF2B5EF4-FFF2-40B4-BE49-F238E27FC236}">
                <a16:creationId xmlns:a16="http://schemas.microsoft.com/office/drawing/2014/main" id="{9F83111E-F221-485E-9D8E-C7FCB65A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x ≈ q_x × 2^e_n；单个 node 统一指数</a:t>
            </a:r>
          </a:p>
        </p:txBody>
      </p:sp>
      <p:sp>
        <p:nvSpPr>
          <p:cNvPr id="47" name="qf-format-chip">
            <a:extLst xmlns:a="http://schemas.openxmlformats.org/drawingml/2006/main">
              <a:ext uri="{FF2B5EF4-FFF2-40B4-BE49-F238E27FC236}">
                <a16:creationId xmlns:a16="http://schemas.microsoft.com/office/drawing/2014/main" id="{7BCB6199-1E65-4580-B181-6691D366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62650"/>
            <a:ext cx="89535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9525">
            <a:solidFill>
              <a:srgbClr val="E9B7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QF_format</a:t>
            </a:r>
          </a:p>
        </p:txBody>
      </p:sp>
      <p:sp>
        <p:nvSpPr>
          <p:cNvPr id="48" name="qf-format-description">
            <a:extLst xmlns:a="http://schemas.openxmlformats.org/drawingml/2006/main">
              <a:ext uri="{FF2B5EF4-FFF2-40B4-BE49-F238E27FC236}">
                <a16:creationId xmlns:a16="http://schemas.microsoft.com/office/drawing/2014/main" id="{1D7B8729-4902-4DC3-B4CC-9C42C7E9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43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 ≈ m / 2^F；保存 L 中的乘子</a:t>
            </a:r>
          </a:p>
        </p:txBody>
      </p:sp>
      <p:sp>
        <p:nvSpPr>
          <p:cNvPr id="49" name="implementation-benefits">
            <a:extLst xmlns:a="http://schemas.openxmlformats.org/drawingml/2006/main">
              <a:ext uri="{FF2B5EF4-FFF2-40B4-BE49-F238E27FC236}">
                <a16:creationId xmlns:a16="http://schemas.microsoft.com/office/drawing/2014/main" id="{34D81A92-6F17-45E3-96CC-9005912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3562350" cy="1685925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9525">
            <a:solidFill>
              <a:srgbClr val="A8D4BF"/>
            </a:solidFill>
            <a:prstDash val="solid"/>
          </a:ln>
        </p:spPr>
      </p:sp>
      <p:sp>
        <p:nvSpPr>
          <p:cNvPr id="50" name="implementation-benefits-title">
            <a:extLst xmlns:a="http://schemas.openxmlformats.org/drawingml/2006/main">
              <a:ext uri="{FF2B5EF4-FFF2-40B4-BE49-F238E27FC236}">
                <a16:creationId xmlns:a16="http://schemas.microsoft.com/office/drawing/2014/main" id="{A1F74BE2-A14B-4980-8A99-FDCFF528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482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>设计要点与硬件收益</a:t>
            </a:r>
          </a:p>
        </p:txBody>
      </p:sp>
      <p:sp>
        <p:nvSpPr>
          <p:cNvPr id="51" name="implementation-benefits-body">
            <a:extLst xmlns:a="http://schemas.openxmlformats.org/drawingml/2006/main">
              <a:ext uri="{FF2B5EF4-FFF2-40B4-BE49-F238E27FC236}">
                <a16:creationId xmlns:a16="http://schemas.microsoft.com/office/drawing/2014/main" id="{0DA8B883-614F-489A-BFC9-35F32A9B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197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• 全流程无需浮点矩阵计算核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• node 内统一指数，避免反复对齐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• int32 数据通路 + int64 装配累加器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• 预留 3~4 bit 保护位，降低溢出风险</a:t>
            </a:r>
          </a:p>
        </p:txBody>
      </p:sp>
      <p:sp>
        <p:nvSpPr>
          <p:cNvPr id="52" name="limitations">
            <a:extLst xmlns:a="http://schemas.openxmlformats.org/drawingml/2006/main">
              <a:ext uri="{FF2B5EF4-FFF2-40B4-BE49-F238E27FC236}">
                <a16:creationId xmlns:a16="http://schemas.microsoft.com/office/drawing/2014/main" id="{2FC2A5C4-D3F5-4B0C-8D2E-7FB77E8A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581400" cy="1685925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9525">
            <a:solidFill>
              <a:srgbClr val="E5A7B0"/>
            </a:solidFill>
            <a:prstDash val="solid"/>
          </a:ln>
        </p:spPr>
      </p:sp>
      <p:sp>
        <p:nvSpPr>
          <p:cNvPr id="53" name="limitations-title">
            <a:extLst xmlns:a="http://schemas.openxmlformats.org/drawingml/2006/main">
              <a:ext uri="{FF2B5EF4-FFF2-40B4-BE49-F238E27FC236}">
                <a16:creationId xmlns:a16="http://schemas.microsoft.com/office/drawing/2014/main" id="{A3CFE5BA-7649-411B-A8F4-B59C71C3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48225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63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63A4A"/>
                </a:solidFill>
                <a:latin typeface="Microsoft YaHei"/>
                <a:ea typeface="Microsoft YaHei"/>
                <a:cs typeface="Microsoft YaHei"/>
              </a:rPr>
              <a:t>当前原型的适用边界</a:t>
            </a:r>
          </a:p>
        </p:txBody>
      </p:sp>
      <p:sp>
        <p:nvSpPr>
          <p:cNvPr id="54" name="limitations-body">
            <a:extLst xmlns:a="http://schemas.openxmlformats.org/drawingml/2006/main">
              <a:ext uri="{FF2B5EF4-FFF2-40B4-BE49-F238E27FC236}">
                <a16:creationId xmlns:a16="http://schemas.microsoft.com/office/drawing/2014/main" id="{60D43C4A-BCC8-46F9-AD7C-CAE62867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3181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• e_asm 取最大指数，小尺度项可能右移丢失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• 面向动态范围受控、非强病态测试矩阵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• 重点统计：</a:t>
            </a:r>
            <a:r>
              <a:rPr sz="1088" b="1">
                <a:solidFill>
                  <a:srgbClr val="B63A4A"/>
                </a:solidFill>
                <a:latin typeface="Microsoft YaHei"/>
                <a:ea typeface="Microsoft YaHei"/>
                <a:cs typeface="Microsoft YaHei"/>
              </a:rPr>
              <a:t>align_drop / max_shift / saturation</a:t>
            </a:r>
          </a:p>
        </p:txBody>
      </p:sp>
    </p:spTree>
    <p:extLst>
      <p:ext uri="{BB962C8B-B14F-4D97-AF65-F5344CB8AC3E}">
        <p14:creationId xmlns:p14="http://schemas.microsoft.com/office/powerpoint/2010/main" val="1461209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2026-06-18T07:02:45.2080000Z</dcterms:created>
  <dcterms:modified xsi:type="dcterms:W3CDTF">2026-06-18T07:02:45.2080000Z</dcterms:modified>
</coreProperties>
</file>