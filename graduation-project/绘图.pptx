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8" r:id="rId6"/>
    <p:sldId id="263" r:id="rId7"/>
    <p:sldId id="264" r:id="rId8"/>
    <p:sldId id="265" r:id="rId9"/>
    <p:sldId id="259" r:id="rId10"/>
    <p:sldId id="261" r:id="rId11"/>
    <p:sldId id="262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9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1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5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6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80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7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83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9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86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10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tags" Target="../tags/tag87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9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绘图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653540" y="918845"/>
          <a:ext cx="2879725" cy="2879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椭圆 6"/>
          <p:cNvSpPr/>
          <p:nvPr/>
        </p:nvSpPr>
        <p:spPr>
          <a:xfrm>
            <a:off x="175768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757680" y="158242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757680" y="2125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757680" y="266954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844800" y="2125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301240" y="158242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388360" y="266954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30124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84480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38836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等于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1785" y="1613535"/>
            <a:ext cx="914400" cy="914400"/>
          </a:xfrm>
          <a:prstGeom prst="rect">
            <a:avLst/>
          </a:prstGeom>
        </p:spPr>
      </p:pic>
      <p:graphicFrame>
        <p:nvGraphicFramePr>
          <p:cNvPr id="19" name="表格 18"/>
          <p:cNvGraphicFramePr/>
          <p:nvPr>
            <p:custDataLst>
              <p:tags r:id="rId5"/>
            </p:custDataLst>
          </p:nvPr>
        </p:nvGraphicFramePr>
        <p:xfrm>
          <a:off x="5344160" y="990600"/>
          <a:ext cx="2879725" cy="2879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椭圆 19"/>
          <p:cNvSpPr/>
          <p:nvPr/>
        </p:nvSpPr>
        <p:spPr>
          <a:xfrm>
            <a:off x="5448300" y="1109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448300" y="165417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448300" y="219773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5448300" y="274129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6535420" y="219773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5991860" y="165417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7078980" y="274129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5991860" y="219837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5991860" y="2742565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6535420" y="2741295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 descr="星号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2405" y="1870710"/>
            <a:ext cx="399415" cy="399415"/>
          </a:xfrm>
          <a:prstGeom prst="rect">
            <a:avLst/>
          </a:prstGeom>
        </p:spPr>
      </p:pic>
      <p:graphicFrame>
        <p:nvGraphicFramePr>
          <p:cNvPr id="32" name="表格 31"/>
          <p:cNvGraphicFramePr/>
          <p:nvPr>
            <p:custDataLst>
              <p:tags r:id="rId9"/>
            </p:custDataLst>
          </p:nvPr>
        </p:nvGraphicFramePr>
        <p:xfrm>
          <a:off x="8519795" y="918845"/>
          <a:ext cx="2879725" cy="2879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椭圆 32"/>
          <p:cNvSpPr/>
          <p:nvPr/>
        </p:nvSpPr>
        <p:spPr>
          <a:xfrm>
            <a:off x="8623935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17194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9741535" y="103886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10311130" y="103886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9711055" y="2125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9167495" y="158242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10254615" y="266954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9744075" y="158242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10259060" y="158242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10287635" y="212598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>
                <p:custDataLst>
                  <p:tags r:id="rId1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1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636520">
                    <a:tc>
                      <a:txBody>
                        <a:bodyPr/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Input: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 n*n  matrix A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Output: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 U  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= 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=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;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=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e>
                                <m:sub/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// 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分解对角元素</a:t>
                          </a:r>
                          <a:endParaRPr lang="zh-CN" altLang="en-US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3: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4: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5: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6: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7: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8:  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k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9: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10: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11: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12: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>
                <p:custDataLst>
                  <p:tags r:id="rId2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1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434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>
                <p:custDataLst>
                  <p:tags r:id="rId1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2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636520">
                    <a:tc>
                      <a:txBody>
                        <a:bodyPr/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Input: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 n*n block matrix A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Output: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 U  //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使用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矩阵的内存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= 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 // 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分解对角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矩阵</a:t>
                          </a:r>
                          <a:endParaRPr lang="zh-CN" altLang="en-US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3: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4: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 </m:t>
                              </m:r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5: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bSup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6: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7: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8:  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k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9: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10: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11: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12: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>
                <p:custDataLst>
                  <p:tags r:id="rId2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2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434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>
                <p:custDataLst>
                  <p:tags r:id="rId1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3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：块三角求解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</a:t>
                          </a:r>
                          <a:endParaRPr lang="en-US" altLang="zh-CN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636520">
                    <a:tc>
                      <a:txBody>
                        <a:bodyPr/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Input: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 n*n block matrix B, a n*n block matrix L(low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triangle)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Output: X // LX=B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= 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zh-CN" altLang="en-US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3: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</m:t>
                              </m:r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4: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end for</a:t>
                          </a:r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5: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k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6:  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7: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8:   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9: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10: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>
                <p:custDataLst>
                  <p:tags r:id="rId2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3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：块三角求解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</a:t>
                          </a:r>
                          <a:endParaRPr lang="en-US" altLang="zh-CN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9565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114300" imgH="215900" progId="Equation.KSEE3">
                  <p:embed/>
                </p:oleObj>
              </mc:Choice>
              <mc:Fallback>
                <p:oleObj name="" r:id="rId4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>
                <p:custDataLst>
                  <p:tags r:id="rId1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4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：块三角求解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</a:t>
                          </a:r>
                          <a:endParaRPr lang="en-US" altLang="zh-CN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636520">
                    <a:tc>
                      <a:txBody>
                        <a:bodyPr/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Input: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 n*n block matrix B, a n*n block matrix U(upper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triangle)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Output: X // XU=B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= j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zh-CN" altLang="en-US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3: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bSup>
                            </m:oMath>
                          </a14:m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4: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end for</a:t>
                          </a:r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5: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= j+1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6:  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k = j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7: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8:   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9: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10: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>
                <p:custDataLst>
                  <p:tags r:id="rId2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4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：块三角求解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</a:t>
                          </a:r>
                          <a:endParaRPr lang="en-US" altLang="zh-CN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9565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114300" imgH="215900" progId="Equation.KSEE3">
                  <p:embed/>
                </p:oleObj>
              </mc:Choice>
              <mc:Fallback>
                <p:oleObj name="" r:id="rId4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>
                <p:custDataLst>
                  <p:tags r:id="rId1"/>
                </p:custDataLst>
              </p:nvPr>
            </p:nvGraphicFramePr>
            <p:xfrm>
              <a:off x="1822450" y="7620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5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AMD</a:t>
                          </a:r>
                          <a:endParaRPr lang="en-US" altLang="zh-CN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636520">
                    <a:tc>
                      <a:txBody>
                        <a:bodyPr/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Input: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 n*n sprase matrix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Output: a permutation vector perm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1: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𝑇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𝑉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←{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,...,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;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𝑉</m:t>
                                  </m:r>
                                </m:e>
                              </m:ba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∅</m:t>
                              </m:r>
                            </m:oMath>
                          </a14:m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2: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in V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:</a:t>
                          </a:r>
                          <a:endParaRPr lang="zh-CN" altLang="en-US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3: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   </m:t>
                              </m:r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←{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|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[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]≠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𝑎𝑛𝑑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≠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}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←∅</m:t>
                              </m:r>
                            </m:oMath>
                          </a14:m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4: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←{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}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5: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  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6: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𝑝𝑒𝑟𝑚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←[] 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oMath>
                          </a14:m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7: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while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≤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8:    select variable p in V with minimize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9:     perm.append(p)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10: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=(</m:t>
                              </m:r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∪</m:t>
                              </m:r>
                              <m:nary>
                                <m:naryPr>
                                  <m:chr m:val="⋃"/>
                                  <m:limLoc m:val="undOvr"/>
                                  <m:supHide m:val="on"/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)\{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}</m:t>
                              </m:r>
                            </m:oMath>
                          </a14:m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11: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each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do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12: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\</m:t>
                              </m:r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)\{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}</m:t>
                              </m:r>
                            </m:oMath>
                          </a14:m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13: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\</m:t>
                              </m:r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⋃{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}</m:t>
                              </m:r>
                            </m:oMath>
                          </a14:m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14: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\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⋃"/>
                                      <m:limLoc m:val="undOvr"/>
                                      <m:supHide m:val="on"/>
                                      <m:ctrlPr>
                                        <a:rPr lang="en-US" altLang="zh-CN" sz="1400" b="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1400" b="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)\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𝒊</m:t>
                                  </m:r>
                                </m:e>
                              </m:d>
                            </m:oMath>
                          </a14:m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15: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  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16: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each pair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</m:t>
                              </m:r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∈</m:t>
                              </m:r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17: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if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</m:t>
                              </m:r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is indistinguishable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then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18: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∪</m:t>
                              </m:r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</m:t>
                              </m:r>
                            </m:oMath>
                          </a14:m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19: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1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𝒋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𝑉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= 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𝑉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\{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}</m:t>
                              </m:r>
                            </m:oMath>
                          </a14:m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20: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∅ 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∅</m:t>
                              </m:r>
                            </m:oMath>
                          </a14:m>
                          <a:endParaRPr lang="en-US" altLang="zh-CN" sz="1400" b="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21: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if</a:t>
                          </a:r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22: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23:  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𝑉</m:t>
                                  </m:r>
                                </m:e>
                              </m:ba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=(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𝑉</m:t>
                                  </m:r>
                                </m:e>
                              </m:ba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∪{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}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)\</m:t>
                              </m:r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24: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𝑉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𝑉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\{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}</m:t>
                              </m:r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25: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∅</m:t>
                              </m:r>
                            </m:oMath>
                          </a14:m>
                          <a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a:t> </a:t>
                          </a:r>
                          <a:r>
                            <a:rPr lang="en-US" altLang="zh-CN" sz="1400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a:t>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=∅</m:t>
                              </m:r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27: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= 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1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𝒑</m:t>
                                  </m:r>
                                </m:e>
                              </m:d>
                            </m:oMath>
                          </a14:m>
                          <a:endParaRPr lang="en-US" altLang="zh-CN" sz="1400" b="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28: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end while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29:return perm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>
                <p:custDataLst>
                  <p:tags r:id="rId2"/>
                </p:custDataLst>
              </p:nvPr>
            </p:nvGraphicFramePr>
            <p:xfrm>
              <a:off x="1822450" y="7620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5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AMD</a:t>
                          </a:r>
                          <a:endParaRPr lang="en-US" altLang="zh-CN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7254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2500" y="23114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114300" imgH="215900" progId="Equation.KSEE3">
                  <p:embed/>
                </p:oleObj>
              </mc:Choice>
              <mc:Fallback>
                <p:oleObj name="" r:id="rId4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32500" y="231140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2106295" y="1905000"/>
          <a:ext cx="3247390" cy="3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/>
                <a:gridCol w="3672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45"/>
              </a:tblGrid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g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5" name="椭圆 4"/>
          <p:cNvSpPr/>
          <p:nvPr/>
        </p:nvSpPr>
        <p:spPr>
          <a:xfrm>
            <a:off x="4352290" y="198247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719320" y="198247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086350" y="198247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199640" y="419989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199640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19964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279140" y="235585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999230" y="34671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546985" y="310070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546985" y="38461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639820" y="27285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719320" y="27285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900680" y="34671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900680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4719320" y="310070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086350" y="310070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3279140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27914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4719320" y="347281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639820" y="38461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3645535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5086350" y="38461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399923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5086350" y="421894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4719320" y="419354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4346575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435864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双括号 33"/>
          <p:cNvSpPr/>
          <p:nvPr/>
        </p:nvSpPr>
        <p:spPr>
          <a:xfrm>
            <a:off x="1702435" y="1710055"/>
            <a:ext cx="4066540" cy="3783330"/>
          </a:xfrm>
          <a:prstGeom prst="bracketPai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 descr="箭头-直角-向右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2720" y="2971800"/>
            <a:ext cx="914400" cy="9144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670560" y="1905000"/>
            <a:ext cx="8210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ts val="2800"/>
              </a:lnSpc>
            </a:pPr>
            <a:r>
              <a:rPr lang="en-US" altLang="zh-CN"/>
              <a:t>1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2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3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4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5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6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7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8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37" name="流程图: 联系 36"/>
          <p:cNvSpPr/>
          <p:nvPr/>
        </p:nvSpPr>
        <p:spPr>
          <a:xfrm>
            <a:off x="8188325" y="383349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8125460" y="383349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8188325" y="290830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125460" y="290830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6" name="直接连接符 45"/>
          <p:cNvCxnSpPr>
            <a:stCxn id="45" idx="2"/>
            <a:endCxn id="40" idx="0"/>
          </p:cNvCxnSpPr>
          <p:nvPr/>
        </p:nvCxnSpPr>
        <p:spPr>
          <a:xfrm>
            <a:off x="8368665" y="3276600"/>
            <a:ext cx="0" cy="55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流程图: 联系 46"/>
          <p:cNvSpPr/>
          <p:nvPr/>
        </p:nvSpPr>
        <p:spPr>
          <a:xfrm>
            <a:off x="9615805" y="382524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552940" y="382524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流程图: 联系 48"/>
          <p:cNvSpPr/>
          <p:nvPr/>
        </p:nvSpPr>
        <p:spPr>
          <a:xfrm>
            <a:off x="9615805" y="473900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9552940" y="473900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9795510" y="4182110"/>
            <a:ext cx="0" cy="55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流程图: 联系 51"/>
          <p:cNvSpPr/>
          <p:nvPr/>
        </p:nvSpPr>
        <p:spPr>
          <a:xfrm>
            <a:off x="10816590" y="381381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0753725" y="381381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流程图: 联系 53"/>
          <p:cNvSpPr/>
          <p:nvPr/>
        </p:nvSpPr>
        <p:spPr>
          <a:xfrm>
            <a:off x="10816590" y="472757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10753725" y="472757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10996295" y="4170680"/>
            <a:ext cx="0" cy="55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流程图: 联系 57"/>
          <p:cNvSpPr/>
          <p:nvPr/>
        </p:nvSpPr>
        <p:spPr>
          <a:xfrm>
            <a:off x="10217785" y="290830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10154920" y="290830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0" name="直接连接符 59"/>
          <p:cNvCxnSpPr>
            <a:stCxn id="48" idx="0"/>
          </p:cNvCxnSpPr>
          <p:nvPr/>
        </p:nvCxnSpPr>
        <p:spPr>
          <a:xfrm flipV="1">
            <a:off x="9796145" y="3203575"/>
            <a:ext cx="478790" cy="6216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3" idx="0"/>
          </p:cNvCxnSpPr>
          <p:nvPr/>
        </p:nvCxnSpPr>
        <p:spPr>
          <a:xfrm flipH="1" flipV="1">
            <a:off x="10548620" y="3196590"/>
            <a:ext cx="448310" cy="6172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流程图: 联系 62"/>
          <p:cNvSpPr/>
          <p:nvPr/>
        </p:nvSpPr>
        <p:spPr>
          <a:xfrm>
            <a:off x="9192895" y="209486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9130030" y="209486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h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流程图: 联系 64"/>
          <p:cNvSpPr/>
          <p:nvPr/>
        </p:nvSpPr>
        <p:spPr>
          <a:xfrm>
            <a:off x="9192895" y="134175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9130030" y="134175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7" name="直接连接符 66"/>
          <p:cNvCxnSpPr>
            <a:stCxn id="45" idx="0"/>
          </p:cNvCxnSpPr>
          <p:nvPr/>
        </p:nvCxnSpPr>
        <p:spPr>
          <a:xfrm flipV="1">
            <a:off x="8368665" y="2375535"/>
            <a:ext cx="853440" cy="532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59" idx="0"/>
          </p:cNvCxnSpPr>
          <p:nvPr/>
        </p:nvCxnSpPr>
        <p:spPr>
          <a:xfrm flipH="1" flipV="1">
            <a:off x="9538335" y="2361565"/>
            <a:ext cx="859790" cy="5467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66" idx="2"/>
            <a:endCxn id="64" idx="0"/>
          </p:cNvCxnSpPr>
          <p:nvPr/>
        </p:nvCxnSpPr>
        <p:spPr>
          <a:xfrm>
            <a:off x="9373235" y="1710055"/>
            <a:ext cx="0" cy="3848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260475" y="59512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800" b="1">
                <a:solidFill>
                  <a:srgbClr val="2E5E8C"/>
                </a:solidFill>
                <a:latin typeface="Arial" panose="020B0604020202020204"/>
                <a:ea typeface="微软雅黑" panose="020B0503020204020204" charset="-122"/>
              </a:rPr>
              <a:t>当前节点前沿矩阵 F</a:t>
            </a:r>
            <a:endParaRPr lang="zh-CN"/>
          </a:p>
        </p:txBody>
      </p:sp>
      <p:sp>
        <p:nvSpPr>
          <p:cNvPr id="5" name="Rectangle 4"/>
          <p:cNvSpPr/>
          <p:nvPr/>
        </p:nvSpPr>
        <p:spPr>
          <a:xfrm>
            <a:off x="1443482" y="1327150"/>
            <a:ext cx="1783080" cy="1371600"/>
          </a:xfrm>
          <a:prstGeom prst="rect">
            <a:avLst/>
          </a:prstGeom>
          <a:solidFill>
            <a:srgbClr val="CFE8FF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200" b="1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F11</a:t>
            </a:r>
            <a:endParaRPr lang="zh-CN"/>
          </a:p>
        </p:txBody>
      </p:sp>
      <p:sp>
        <p:nvSpPr>
          <p:cNvPr id="6" name="Rectangle 5"/>
          <p:cNvSpPr/>
          <p:nvPr/>
        </p:nvSpPr>
        <p:spPr>
          <a:xfrm>
            <a:off x="3226562" y="1327150"/>
            <a:ext cx="2788920" cy="1371600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200" b="1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F12</a:t>
            </a:r>
            <a:endParaRPr lang="zh-CN"/>
          </a:p>
        </p:txBody>
      </p:sp>
      <p:sp>
        <p:nvSpPr>
          <p:cNvPr id="7" name="Rectangle 6"/>
          <p:cNvSpPr/>
          <p:nvPr/>
        </p:nvSpPr>
        <p:spPr>
          <a:xfrm>
            <a:off x="1443482" y="2698750"/>
            <a:ext cx="1783080" cy="2267712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200" b="1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F21</a:t>
            </a:r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3226562" y="2698750"/>
            <a:ext cx="2788920" cy="2267712"/>
          </a:xfrm>
          <a:prstGeom prst="rect">
            <a:avLst/>
          </a:prstGeom>
          <a:solidFill>
            <a:srgbClr val="F1F4F7"/>
          </a:solidFill>
          <a:ln w="12700">
            <a:solidFill>
              <a:srgbClr val="8FA0B2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200" b="1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F22</a:t>
            </a:r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1443482" y="1327150"/>
            <a:ext cx="4572000" cy="3639312"/>
          </a:xfrm>
          <a:prstGeom prst="rect">
            <a:avLst/>
          </a:prstGeom>
          <a:noFill/>
          <a:ln w="19050">
            <a:solidFill>
              <a:srgbClr val="111827"/>
            </a:solidFill>
          </a:ln>
        </p:spPr>
      </p:sp>
      <p:sp>
        <p:nvSpPr>
          <p:cNvPr id="10" name="TextBox 9"/>
          <p:cNvSpPr txBox="1"/>
          <p:nvPr/>
        </p:nvSpPr>
        <p:spPr>
          <a:xfrm>
            <a:off x="1187450" y="95224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 panose="020B0604020202020204"/>
                <a:ea typeface="微软雅黑" panose="020B0503020204020204" charset="-122"/>
              </a:rPr>
              <a:t>pivot block / 当前节点待消去变量</a:t>
            </a:r>
            <a:endParaRPr lang="zh-CN"/>
          </a:p>
        </p:txBody>
      </p:sp>
      <p:sp>
        <p:nvSpPr>
          <p:cNvPr id="12" name="TextBox 11"/>
          <p:cNvSpPr txBox="1"/>
          <p:nvPr/>
        </p:nvSpPr>
        <p:spPr>
          <a:xfrm>
            <a:off x="4085463" y="95250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 panose="020B0604020202020204"/>
                <a:ea typeface="微软雅黑" panose="020B0503020204020204" charset="-122"/>
              </a:rPr>
              <a:t>coupling block</a:t>
            </a:r>
            <a:endParaRPr lang="zh-CN"/>
          </a:p>
        </p:txBody>
      </p:sp>
      <p:sp>
        <p:nvSpPr>
          <p:cNvPr id="13" name="TextBox 12"/>
          <p:cNvSpPr txBox="1"/>
          <p:nvPr/>
        </p:nvSpPr>
        <p:spPr>
          <a:xfrm>
            <a:off x="481330" y="3683000"/>
            <a:ext cx="868680" cy="6807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 panose="020B0604020202020204"/>
                <a:ea typeface="微软雅黑" panose="020B0503020204020204" charset="-122"/>
              </a:rPr>
              <a:t>coupling</a:t>
            </a:r>
            <a:endParaRPr lang="zh-CN"/>
          </a:p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 panose="020B0604020202020204"/>
                <a:ea typeface="微软雅黑" panose="020B0503020204020204" charset="-122"/>
              </a:rPr>
              <a:t>block</a:t>
            </a:r>
            <a:endParaRPr lang="zh-CN"/>
          </a:p>
        </p:txBody>
      </p:sp>
      <p:sp>
        <p:nvSpPr>
          <p:cNvPr id="14" name="TextBox 13"/>
          <p:cNvSpPr txBox="1"/>
          <p:nvPr/>
        </p:nvSpPr>
        <p:spPr>
          <a:xfrm>
            <a:off x="3313430" y="504875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 panose="020B0604020202020204"/>
                <a:ea typeface="微软雅黑" panose="020B0503020204020204" charset="-122"/>
              </a:rPr>
              <a:t>remaining block / update source</a:t>
            </a:r>
            <a:endParaRPr lang="zh-CN"/>
          </a:p>
        </p:txBody>
      </p:sp>
      <p:cxnSp>
        <p:nvCxnSpPr>
          <p:cNvPr id="15" name="Connector 14"/>
          <p:cNvCxnSpPr/>
          <p:nvPr/>
        </p:nvCxnSpPr>
        <p:spPr>
          <a:xfrm flipV="1">
            <a:off x="3031109" y="2016125"/>
            <a:ext cx="913130" cy="6350"/>
          </a:xfrm>
          <a:prstGeom prst="line">
            <a:avLst/>
          </a:prstGeom>
          <a:ln w="17780">
            <a:solidFill>
              <a:srgbClr val="2E5E8C"/>
            </a:solidFill>
            <a:tailEnd type="triangle"/>
          </a:ln>
        </p:spPr>
      </p:cxnSp>
      <p:cxnSp>
        <p:nvCxnSpPr>
          <p:cNvPr id="16" name="Connector 15"/>
          <p:cNvCxnSpPr/>
          <p:nvPr/>
        </p:nvCxnSpPr>
        <p:spPr>
          <a:xfrm flipH="1">
            <a:off x="2288794" y="2397125"/>
            <a:ext cx="6985" cy="926465"/>
          </a:xfrm>
          <a:prstGeom prst="line">
            <a:avLst/>
          </a:prstGeom>
          <a:ln w="17780">
            <a:solidFill>
              <a:srgbClr val="2E5E8C"/>
            </a:solidFill>
            <a:tailEnd type="triangle"/>
          </a:ln>
        </p:spPr>
      </p:cxnSp>
      <p:cxnSp>
        <p:nvCxnSpPr>
          <p:cNvPr id="17" name="Connector 16"/>
          <p:cNvCxnSpPr/>
          <p:nvPr/>
        </p:nvCxnSpPr>
        <p:spPr>
          <a:xfrm>
            <a:off x="4525010" y="2360422"/>
            <a:ext cx="3810" cy="1081405"/>
          </a:xfrm>
          <a:prstGeom prst="line">
            <a:avLst/>
          </a:prstGeom>
          <a:ln w="17780">
            <a:solidFill>
              <a:srgbClr val="111827"/>
            </a:solidFill>
            <a:tailEnd type="triangle"/>
          </a:ln>
        </p:spPr>
      </p:cxnSp>
      <p:cxnSp>
        <p:nvCxnSpPr>
          <p:cNvPr id="18" name="Connector 17"/>
          <p:cNvCxnSpPr/>
          <p:nvPr/>
        </p:nvCxnSpPr>
        <p:spPr>
          <a:xfrm>
            <a:off x="2970530" y="3823462"/>
            <a:ext cx="1234440" cy="1"/>
          </a:xfrm>
          <a:prstGeom prst="line">
            <a:avLst/>
          </a:prstGeom>
          <a:ln w="17780">
            <a:solidFill>
              <a:srgbClr val="111827"/>
            </a:solidFill>
            <a:tailEnd type="triangle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7745095" y="1626553"/>
                <a:ext cx="2148840" cy="306705"/>
              </a:xfrm>
              <a:prstGeom prst="rect">
                <a:avLst/>
              </a:prstGeom>
              <a:solidFill>
                <a:srgbClr val="EAF3FF"/>
              </a:solidFill>
              <a:ln w="12700">
                <a:solidFill>
                  <a:srgbClr val="7A9AB8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buNone/>
                </a:pPr>
                <a:r>
                  <a:rPr lang="zh-CN" sz="1400" b="1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</a:rPr>
                  <a:t>Block LU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𝟏𝟏</m:t>
                        </m:r>
                      </m:sub>
                    </m:sSub>
                  </m:oMath>
                </a14:m>
                <a:endParaRPr lang="zh-CN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095" y="1626553"/>
                <a:ext cx="2148840" cy="306705"/>
              </a:xfrm>
              <a:prstGeom prst="rect">
                <a:avLst/>
              </a:prstGeom>
              <a:blipFill rotWithShape="1">
                <a:blip r:embed="rId1"/>
                <a:stretch>
                  <a:fillRect l="-296" t="-2174" r="-296" b="-1967"/>
                </a:stretch>
              </a:blipFill>
              <a:ln w="12700">
                <a:solidFill>
                  <a:srgbClr val="7A9AB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6652895" y="2288540"/>
                <a:ext cx="1863725" cy="36449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2CEDA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/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895" y="2288540"/>
                <a:ext cx="1863725" cy="364490"/>
              </a:xfrm>
              <a:prstGeom prst="rect">
                <a:avLst/>
              </a:prstGeom>
              <a:blipFill rotWithShape="1">
                <a:blip r:embed="rId2"/>
                <a:stretch>
                  <a:fillRect l="-341" t="-1742" r="-341" b="-1742"/>
                </a:stretch>
              </a:blipFill>
              <a:ln w="12700">
                <a:solidFill>
                  <a:srgbClr val="C2CED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8971915" y="2288540"/>
                <a:ext cx="1863725" cy="36449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2CEDA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915" y="2288540"/>
                <a:ext cx="1863725" cy="364490"/>
              </a:xfrm>
              <a:prstGeom prst="rect">
                <a:avLst/>
              </a:prstGeom>
              <a:blipFill rotWithShape="1">
                <a:blip r:embed="rId3"/>
                <a:stretch>
                  <a:fillRect l="-341" t="-1742" r="-341" b="-1742"/>
                </a:stretch>
              </a:blipFill>
              <a:ln w="12700">
                <a:solidFill>
                  <a:srgbClr val="C2CED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7026910" y="3129725"/>
                <a:ext cx="3703320" cy="306705"/>
              </a:xfrm>
              <a:prstGeom prst="rect">
                <a:avLst/>
              </a:prstGeom>
              <a:solidFill>
                <a:srgbClr val="F3F6F9"/>
              </a:solidFill>
              <a:ln w="12700">
                <a:solidFill>
                  <a:srgbClr val="7A9AB8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buNone/>
                </a:pPr>
                <a:r>
                  <a:rPr lang="zh-CN" sz="1400" b="1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</a:rPr>
                  <a:t>Schur update: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𝟐𝟐</m:t>
                        </m:r>
                      </m:sub>
                    </m:sSub>
                    <m:r>
                      <a:rPr lang="en-US" altLang="zh-CN" sz="1400" b="1" i="1">
                        <a:solidFill>
                          <a:srgbClr val="1F2937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←</m:t>
                    </m:r>
                    <m:sSub>
                      <m:sSubPr>
                        <m:ctrlP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𝟐𝟐</m:t>
                        </m:r>
                      </m:sub>
                    </m:sSub>
                    <m:r>
                      <a:rPr lang="en-US" altLang="zh-CN" sz="1400" b="1" i="1">
                        <a:solidFill>
                          <a:srgbClr val="1F2937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𝑳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𝟐𝟏</m:t>
                        </m:r>
                      </m:sub>
                    </m:sSub>
                    <m:sSub>
                      <m:sSubPr>
                        <m:ctrlP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𝑼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rgbClr val="1F2937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𝟏𝟐</m:t>
                        </m:r>
                      </m:sub>
                    </m:sSub>
                  </m:oMath>
                </a14:m>
                <a:endParaRPr lang="zh-CN"/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910" y="3129725"/>
                <a:ext cx="3703320" cy="306705"/>
              </a:xfrm>
              <a:prstGeom prst="rect">
                <a:avLst/>
              </a:prstGeom>
              <a:blipFill rotWithShape="1">
                <a:blip r:embed="rId4"/>
                <a:stretch>
                  <a:fillRect l="-171" t="-2215" r="-171" b="-1925"/>
                </a:stretch>
              </a:blipFill>
              <a:ln w="12700">
                <a:solidFill>
                  <a:srgbClr val="7A9AB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5"/>
          <p:cNvSpPr/>
          <p:nvPr/>
        </p:nvSpPr>
        <p:spPr>
          <a:xfrm>
            <a:off x="594360" y="2121408"/>
            <a:ext cx="1691640" cy="1243584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 b="1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Assembly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装配 A_local 与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child updates</a:t>
            </a:r>
            <a:endParaRPr lang="zh-CN"/>
          </a:p>
        </p:txBody>
      </p:sp>
      <p:sp>
        <p:nvSpPr>
          <p:cNvPr id="8" name="Rectangle 6"/>
          <p:cNvSpPr/>
          <p:nvPr/>
        </p:nvSpPr>
        <p:spPr>
          <a:xfrm>
            <a:off x="2788920" y="2121408"/>
            <a:ext cx="1691640" cy="1243584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 b="1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Pivot / Block LU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主元选择与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主元块分解</a:t>
            </a:r>
            <a:endParaRPr lang="zh-CN"/>
          </a:p>
        </p:txBody>
      </p:sp>
      <p:sp>
        <p:nvSpPr>
          <p:cNvPr id="9" name="Rectangle 7"/>
          <p:cNvSpPr/>
          <p:nvPr/>
        </p:nvSpPr>
        <p:spPr>
          <a:xfrm>
            <a:off x="4983480" y="2121408"/>
            <a:ext cx="1691640" cy="1243584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 b="1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TRSM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求解 F21U11^{-1}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与 L11^{-1}F12</a:t>
            </a:r>
            <a:endParaRPr lang="zh-CN"/>
          </a:p>
        </p:txBody>
      </p:sp>
      <p:sp>
        <p:nvSpPr>
          <p:cNvPr id="10" name="Rectangle 8"/>
          <p:cNvSpPr/>
          <p:nvPr/>
        </p:nvSpPr>
        <p:spPr>
          <a:xfrm>
            <a:off x="7178040" y="2121408"/>
            <a:ext cx="1691640" cy="1243584"/>
          </a:xfrm>
          <a:prstGeom prst="rect">
            <a:avLst/>
          </a:prstGeom>
          <a:solidFill>
            <a:srgbClr val="F3F6F9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 b="1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Schur Update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(GEMM)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F22 ← F22 - F21F12</a:t>
            </a:r>
            <a:endParaRPr lang="zh-CN"/>
          </a:p>
        </p:txBody>
      </p:sp>
      <p:sp>
        <p:nvSpPr>
          <p:cNvPr id="11" name="Rectangle 9"/>
          <p:cNvSpPr/>
          <p:nvPr/>
        </p:nvSpPr>
        <p:spPr>
          <a:xfrm>
            <a:off x="9372600" y="2121408"/>
            <a:ext cx="1691640" cy="1243584"/>
          </a:xfrm>
          <a:prstGeom prst="rect">
            <a:avLst/>
          </a:prstGeom>
          <a:solidFill>
            <a:srgbClr val="F8FBFF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700" b="1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Output</a:t>
            </a:r>
            <a:endParaRPr lang="zh-CN"/>
          </a:p>
        </p:txBody>
      </p:sp>
      <p:sp>
        <p:nvSpPr>
          <p:cNvPr id="12" name="Rectangle 10"/>
          <p:cNvSpPr/>
          <p:nvPr/>
        </p:nvSpPr>
        <p:spPr>
          <a:xfrm>
            <a:off x="9482328" y="2560320"/>
            <a:ext cx="1472184" cy="320040"/>
          </a:xfrm>
          <a:prstGeom prst="rect">
            <a:avLst/>
          </a:prstGeom>
          <a:solidFill>
            <a:srgbClr val="E7F1FB"/>
          </a:solidFill>
          <a:ln w="12700">
            <a:solidFill>
              <a:srgbClr val="A7B3C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factor writeback: L/U</a:t>
            </a:r>
            <a:endParaRPr lang="zh-CN"/>
          </a:p>
        </p:txBody>
      </p:sp>
      <p:sp>
        <p:nvSpPr>
          <p:cNvPr id="13" name="Rectangle 11"/>
          <p:cNvSpPr/>
          <p:nvPr/>
        </p:nvSpPr>
        <p:spPr>
          <a:xfrm>
            <a:off x="9482328" y="2926080"/>
            <a:ext cx="1472184" cy="320040"/>
          </a:xfrm>
          <a:prstGeom prst="rect">
            <a:avLst/>
          </a:prstGeom>
          <a:solidFill>
            <a:srgbClr val="F1F4F7"/>
          </a:solidFill>
          <a:ln w="12700">
            <a:solidFill>
              <a:srgbClr val="A7B3C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update writeback</a:t>
            </a:r>
            <a:endParaRPr lang="zh-CN"/>
          </a:p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to parent</a:t>
            </a:r>
            <a:endParaRPr lang="zh-CN"/>
          </a:p>
        </p:txBody>
      </p:sp>
      <p:cxnSp>
        <p:nvCxnSpPr>
          <p:cNvPr id="14" name="Connector 12"/>
          <p:cNvCxnSpPr/>
          <p:nvPr/>
        </p:nvCxnSpPr>
        <p:spPr>
          <a:xfrm>
            <a:off x="2286000" y="2743200"/>
            <a:ext cx="384048" cy="1"/>
          </a:xfrm>
          <a:prstGeom prst="line">
            <a:avLst/>
          </a:prstGeom>
          <a:ln w="25400">
            <a:solidFill>
              <a:srgbClr val="111827"/>
            </a:solidFill>
            <a:tailEnd type="triangle"/>
          </a:ln>
        </p:spPr>
      </p:cxnSp>
      <p:cxnSp>
        <p:nvCxnSpPr>
          <p:cNvPr id="15" name="Connector 13"/>
          <p:cNvCxnSpPr/>
          <p:nvPr/>
        </p:nvCxnSpPr>
        <p:spPr>
          <a:xfrm>
            <a:off x="4480560" y="2743200"/>
            <a:ext cx="384048" cy="1"/>
          </a:xfrm>
          <a:prstGeom prst="line">
            <a:avLst/>
          </a:prstGeom>
          <a:ln w="25400">
            <a:solidFill>
              <a:srgbClr val="111827"/>
            </a:solidFill>
            <a:tailEnd type="triangle"/>
          </a:ln>
        </p:spPr>
      </p:cxnSp>
      <p:cxnSp>
        <p:nvCxnSpPr>
          <p:cNvPr id="16" name="Connector 14"/>
          <p:cNvCxnSpPr/>
          <p:nvPr/>
        </p:nvCxnSpPr>
        <p:spPr>
          <a:xfrm>
            <a:off x="6675120" y="2743200"/>
            <a:ext cx="384048" cy="1"/>
          </a:xfrm>
          <a:prstGeom prst="line">
            <a:avLst/>
          </a:prstGeom>
          <a:ln w="25400">
            <a:solidFill>
              <a:srgbClr val="111827"/>
            </a:solidFill>
            <a:tailEnd type="triangle"/>
          </a:ln>
        </p:spPr>
      </p:cxnSp>
      <p:cxnSp>
        <p:nvCxnSpPr>
          <p:cNvPr id="17" name="Connector 15"/>
          <p:cNvCxnSpPr/>
          <p:nvPr/>
        </p:nvCxnSpPr>
        <p:spPr>
          <a:xfrm>
            <a:off x="8869680" y="2743200"/>
            <a:ext cx="384048" cy="1"/>
          </a:xfrm>
          <a:prstGeom prst="line">
            <a:avLst/>
          </a:prstGeom>
          <a:ln w="25400">
            <a:solidFill>
              <a:srgbClr val="111827"/>
            </a:solidFill>
            <a:tailEnd type="triangle"/>
          </a:ln>
        </p:spPr>
      </p:cxnSp>
      <p:sp>
        <p:nvSpPr>
          <p:cNvPr id="18" name="Rectangle 16"/>
          <p:cNvSpPr/>
          <p:nvPr/>
        </p:nvSpPr>
        <p:spPr>
          <a:xfrm>
            <a:off x="822960" y="3977640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2CEDA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装配完成后确定 node-scale</a:t>
            </a:r>
            <a:endParaRPr lang="zh-CN"/>
          </a:p>
        </p:txBody>
      </p:sp>
      <p:cxnSp>
        <p:nvCxnSpPr>
          <p:cNvPr id="19" name="Connector 17"/>
          <p:cNvCxnSpPr/>
          <p:nvPr/>
        </p:nvCxnSpPr>
        <p:spPr>
          <a:xfrm flipH="1" flipV="1">
            <a:off x="1508760" y="3419856"/>
            <a:ext cx="274320" cy="548640"/>
          </a:xfrm>
          <a:prstGeom prst="line">
            <a:avLst/>
          </a:prstGeom>
          <a:ln w="12700">
            <a:solidFill>
              <a:srgbClr val="4B5563"/>
            </a:solidFill>
            <a:tailEnd type="triangle"/>
          </a:ln>
        </p:spPr>
      </p:cxnSp>
      <p:sp>
        <p:nvSpPr>
          <p:cNvPr id="20" name="Rectangle 18"/>
          <p:cNvSpPr/>
          <p:nvPr/>
        </p:nvSpPr>
        <p:spPr>
          <a:xfrm>
            <a:off x="7269480" y="3977640"/>
            <a:ext cx="20848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2CEDA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</a:rPr>
              <a:t>高吞吐矩阵乘更新</a:t>
            </a:r>
            <a:endParaRPr lang="zh-CN"/>
          </a:p>
        </p:txBody>
      </p:sp>
      <p:cxnSp>
        <p:nvCxnSpPr>
          <p:cNvPr id="21" name="Connector 19"/>
          <p:cNvCxnSpPr/>
          <p:nvPr/>
        </p:nvCxnSpPr>
        <p:spPr>
          <a:xfrm flipH="1" flipV="1">
            <a:off x="8028432" y="3429000"/>
            <a:ext cx="228600" cy="539496"/>
          </a:xfrm>
          <a:prstGeom prst="line">
            <a:avLst/>
          </a:prstGeom>
          <a:ln w="12700">
            <a:solidFill>
              <a:srgbClr val="4B5563"/>
            </a:solidFill>
            <a:tailEnd type="triangle"/>
          </a:ln>
        </p:spPr>
      </p:cxnSp>
      <p:sp>
        <p:nvSpPr>
          <p:cNvPr id="22" name="TextBox 20"/>
          <p:cNvSpPr txBox="1"/>
          <p:nvPr/>
        </p:nvSpPr>
        <p:spPr>
          <a:xfrm>
            <a:off x="685800" y="523036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>
                <a:solidFill>
                  <a:srgbClr val="4B5563"/>
                </a:solidFill>
                <a:latin typeface="Arial" panose="020B0604020202020204"/>
                <a:ea typeface="微软雅黑" panose="020B0503020204020204" charset="-122"/>
              </a:rPr>
              <a:t>每个 front 在本节点完成装配、块分解、TRSM 与 Schur 更新；因子写回本节点，贡献块继续上传父节点。</a:t>
            </a:r>
            <a:endParaRPr 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TABLE_ENDDRAG_ORIGIN_RECT" val="608*162"/>
  <p:tag name="TABLE_ENDDRAG_RECT" val="144*210*608*162"/>
</p:tagLst>
</file>

<file path=ppt/tags/tag67.xml><?xml version="1.0" encoding="utf-8"?>
<p:tagLst xmlns:p="http://schemas.openxmlformats.org/presentationml/2006/main">
  <p:tag name="KSO_DOCER_RESOURCE_TRACE_INFO" val="{&quot;id&quot;:&quot;50059496&quot;,&quot;origin&quot;:0,&quot;type&quot;:&quot;icons&quot;,&quot;user&quot;:&quot;1040096332&quot;}"/>
</p:tagLst>
</file>

<file path=ppt/tags/tag68.xml><?xml version="1.0" encoding="utf-8"?>
<p:tagLst xmlns:p="http://schemas.openxmlformats.org/presentationml/2006/main">
  <p:tag name="TABLE_ENDDRAG_ORIGIN_RECT" val="608*162"/>
  <p:tag name="TABLE_ENDDRAG_RECT" val="144*210*608*162"/>
</p:tagLst>
</file>

<file path=ppt/tags/tag69.xml><?xml version="1.0" encoding="utf-8"?>
<p:tagLst xmlns:p="http://schemas.openxmlformats.org/presentationml/2006/main">
  <p:tag name="KSO_DOCER_RESOURCE_TRACE_INFO" val="{&quot;id&quot;:&quot;50059429&quot;,&quot;origin&quot;:0,&quot;type&quot;:&quot;icons&quot;,&quot;user&quot;:&quot;1040096332&quot;}"/>
</p:tagLst>
</file>

<file path=ppt/tags/tag70.xml><?xml version="1.0" encoding="utf-8"?>
<p:tagLst xmlns:p="http://schemas.openxmlformats.org/presentationml/2006/main">
  <p:tag name="TABLE_ENDDRAG_ORIGIN_RECT" val="608*162"/>
  <p:tag name="TABLE_ENDDRAG_RECT" val="144*210*608*162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496,50059429],&quot;65&quot;:[20205081]}"/>
</p:tagLst>
</file>

<file path=ppt/tags/tag72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3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6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9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82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85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040096332&quot;}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62469,50062354,50059176],&quot;65&quot;:[20205081]}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resource_record_key" val="{&quot;10&quot;:[50059496,50059429,50062469,50062354,50059176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2948</Words>
  <Application>WPS 演示</Application>
  <PresentationFormat>宽屏</PresentationFormat>
  <Paragraphs>201</Paragraphs>
  <Slides>10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Times New Roman</vt:lpstr>
      <vt:lpstr>Cambria Math</vt:lpstr>
      <vt:lpstr>Arial</vt:lpstr>
      <vt:lpstr>微软雅黑</vt:lpstr>
      <vt:lpstr>Arial Unicode MS</vt:lpstr>
      <vt:lpstr>Calibri</vt:lpstr>
      <vt:lpstr>MS Mincho</vt:lpstr>
      <vt:lpstr>Segoe Print</vt:lpstr>
      <vt:lpstr>WPS</vt:lpstr>
      <vt:lpstr>Equation.KSEE3</vt:lpstr>
      <vt:lpstr>Equation.KSEE3</vt:lpstr>
      <vt:lpstr>Equation.KSEE3</vt:lpstr>
      <vt:lpstr>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hy1729</cp:lastModifiedBy>
  <cp:revision>193</cp:revision>
  <dcterms:created xsi:type="dcterms:W3CDTF">2019-06-19T02:08:00Z</dcterms:created>
  <dcterms:modified xsi:type="dcterms:W3CDTF">2026-06-11T03:36:49Z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D6967463888C41DB94B4AA3D4D047C03_13</vt:lpwstr>
  </property>
</Properties>
</file>